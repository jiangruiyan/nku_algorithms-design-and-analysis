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65"/>
  </p:notesMasterIdLst>
  <p:handoutMasterIdLst>
    <p:handoutMasterId r:id="rId66"/>
  </p:handoutMasterIdLst>
  <p:sldIdLst>
    <p:sldId id="256" r:id="rId2"/>
    <p:sldId id="310" r:id="rId3"/>
    <p:sldId id="257" r:id="rId4"/>
    <p:sldId id="258" r:id="rId5"/>
    <p:sldId id="259" r:id="rId6"/>
    <p:sldId id="337"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5" r:id="rId22"/>
    <p:sldId id="336" r:id="rId23"/>
    <p:sldId id="276" r:id="rId24"/>
    <p:sldId id="277" r:id="rId25"/>
    <p:sldId id="278" r:id="rId26"/>
    <p:sldId id="279" r:id="rId27"/>
    <p:sldId id="280" r:id="rId28"/>
    <p:sldId id="281" r:id="rId29"/>
    <p:sldId id="282" r:id="rId30"/>
    <p:sldId id="283" r:id="rId31"/>
    <p:sldId id="338" r:id="rId32"/>
    <p:sldId id="339" r:id="rId33"/>
    <p:sldId id="343" r:id="rId34"/>
    <p:sldId id="340" r:id="rId35"/>
    <p:sldId id="341" r:id="rId36"/>
    <p:sldId id="342" r:id="rId37"/>
    <p:sldId id="284" r:id="rId38"/>
    <p:sldId id="285" r:id="rId39"/>
    <p:sldId id="286" r:id="rId40"/>
    <p:sldId id="287" r:id="rId41"/>
    <p:sldId id="288" r:id="rId42"/>
    <p:sldId id="289" r:id="rId43"/>
    <p:sldId id="290" r:id="rId44"/>
    <p:sldId id="291" r:id="rId45"/>
    <p:sldId id="292" r:id="rId46"/>
    <p:sldId id="293" r:id="rId47"/>
    <p:sldId id="299" r:id="rId48"/>
    <p:sldId id="294" r:id="rId49"/>
    <p:sldId id="300" r:id="rId50"/>
    <p:sldId id="297" r:id="rId51"/>
    <p:sldId id="298" r:id="rId52"/>
    <p:sldId id="302" r:id="rId53"/>
    <p:sldId id="301" r:id="rId54"/>
    <p:sldId id="303" r:id="rId55"/>
    <p:sldId id="304" r:id="rId56"/>
    <p:sldId id="305" r:id="rId57"/>
    <p:sldId id="344" r:id="rId58"/>
    <p:sldId id="311" r:id="rId59"/>
    <p:sldId id="306" r:id="rId60"/>
    <p:sldId id="314" r:id="rId61"/>
    <p:sldId id="315" r:id="rId62"/>
    <p:sldId id="308" r:id="rId63"/>
    <p:sldId id="309" r:id="rId6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2" autoAdjust="0"/>
    <p:restoredTop sz="81937" autoAdjust="0"/>
  </p:normalViewPr>
  <p:slideViewPr>
    <p:cSldViewPr>
      <p:cViewPr>
        <p:scale>
          <a:sx n="75" d="100"/>
          <a:sy n="75" d="100"/>
        </p:scale>
        <p:origin x="749"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61A898C-10F1-4ACD-8E58-9427AC19A91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a:lvl1pPr>
          </a:lstStyle>
          <a:p>
            <a:endParaRPr lang="zh-CN" altLang="en-US"/>
          </a:p>
        </p:txBody>
      </p:sp>
      <p:sp>
        <p:nvSpPr>
          <p:cNvPr id="46083" name="Rectangle 3">
            <a:extLst>
              <a:ext uri="{FF2B5EF4-FFF2-40B4-BE49-F238E27FC236}">
                <a16:creationId xmlns:a16="http://schemas.microsoft.com/office/drawing/2014/main" id="{24562989-0C18-4D0E-9925-6F949FB7AB94}"/>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en-US" altLang="zh-CN"/>
          </a:p>
        </p:txBody>
      </p:sp>
      <p:sp>
        <p:nvSpPr>
          <p:cNvPr id="46084" name="Rectangle 4">
            <a:extLst>
              <a:ext uri="{FF2B5EF4-FFF2-40B4-BE49-F238E27FC236}">
                <a16:creationId xmlns:a16="http://schemas.microsoft.com/office/drawing/2014/main" id="{F77A8F7A-650A-4285-92DE-751591E681E3}"/>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SzTx/>
              <a:buFontTx/>
              <a:buNone/>
              <a:defRPr sz="1200"/>
            </a:lvl1pPr>
          </a:lstStyle>
          <a:p>
            <a:endParaRPr lang="en-US" altLang="zh-CN"/>
          </a:p>
        </p:txBody>
      </p:sp>
      <p:sp>
        <p:nvSpPr>
          <p:cNvPr id="46085" name="Rectangle 5">
            <a:extLst>
              <a:ext uri="{FF2B5EF4-FFF2-40B4-BE49-F238E27FC236}">
                <a16:creationId xmlns:a16="http://schemas.microsoft.com/office/drawing/2014/main" id="{46B324DF-7B6E-4108-84A4-175712F3628F}"/>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BACDF46B-29B6-4A41-9B65-C8B3663B817B}"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6E22B8A-36A1-4E0E-995A-BA5A718169F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a:lvl1pPr>
          </a:lstStyle>
          <a:p>
            <a:endParaRPr lang="zh-CN" altLang="en-US"/>
          </a:p>
        </p:txBody>
      </p:sp>
      <p:sp>
        <p:nvSpPr>
          <p:cNvPr id="1027" name="Rectangle 3">
            <a:extLst>
              <a:ext uri="{FF2B5EF4-FFF2-40B4-BE49-F238E27FC236}">
                <a16:creationId xmlns:a16="http://schemas.microsoft.com/office/drawing/2014/main" id="{9BA4EE67-7DE2-4808-8DF6-E440D94B3B7B}"/>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en-US" altLang="zh-CN"/>
          </a:p>
        </p:txBody>
      </p:sp>
      <p:sp>
        <p:nvSpPr>
          <p:cNvPr id="1028" name="Rectangle 4">
            <a:extLst>
              <a:ext uri="{FF2B5EF4-FFF2-40B4-BE49-F238E27FC236}">
                <a16:creationId xmlns:a16="http://schemas.microsoft.com/office/drawing/2014/main" id="{8BD31BC6-D9ED-448A-9B35-D6C72ECD930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9" name="Rectangle 5">
            <a:extLst>
              <a:ext uri="{FF2B5EF4-FFF2-40B4-BE49-F238E27FC236}">
                <a16:creationId xmlns:a16="http://schemas.microsoft.com/office/drawing/2014/main" id="{2EF09AD1-0E82-42D6-B0A8-B4E443B103C9}"/>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0" name="Rectangle 6">
            <a:extLst>
              <a:ext uri="{FF2B5EF4-FFF2-40B4-BE49-F238E27FC236}">
                <a16:creationId xmlns:a16="http://schemas.microsoft.com/office/drawing/2014/main" id="{49AFFB08-3EB9-4CB8-A4D1-EFA7DC7C773A}"/>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SzTx/>
              <a:buFontTx/>
              <a:buNone/>
              <a:defRPr sz="1200"/>
            </a:lvl1pPr>
          </a:lstStyle>
          <a:p>
            <a:endParaRPr lang="en-US" altLang="zh-CN"/>
          </a:p>
        </p:txBody>
      </p:sp>
      <p:sp>
        <p:nvSpPr>
          <p:cNvPr id="1031" name="Rectangle 7">
            <a:extLst>
              <a:ext uri="{FF2B5EF4-FFF2-40B4-BE49-F238E27FC236}">
                <a16:creationId xmlns:a16="http://schemas.microsoft.com/office/drawing/2014/main" id="{FF90C9F7-506B-4B7B-BB87-50DA49C0A2F4}"/>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D88638F0-514E-420E-8992-EDFECFB15029}"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到现在为止，我们已经对许多问题给出了有效的算法，告诉大家哪些类型的问题怎么解决，大部分问题都有有效的解法。例如，可表示成图中最小割集的问题，或者可以用动态规划描述的问题。</a:t>
            </a:r>
            <a:endParaRPr lang="en-US" altLang="zh-CN" b="0" i="0" dirty="0">
              <a:effectLst/>
              <a:latin typeface="Inter"/>
            </a:endParaRPr>
          </a:p>
          <a:p>
            <a:endParaRPr lang="en-US" altLang="zh-CN" b="0" i="0" dirty="0">
              <a:effectLst/>
              <a:latin typeface="Inter"/>
            </a:endParaRPr>
          </a:p>
          <a:p>
            <a:r>
              <a:rPr lang="zh-CN" altLang="en-US" b="0" i="0" dirty="0">
                <a:effectLst/>
                <a:latin typeface="Inter"/>
              </a:rPr>
              <a:t>我们讲解了时间复杂度的概念，提出用多项式时间来表示算法的工作效率，我们也指出这样定义的好处是提供了数学方法证明某些问题不能用多项式时间算法 </a:t>
            </a:r>
            <a:r>
              <a:rPr lang="en-US" altLang="zh-CN" b="0" i="0" dirty="0">
                <a:effectLst/>
                <a:latin typeface="Inter"/>
              </a:rPr>
              <a:t>(</a:t>
            </a:r>
            <a:r>
              <a:rPr lang="zh-CN" altLang="en-US" b="0" i="0" dirty="0">
                <a:effectLst/>
                <a:latin typeface="Inter"/>
              </a:rPr>
              <a:t>即 “有效” 算法</a:t>
            </a:r>
            <a:r>
              <a:rPr lang="en-US" altLang="zh-CN" b="0" i="0" dirty="0">
                <a:effectLst/>
                <a:latin typeface="Inter"/>
              </a:rPr>
              <a:t>) </a:t>
            </a:r>
            <a:r>
              <a:rPr lang="zh-CN" altLang="en-US" b="0" i="0" dirty="0">
                <a:effectLst/>
                <a:latin typeface="Inter"/>
              </a:rPr>
              <a:t>解决的可能性</a:t>
            </a:r>
            <a:r>
              <a:rPr lang="en-US" altLang="zh-CN" b="0" i="0" dirty="0">
                <a:effectLst/>
                <a:latin typeface="Inter"/>
              </a:rPr>
              <a:t>. </a:t>
            </a:r>
          </a:p>
          <a:p>
            <a:endParaRPr lang="en-US" altLang="zh-CN" b="0" i="0" dirty="0">
              <a:effectLst/>
              <a:latin typeface="Inter"/>
            </a:endParaRPr>
          </a:p>
          <a:p>
            <a:r>
              <a:rPr lang="zh-CN" altLang="en-US" b="0" i="0" dirty="0">
                <a:effectLst/>
                <a:latin typeface="Inter"/>
              </a:rPr>
              <a:t>当人们开始认真地考察计算复杂性时，在证明某些极其困难的问题不能用有效算法解决的方面取得一些初步进展。但是对于在最优化、人工智能、组合数学、逻辑以及其他领域中提出的许多最基本的离散计算问题，这个问题太难解决了，并且至今仍未解决。</a:t>
            </a:r>
            <a:endParaRPr lang="en-US" altLang="zh-CN" b="0" i="0" dirty="0">
              <a:effectLst/>
              <a:latin typeface="Inter"/>
            </a:endParaRPr>
          </a:p>
          <a:p>
            <a:endParaRPr lang="en-US" altLang="zh-CN" b="0" i="0" dirty="0">
              <a:effectLst/>
              <a:latin typeface="Inter"/>
            </a:endParaRPr>
          </a:p>
          <a:p>
            <a:r>
              <a:rPr lang="zh-CN" altLang="en-US" b="0" i="0" dirty="0">
                <a:effectLst/>
                <a:latin typeface="Inter"/>
              </a:rPr>
              <a:t>面对这种形式上的，人们研究复杂性的工作取得重大进展。在这个 “灰色” 领域里有一大类问题被确认出来，证明在下述意义下它们是等价的：它们中任何一个的多项式时间算法都蕴涵它们中所有问题存在多项式时间算法。这就是 </a:t>
            </a:r>
            <a:r>
              <a:rPr lang="en-US" altLang="zh-CN" b="0" i="0" dirty="0">
                <a:effectLst/>
                <a:latin typeface="Inter"/>
              </a:rPr>
              <a:t>NP </a:t>
            </a:r>
            <a:r>
              <a:rPr lang="zh-CN" altLang="en-US" b="0" i="0" dirty="0">
                <a:effectLst/>
                <a:latin typeface="Inter"/>
              </a:rPr>
              <a:t>完全问题</a:t>
            </a:r>
            <a:endParaRPr lang="en-US" altLang="zh-CN" b="0" i="0" dirty="0">
              <a:effectLst/>
              <a:latin typeface="Inter"/>
            </a:endParaRPr>
          </a:p>
          <a:p>
            <a:endParaRPr lang="en-US" altLang="zh-CN" b="0" i="0" dirty="0">
              <a:effectLst/>
              <a:latin typeface="Inter"/>
            </a:endParaRPr>
          </a:p>
          <a:p>
            <a:r>
              <a:rPr lang="zh-CN" altLang="en-US" b="0" i="0" dirty="0">
                <a:effectLst/>
                <a:latin typeface="Inter"/>
              </a:rPr>
              <a:t>从实用的观点，在本质上 </a:t>
            </a:r>
            <a:r>
              <a:rPr lang="en-US" altLang="zh-CN" b="0" i="0" dirty="0">
                <a:effectLst/>
                <a:latin typeface="Inter"/>
              </a:rPr>
              <a:t>NP </a:t>
            </a:r>
            <a:r>
              <a:rPr lang="zh-CN" altLang="en-US" b="0" i="0" dirty="0">
                <a:effectLst/>
                <a:latin typeface="Inter"/>
              </a:rPr>
              <a:t>完全性意味着 “在计算上实际上是难的，虽然我们不能证明它</a:t>
            </a:r>
            <a:r>
              <a:rPr lang="en-US" altLang="zh-CN" b="0" i="0" dirty="0">
                <a:effectLst/>
                <a:latin typeface="Inter"/>
              </a:rPr>
              <a:t>.” </a:t>
            </a:r>
            <a:r>
              <a:rPr lang="zh-CN" altLang="en-US" b="0" i="0" dirty="0">
                <a:effectLst/>
                <a:latin typeface="Inter"/>
              </a:rPr>
              <a:t>发现一个问题是 </a:t>
            </a:r>
            <a:r>
              <a:rPr lang="en-US" altLang="zh-CN" b="0" i="0" dirty="0">
                <a:effectLst/>
                <a:latin typeface="Inter"/>
              </a:rPr>
              <a:t>NP </a:t>
            </a:r>
            <a:r>
              <a:rPr lang="zh-CN" altLang="en-US" b="0" i="0" dirty="0">
                <a:effectLst/>
                <a:latin typeface="Inter"/>
              </a:rPr>
              <a:t>完全的就提供了一个令人信服的停止寻找该问题有效算法的理由，因为寻找该问题的有效算法也是在寻找那些已知是 </a:t>
            </a:r>
            <a:r>
              <a:rPr lang="en-US" altLang="zh-CN" b="0" i="0" dirty="0">
                <a:effectLst/>
                <a:latin typeface="Inter"/>
              </a:rPr>
              <a:t>NP </a:t>
            </a:r>
            <a:r>
              <a:rPr lang="zh-CN" altLang="en-US" b="0" i="0" dirty="0">
                <a:effectLst/>
                <a:latin typeface="Inter"/>
              </a:rPr>
              <a:t>完全的著名计算问题中的任何一个的有效算法，而很多人都曾试图寻找这些问题的有效算法，并且都以失败告终</a:t>
            </a:r>
            <a:r>
              <a:rPr lang="en-US" altLang="zh-CN" b="0" i="0" dirty="0">
                <a:effectLst/>
                <a:latin typeface="Inter"/>
              </a:rPr>
              <a:t>.</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3</a:t>
            </a:fld>
            <a:endParaRPr lang="en-US" altLang="zh-CN"/>
          </a:p>
        </p:txBody>
      </p:sp>
    </p:spTree>
    <p:extLst>
      <p:ext uri="{BB962C8B-B14F-4D97-AF65-F5344CB8AC3E}">
        <p14:creationId xmlns:p14="http://schemas.microsoft.com/office/powerpoint/2010/main" val="1321658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effectLst/>
              </a:rPr>
              <a:t>可满足性问题</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4</a:t>
            </a:fld>
            <a:endParaRPr lang="en-US" altLang="zh-CN"/>
          </a:p>
        </p:txBody>
      </p:sp>
    </p:spTree>
    <p:extLst>
      <p:ext uri="{BB962C8B-B14F-4D97-AF65-F5344CB8AC3E}">
        <p14:creationId xmlns:p14="http://schemas.microsoft.com/office/powerpoint/2010/main" val="2871804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我们的计划是探索难计算的问题，最终给出一大类困难问题的数学特征。在研究中使用的基本技术是比较不同问题之间的相对难度，希望形式地表达出像 “问题 </a:t>
            </a:r>
            <a:r>
              <a:rPr lang="en-US" altLang="zh-CN" b="0" i="0" dirty="0">
                <a:effectLst/>
                <a:latin typeface="Inter"/>
              </a:rPr>
              <a:t>X </a:t>
            </a:r>
            <a:r>
              <a:rPr lang="zh-CN" altLang="en-US" b="0" i="0" dirty="0">
                <a:effectLst/>
                <a:latin typeface="Inter"/>
              </a:rPr>
              <a:t>至少像问题 </a:t>
            </a:r>
            <a:r>
              <a:rPr lang="en-US" altLang="zh-CN" b="0" i="0" dirty="0">
                <a:effectLst/>
                <a:latin typeface="Inter"/>
              </a:rPr>
              <a:t>Y </a:t>
            </a:r>
            <a:r>
              <a:rPr lang="zh-CN" altLang="en-US" b="0" i="0" dirty="0">
                <a:effectLst/>
                <a:latin typeface="Inter"/>
              </a:rPr>
              <a:t>一样的难” 这样的陈述。这就是</a:t>
            </a:r>
            <a:r>
              <a:rPr lang="zh-CN" altLang="en-US" b="1" i="0" dirty="0">
                <a:effectLst/>
                <a:latin typeface="Inter"/>
              </a:rPr>
              <a:t>归约</a:t>
            </a:r>
            <a:r>
              <a:rPr lang="zh-CN" altLang="en-US" b="0" i="0" dirty="0">
                <a:effectLst/>
                <a:latin typeface="Inter"/>
              </a:rPr>
              <a:t>的概念。</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5</a:t>
            </a:fld>
            <a:endParaRPr lang="en-US" altLang="zh-CN"/>
          </a:p>
        </p:txBody>
      </p:sp>
    </p:spTree>
    <p:extLst>
      <p:ext uri="{BB962C8B-B14F-4D97-AF65-F5344CB8AC3E}">
        <p14:creationId xmlns:p14="http://schemas.microsoft.com/office/powerpoint/2010/main" val="3699017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DCCDD-443B-9E2A-1BB7-5ADCE80653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A04B53-A5CD-1214-9F81-ACBEC3A28F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526789-22A3-EFCF-95E4-03C5983231AB}"/>
              </a:ext>
            </a:extLst>
          </p:cNvPr>
          <p:cNvSpPr>
            <a:spLocks noGrp="1"/>
          </p:cNvSpPr>
          <p:nvPr>
            <p:ph type="body" idx="1"/>
          </p:nvPr>
        </p:nvSpPr>
        <p:spPr/>
        <p:txBody>
          <a:bodyPr/>
          <a:lstStyle/>
          <a:p>
            <a:r>
              <a:rPr lang="zh-CN" altLang="en-US" b="0" i="0" dirty="0">
                <a:effectLst/>
                <a:latin typeface="Inter"/>
              </a:rPr>
              <a:t>我们的计划是探索难计算的问题，最终给出一大类困难问题的数学特征。在研究中使用的基本技术是比较不同问题之间的相对难度，希望形式地表达出像 “问题 </a:t>
            </a:r>
            <a:r>
              <a:rPr lang="en-US" altLang="zh-CN" b="0" i="0" dirty="0">
                <a:effectLst/>
                <a:latin typeface="Inter"/>
              </a:rPr>
              <a:t>X </a:t>
            </a:r>
            <a:r>
              <a:rPr lang="zh-CN" altLang="en-US" b="0" i="0" dirty="0">
                <a:effectLst/>
                <a:latin typeface="Inter"/>
              </a:rPr>
              <a:t>至少像问题 </a:t>
            </a:r>
            <a:r>
              <a:rPr lang="en-US" altLang="zh-CN" b="0" i="0" dirty="0">
                <a:effectLst/>
                <a:latin typeface="Inter"/>
              </a:rPr>
              <a:t>Y </a:t>
            </a:r>
            <a:r>
              <a:rPr lang="zh-CN" altLang="en-US" b="0" i="0" dirty="0">
                <a:effectLst/>
                <a:latin typeface="Inter"/>
              </a:rPr>
              <a:t>一样的难” 这样的陈述。这就是</a:t>
            </a:r>
            <a:r>
              <a:rPr lang="zh-CN" altLang="en-US" b="1" i="0" dirty="0">
                <a:effectLst/>
                <a:latin typeface="Inter"/>
              </a:rPr>
              <a:t>归约</a:t>
            </a:r>
            <a:r>
              <a:rPr lang="zh-CN" altLang="en-US" b="0" i="0" dirty="0">
                <a:effectLst/>
                <a:latin typeface="Inter"/>
              </a:rPr>
              <a:t>的概念。</a:t>
            </a:r>
            <a:endParaRPr lang="zh-CN" altLang="en-US" dirty="0"/>
          </a:p>
        </p:txBody>
      </p:sp>
      <p:sp>
        <p:nvSpPr>
          <p:cNvPr id="4" name="灯片编号占位符 3">
            <a:extLst>
              <a:ext uri="{FF2B5EF4-FFF2-40B4-BE49-F238E27FC236}">
                <a16:creationId xmlns:a16="http://schemas.microsoft.com/office/drawing/2014/main" id="{B2E1B28B-56F1-46A5-5A9A-DEBE88A41BDB}"/>
              </a:ext>
            </a:extLst>
          </p:cNvPr>
          <p:cNvSpPr>
            <a:spLocks noGrp="1"/>
          </p:cNvSpPr>
          <p:nvPr>
            <p:ph type="sldNum" sz="quarter" idx="5"/>
          </p:nvPr>
        </p:nvSpPr>
        <p:spPr/>
        <p:txBody>
          <a:bodyPr/>
          <a:lstStyle/>
          <a:p>
            <a:fld id="{D88638F0-514E-420E-8992-EDFECFB15029}" type="slidenum">
              <a:rPr lang="zh-CN" altLang="en-US" smtClean="0"/>
              <a:pPr/>
              <a:t>6</a:t>
            </a:fld>
            <a:endParaRPr lang="en-US" altLang="zh-CN"/>
          </a:p>
        </p:txBody>
      </p:sp>
    </p:spTree>
    <p:extLst>
      <p:ext uri="{BB962C8B-B14F-4D97-AF65-F5344CB8AC3E}">
        <p14:creationId xmlns:p14="http://schemas.microsoft.com/office/powerpoint/2010/main" val="2827093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Comic Sans MS" panose="030F0702030302020204" pitchFamily="66" charset="0"/>
                <a:sym typeface="Symbol" panose="05050102010706020507" pitchFamily="18" charset="2"/>
              </a:rPr>
              <a:t></a:t>
            </a:r>
            <a:r>
              <a:rPr lang="en-US" altLang="zh-CN" sz="1200" baseline="-25000" dirty="0">
                <a:latin typeface="Comic Sans MS" panose="030F0702030302020204" pitchFamily="66" charset="0"/>
                <a:sym typeface="Symbol" panose="05050102010706020507" pitchFamily="18" charset="2"/>
              </a:rPr>
              <a:t> P</a:t>
            </a:r>
            <a:r>
              <a:rPr lang="zh-CN" altLang="en-US" b="0" i="0" dirty="0">
                <a:effectLst/>
                <a:latin typeface="Inter"/>
              </a:rPr>
              <a:t>表示多项式时间可归约关系 </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7</a:t>
            </a:fld>
            <a:endParaRPr lang="en-US" altLang="zh-CN"/>
          </a:p>
        </p:txBody>
      </p:sp>
    </p:spTree>
    <p:extLst>
      <p:ext uri="{BB962C8B-B14F-4D97-AF65-F5344CB8AC3E}">
        <p14:creationId xmlns:p14="http://schemas.microsoft.com/office/powerpoint/2010/main" val="2181472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用 </a:t>
            </a:r>
            <a:r>
              <a:rPr lang="en-US" altLang="zh-CN" b="0" i="0" dirty="0">
                <a:effectLst/>
                <a:latin typeface="Inter"/>
              </a:rPr>
              <a:t>X </a:t>
            </a:r>
            <a:r>
              <a:rPr lang="zh-CN" altLang="en-US" b="0" i="0" dirty="0">
                <a:effectLst/>
                <a:latin typeface="Inter"/>
              </a:rPr>
              <a:t>的多项式时间算法代替</a:t>
            </a:r>
            <a:r>
              <a:rPr lang="zh-CN" altLang="en-US" sz="1200" dirty="0"/>
              <a:t>解问题</a:t>
            </a:r>
            <a:r>
              <a:rPr lang="en-US" altLang="zh-CN" sz="1200" dirty="0"/>
              <a:t>X</a:t>
            </a:r>
            <a:r>
              <a:rPr lang="zh-CN" altLang="en-US" sz="1200" dirty="0"/>
              <a:t>的</a:t>
            </a:r>
            <a:r>
              <a:rPr lang="zh-CN" altLang="en-US" b="0" i="0" dirty="0">
                <a:effectLst/>
                <a:latin typeface="Inter"/>
              </a:rPr>
              <a:t>黑盒子，这个算法变成包含多项式步加多项式次调用一个子程序，这个子程序在多项式时间内运行，换句话说，它变成一个多项式时间算法。则有定理</a:t>
            </a:r>
            <a:r>
              <a:rPr lang="en-US" altLang="zh-CN" b="0" i="0" dirty="0">
                <a:effectLst/>
                <a:latin typeface="Inter"/>
              </a:rPr>
              <a:t>8.1</a:t>
            </a:r>
          </a:p>
          <a:p>
            <a:endParaRPr lang="en-US" altLang="zh-CN" b="0" i="0" dirty="0">
              <a:effectLst/>
              <a:latin typeface="Inter"/>
            </a:endParaRPr>
          </a:p>
          <a:p>
            <a:r>
              <a:rPr lang="zh-CN" altLang="en-US" b="0" i="0" dirty="0">
                <a:effectLst/>
                <a:latin typeface="Inter"/>
              </a:rPr>
              <a:t>在本书前面的多个地方隐含地使用了这个事实。例如，用多项式步的预处理过程加解一个最大流问题的实例来求解二部图匹配问题。因为最大流问题能在多项式时间内解决，从而得出二部图匹配问题也能在多项式时间内解决的结论。</a:t>
            </a:r>
            <a:endParaRPr lang="en-US" altLang="zh-CN" b="0" i="0" dirty="0">
              <a:effectLst/>
              <a:latin typeface="Inter"/>
            </a:endParaRPr>
          </a:p>
          <a:p>
            <a:endParaRPr lang="en-US" altLang="zh-CN" b="0" i="0" dirty="0">
              <a:effectLst/>
              <a:latin typeface="Inter"/>
            </a:endParaRPr>
          </a:p>
          <a:p>
            <a:endParaRPr lang="en-US" altLang="zh-CN" b="0" i="0" dirty="0">
              <a:effectLst/>
              <a:latin typeface="Inter"/>
            </a:endParaRPr>
          </a:p>
          <a:p>
            <a:r>
              <a:rPr lang="zh-CN" altLang="en-US" b="0" i="0" dirty="0">
                <a:solidFill>
                  <a:srgbClr val="1C1F23"/>
                </a:solidFill>
                <a:effectLst/>
                <a:latin typeface="Inter"/>
              </a:rPr>
              <a:t>定理</a:t>
            </a:r>
            <a:r>
              <a:rPr lang="en-US" altLang="zh-CN" b="0" i="0" dirty="0">
                <a:solidFill>
                  <a:srgbClr val="1C1F23"/>
                </a:solidFill>
                <a:effectLst/>
                <a:latin typeface="Inter"/>
              </a:rPr>
              <a:t>8.2</a:t>
            </a:r>
            <a:r>
              <a:rPr lang="zh-CN" altLang="en-US" b="0" i="0" dirty="0">
                <a:solidFill>
                  <a:srgbClr val="1C1F23"/>
                </a:solidFill>
                <a:effectLst/>
                <a:latin typeface="Inter"/>
              </a:rPr>
              <a:t>显然等价于定理</a:t>
            </a:r>
            <a:r>
              <a:rPr lang="en-US" altLang="zh-CN" b="0" i="0" dirty="0">
                <a:solidFill>
                  <a:srgbClr val="1C1F23"/>
                </a:solidFill>
                <a:effectLst/>
                <a:latin typeface="Inter"/>
              </a:rPr>
              <a:t>8.1</a:t>
            </a:r>
            <a:r>
              <a:rPr lang="zh-CN" altLang="en-US" b="0" i="0" dirty="0">
                <a:solidFill>
                  <a:srgbClr val="1C1F23"/>
                </a:solidFill>
                <a:effectLst/>
                <a:latin typeface="Inter"/>
              </a:rPr>
              <a:t>，但是它强调了我们的整个计划：如果有一个问题</a:t>
            </a:r>
            <a:r>
              <a:rPr lang="en-US" altLang="zh-CN" b="0" i="0" dirty="0">
                <a:solidFill>
                  <a:srgbClr val="1C1F23"/>
                </a:solidFill>
                <a:effectLst/>
                <a:latin typeface="Inter"/>
              </a:rPr>
              <a:t>Y</a:t>
            </a:r>
            <a:r>
              <a:rPr lang="zh-CN" altLang="en-US" b="0" i="0" dirty="0">
                <a:solidFill>
                  <a:srgbClr val="1C1F23"/>
                </a:solidFill>
                <a:effectLst/>
                <a:latin typeface="Inter"/>
              </a:rPr>
              <a:t>已知它是难的，并且证明</a:t>
            </a:r>
            <a:r>
              <a:rPr lang="en-US" altLang="zh-CN" sz="1200" dirty="0">
                <a:latin typeface="Comic Sans MS" panose="030F0702030302020204" pitchFamily="66" charset="0"/>
              </a:rPr>
              <a:t>Y </a:t>
            </a:r>
            <a:r>
              <a:rPr lang="en-US" altLang="zh-CN" sz="1200" dirty="0">
                <a:latin typeface="Comic Sans MS" panose="030F0702030302020204" pitchFamily="66" charset="0"/>
                <a:sym typeface="Symbol" panose="05050102010706020507" pitchFamily="18" charset="2"/>
              </a:rPr>
              <a:t></a:t>
            </a:r>
            <a:r>
              <a:rPr lang="en-US" altLang="zh-CN" sz="1200" baseline="-25000" dirty="0">
                <a:latin typeface="Comic Sans MS" panose="030F0702030302020204" pitchFamily="66" charset="0"/>
                <a:sym typeface="Symbol" panose="05050102010706020507" pitchFamily="18" charset="2"/>
              </a:rPr>
              <a:t> P</a:t>
            </a:r>
            <a:r>
              <a:rPr lang="en-US" altLang="zh-CN" sz="1200" dirty="0">
                <a:latin typeface="Comic Sans MS" panose="030F0702030302020204" pitchFamily="66" charset="0"/>
              </a:rPr>
              <a:t> X</a:t>
            </a:r>
            <a:r>
              <a:rPr lang="zh-CN" altLang="en-US" b="0" i="0" dirty="0">
                <a:solidFill>
                  <a:srgbClr val="1C1F23"/>
                </a:solidFill>
                <a:effectLst/>
                <a:latin typeface="Inter"/>
              </a:rPr>
              <a:t>，那么难度被“传播”给</a:t>
            </a:r>
            <a:r>
              <a:rPr lang="en-US" altLang="zh-CN" b="0" i="0" dirty="0">
                <a:solidFill>
                  <a:srgbClr val="1C1F23"/>
                </a:solidFill>
                <a:effectLst/>
                <a:latin typeface="Inter"/>
              </a:rPr>
              <a:t>X</a:t>
            </a:r>
            <a:r>
              <a:rPr lang="zh-CN" altLang="en-US" b="0" i="0" dirty="0">
                <a:solidFill>
                  <a:srgbClr val="1C1F23"/>
                </a:solidFill>
                <a:effectLst/>
                <a:latin typeface="Inter"/>
              </a:rPr>
              <a:t>，</a:t>
            </a:r>
            <a:r>
              <a:rPr lang="en-US" altLang="zh-CN" b="0" i="0" dirty="0">
                <a:solidFill>
                  <a:srgbClr val="1C1F23"/>
                </a:solidFill>
                <a:effectLst/>
                <a:latin typeface="Inter"/>
              </a:rPr>
              <a:t>X</a:t>
            </a:r>
            <a:r>
              <a:rPr lang="zh-CN" altLang="en-US" b="0" i="0" dirty="0">
                <a:solidFill>
                  <a:srgbClr val="1C1F23"/>
                </a:solidFill>
                <a:effectLst/>
                <a:latin typeface="Inter"/>
              </a:rPr>
              <a:t>一定也是难的，否则可以用它解</a:t>
            </a:r>
            <a:r>
              <a:rPr lang="en-US" altLang="zh-CN" b="0" i="0" dirty="0">
                <a:solidFill>
                  <a:srgbClr val="1C1F23"/>
                </a:solidFill>
                <a:effectLst/>
                <a:latin typeface="Inter"/>
              </a:rPr>
              <a:t>Y</a:t>
            </a:r>
            <a:r>
              <a:rPr lang="zh-CN" altLang="en-US" b="0" i="0" dirty="0">
                <a:solidFill>
                  <a:srgbClr val="1C1F23"/>
                </a:solidFill>
                <a:effectLst/>
                <a:latin typeface="Inter"/>
              </a:rPr>
              <a:t>。 事实上，我们真不知道所研究的问题是否能在多项式时间内求解，而要用</a:t>
            </a:r>
            <a:r>
              <a:rPr lang="en-US" altLang="zh-CN" sz="1200" dirty="0">
                <a:latin typeface="Comic Sans MS" panose="030F0702030302020204" pitchFamily="66" charset="0"/>
                <a:sym typeface="Symbol" panose="05050102010706020507" pitchFamily="18" charset="2"/>
              </a:rPr>
              <a:t></a:t>
            </a:r>
            <a:r>
              <a:rPr lang="en-US" altLang="zh-CN" sz="1200" baseline="-25000" dirty="0">
                <a:latin typeface="Comic Sans MS" panose="030F0702030302020204" pitchFamily="66" charset="0"/>
                <a:sym typeface="Symbol" panose="05050102010706020507" pitchFamily="18" charset="2"/>
              </a:rPr>
              <a:t> P</a:t>
            </a:r>
            <a:r>
              <a:rPr lang="zh-CN" altLang="en-US" b="0" i="0" dirty="0">
                <a:solidFill>
                  <a:srgbClr val="1C1F23"/>
                </a:solidFill>
                <a:effectLst/>
                <a:latin typeface="Inter"/>
              </a:rPr>
              <a:t>在问题之间建立相对的困难程度。 </a:t>
            </a:r>
            <a:endParaRPr lang="en-US" altLang="zh-CN" b="0" i="0" dirty="0">
              <a:solidFill>
                <a:srgbClr val="1C1F23"/>
              </a:solidFill>
              <a:effectLst/>
              <a:latin typeface="Inter"/>
            </a:endParaRPr>
          </a:p>
          <a:p>
            <a:endParaRPr lang="en-US" altLang="zh-CN" b="0" i="0" dirty="0">
              <a:solidFill>
                <a:srgbClr val="1C1F23"/>
              </a:solidFill>
              <a:effectLst/>
              <a:latin typeface="Inter"/>
            </a:endParaRPr>
          </a:p>
          <a:p>
            <a:r>
              <a:rPr lang="zh-CN" altLang="en-US" b="0" i="0" dirty="0">
                <a:solidFill>
                  <a:srgbClr val="1C1F23"/>
                </a:solidFill>
                <a:effectLst/>
                <a:latin typeface="Inter"/>
              </a:rPr>
              <a:t>记住这一点，现在开始给出若干基本的难问题之间的归约。 </a:t>
            </a:r>
            <a:endParaRPr lang="en-US" altLang="zh-CN" b="0" i="0" dirty="0">
              <a:effectLst/>
              <a:latin typeface="Inter"/>
            </a:endParaRPr>
          </a:p>
          <a:p>
            <a:r>
              <a:rPr lang="zh-CN" altLang="en-US" b="0" i="0" dirty="0">
                <a:effectLst/>
                <a:latin typeface="Inter"/>
              </a:rPr>
              <a:t>实际上定理 </a:t>
            </a:r>
            <a:r>
              <a:rPr lang="en-US" altLang="zh-CN" b="0" i="0" dirty="0">
                <a:effectLst/>
                <a:latin typeface="Inter"/>
              </a:rPr>
              <a:t>8.1 </a:t>
            </a:r>
            <a:r>
              <a:rPr lang="zh-CN" altLang="en-US" b="0" i="0" dirty="0">
                <a:effectLst/>
                <a:latin typeface="Inter"/>
              </a:rPr>
              <a:t>总结了一种设计新问题的多项式时间算法的重要方法：把它归约到我们已经知道如何在多项式时间内求解的问题</a:t>
            </a:r>
            <a:r>
              <a:rPr lang="en-US" altLang="zh-CN" b="0" i="0" dirty="0">
                <a:effectLst/>
                <a:latin typeface="Inter"/>
              </a:rPr>
              <a:t>.</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8</a:t>
            </a:fld>
            <a:endParaRPr lang="en-US" altLang="zh-CN"/>
          </a:p>
        </p:txBody>
      </p:sp>
    </p:spTree>
    <p:extLst>
      <p:ext uri="{BB962C8B-B14F-4D97-AF65-F5344CB8AC3E}">
        <p14:creationId xmlns:p14="http://schemas.microsoft.com/office/powerpoint/2010/main" val="3819117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是在图中寻找一个最大的顶点集合，使得集合中任意两个顶点之间不存在边相连 。</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10</a:t>
            </a:fld>
            <a:endParaRPr lang="en-US" altLang="zh-CN"/>
          </a:p>
        </p:txBody>
      </p:sp>
    </p:spTree>
    <p:extLst>
      <p:ext uri="{BB962C8B-B14F-4D97-AF65-F5344CB8AC3E}">
        <p14:creationId xmlns:p14="http://schemas.microsoft.com/office/powerpoint/2010/main" val="1708133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是在图中寻找一个最小的顶点集合，使得图中的每条边至少有一个端点在这个集合里 。</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12</a:t>
            </a:fld>
            <a:endParaRPr lang="en-US" altLang="zh-CN"/>
          </a:p>
        </p:txBody>
      </p:sp>
    </p:spTree>
    <p:extLst>
      <p:ext uri="{BB962C8B-B14F-4D97-AF65-F5344CB8AC3E}">
        <p14:creationId xmlns:p14="http://schemas.microsoft.com/office/powerpoint/2010/main" val="1475692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“≡ₚ” 表示多项式时间等价 。它意味着在多项式时间的范畴下，左右两边的问题可以相互归约。也就是说，存在一种方式，能在多项式时间内把 “顶点覆盖</a:t>
            </a:r>
            <a:r>
              <a:rPr lang="en-US" altLang="zh-CN" b="0" i="0" dirty="0">
                <a:effectLst/>
                <a:latin typeface="Inter"/>
              </a:rPr>
              <a:t>” </a:t>
            </a:r>
            <a:r>
              <a:rPr lang="zh-CN" altLang="en-US" b="0" i="0" dirty="0">
                <a:effectLst/>
                <a:latin typeface="Inter"/>
              </a:rPr>
              <a:t>问题的实例转换为 “独立集</a:t>
            </a:r>
            <a:r>
              <a:rPr lang="en-US" altLang="zh-CN" b="0" i="0" dirty="0">
                <a:effectLst/>
                <a:latin typeface="Inter"/>
              </a:rPr>
              <a:t>” </a:t>
            </a:r>
            <a:r>
              <a:rPr lang="zh-CN" altLang="en-US" b="0" i="0" dirty="0">
                <a:effectLst/>
                <a:latin typeface="Inter"/>
              </a:rPr>
              <a:t>问题的实例并求解；反之，也能在多项式时间内把 “独立集</a:t>
            </a:r>
            <a:r>
              <a:rPr lang="en-US" altLang="zh-CN" b="0" i="0" dirty="0">
                <a:effectLst/>
                <a:latin typeface="Inter"/>
              </a:rPr>
              <a:t>” </a:t>
            </a:r>
            <a:r>
              <a:rPr lang="zh-CN" altLang="en-US" b="0" i="0" dirty="0">
                <a:effectLst/>
                <a:latin typeface="Inter"/>
              </a:rPr>
              <a:t>问题的实例转换为 “顶点覆盖</a:t>
            </a:r>
            <a:r>
              <a:rPr lang="en-US" altLang="zh-CN" b="0" i="0" dirty="0">
                <a:effectLst/>
                <a:latin typeface="Inter"/>
              </a:rPr>
              <a:t>” </a:t>
            </a:r>
            <a:r>
              <a:rPr lang="zh-CN" altLang="en-US" b="0" i="0" dirty="0">
                <a:effectLst/>
                <a:latin typeface="Inter"/>
              </a:rPr>
              <a:t>问题的实例并求解。</a:t>
            </a:r>
            <a:endParaRPr lang="en-US" altLang="zh-CN" b="0" i="0" dirty="0">
              <a:effectLst/>
              <a:latin typeface="Inter"/>
            </a:endParaRPr>
          </a:p>
          <a:p>
            <a:endParaRPr lang="en-US" altLang="zh-CN" b="0" i="0" dirty="0">
              <a:effectLst/>
              <a:latin typeface="Inter"/>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1" i="0" dirty="0">
                <a:solidFill>
                  <a:srgbClr val="000000"/>
                </a:solidFill>
                <a:effectLst/>
                <a:latin typeface="Inter"/>
              </a:rPr>
              <a:t>问题含义</a:t>
            </a:r>
            <a:r>
              <a:rPr lang="zh-CN" altLang="en-US" b="0" i="0" dirty="0">
                <a:effectLst/>
                <a:latin typeface="Inter"/>
              </a:rPr>
              <a:t> ：“</a:t>
            </a:r>
            <a:r>
              <a:rPr lang="en-US" altLang="zh-CN" b="0" i="0" dirty="0">
                <a:effectLst/>
                <a:latin typeface="Inter"/>
              </a:rPr>
              <a:t>VERTEX - COVER</a:t>
            </a:r>
            <a:r>
              <a:rPr lang="zh-CN" altLang="en-US" b="0" i="0" dirty="0">
                <a:effectLst/>
                <a:latin typeface="Inter"/>
              </a:rPr>
              <a:t>（顶点覆盖）” 问题是在图中寻找一个最小的顶点集合，使得图中的每条边至少有一个端点在这个集合里 。“</a:t>
            </a:r>
            <a:r>
              <a:rPr lang="en-US" altLang="zh-CN" b="0" i="0" dirty="0">
                <a:effectLst/>
                <a:latin typeface="Inter"/>
              </a:rPr>
              <a:t>INDEPENDENT - SET</a:t>
            </a:r>
            <a:r>
              <a:rPr lang="zh-CN" altLang="en-US" b="0" i="0" dirty="0">
                <a:effectLst/>
                <a:latin typeface="Inter"/>
              </a:rPr>
              <a:t>（独立集）” 问题是在图中寻找一个最大的顶点集合，使得集合中任意两个顶点之间不存在边相连 。 这个命题指出这两个看似不同的问题在计算复杂性上是等价的，从一个问题的解可以在多项式时间内得到另一个问题的解 。</a:t>
            </a:r>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17</a:t>
            </a:fld>
            <a:endParaRPr lang="en-US" altLang="zh-CN"/>
          </a:p>
        </p:txBody>
      </p:sp>
    </p:spTree>
    <p:extLst>
      <p:ext uri="{BB962C8B-B14F-4D97-AF65-F5344CB8AC3E}">
        <p14:creationId xmlns:p14="http://schemas.microsoft.com/office/powerpoint/2010/main" val="1357259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给定图</a:t>
            </a:r>
            <a:r>
              <a:rPr lang="en-US" altLang="zh-CN" sz="1200" dirty="0"/>
              <a:t>G=(V,E),</a:t>
            </a:r>
            <a:r>
              <a:rPr lang="zh-CN" altLang="en-US" sz="1200" dirty="0"/>
              <a:t>如果</a:t>
            </a:r>
            <a:r>
              <a:rPr lang="zh-CN" altLang="en-US" sz="1200" b="1" dirty="0"/>
              <a:t>每一条边</a:t>
            </a:r>
            <a:r>
              <a:rPr lang="en-US" altLang="zh-CN" sz="1200" dirty="0"/>
              <a:t>e </a:t>
            </a:r>
            <a:r>
              <a:rPr lang="en-US" altLang="zh-CN" sz="1200" dirty="0">
                <a:sym typeface="Symbol" panose="05050102010706020507" pitchFamily="18" charset="2"/>
              </a:rPr>
              <a:t></a:t>
            </a:r>
            <a:r>
              <a:rPr lang="en-US" altLang="zh-CN" sz="1200" dirty="0"/>
              <a:t> E</a:t>
            </a:r>
            <a:r>
              <a:rPr lang="zh-CN" altLang="en-US" sz="1200" b="1" dirty="0"/>
              <a:t>至少有一个端点在</a:t>
            </a:r>
            <a:r>
              <a:rPr lang="en-US" altLang="zh-CN" sz="1200" b="1" dirty="0"/>
              <a:t>S</a:t>
            </a:r>
            <a:r>
              <a:rPr lang="zh-CN" altLang="en-US" sz="1200" dirty="0"/>
              <a:t>中，则称</a:t>
            </a:r>
            <a:r>
              <a:rPr lang="en-US" altLang="zh-CN" sz="1200" dirty="0"/>
              <a:t>S</a:t>
            </a:r>
            <a:r>
              <a:rPr lang="zh-CN" altLang="en-US" sz="1200" dirty="0"/>
              <a:t>是一个</a:t>
            </a:r>
            <a:r>
              <a:rPr lang="zh-CN" altLang="en-US" sz="1200" b="1" dirty="0"/>
              <a:t>顶点覆盖</a:t>
            </a:r>
            <a:r>
              <a:rPr lang="zh-CN" altLang="en-US" sz="1200" dirty="0"/>
              <a:t>。</a:t>
            </a:r>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19</a:t>
            </a:fld>
            <a:endParaRPr lang="en-US" altLang="zh-CN"/>
          </a:p>
        </p:txBody>
      </p:sp>
    </p:spTree>
    <p:extLst>
      <p:ext uri="{BB962C8B-B14F-4D97-AF65-F5344CB8AC3E}">
        <p14:creationId xmlns:p14="http://schemas.microsoft.com/office/powerpoint/2010/main" val="4131948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顶点覆盖</a:t>
            </a:r>
            <a:r>
              <a:rPr lang="zh-CN" altLang="en-US" b="0" i="0" dirty="0">
                <a:effectLst/>
                <a:latin typeface="Inter"/>
              </a:rPr>
              <a:t>多项式时间可归约到</a:t>
            </a:r>
            <a:r>
              <a:rPr lang="zh-CN" altLang="en-US" sz="1200" dirty="0">
                <a:sym typeface="Symbol" panose="05050102010706020507" pitchFamily="18" charset="2"/>
              </a:rPr>
              <a:t>集合覆盖</a:t>
            </a:r>
          </a:p>
          <a:p>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给定图</a:t>
            </a:r>
            <a:r>
              <a:rPr lang="en-US" altLang="zh-CN" sz="1200" dirty="0"/>
              <a:t>G=(V,E),</a:t>
            </a:r>
            <a:r>
              <a:rPr lang="zh-CN" altLang="en-US" sz="1200" dirty="0"/>
              <a:t>如果</a:t>
            </a:r>
            <a:r>
              <a:rPr lang="zh-CN" altLang="en-US" sz="1200" b="1" dirty="0"/>
              <a:t>每一条边</a:t>
            </a:r>
            <a:r>
              <a:rPr lang="en-US" altLang="zh-CN" sz="1200" dirty="0"/>
              <a:t>e </a:t>
            </a:r>
            <a:r>
              <a:rPr lang="en-US" altLang="zh-CN" sz="1200" dirty="0">
                <a:sym typeface="Symbol" panose="05050102010706020507" pitchFamily="18" charset="2"/>
              </a:rPr>
              <a:t></a:t>
            </a:r>
            <a:r>
              <a:rPr lang="en-US" altLang="zh-CN" sz="1200" dirty="0"/>
              <a:t> E</a:t>
            </a:r>
            <a:r>
              <a:rPr lang="zh-CN" altLang="en-US" sz="1200" b="1" dirty="0"/>
              <a:t>至少有一个端点在</a:t>
            </a:r>
            <a:r>
              <a:rPr lang="en-US" altLang="zh-CN" sz="1200" b="1" dirty="0"/>
              <a:t>S</a:t>
            </a:r>
            <a:r>
              <a:rPr lang="zh-CN" altLang="en-US" sz="1200" dirty="0"/>
              <a:t>中，则称</a:t>
            </a:r>
            <a:r>
              <a:rPr lang="en-US" altLang="zh-CN" sz="1200" dirty="0"/>
              <a:t>S</a:t>
            </a:r>
            <a:r>
              <a:rPr lang="zh-CN" altLang="en-US" sz="1200" dirty="0"/>
              <a:t>是一个</a:t>
            </a:r>
            <a:r>
              <a:rPr lang="zh-CN" altLang="en-US" sz="1200" b="1" dirty="0"/>
              <a:t>顶点覆盖</a:t>
            </a:r>
            <a:r>
              <a:rPr lang="zh-CN" altLang="en-US" sz="1200" dirty="0"/>
              <a:t>。</a:t>
            </a:r>
          </a:p>
          <a:p>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给定</a:t>
            </a:r>
            <a:r>
              <a:rPr lang="en-US" altLang="zh-CN" sz="1200" dirty="0"/>
              <a:t>n</a:t>
            </a:r>
            <a:r>
              <a:rPr lang="zh-CN" altLang="en-US" sz="1200" dirty="0"/>
              <a:t>个元素的集合</a:t>
            </a:r>
            <a:r>
              <a:rPr lang="en-US" altLang="zh-CN" sz="1200" dirty="0"/>
              <a:t>U, U</a:t>
            </a:r>
            <a:r>
              <a:rPr lang="zh-CN" altLang="en-US" sz="1200" dirty="0"/>
              <a:t>的子集</a:t>
            </a:r>
            <a:r>
              <a:rPr lang="en-US" altLang="zh-CN" sz="1200" dirty="0"/>
              <a:t>S</a:t>
            </a:r>
            <a:r>
              <a:rPr lang="en-US" altLang="zh-CN" sz="1200" baseline="-25000" dirty="0"/>
              <a:t>1</a:t>
            </a:r>
            <a:r>
              <a:rPr lang="en-US" altLang="zh-CN" sz="1200" dirty="0"/>
              <a:t>, S</a:t>
            </a:r>
            <a:r>
              <a:rPr lang="en-US" altLang="zh-CN" sz="1200" baseline="-25000" dirty="0"/>
              <a:t>2</a:t>
            </a:r>
            <a:r>
              <a:rPr lang="en-US" altLang="zh-CN" sz="1200" dirty="0"/>
              <a:t>, . . . , </a:t>
            </a:r>
            <a:r>
              <a:rPr lang="en-US" altLang="zh-CN" sz="1200" dirty="0" err="1"/>
              <a:t>S</a:t>
            </a:r>
            <a:r>
              <a:rPr lang="en-US" altLang="zh-CN" sz="1200" baseline="-25000" dirty="0" err="1"/>
              <a:t>m</a:t>
            </a:r>
            <a:r>
              <a:rPr lang="en-US" altLang="zh-CN" sz="1200" dirty="0"/>
              <a:t> </a:t>
            </a:r>
            <a:r>
              <a:rPr lang="zh-CN" altLang="en-US" sz="1200" dirty="0"/>
              <a:t>以及数</a:t>
            </a:r>
            <a:r>
              <a:rPr lang="en-US" altLang="zh-CN" sz="1200" dirty="0"/>
              <a:t>k, </a:t>
            </a:r>
            <a:r>
              <a:rPr lang="zh-CN" altLang="en-US" sz="1200" dirty="0"/>
              <a:t>是否存在数目至多为</a:t>
            </a:r>
            <a:r>
              <a:rPr lang="en-US" altLang="zh-CN" sz="1200" dirty="0"/>
              <a:t>k</a:t>
            </a:r>
            <a:r>
              <a:rPr lang="zh-CN" altLang="en-US" sz="1200" dirty="0"/>
              <a:t>的子集合，其并集等于</a:t>
            </a:r>
            <a:r>
              <a:rPr lang="en-US" altLang="zh-CN" sz="1200" dirty="0"/>
              <a:t>U</a:t>
            </a:r>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20</a:t>
            </a:fld>
            <a:endParaRPr lang="en-US" altLang="zh-CN"/>
          </a:p>
        </p:txBody>
      </p:sp>
    </p:spTree>
    <p:extLst>
      <p:ext uri="{BB962C8B-B14F-4D97-AF65-F5344CB8AC3E}">
        <p14:creationId xmlns:p14="http://schemas.microsoft.com/office/powerpoint/2010/main" val="3975997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i="0" dirty="0">
                <a:effectLst/>
                <a:latin typeface="Inter"/>
              </a:rPr>
              <a:t>是在图中寻找一个最小的顶点集合，使得图中的每条边至少有一个端点在这个集合里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21</a:t>
            </a:fld>
            <a:endParaRPr lang="en-US" altLang="zh-CN"/>
          </a:p>
        </p:txBody>
      </p:sp>
    </p:spTree>
    <p:extLst>
      <p:ext uri="{BB962C8B-B14F-4D97-AF65-F5344CB8AC3E}">
        <p14:creationId xmlns:p14="http://schemas.microsoft.com/office/powerpoint/2010/main" val="2692642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i="0" dirty="0">
                <a:effectLst/>
                <a:latin typeface="Inter"/>
              </a:rPr>
              <a:t>是在图中寻找一个最小的顶点集合，使得图中的每条边至少有一个端点在这个集合里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22</a:t>
            </a:fld>
            <a:endParaRPr lang="en-US" altLang="zh-CN"/>
          </a:p>
        </p:txBody>
      </p:sp>
    </p:spTree>
    <p:extLst>
      <p:ext uri="{BB962C8B-B14F-4D97-AF65-F5344CB8AC3E}">
        <p14:creationId xmlns:p14="http://schemas.microsoft.com/office/powerpoint/2010/main" val="989539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23</a:t>
            </a:fld>
            <a:endParaRPr lang="en-US" altLang="zh-CN"/>
          </a:p>
        </p:txBody>
      </p:sp>
    </p:spTree>
    <p:extLst>
      <p:ext uri="{BB962C8B-B14F-4D97-AF65-F5344CB8AC3E}">
        <p14:creationId xmlns:p14="http://schemas.microsoft.com/office/powerpoint/2010/main" val="2556222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buFont typeface="Wingdings" panose="05000000000000000000" pitchFamily="2" charset="2"/>
              <a:buNone/>
            </a:pPr>
            <a:r>
              <a:rPr lang="zh-CN" altLang="en-US" sz="1200" dirty="0"/>
              <a:t> 独立集</a:t>
            </a:r>
            <a:r>
              <a:rPr lang="zh-CN" altLang="en-US" b="0" i="0" dirty="0">
                <a:effectLst/>
                <a:latin typeface="Inter"/>
              </a:rPr>
              <a:t>多项式时间可归约到</a:t>
            </a:r>
            <a:r>
              <a:rPr lang="zh-CN" altLang="en-US" sz="1200" dirty="0"/>
              <a:t>集合包装</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24</a:t>
            </a:fld>
            <a:endParaRPr lang="en-US" altLang="zh-CN"/>
          </a:p>
        </p:txBody>
      </p:sp>
    </p:spTree>
    <p:extLst>
      <p:ext uri="{BB962C8B-B14F-4D97-AF65-F5344CB8AC3E}">
        <p14:creationId xmlns:p14="http://schemas.microsoft.com/office/powerpoint/2010/main" val="742872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i="0" dirty="0">
                <a:solidFill>
                  <a:srgbClr val="000000"/>
                </a:solidFill>
                <a:effectLst/>
                <a:latin typeface="Abadi" panose="020B0604020104020204" pitchFamily="34" charset="0"/>
              </a:rPr>
              <a:t>∨ </a:t>
            </a:r>
            <a:r>
              <a:rPr lang="zh-CN" altLang="en-US" b="1" i="0" dirty="0">
                <a:solidFill>
                  <a:srgbClr val="000000"/>
                </a:solidFill>
                <a:effectLst/>
                <a:latin typeface="Inter"/>
              </a:rPr>
              <a:t>逻辑或</a:t>
            </a:r>
            <a:endParaRPr lang="en-US" altLang="zh-CN" b="1" i="0" dirty="0">
              <a:solidFill>
                <a:srgbClr val="000000"/>
              </a:solidFill>
              <a:effectLst/>
              <a:latin typeface="Inter"/>
            </a:endParaRPr>
          </a:p>
          <a:p>
            <a:r>
              <a:rPr lang="en-US" altLang="zh-CN" b="1" i="0" dirty="0">
                <a:solidFill>
                  <a:srgbClr val="000000"/>
                </a:solidFill>
                <a:effectLst/>
                <a:latin typeface="Inter"/>
              </a:rPr>
              <a:t>∧</a:t>
            </a:r>
            <a:r>
              <a:rPr lang="zh-CN" altLang="en-US" b="1" i="0" dirty="0">
                <a:solidFill>
                  <a:srgbClr val="000000"/>
                </a:solidFill>
                <a:effectLst/>
                <a:latin typeface="Inter"/>
              </a:rPr>
              <a:t>（逻辑与）</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26</a:t>
            </a:fld>
            <a:endParaRPr lang="en-US" altLang="zh-CN"/>
          </a:p>
        </p:txBody>
      </p:sp>
    </p:spTree>
    <p:extLst>
      <p:ext uri="{BB962C8B-B14F-4D97-AF65-F5344CB8AC3E}">
        <p14:creationId xmlns:p14="http://schemas.microsoft.com/office/powerpoint/2010/main" val="1509904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C1F23"/>
                </a:solidFill>
                <a:effectLst/>
                <a:latin typeface="Inter"/>
              </a:rPr>
              <a:t>SAT</a:t>
            </a:r>
            <a:r>
              <a:rPr lang="zh-CN" altLang="en-US" b="0" i="0" dirty="0">
                <a:solidFill>
                  <a:srgbClr val="1C1F23"/>
                </a:solidFill>
                <a:effectLst/>
                <a:latin typeface="Inter"/>
              </a:rPr>
              <a:t>有一种特殊情况，它本来具有等价的难度，但使人觉得多少要容易一些。这就是所有子句恰好包含</a:t>
            </a:r>
            <a:r>
              <a:rPr lang="en-US" altLang="zh-CN" b="0" i="0" dirty="0">
                <a:solidFill>
                  <a:srgbClr val="1C1F23"/>
                </a:solidFill>
                <a:effectLst/>
                <a:latin typeface="Inter"/>
              </a:rPr>
              <a:t>3</a:t>
            </a:r>
            <a:r>
              <a:rPr lang="zh-CN" altLang="en-US" b="0" i="0" dirty="0">
                <a:solidFill>
                  <a:srgbClr val="1C1F23"/>
                </a:solidFill>
                <a:effectLst/>
                <a:latin typeface="Inter"/>
              </a:rPr>
              <a:t>个项（对应不同的变量）的情况。这个问题称做三元可满足性，或记做 </a:t>
            </a:r>
            <a:r>
              <a:rPr lang="zh-CN" altLang="en-US" sz="1200" dirty="0"/>
              <a:t>3-</a:t>
            </a:r>
            <a:r>
              <a:rPr lang="en-US" altLang="zh-CN" sz="1200" dirty="0"/>
              <a:t>SAT</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27</a:t>
            </a:fld>
            <a:endParaRPr lang="en-US" altLang="zh-CN"/>
          </a:p>
        </p:txBody>
      </p:sp>
    </p:spTree>
    <p:extLst>
      <p:ext uri="{BB962C8B-B14F-4D97-AF65-F5344CB8AC3E}">
        <p14:creationId xmlns:p14="http://schemas.microsoft.com/office/powerpoint/2010/main" val="3421023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C1F23"/>
                </a:solidFill>
                <a:effectLst/>
                <a:latin typeface="Inter"/>
              </a:rPr>
              <a:t>把</a:t>
            </a:r>
            <a:r>
              <a:rPr lang="en-US" altLang="zh-CN" b="0" i="0" dirty="0">
                <a:solidFill>
                  <a:srgbClr val="1C1F23"/>
                </a:solidFill>
                <a:effectLst/>
                <a:latin typeface="Inter"/>
              </a:rPr>
              <a:t>3 - SAT</a:t>
            </a:r>
            <a:r>
              <a:rPr lang="zh-CN" altLang="en-US" b="0" i="0" dirty="0">
                <a:solidFill>
                  <a:srgbClr val="1C1F23"/>
                </a:solidFill>
                <a:effectLst/>
                <a:latin typeface="Inter"/>
              </a:rPr>
              <a:t>归约到独立集</a:t>
            </a:r>
            <a:endParaRPr lang="en-US" altLang="zh-CN" b="0" i="0" dirty="0">
              <a:solidFill>
                <a:srgbClr val="1C1F23"/>
              </a:solidFill>
              <a:effectLst/>
              <a:latin typeface="Inter"/>
            </a:endParaRPr>
          </a:p>
          <a:p>
            <a:endParaRPr lang="en-US" altLang="zh-CN" b="0" i="0" dirty="0">
              <a:solidFill>
                <a:srgbClr val="1C1F23"/>
              </a:solidFill>
              <a:effectLst/>
              <a:latin typeface="Inter"/>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要求每一个子句的长为3</a:t>
            </a:r>
            <a:endParaRPr lang="en-US" altLang="zh-CN" sz="1200"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sz="120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在图</a:t>
            </a:r>
            <a:r>
              <a:rPr lang="en-US" altLang="zh-CN" sz="1200" dirty="0"/>
              <a:t>G=(V,E)</a:t>
            </a:r>
            <a:r>
              <a:rPr lang="zh-CN" altLang="en-US" sz="1200" dirty="0"/>
              <a:t>中，如果</a:t>
            </a:r>
            <a:r>
              <a:rPr lang="zh-CN" altLang="en-US" sz="1200" b="1" dirty="0"/>
              <a:t>顶点集合</a:t>
            </a:r>
            <a:r>
              <a:rPr lang="en-US" altLang="zh-CN" sz="1200" b="1" dirty="0"/>
              <a:t>S </a:t>
            </a:r>
            <a:r>
              <a:rPr lang="en-US" altLang="zh-CN" sz="1200" dirty="0">
                <a:sym typeface="Symbol" panose="05050102010706020507" pitchFamily="18" charset="2"/>
              </a:rPr>
              <a:t> V </a:t>
            </a:r>
            <a:r>
              <a:rPr lang="zh-CN" altLang="en-US" sz="1200" b="1" dirty="0">
                <a:sym typeface="Symbol" panose="05050102010706020507" pitchFamily="18" charset="2"/>
              </a:rPr>
              <a:t>中的任意两点之间没有边</a:t>
            </a:r>
            <a:r>
              <a:rPr lang="zh-CN" altLang="en-US" sz="1200" dirty="0">
                <a:sym typeface="Symbol" panose="05050102010706020507" pitchFamily="18" charset="2"/>
              </a:rPr>
              <a:t>，则称</a:t>
            </a:r>
            <a:r>
              <a:rPr lang="en-US" altLang="zh-CN" sz="1200" dirty="0">
                <a:sym typeface="Symbol" panose="05050102010706020507" pitchFamily="18" charset="2"/>
              </a:rPr>
              <a:t>S</a:t>
            </a:r>
            <a:r>
              <a:rPr lang="zh-CN" altLang="en-US" sz="1200" dirty="0">
                <a:sym typeface="Symbol" panose="05050102010706020507" pitchFamily="18" charset="2"/>
              </a:rPr>
              <a:t>是</a:t>
            </a:r>
            <a:r>
              <a:rPr lang="zh-CN" altLang="en-US" sz="1200" b="1" dirty="0">
                <a:sym typeface="Symbol" panose="05050102010706020507" pitchFamily="18" charset="2"/>
              </a:rPr>
              <a:t>独立</a:t>
            </a:r>
            <a:r>
              <a:rPr lang="zh-CN" altLang="en-US" sz="1200" dirty="0">
                <a:sym typeface="Symbol" panose="05050102010706020507" pitchFamily="18" charset="2"/>
              </a:rPr>
              <a:t>的。</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28</a:t>
            </a:fld>
            <a:endParaRPr lang="en-US" altLang="zh-CN"/>
          </a:p>
        </p:txBody>
      </p:sp>
    </p:spTree>
    <p:extLst>
      <p:ext uri="{BB962C8B-B14F-4D97-AF65-F5344CB8AC3E}">
        <p14:creationId xmlns:p14="http://schemas.microsoft.com/office/powerpoint/2010/main" val="3310462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在多项式时间的范畴下，左右两边的问题可以相互归约</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38</a:t>
            </a:fld>
            <a:endParaRPr lang="en-US" altLang="zh-CN"/>
          </a:p>
        </p:txBody>
      </p:sp>
    </p:spTree>
    <p:extLst>
      <p:ext uri="{BB962C8B-B14F-4D97-AF65-F5344CB8AC3E}">
        <p14:creationId xmlns:p14="http://schemas.microsoft.com/office/powerpoint/2010/main" val="779578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C1F23"/>
                </a:solidFill>
                <a:effectLst/>
                <a:latin typeface="Inter"/>
              </a:rPr>
              <a:t>**</a:t>
            </a:r>
            <a:r>
              <a:rPr lang="zh-CN" altLang="en-US" b="0" i="0" dirty="0">
                <a:solidFill>
                  <a:srgbClr val="1C1F23"/>
                </a:solidFill>
                <a:effectLst/>
                <a:latin typeface="Inter"/>
              </a:rPr>
              <a:t>判别问题**：这是一个判定型问题，答案只有“是”或“否” 。 </a:t>
            </a:r>
            <a:endParaRPr lang="en-US" altLang="zh-CN" b="0" i="0" dirty="0">
              <a:solidFill>
                <a:srgbClr val="1C1F23"/>
              </a:solidFill>
              <a:effectLst/>
              <a:latin typeface="Inter"/>
            </a:endParaRPr>
          </a:p>
          <a:p>
            <a:pPr marL="171450" indent="-171450">
              <a:buFontTx/>
              <a:buChar char="-"/>
            </a:pPr>
            <a:r>
              <a:rPr lang="en-US" altLang="zh-CN" b="0" i="0" dirty="0">
                <a:solidFill>
                  <a:srgbClr val="1C1F23"/>
                </a:solidFill>
                <a:effectLst/>
                <a:latin typeface="Inter"/>
              </a:rPr>
              <a:t>**</a:t>
            </a:r>
            <a:r>
              <a:rPr lang="zh-CN" altLang="en-US" b="0" i="0" dirty="0">
                <a:solidFill>
                  <a:srgbClr val="1C1F23"/>
                </a:solidFill>
                <a:effectLst/>
                <a:latin typeface="Inter"/>
              </a:rPr>
              <a:t>寻找问题**：属于优化问题，要确定满足顶点覆盖条件下规模最小的集合 。 </a:t>
            </a:r>
            <a:endParaRPr lang="en-US" altLang="zh-CN" b="0" i="0" dirty="0">
              <a:solidFill>
                <a:srgbClr val="1C1F23"/>
              </a:solidFill>
              <a:effectLst/>
              <a:latin typeface="Inter"/>
            </a:endParaRPr>
          </a:p>
          <a:p>
            <a:pPr marL="171450" indent="-171450">
              <a:buFontTx/>
              <a:buChar char="-"/>
            </a:pPr>
            <a:r>
              <a:rPr lang="en-US" altLang="zh-CN" b="0" i="0" dirty="0">
                <a:solidFill>
                  <a:srgbClr val="1C1F23"/>
                </a:solidFill>
                <a:effectLst/>
                <a:latin typeface="Inter"/>
              </a:rPr>
              <a:t>**</a:t>
            </a:r>
            <a:r>
              <a:rPr lang="zh-CN" altLang="en-US" b="0" i="0" dirty="0">
                <a:solidFill>
                  <a:srgbClr val="1C1F23"/>
                </a:solidFill>
                <a:effectLst/>
                <a:latin typeface="Inter"/>
              </a:rPr>
              <a:t>自归约性质**：表明寻找最小顶点覆盖这个优化问题可以在多项式时间内归约到前面的判别问题 。</a:t>
            </a:r>
            <a:endParaRPr lang="en-US" altLang="zh-CN" b="0" i="0" dirty="0">
              <a:solidFill>
                <a:srgbClr val="1C1F23"/>
              </a:solidFill>
              <a:effectLst/>
              <a:latin typeface="Inter"/>
            </a:endParaRPr>
          </a:p>
          <a:p>
            <a:pPr marL="171450" indent="-171450">
              <a:buFontTx/>
              <a:buChar char="-"/>
            </a:pPr>
            <a:endParaRPr lang="en-US" altLang="zh-CN" b="0" i="0" dirty="0">
              <a:solidFill>
                <a:srgbClr val="1C1F23"/>
              </a:solidFill>
              <a:effectLst/>
              <a:latin typeface="Inter"/>
            </a:endParaRPr>
          </a:p>
          <a:p>
            <a:pPr marL="171450" indent="-171450">
              <a:buFontTx/>
              <a:buChar char="-"/>
            </a:pPr>
            <a:r>
              <a:rPr lang="zh-CN" altLang="en-US" b="0" i="0" dirty="0">
                <a:solidFill>
                  <a:srgbClr val="1C1F23"/>
                </a:solidFill>
                <a:effectLst/>
                <a:latin typeface="Inter"/>
              </a:rPr>
              <a:t>意味着如果有解决判别问题的方法，就能利用它在多项式时间内处理寻找问题 。</a:t>
            </a:r>
            <a:endParaRPr lang="en-US" altLang="zh-CN" b="0" i="0" dirty="0">
              <a:solidFill>
                <a:srgbClr val="1C1F23"/>
              </a:solidFill>
              <a:effectLst/>
              <a:latin typeface="Inter"/>
            </a:endParaRPr>
          </a:p>
          <a:p>
            <a:pPr marL="171450" indent="-171450">
              <a:buFontTx/>
              <a:buChar char="-"/>
            </a:pPr>
            <a:endParaRPr lang="en-US" altLang="zh-CN" b="0" i="0" dirty="0">
              <a:solidFill>
                <a:srgbClr val="1C1F23"/>
              </a:solidFill>
              <a:effectLst/>
              <a:latin typeface="Inter"/>
            </a:endParaRPr>
          </a:p>
          <a:p>
            <a:pPr marL="171450" indent="-171450">
              <a:buFontTx/>
              <a:buChar char="-"/>
            </a:pPr>
            <a:r>
              <a:rPr lang="zh-CN" altLang="en-US" b="0" i="0" dirty="0">
                <a:solidFill>
                  <a:srgbClr val="1C1F23"/>
                </a:solidFill>
                <a:effectLst/>
                <a:latin typeface="Inter"/>
              </a:rPr>
              <a:t> </a:t>
            </a:r>
            <a:r>
              <a:rPr lang="en-US" altLang="zh-CN" b="0" i="0" dirty="0">
                <a:solidFill>
                  <a:srgbClr val="1C1F23"/>
                </a:solidFill>
                <a:effectLst/>
                <a:latin typeface="Inter"/>
              </a:rPr>
              <a:t>- **</a:t>
            </a:r>
            <a:r>
              <a:rPr lang="zh-CN" altLang="en-US" b="0" i="0" dirty="0">
                <a:solidFill>
                  <a:srgbClr val="1C1F23"/>
                </a:solidFill>
                <a:effectLst/>
                <a:latin typeface="Inter"/>
              </a:rPr>
              <a:t>应用范围**：指出这种自归约性质可应用于本章涉及的所有</a:t>
            </a:r>
            <a:r>
              <a:rPr lang="en-US" altLang="zh-CN" b="0" i="0" dirty="0">
                <a:solidFill>
                  <a:srgbClr val="1C1F23"/>
                </a:solidFill>
                <a:effectLst/>
                <a:latin typeface="Inter"/>
              </a:rPr>
              <a:t>NP - </a:t>
            </a:r>
            <a:r>
              <a:rPr lang="zh-CN" altLang="en-US" b="0" i="0" dirty="0">
                <a:solidFill>
                  <a:srgbClr val="1C1F23"/>
                </a:solidFill>
                <a:effectLst/>
                <a:latin typeface="Inter"/>
              </a:rPr>
              <a:t>完全问题 。</a:t>
            </a:r>
            <a:endParaRPr lang="en-US" altLang="zh-CN" b="0" i="0" dirty="0">
              <a:solidFill>
                <a:srgbClr val="1C1F23"/>
              </a:solidFill>
              <a:effectLst/>
              <a:latin typeface="Inter"/>
            </a:endParaRPr>
          </a:p>
          <a:p>
            <a:pPr marL="171450" indent="-171450">
              <a:buFontTx/>
              <a:buChar char="-"/>
            </a:pPr>
            <a:r>
              <a:rPr lang="zh-CN" altLang="en-US" b="0" i="0" dirty="0">
                <a:solidFill>
                  <a:srgbClr val="1C1F23"/>
                </a:solidFill>
                <a:effectLst/>
                <a:latin typeface="Inter"/>
              </a:rPr>
              <a:t> </a:t>
            </a:r>
            <a:r>
              <a:rPr lang="en-US" altLang="zh-CN" b="0" i="0" dirty="0">
                <a:solidFill>
                  <a:srgbClr val="1C1F23"/>
                </a:solidFill>
                <a:effectLst/>
                <a:latin typeface="Inter"/>
              </a:rPr>
              <a:t>- **</a:t>
            </a:r>
            <a:r>
              <a:rPr lang="zh-CN" altLang="en-US" b="0" i="0" dirty="0">
                <a:solidFill>
                  <a:srgbClr val="1C1F23"/>
                </a:solidFill>
                <a:effectLst/>
                <a:latin typeface="Inter"/>
              </a:rPr>
              <a:t>讨论重点**：强调在相关研究或讲解中，可将主要精力放在判别问题的讨论上，因为它相对基础且对理解其他问题有重要作用 。 </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39</a:t>
            </a:fld>
            <a:endParaRPr lang="en-US" altLang="zh-CN"/>
          </a:p>
        </p:txBody>
      </p:sp>
    </p:spTree>
    <p:extLst>
      <p:ext uri="{BB962C8B-B14F-4D97-AF65-F5344CB8AC3E}">
        <p14:creationId xmlns:p14="http://schemas.microsoft.com/office/powerpoint/2010/main" val="3816840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素数判定问题，又称素性判定，是判断给定的正整数是否为素数的问题 。从计算复杂性角度看，它属于 </a:t>
            </a:r>
            <a:r>
              <a:rPr lang="en-US" altLang="zh-CN" b="0" i="0" dirty="0">
                <a:effectLst/>
                <a:latin typeface="Inter"/>
              </a:rPr>
              <a:t>P </a:t>
            </a:r>
            <a:r>
              <a:rPr lang="zh-CN" altLang="en-US" b="0" i="0" dirty="0">
                <a:effectLst/>
                <a:latin typeface="Inter"/>
              </a:rPr>
              <a:t>类问题，以下是相关介绍：</a:t>
            </a:r>
            <a:endParaRPr lang="en-US" altLang="zh-CN" b="0" i="0" dirty="0">
              <a:effectLst/>
              <a:latin typeface="Inter"/>
            </a:endParaRPr>
          </a:p>
          <a:p>
            <a:endParaRPr lang="en-US" altLang="zh-CN" b="0" i="0" dirty="0">
              <a:effectLst/>
              <a:latin typeface="Inter"/>
            </a:endParaRPr>
          </a:p>
          <a:p>
            <a:r>
              <a:rPr lang="zh-CN" altLang="en-US" b="0" i="0" dirty="0">
                <a:effectLst/>
                <a:latin typeface="Inter"/>
              </a:rPr>
              <a:t> </a:t>
            </a:r>
            <a:r>
              <a:rPr lang="en-US" altLang="zh-CN" b="0" i="0" dirty="0">
                <a:effectLst/>
                <a:latin typeface="Inter"/>
              </a:rPr>
              <a:t>AKS </a:t>
            </a:r>
            <a:r>
              <a:rPr lang="zh-CN" altLang="en-US" b="0" i="0" dirty="0">
                <a:effectLst/>
                <a:latin typeface="Inter"/>
              </a:rPr>
              <a:t>算法可用于检测任何一般给定数字是否为素数 ，突破了算法应用范围的局限性。</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42</a:t>
            </a:fld>
            <a:endParaRPr lang="en-US" altLang="zh-CN"/>
          </a:p>
        </p:txBody>
      </p:sp>
    </p:spTree>
    <p:extLst>
      <p:ext uri="{BB962C8B-B14F-4D97-AF65-F5344CB8AC3E}">
        <p14:creationId xmlns:p14="http://schemas.microsoft.com/office/powerpoint/2010/main" val="4140888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43</a:t>
            </a:fld>
            <a:endParaRPr lang="en-US" altLang="zh-CN"/>
          </a:p>
        </p:txBody>
      </p:sp>
    </p:spTree>
    <p:extLst>
      <p:ext uri="{BB962C8B-B14F-4D97-AF65-F5344CB8AC3E}">
        <p14:creationId xmlns:p14="http://schemas.microsoft.com/office/powerpoint/2010/main" val="27618147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ym typeface="Symbol" panose="05050102010706020507" pitchFamily="18" charset="2"/>
              </a:rPr>
              <a:t>验证程序直接返回值</a:t>
            </a:r>
            <a:r>
              <a:rPr lang="en-US" altLang="zh-CN" sz="1200" dirty="0">
                <a:sym typeface="Symbol" panose="05050102010706020507" pitchFamily="18" charset="2"/>
              </a:rPr>
              <a:t>A(s)</a:t>
            </a:r>
            <a:r>
              <a:rPr lang="zh-CN" altLang="en-US" sz="1200" dirty="0">
                <a:sym typeface="Symbol" panose="05050102010706020507" pitchFamily="18" charset="2"/>
              </a:rPr>
              <a:t>表示：</a:t>
            </a:r>
            <a:r>
              <a:rPr lang="zh-CN" altLang="en-US" b="0" i="0" dirty="0">
                <a:effectLst/>
                <a:latin typeface="Inter"/>
              </a:rPr>
              <a:t>直接运行算法</a:t>
            </a:r>
            <a:r>
              <a:rPr lang="en-US" altLang="zh-CN" b="0" i="0" dirty="0">
                <a:effectLst/>
                <a:latin typeface="Inter"/>
              </a:rPr>
              <a:t>A</a:t>
            </a:r>
            <a:r>
              <a:rPr lang="zh-CN" altLang="en-US" b="0" i="0" dirty="0">
                <a:effectLst/>
                <a:latin typeface="Inter"/>
              </a:rPr>
              <a:t>对实例</a:t>
            </a:r>
            <a:r>
              <a:rPr lang="en-US" altLang="zh-CN" b="0" i="0" dirty="0">
                <a:effectLst/>
                <a:latin typeface="Inter"/>
              </a:rPr>
              <a:t>s</a:t>
            </a:r>
            <a:r>
              <a:rPr lang="zh-CN" altLang="en-US" b="0" i="0" dirty="0">
                <a:effectLst/>
                <a:latin typeface="Inter"/>
              </a:rPr>
              <a:t>进行计算，得到结果</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47</a:t>
            </a:fld>
            <a:endParaRPr lang="en-US" altLang="zh-CN"/>
          </a:p>
        </p:txBody>
      </p:sp>
    </p:spTree>
    <p:extLst>
      <p:ext uri="{BB962C8B-B14F-4D97-AF65-F5344CB8AC3E}">
        <p14:creationId xmlns:p14="http://schemas.microsoft.com/office/powerpoint/2010/main" val="2512112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C1F23"/>
                </a:solidFill>
                <a:effectLst/>
                <a:latin typeface="Inter"/>
              </a:rPr>
              <a:t>很容易验证前两节介绍的问题都属于</a:t>
            </a:r>
            <a:r>
              <a:rPr lang="en-US" altLang="zh-CN" b="0" i="0" dirty="0">
                <a:solidFill>
                  <a:srgbClr val="1C1F23"/>
                </a:solidFill>
                <a:effectLst/>
                <a:latin typeface="Inter"/>
              </a:rPr>
              <a:t>NP</a:t>
            </a:r>
            <a:r>
              <a:rPr lang="zh-CN" altLang="en-US" b="0" i="0" dirty="0">
                <a:solidFill>
                  <a:srgbClr val="1C1F23"/>
                </a:solidFill>
                <a:effectLst/>
                <a:latin typeface="Inter"/>
              </a:rPr>
              <a:t>：这是一件决定有效验证程序如何使用“证书”串</a:t>
            </a:r>
            <a:r>
              <a:rPr lang="en-US" altLang="zh-CN" b="0" i="0" dirty="0">
                <a:solidFill>
                  <a:srgbClr val="1C1F23"/>
                </a:solidFill>
                <a:effectLst/>
                <a:latin typeface="Inter"/>
              </a:rPr>
              <a:t>t</a:t>
            </a:r>
            <a:r>
              <a:rPr lang="zh-CN" altLang="en-US" b="0" i="0" dirty="0">
                <a:solidFill>
                  <a:srgbClr val="1C1F23"/>
                </a:solidFill>
                <a:effectLst/>
                <a:latin typeface="Inter"/>
              </a:rPr>
              <a:t>的事情。例如</a:t>
            </a:r>
            <a:endParaRPr lang="en-US" altLang="zh-CN" b="0" i="0" dirty="0">
              <a:solidFill>
                <a:srgbClr val="1C1F23"/>
              </a:solidFill>
              <a:effectLst/>
              <a:latin typeface="Inter"/>
            </a:endParaRPr>
          </a:p>
          <a:p>
            <a:endParaRPr lang="en-US" altLang="zh-CN" b="0" i="0" dirty="0">
              <a:solidFill>
                <a:srgbClr val="1C1F23"/>
              </a:solidFill>
              <a:effectLst/>
              <a:latin typeface="Inter"/>
            </a:endParaRPr>
          </a:p>
          <a:p>
            <a:r>
              <a:rPr lang="zh-CN" altLang="en-US" b="0" i="0" dirty="0">
                <a:solidFill>
                  <a:srgbClr val="1C1F23"/>
                </a:solidFill>
                <a:effectLst/>
                <a:latin typeface="Inter"/>
              </a:rPr>
              <a:t>我们还不能证明这些问题中的任何一个需要多于多项式的求解时间。</a:t>
            </a:r>
            <a:endParaRPr lang="en-US" altLang="zh-CN" b="0" i="0" dirty="0">
              <a:solidFill>
                <a:srgbClr val="1C1F23"/>
              </a:solidFill>
              <a:effectLst/>
              <a:latin typeface="Inter"/>
            </a:endParaRPr>
          </a:p>
          <a:p>
            <a:endParaRPr lang="en-US" altLang="zh-CN" b="0" i="0" dirty="0">
              <a:solidFill>
                <a:srgbClr val="1C1F23"/>
              </a:solidFill>
              <a:effectLst/>
              <a:latin typeface="Inter"/>
            </a:endParaRPr>
          </a:p>
          <a:p>
            <a:r>
              <a:rPr lang="zh-CN" altLang="en-US" b="0" i="0" dirty="0">
                <a:solidFill>
                  <a:srgbClr val="1C1F23"/>
                </a:solidFill>
                <a:effectLst/>
                <a:latin typeface="Inter"/>
              </a:rPr>
              <a:t>我们确实不能证明</a:t>
            </a:r>
            <a:r>
              <a:rPr lang="en-US" altLang="zh-CN" b="0" i="0" dirty="0">
                <a:solidFill>
                  <a:srgbClr val="1C1F23"/>
                </a:solidFill>
                <a:effectLst/>
                <a:latin typeface="Inter"/>
              </a:rPr>
              <a:t>NP</a:t>
            </a:r>
            <a:r>
              <a:rPr lang="zh-CN" altLang="en-US" b="0" i="0" dirty="0">
                <a:solidFill>
                  <a:srgbClr val="1C1F23"/>
                </a:solidFill>
                <a:effectLst/>
                <a:latin typeface="Inter"/>
              </a:rPr>
              <a:t>中有一个问题不属于</a:t>
            </a:r>
            <a:r>
              <a:rPr lang="en-US" altLang="zh-CN" b="0" i="0" dirty="0">
                <a:solidFill>
                  <a:srgbClr val="1C1F23"/>
                </a:solidFill>
                <a:effectLst/>
                <a:latin typeface="Inter"/>
              </a:rPr>
              <a:t>P</a:t>
            </a:r>
            <a:r>
              <a:rPr lang="zh-CN" altLang="en-US" b="0" i="0" dirty="0">
                <a:solidFill>
                  <a:srgbClr val="1C1F23"/>
                </a:solidFill>
                <a:effectLst/>
                <a:latin typeface="Inter"/>
              </a:rPr>
              <a:t>。所以在下面叙述定理的地方，我们只能问一个问题： </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48</a:t>
            </a:fld>
            <a:endParaRPr lang="en-US" altLang="zh-CN"/>
          </a:p>
        </p:txBody>
      </p:sp>
    </p:spTree>
    <p:extLst>
      <p:ext uri="{BB962C8B-B14F-4D97-AF65-F5344CB8AC3E}">
        <p14:creationId xmlns:p14="http://schemas.microsoft.com/office/powerpoint/2010/main" val="3748112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dirty="0"/>
              <a:t>对于三元可满足性问题，证书</a:t>
            </a:r>
            <a:r>
              <a:rPr lang="en-US" altLang="zh-CN" sz="1200" dirty="0"/>
              <a:t>t</a:t>
            </a:r>
            <a:r>
              <a:rPr lang="zh-CN" altLang="en-US" sz="1200" dirty="0"/>
              <a:t>是</a:t>
            </a:r>
            <a:r>
              <a:rPr lang="zh-CN" altLang="en-US" sz="1200" b="1" dirty="0"/>
              <a:t>对所有变量的真值赋值</a:t>
            </a:r>
            <a:r>
              <a:rPr lang="zh-CN" altLang="en-US" sz="1200" dirty="0"/>
              <a:t>，验证程序</a:t>
            </a:r>
            <a:r>
              <a:rPr lang="en-US" altLang="zh-CN" sz="1200" dirty="0"/>
              <a:t>B</a:t>
            </a:r>
            <a:r>
              <a:rPr lang="zh-CN" altLang="en-US" sz="1200" dirty="0"/>
              <a:t>计算</a:t>
            </a:r>
            <a:r>
              <a:rPr lang="zh-CN" altLang="en-US" sz="1200" b="1" dirty="0"/>
              <a:t>给定的子句集在这个赋值下的值</a:t>
            </a:r>
            <a:r>
              <a:rPr lang="zh-CN" altLang="en-US" sz="1200" dirty="0"/>
              <a:t>。</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49</a:t>
            </a:fld>
            <a:endParaRPr lang="en-US" altLang="zh-CN"/>
          </a:p>
        </p:txBody>
      </p:sp>
    </p:spTree>
    <p:extLst>
      <p:ext uri="{BB962C8B-B14F-4D97-AF65-F5344CB8AC3E}">
        <p14:creationId xmlns:p14="http://schemas.microsoft.com/office/powerpoint/2010/main" val="2744930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C1F23"/>
                </a:solidFill>
                <a:effectLst/>
                <a:latin typeface="Inter"/>
              </a:rPr>
              <a:t>合数是指在大于</a:t>
            </a:r>
            <a:r>
              <a:rPr lang="en-US" altLang="zh-CN" b="0" i="0" dirty="0">
                <a:solidFill>
                  <a:srgbClr val="1C1F23"/>
                </a:solidFill>
                <a:effectLst/>
                <a:latin typeface="Inter"/>
              </a:rPr>
              <a:t>\(1\)</a:t>
            </a:r>
            <a:r>
              <a:rPr lang="zh-CN" altLang="en-US" b="0" i="0" dirty="0">
                <a:solidFill>
                  <a:srgbClr val="1C1F23"/>
                </a:solidFill>
                <a:effectLst/>
                <a:latin typeface="Inter"/>
              </a:rPr>
              <a:t>的整数中，除了能被</a:t>
            </a:r>
            <a:r>
              <a:rPr lang="en-US" altLang="zh-CN" b="0" i="0" dirty="0">
                <a:solidFill>
                  <a:srgbClr val="1C1F23"/>
                </a:solidFill>
                <a:effectLst/>
                <a:latin typeface="Inter"/>
              </a:rPr>
              <a:t>\(1\)</a:t>
            </a:r>
            <a:r>
              <a:rPr lang="zh-CN" altLang="en-US" b="0" i="0" dirty="0">
                <a:solidFill>
                  <a:srgbClr val="1C1F23"/>
                </a:solidFill>
                <a:effectLst/>
                <a:latin typeface="Inter"/>
              </a:rPr>
              <a:t>和它本身整除外，还能被其他数（</a:t>
            </a:r>
            <a:r>
              <a:rPr lang="en-US" altLang="zh-CN" b="0" i="0" dirty="0">
                <a:solidFill>
                  <a:srgbClr val="1C1F23"/>
                </a:solidFill>
                <a:effectLst/>
                <a:latin typeface="Inter"/>
              </a:rPr>
              <a:t>\(0\)</a:t>
            </a:r>
            <a:r>
              <a:rPr lang="zh-CN" altLang="en-US" b="0" i="0" dirty="0">
                <a:solidFill>
                  <a:srgbClr val="1C1F23"/>
                </a:solidFill>
                <a:effectLst/>
                <a:latin typeface="Inter"/>
              </a:rPr>
              <a:t>除外）整除的数。例如</a:t>
            </a:r>
            <a:r>
              <a:rPr lang="en-US" altLang="zh-CN" b="0" i="0" dirty="0">
                <a:solidFill>
                  <a:srgbClr val="1C1F23"/>
                </a:solidFill>
                <a:effectLst/>
                <a:latin typeface="Inter"/>
              </a:rPr>
              <a:t>\(4\)</a:t>
            </a:r>
            <a:r>
              <a:rPr lang="zh-CN" altLang="en-US" b="0" i="0" dirty="0">
                <a:solidFill>
                  <a:srgbClr val="1C1F23"/>
                </a:solidFill>
                <a:effectLst/>
                <a:latin typeface="Inter"/>
              </a:rPr>
              <a:t>除了能被</a:t>
            </a:r>
            <a:r>
              <a:rPr lang="en-US" altLang="zh-CN" b="0" i="0" dirty="0">
                <a:solidFill>
                  <a:srgbClr val="1C1F23"/>
                </a:solidFill>
                <a:effectLst/>
                <a:latin typeface="Inter"/>
              </a:rPr>
              <a:t>\(1\)</a:t>
            </a:r>
            <a:r>
              <a:rPr lang="zh-CN" altLang="en-US" b="0" i="0" dirty="0">
                <a:solidFill>
                  <a:srgbClr val="1C1F23"/>
                </a:solidFill>
                <a:effectLst/>
                <a:latin typeface="Inter"/>
              </a:rPr>
              <a:t>和</a:t>
            </a:r>
            <a:r>
              <a:rPr lang="en-US" altLang="zh-CN" b="0" i="0" dirty="0">
                <a:solidFill>
                  <a:srgbClr val="1C1F23"/>
                </a:solidFill>
                <a:effectLst/>
                <a:latin typeface="Inter"/>
              </a:rPr>
              <a:t>\(4\)</a:t>
            </a:r>
            <a:r>
              <a:rPr lang="zh-CN" altLang="en-US" b="0" i="0" dirty="0">
                <a:solidFill>
                  <a:srgbClr val="1C1F23"/>
                </a:solidFill>
                <a:effectLst/>
                <a:latin typeface="Inter"/>
              </a:rPr>
              <a:t>整除外，还能被</a:t>
            </a:r>
            <a:r>
              <a:rPr lang="en-US" altLang="zh-CN" b="0" i="0" dirty="0">
                <a:solidFill>
                  <a:srgbClr val="1C1F23"/>
                </a:solidFill>
                <a:effectLst/>
                <a:latin typeface="Inter"/>
              </a:rPr>
              <a:t>\(2\)</a:t>
            </a:r>
            <a:r>
              <a:rPr lang="zh-CN" altLang="en-US" b="0" i="0" dirty="0">
                <a:solidFill>
                  <a:srgbClr val="1C1F23"/>
                </a:solidFill>
                <a:effectLst/>
                <a:latin typeface="Inter"/>
              </a:rPr>
              <a:t>整除；</a:t>
            </a:r>
            <a:r>
              <a:rPr lang="en-US" altLang="zh-CN" b="0" i="0" dirty="0">
                <a:solidFill>
                  <a:srgbClr val="1C1F23"/>
                </a:solidFill>
                <a:effectLst/>
                <a:latin typeface="Inter"/>
              </a:rPr>
              <a:t>\(6\)</a:t>
            </a:r>
            <a:r>
              <a:rPr lang="zh-CN" altLang="en-US" b="0" i="0" dirty="0">
                <a:solidFill>
                  <a:srgbClr val="1C1F23"/>
                </a:solidFill>
                <a:effectLst/>
                <a:latin typeface="Inter"/>
              </a:rPr>
              <a:t>除了能被</a:t>
            </a:r>
            <a:r>
              <a:rPr lang="en-US" altLang="zh-CN" b="0" i="0" dirty="0">
                <a:solidFill>
                  <a:srgbClr val="1C1F23"/>
                </a:solidFill>
                <a:effectLst/>
                <a:latin typeface="Inter"/>
              </a:rPr>
              <a:t>\(1\)</a:t>
            </a:r>
            <a:r>
              <a:rPr lang="zh-CN" altLang="en-US" b="0" i="0" dirty="0">
                <a:solidFill>
                  <a:srgbClr val="1C1F23"/>
                </a:solidFill>
                <a:effectLst/>
                <a:latin typeface="Inter"/>
              </a:rPr>
              <a:t>和</a:t>
            </a:r>
            <a:r>
              <a:rPr lang="en-US" altLang="zh-CN" b="0" i="0" dirty="0">
                <a:solidFill>
                  <a:srgbClr val="1C1F23"/>
                </a:solidFill>
                <a:effectLst/>
                <a:latin typeface="Inter"/>
              </a:rPr>
              <a:t>\(6\)</a:t>
            </a:r>
            <a:r>
              <a:rPr lang="zh-CN" altLang="en-US" b="0" i="0" dirty="0">
                <a:solidFill>
                  <a:srgbClr val="1C1F23"/>
                </a:solidFill>
                <a:effectLst/>
                <a:latin typeface="Inter"/>
              </a:rPr>
              <a:t>整除外，还能被</a:t>
            </a:r>
            <a:r>
              <a:rPr lang="en-US" altLang="zh-CN" b="0" i="0" dirty="0">
                <a:solidFill>
                  <a:srgbClr val="1C1F23"/>
                </a:solidFill>
                <a:effectLst/>
                <a:latin typeface="Inter"/>
              </a:rPr>
              <a:t>\(2\)</a:t>
            </a:r>
            <a:r>
              <a:rPr lang="zh-CN" altLang="en-US" b="0" i="0" dirty="0">
                <a:solidFill>
                  <a:srgbClr val="1C1F23"/>
                </a:solidFill>
                <a:effectLst/>
                <a:latin typeface="Inter"/>
              </a:rPr>
              <a:t>和</a:t>
            </a:r>
            <a:r>
              <a:rPr lang="en-US" altLang="zh-CN" b="0" i="0" dirty="0">
                <a:solidFill>
                  <a:srgbClr val="1C1F23"/>
                </a:solidFill>
                <a:effectLst/>
                <a:latin typeface="Inter"/>
              </a:rPr>
              <a:t>\(3\)</a:t>
            </a:r>
            <a:r>
              <a:rPr lang="zh-CN" altLang="en-US" b="0" i="0" dirty="0">
                <a:solidFill>
                  <a:srgbClr val="1C1F23"/>
                </a:solidFill>
                <a:effectLst/>
                <a:latin typeface="Inter"/>
              </a:rPr>
              <a:t>整除 ，所以</a:t>
            </a:r>
            <a:r>
              <a:rPr lang="en-US" altLang="zh-CN" b="0" i="0" dirty="0">
                <a:solidFill>
                  <a:srgbClr val="1C1F23"/>
                </a:solidFill>
                <a:effectLst/>
                <a:latin typeface="Inter"/>
              </a:rPr>
              <a:t>\(4\)</a:t>
            </a:r>
            <a:r>
              <a:rPr lang="zh-CN" altLang="en-US" b="0" i="0" dirty="0">
                <a:solidFill>
                  <a:srgbClr val="1C1F23"/>
                </a:solidFill>
                <a:effectLst/>
                <a:latin typeface="Inter"/>
              </a:rPr>
              <a:t>和</a:t>
            </a:r>
            <a:r>
              <a:rPr lang="en-US" altLang="zh-CN" b="0" i="0" dirty="0">
                <a:solidFill>
                  <a:srgbClr val="1C1F23"/>
                </a:solidFill>
                <a:effectLst/>
                <a:latin typeface="Inter"/>
              </a:rPr>
              <a:t>\(6\)</a:t>
            </a:r>
            <a:r>
              <a:rPr lang="zh-CN" altLang="en-US" b="0" i="0" dirty="0">
                <a:solidFill>
                  <a:srgbClr val="1C1F23"/>
                </a:solidFill>
                <a:effectLst/>
                <a:latin typeface="Inter"/>
              </a:rPr>
              <a:t>都是合数。与之相对的概念是质数（素数），质数是只能被</a:t>
            </a:r>
            <a:r>
              <a:rPr lang="en-US" altLang="zh-CN" b="0" i="0" dirty="0">
                <a:solidFill>
                  <a:srgbClr val="1C1F23"/>
                </a:solidFill>
                <a:effectLst/>
                <a:latin typeface="Inter"/>
              </a:rPr>
              <a:t>\(1\)</a:t>
            </a:r>
            <a:r>
              <a:rPr lang="zh-CN" altLang="en-US" b="0" i="0" dirty="0">
                <a:solidFill>
                  <a:srgbClr val="1C1F23"/>
                </a:solidFill>
                <a:effectLst/>
                <a:latin typeface="Inter"/>
              </a:rPr>
              <a:t>和自身整除的大于</a:t>
            </a:r>
            <a:r>
              <a:rPr lang="en-US" altLang="zh-CN" b="0" i="0" dirty="0">
                <a:solidFill>
                  <a:srgbClr val="1C1F23"/>
                </a:solidFill>
                <a:effectLst/>
                <a:latin typeface="Inter"/>
              </a:rPr>
              <a:t>\(1\)</a:t>
            </a:r>
            <a:r>
              <a:rPr lang="zh-CN" altLang="en-US" b="0" i="0" dirty="0">
                <a:solidFill>
                  <a:srgbClr val="1C1F23"/>
                </a:solidFill>
                <a:effectLst/>
                <a:latin typeface="Inter"/>
              </a:rPr>
              <a:t>的整数。 </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50</a:t>
            </a:fld>
            <a:endParaRPr lang="en-US" altLang="zh-CN"/>
          </a:p>
        </p:txBody>
      </p:sp>
    </p:spTree>
    <p:extLst>
      <p:ext uri="{BB962C8B-B14F-4D97-AF65-F5344CB8AC3E}">
        <p14:creationId xmlns:p14="http://schemas.microsoft.com/office/powerpoint/2010/main" val="38891685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为了证明一个问题时</a:t>
            </a:r>
            <a:r>
              <a:rPr lang="en-US" altLang="zh-CN" dirty="0"/>
              <a:t>NP</a:t>
            </a:r>
            <a:r>
              <a:rPr lang="zh-CN" altLang="en-US" dirty="0"/>
              <a:t>完全的，</a:t>
            </a:r>
            <a:r>
              <a:rPr lang="zh-CN" altLang="en-US" b="0" i="0" dirty="0">
                <a:effectLst/>
                <a:latin typeface="Inter"/>
              </a:rPr>
              <a:t>必须说明如何用它描述</a:t>
            </a:r>
            <a:r>
              <a:rPr lang="en-US" altLang="zh-CN" b="0" i="0" dirty="0">
                <a:effectLst/>
                <a:latin typeface="Inter"/>
              </a:rPr>
              <a:t>NP</a:t>
            </a:r>
            <a:r>
              <a:rPr lang="zh-CN" altLang="en-US" b="0" i="0" dirty="0">
                <a:effectLst/>
                <a:latin typeface="Inter"/>
              </a:rPr>
              <a:t>中的任意一个问题。</a:t>
            </a:r>
            <a:endParaRPr lang="en-US" altLang="zh-CN" b="0" i="0" dirty="0">
              <a:effectLst/>
              <a:latin typeface="Inter"/>
            </a:endParaRPr>
          </a:p>
          <a:p>
            <a:r>
              <a:rPr lang="zh-CN" altLang="en-US" b="0" i="0" dirty="0">
                <a:effectLst/>
                <a:latin typeface="Inter"/>
              </a:rPr>
              <a:t>在 </a:t>
            </a:r>
            <a:r>
              <a:rPr lang="en-US" altLang="zh-CN" b="0" i="0" dirty="0">
                <a:effectLst/>
                <a:latin typeface="Inter"/>
              </a:rPr>
              <a:t>1971 </a:t>
            </a:r>
            <a:r>
              <a:rPr lang="zh-CN" altLang="en-US" b="0" i="0" dirty="0">
                <a:effectLst/>
                <a:latin typeface="Inter"/>
              </a:rPr>
              <a:t>年，</a:t>
            </a:r>
            <a:r>
              <a:rPr lang="en-US" altLang="zh-CN" b="0" i="0" dirty="0">
                <a:effectLst/>
                <a:latin typeface="Inter"/>
              </a:rPr>
              <a:t>Cook </a:t>
            </a:r>
            <a:r>
              <a:rPr lang="zh-CN" altLang="en-US" b="0" i="0" dirty="0">
                <a:effectLst/>
                <a:latin typeface="Inter"/>
              </a:rPr>
              <a:t>和 </a:t>
            </a:r>
            <a:r>
              <a:rPr lang="en-US" altLang="zh-CN" b="0" i="0" dirty="0">
                <a:effectLst/>
                <a:latin typeface="Inter"/>
              </a:rPr>
              <a:t>Levin </a:t>
            </a:r>
            <a:r>
              <a:rPr lang="zh-CN" altLang="en-US" b="0" i="0" dirty="0">
                <a:effectLst/>
                <a:latin typeface="Inter"/>
              </a:rPr>
              <a:t>选用电路可满足性问题来证明它是</a:t>
            </a:r>
            <a:r>
              <a:rPr lang="en-US" altLang="zh-CN" b="0" i="0" dirty="0">
                <a:effectLst/>
                <a:latin typeface="Inter"/>
              </a:rPr>
              <a:t>NP</a:t>
            </a:r>
            <a:r>
              <a:rPr lang="zh-CN" altLang="en-US" b="0" i="0" dirty="0">
                <a:effectLst/>
                <a:latin typeface="Inter"/>
              </a:rPr>
              <a:t>完全的。</a:t>
            </a:r>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55</a:t>
            </a:fld>
            <a:endParaRPr lang="en-US" altLang="zh-CN"/>
          </a:p>
        </p:txBody>
      </p:sp>
    </p:spTree>
    <p:extLst>
      <p:ext uri="{BB962C8B-B14F-4D97-AF65-F5344CB8AC3E}">
        <p14:creationId xmlns:p14="http://schemas.microsoft.com/office/powerpoint/2010/main" val="42753775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8638F0-514E-420E-8992-EDFECFB15029}" type="slidenum">
              <a:rPr lang="zh-CN" altLang="en-US" smtClean="0"/>
              <a:pPr/>
              <a:t>56</a:t>
            </a:fld>
            <a:endParaRPr lang="en-US" altLang="zh-CN"/>
          </a:p>
        </p:txBody>
      </p:sp>
    </p:spTree>
    <p:extLst>
      <p:ext uri="{BB962C8B-B14F-4D97-AF65-F5344CB8AC3E}">
        <p14:creationId xmlns:p14="http://schemas.microsoft.com/office/powerpoint/2010/main" val="23422576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l="39788" r="40189"/>
          <a:stretch>
            <a:fillRect/>
          </a:stretch>
        </p:blipFill>
        <p:spPr>
          <a:xfrm>
            <a:off x="1" y="1"/>
            <a:ext cx="2318993" cy="6879215"/>
          </a:xfrm>
          <a:prstGeom prst="rect">
            <a:avLst/>
          </a:prstGeom>
        </p:spPr>
      </p:pic>
      <p:sp>
        <p:nvSpPr>
          <p:cNvPr id="9" name="矩形 8"/>
          <p:cNvSpPr/>
          <p:nvPr/>
        </p:nvSpPr>
        <p:spPr>
          <a:xfrm>
            <a:off x="0" y="-1"/>
            <a:ext cx="2318993" cy="6879215"/>
          </a:xfrm>
          <a:prstGeom prst="rect">
            <a:avLst/>
          </a:prstGeom>
          <a:solidFill>
            <a:srgbClr val="7E0C6E">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nvGrpSpPr>
          <p:cNvPr id="2" name="组合 1"/>
          <p:cNvGrpSpPr/>
          <p:nvPr/>
        </p:nvGrpSpPr>
        <p:grpSpPr>
          <a:xfrm>
            <a:off x="443679" y="789084"/>
            <a:ext cx="1385468" cy="5301047"/>
            <a:chOff x="494010" y="778476"/>
            <a:chExt cx="1847290" cy="5301047"/>
          </a:xfrm>
        </p:grpSpPr>
        <p:sp>
          <p:nvSpPr>
            <p:cNvPr id="11" name="文本框 10"/>
            <p:cNvSpPr txBox="1"/>
            <p:nvPr/>
          </p:nvSpPr>
          <p:spPr>
            <a:xfrm>
              <a:off x="1356415" y="778476"/>
              <a:ext cx="984885" cy="3111500"/>
            </a:xfrm>
            <a:prstGeom prst="rect">
              <a:avLst/>
            </a:prstGeom>
            <a:noFill/>
          </p:spPr>
          <p:txBody>
            <a:bodyPr vert="eaVert" wrap="square" rtlCol="0">
              <a:spAutoFit/>
            </a:bodyPr>
            <a:lstStyle/>
            <a:p>
              <a:pPr algn="ctr"/>
              <a:r>
                <a:rPr lang="zh-CN" altLang="en-US" sz="3600" b="0" dirty="0">
                  <a:solidFill>
                    <a:schemeClr val="bg1"/>
                  </a:solidFill>
                  <a:latin typeface="华文隶书" panose="02010800040101010101" pitchFamily="2" charset="-122"/>
                  <a:ea typeface="华文隶书" panose="02010800040101010101" pitchFamily="2" charset="-122"/>
                </a:rPr>
                <a:t>允公允能</a:t>
              </a:r>
            </a:p>
          </p:txBody>
        </p:sp>
        <p:sp>
          <p:nvSpPr>
            <p:cNvPr id="12" name="文本框 11"/>
            <p:cNvSpPr txBox="1"/>
            <p:nvPr/>
          </p:nvSpPr>
          <p:spPr>
            <a:xfrm>
              <a:off x="494010" y="2968023"/>
              <a:ext cx="984885" cy="3111500"/>
            </a:xfrm>
            <a:prstGeom prst="rect">
              <a:avLst/>
            </a:prstGeom>
            <a:noFill/>
          </p:spPr>
          <p:txBody>
            <a:bodyPr vert="eaVert" wrap="square" rtlCol="0">
              <a:spAutoFit/>
            </a:bodyPr>
            <a:lstStyle/>
            <a:p>
              <a:pPr algn="ctr"/>
              <a:r>
                <a:rPr lang="zh-CN" altLang="en-US" sz="3600" b="0" kern="1200" dirty="0">
                  <a:solidFill>
                    <a:schemeClr val="bg1"/>
                  </a:solidFill>
                  <a:latin typeface="华文隶书" panose="02010800040101010101" pitchFamily="2" charset="-122"/>
                  <a:ea typeface="华文隶书" panose="02010800040101010101" pitchFamily="2" charset="-122"/>
                  <a:cs typeface="+mn-cs"/>
                </a:rPr>
                <a:t>日新月异</a:t>
              </a:r>
            </a:p>
          </p:txBody>
        </p:sp>
      </p:grpSp>
      <p:sp>
        <p:nvSpPr>
          <p:cNvPr id="13" name="矩形 12"/>
          <p:cNvSpPr/>
          <p:nvPr/>
        </p:nvSpPr>
        <p:spPr>
          <a:xfrm>
            <a:off x="1" y="-10607"/>
            <a:ext cx="2318993" cy="6879215"/>
          </a:xfrm>
          <a:prstGeom prst="rect">
            <a:avLst/>
          </a:prstGeom>
          <a:solidFill>
            <a:srgbClr val="7E0C6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nvGrpSpPr>
          <p:cNvPr id="14" name="组合 13"/>
          <p:cNvGrpSpPr/>
          <p:nvPr/>
        </p:nvGrpSpPr>
        <p:grpSpPr>
          <a:xfrm>
            <a:off x="7505665" y="445443"/>
            <a:ext cx="1224971" cy="1633295"/>
            <a:chOff x="9995625" y="454847"/>
            <a:chExt cx="1737980" cy="1737980"/>
          </a:xfrm>
        </p:grpSpPr>
        <p:grpSp>
          <p:nvGrpSpPr>
            <p:cNvPr id="15" name="组合 14"/>
            <p:cNvGrpSpPr/>
            <p:nvPr/>
          </p:nvGrpSpPr>
          <p:grpSpPr>
            <a:xfrm>
              <a:off x="10270615" y="719123"/>
              <a:ext cx="1188000" cy="1188000"/>
              <a:chOff x="9655860" y="955908"/>
              <a:chExt cx="1188000" cy="1188000"/>
            </a:xfrm>
          </p:grpSpPr>
          <p:cxnSp>
            <p:nvCxnSpPr>
              <p:cNvPr id="19" name="直接连接符 18"/>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6200000">
                <a:off x="10230734" y="1549908"/>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9995625" y="454847"/>
              <a:ext cx="1737980" cy="1737980"/>
              <a:chOff x="9655860" y="963609"/>
              <a:chExt cx="1188000" cy="1188000"/>
            </a:xfrm>
          </p:grpSpPr>
          <p:cxnSp>
            <p:nvCxnSpPr>
              <p:cNvPr id="17" name="直接连接符 16"/>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16200000">
                <a:off x="10236976" y="1557609"/>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sp>
        <p:nvSpPr>
          <p:cNvPr id="21" name="矩形 20"/>
          <p:cNvSpPr/>
          <p:nvPr/>
        </p:nvSpPr>
        <p:spPr>
          <a:xfrm>
            <a:off x="2395094" y="3397969"/>
            <a:ext cx="6745778" cy="3559269"/>
          </a:xfrm>
          <a:prstGeom prst="rect">
            <a:avLst/>
          </a:prstGeom>
          <a:blipFill dpi="0" rotWithShape="1">
            <a:blip r:embed="rId3">
              <a:alphaModFix amt="1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Tree>
    <p:extLst>
      <p:ext uri="{BB962C8B-B14F-4D97-AF65-F5344CB8AC3E}">
        <p14:creationId xmlns:p14="http://schemas.microsoft.com/office/powerpoint/2010/main" val="222110592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39788" r="40189"/>
          <a:stretch>
            <a:fillRect/>
          </a:stretch>
        </p:blipFill>
        <p:spPr>
          <a:xfrm>
            <a:off x="865023" y="-5304"/>
            <a:ext cx="2318993" cy="6879215"/>
          </a:xfrm>
          <a:prstGeom prst="rect">
            <a:avLst/>
          </a:prstGeom>
        </p:spPr>
      </p:pic>
      <p:sp>
        <p:nvSpPr>
          <p:cNvPr id="12" name="矩形 11"/>
          <p:cNvSpPr/>
          <p:nvPr/>
        </p:nvSpPr>
        <p:spPr>
          <a:xfrm>
            <a:off x="865022" y="-5305"/>
            <a:ext cx="2318993" cy="6879215"/>
          </a:xfrm>
          <a:prstGeom prst="rect">
            <a:avLst/>
          </a:prstGeom>
          <a:solidFill>
            <a:srgbClr val="7E0C6E">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0" name="矩形 19"/>
          <p:cNvSpPr/>
          <p:nvPr/>
        </p:nvSpPr>
        <p:spPr>
          <a:xfrm>
            <a:off x="865021" y="1"/>
            <a:ext cx="2318993" cy="6879215"/>
          </a:xfrm>
          <a:prstGeom prst="rect">
            <a:avLst/>
          </a:prstGeom>
          <a:solidFill>
            <a:srgbClr val="7E0C6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1" name="矩形 20"/>
          <p:cNvSpPr/>
          <p:nvPr/>
        </p:nvSpPr>
        <p:spPr>
          <a:xfrm>
            <a:off x="3247518" y="3813436"/>
            <a:ext cx="5896482" cy="3111155"/>
          </a:xfrm>
          <a:prstGeom prst="rect">
            <a:avLst/>
          </a:prstGeom>
          <a:blipFill dpi="0" rotWithShape="1">
            <a:blip r:embed="rId3">
              <a:alphaModFix amt="1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37328" y="524137"/>
            <a:ext cx="1251523" cy="481027"/>
          </a:xfrm>
          <a:prstGeom prst="rect">
            <a:avLst/>
          </a:prstGeom>
        </p:spPr>
      </p:pic>
    </p:spTree>
    <p:extLst>
      <p:ext uri="{BB962C8B-B14F-4D97-AF65-F5344CB8AC3E}">
        <p14:creationId xmlns:p14="http://schemas.microsoft.com/office/powerpoint/2010/main" val="139891172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bg>
      <p:bgPr>
        <a:gradFill>
          <a:gsLst>
            <a:gs pos="11000">
              <a:srgbClr val="7E0C6E">
                <a:alpha val="75000"/>
              </a:srgbClr>
            </a:gs>
            <a:gs pos="100000">
              <a:srgbClr val="7E0C6E"/>
            </a:gs>
          </a:gsLst>
          <a:lin ang="5400000" scaled="1"/>
        </a:gradFill>
        <a:effectLst/>
      </p:bgPr>
    </p:bg>
    <p:spTree>
      <p:nvGrpSpPr>
        <p:cNvPr id="1" name=""/>
        <p:cNvGrpSpPr/>
        <p:nvPr/>
      </p:nvGrpSpPr>
      <p:grpSpPr>
        <a:xfrm>
          <a:off x="0" y="0"/>
          <a:ext cx="0" cy="0"/>
          <a:chOff x="0" y="0"/>
          <a:chExt cx="0" cy="0"/>
        </a:xfrm>
      </p:grpSpPr>
      <p:grpSp>
        <p:nvGrpSpPr>
          <p:cNvPr id="10" name="组合 9"/>
          <p:cNvGrpSpPr/>
          <p:nvPr/>
        </p:nvGrpSpPr>
        <p:grpSpPr>
          <a:xfrm flipH="1">
            <a:off x="1260248" y="0"/>
            <a:ext cx="173903" cy="3276600"/>
            <a:chOff x="4399082" y="1624876"/>
            <a:chExt cx="231871" cy="3276600"/>
          </a:xfrm>
        </p:grpSpPr>
        <p:cxnSp>
          <p:nvCxnSpPr>
            <p:cNvPr id="11" name="直接连接符 10"/>
            <p:cNvCxnSpPr/>
            <p:nvPr/>
          </p:nvCxnSpPr>
          <p:spPr>
            <a:xfrm rot="5400000" flipV="1">
              <a:off x="2992653" y="3263176"/>
              <a:ext cx="327660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V="1">
              <a:off x="3608507" y="2415451"/>
              <a:ext cx="158115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grpSp>
      <p:sp>
        <p:nvSpPr>
          <p:cNvPr id="5" name="矩形 4"/>
          <p:cNvSpPr/>
          <p:nvPr/>
        </p:nvSpPr>
        <p:spPr>
          <a:xfrm>
            <a:off x="5564838" y="-417609"/>
            <a:ext cx="5769913" cy="7693217"/>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Tree>
    <p:extLst>
      <p:ext uri="{BB962C8B-B14F-4D97-AF65-F5344CB8AC3E}">
        <p14:creationId xmlns:p14="http://schemas.microsoft.com/office/powerpoint/2010/main" val="316848267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l="39788" r="40189"/>
          <a:stretch>
            <a:fillRect/>
          </a:stretch>
        </p:blipFill>
        <p:spPr>
          <a:xfrm>
            <a:off x="6825007" y="1"/>
            <a:ext cx="2318993" cy="6879215"/>
          </a:xfrm>
          <a:prstGeom prst="rect">
            <a:avLst/>
          </a:prstGeom>
        </p:spPr>
      </p:pic>
      <p:sp>
        <p:nvSpPr>
          <p:cNvPr id="9" name="矩形 8"/>
          <p:cNvSpPr/>
          <p:nvPr/>
        </p:nvSpPr>
        <p:spPr>
          <a:xfrm>
            <a:off x="6848476" y="1"/>
            <a:ext cx="2318993" cy="6879215"/>
          </a:xfrm>
          <a:prstGeom prst="rect">
            <a:avLst/>
          </a:prstGeom>
          <a:solidFill>
            <a:srgbClr val="7E0C6E">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grpSp>
        <p:nvGrpSpPr>
          <p:cNvPr id="14" name="组合 13"/>
          <p:cNvGrpSpPr/>
          <p:nvPr/>
        </p:nvGrpSpPr>
        <p:grpSpPr>
          <a:xfrm rot="16200000">
            <a:off x="344703" y="945768"/>
            <a:ext cx="1633295" cy="1224971"/>
            <a:chOff x="9995625" y="454847"/>
            <a:chExt cx="1737980" cy="1737980"/>
          </a:xfrm>
        </p:grpSpPr>
        <p:grpSp>
          <p:nvGrpSpPr>
            <p:cNvPr id="15" name="组合 14"/>
            <p:cNvGrpSpPr/>
            <p:nvPr/>
          </p:nvGrpSpPr>
          <p:grpSpPr>
            <a:xfrm>
              <a:off x="10270615" y="719123"/>
              <a:ext cx="1188000" cy="1188000"/>
              <a:chOff x="9655860" y="955908"/>
              <a:chExt cx="1188000" cy="1188000"/>
            </a:xfrm>
          </p:grpSpPr>
          <p:cxnSp>
            <p:nvCxnSpPr>
              <p:cNvPr id="19" name="直接连接符 18"/>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6200000">
                <a:off x="10230734" y="1549908"/>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9995625" y="454847"/>
              <a:ext cx="1737980" cy="1737980"/>
              <a:chOff x="9655860" y="963609"/>
              <a:chExt cx="1188000" cy="1188000"/>
            </a:xfrm>
          </p:grpSpPr>
          <p:cxnSp>
            <p:nvCxnSpPr>
              <p:cNvPr id="17" name="直接连接符 16"/>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16200000">
                <a:off x="10236976" y="1557609"/>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grpSp>
        <p:nvGrpSpPr>
          <p:cNvPr id="21" name="组合 20"/>
          <p:cNvGrpSpPr/>
          <p:nvPr/>
        </p:nvGrpSpPr>
        <p:grpSpPr>
          <a:xfrm>
            <a:off x="7292156" y="789084"/>
            <a:ext cx="1385468" cy="5301047"/>
            <a:chOff x="494010" y="778476"/>
            <a:chExt cx="1847290" cy="5301047"/>
          </a:xfrm>
        </p:grpSpPr>
        <p:sp>
          <p:nvSpPr>
            <p:cNvPr id="22" name="文本框 21"/>
            <p:cNvSpPr txBox="1"/>
            <p:nvPr/>
          </p:nvSpPr>
          <p:spPr>
            <a:xfrm>
              <a:off x="1356415" y="778476"/>
              <a:ext cx="984885" cy="3111500"/>
            </a:xfrm>
            <a:prstGeom prst="rect">
              <a:avLst/>
            </a:prstGeom>
            <a:noFill/>
          </p:spPr>
          <p:txBody>
            <a:bodyPr vert="eaVert" wrap="square" rtlCol="0">
              <a:spAutoFit/>
            </a:bodyPr>
            <a:lstStyle/>
            <a:p>
              <a:pPr algn="ctr"/>
              <a:r>
                <a:rPr lang="zh-CN" altLang="en-US" sz="3600" b="0" dirty="0">
                  <a:solidFill>
                    <a:schemeClr val="bg1"/>
                  </a:solidFill>
                  <a:latin typeface="华文隶书" panose="02010800040101010101" pitchFamily="2" charset="-122"/>
                  <a:ea typeface="华文隶书" panose="02010800040101010101" pitchFamily="2" charset="-122"/>
                </a:rPr>
                <a:t>允公允能</a:t>
              </a:r>
            </a:p>
          </p:txBody>
        </p:sp>
        <p:sp>
          <p:nvSpPr>
            <p:cNvPr id="23" name="文本框 22"/>
            <p:cNvSpPr txBox="1"/>
            <p:nvPr/>
          </p:nvSpPr>
          <p:spPr>
            <a:xfrm>
              <a:off x="494010" y="2968023"/>
              <a:ext cx="984885" cy="3111500"/>
            </a:xfrm>
            <a:prstGeom prst="rect">
              <a:avLst/>
            </a:prstGeom>
            <a:noFill/>
          </p:spPr>
          <p:txBody>
            <a:bodyPr vert="eaVert" wrap="square" rtlCol="0">
              <a:spAutoFit/>
            </a:bodyPr>
            <a:lstStyle/>
            <a:p>
              <a:pPr algn="ctr"/>
              <a:r>
                <a:rPr lang="zh-CN" altLang="en-US" sz="3600" b="0" kern="1200" dirty="0">
                  <a:solidFill>
                    <a:schemeClr val="bg1"/>
                  </a:solidFill>
                  <a:latin typeface="华文隶书" panose="02010800040101010101" pitchFamily="2" charset="-122"/>
                  <a:ea typeface="华文隶书" panose="02010800040101010101" pitchFamily="2" charset="-122"/>
                  <a:cs typeface="+mn-cs"/>
                </a:rPr>
                <a:t>日新月异</a:t>
              </a:r>
            </a:p>
          </p:txBody>
        </p:sp>
      </p:grpSp>
      <p:sp>
        <p:nvSpPr>
          <p:cNvPr id="12" name="矩形 11"/>
          <p:cNvSpPr/>
          <p:nvPr/>
        </p:nvSpPr>
        <p:spPr>
          <a:xfrm>
            <a:off x="6825007" y="-10607"/>
            <a:ext cx="2318993" cy="6879215"/>
          </a:xfrm>
          <a:prstGeom prst="rect">
            <a:avLst/>
          </a:prstGeom>
          <a:solidFill>
            <a:srgbClr val="7E0C6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4" name="矩形 23"/>
          <p:cNvSpPr/>
          <p:nvPr/>
        </p:nvSpPr>
        <p:spPr>
          <a:xfrm>
            <a:off x="117766" y="3380899"/>
            <a:ext cx="6745778" cy="3559269"/>
          </a:xfrm>
          <a:prstGeom prst="rect">
            <a:avLst/>
          </a:prstGeom>
          <a:blipFill dpi="0" rotWithShape="1">
            <a:blip r:embed="rId3">
              <a:alphaModFix amt="1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Tree>
    <p:extLst>
      <p:ext uri="{BB962C8B-B14F-4D97-AF65-F5344CB8AC3E}">
        <p14:creationId xmlns:p14="http://schemas.microsoft.com/office/powerpoint/2010/main" val="285044974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grpSp>
        <p:nvGrpSpPr>
          <p:cNvPr id="139" name="组合 138"/>
          <p:cNvGrpSpPr/>
          <p:nvPr/>
        </p:nvGrpSpPr>
        <p:grpSpPr>
          <a:xfrm flipH="1">
            <a:off x="397300" y="1"/>
            <a:ext cx="63360" cy="1193800"/>
            <a:chOff x="4399082" y="1624876"/>
            <a:chExt cx="231871" cy="3276600"/>
          </a:xfrm>
        </p:grpSpPr>
        <p:cxnSp>
          <p:nvCxnSpPr>
            <p:cNvPr id="140" name="直接连接符 139"/>
            <p:cNvCxnSpPr/>
            <p:nvPr/>
          </p:nvCxnSpPr>
          <p:spPr>
            <a:xfrm rot="5400000" flipV="1">
              <a:off x="2992653" y="3263176"/>
              <a:ext cx="327660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rot="5400000" flipV="1">
              <a:off x="3608507" y="2415451"/>
              <a:ext cx="158115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grpSp>
      <p:pic>
        <p:nvPicPr>
          <p:cNvPr id="142" name="图片 14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40352" y="94843"/>
            <a:ext cx="1251523" cy="481027"/>
          </a:xfrm>
          <a:prstGeom prst="rect">
            <a:avLst/>
          </a:prstGeom>
        </p:spPr>
      </p:pic>
      <p:grpSp>
        <p:nvGrpSpPr>
          <p:cNvPr id="2" name="组合 1"/>
          <p:cNvGrpSpPr/>
          <p:nvPr/>
        </p:nvGrpSpPr>
        <p:grpSpPr>
          <a:xfrm>
            <a:off x="-23979" y="6359109"/>
            <a:ext cx="9230491" cy="224782"/>
            <a:chOff x="-31973" y="6359109"/>
            <a:chExt cx="12307321" cy="224782"/>
          </a:xfrm>
        </p:grpSpPr>
        <p:grpSp>
          <p:nvGrpSpPr>
            <p:cNvPr id="11" name="组合 10"/>
            <p:cNvGrpSpPr/>
            <p:nvPr/>
          </p:nvGrpSpPr>
          <p:grpSpPr>
            <a:xfrm>
              <a:off x="-31973" y="6414350"/>
              <a:ext cx="9656823" cy="114300"/>
              <a:chOff x="-111800" y="6407270"/>
              <a:chExt cx="9656823" cy="114300"/>
            </a:xfrm>
          </p:grpSpPr>
          <p:cxnSp>
            <p:nvCxnSpPr>
              <p:cNvPr id="12" name="直接连接符 11"/>
              <p:cNvCxnSpPr/>
              <p:nvPr/>
            </p:nvCxnSpPr>
            <p:spPr>
              <a:xfrm flipH="1">
                <a:off x="-1118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709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576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23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2270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3117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964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4811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56587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6505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73529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200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9047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894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10741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1588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2435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3282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4129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976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5823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6671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7518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8365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9212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20059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906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1753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2600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3447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4294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5141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989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6836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7683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8530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9377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30224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1071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918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2765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3612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4460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5307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6154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7001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848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8695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9542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40389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1236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2083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930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4625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3778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5472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6319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7166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8013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860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9707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0554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1401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2249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3096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943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4790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5637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6484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7331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8178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9025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872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60719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1567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2414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3261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4108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955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5802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6649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7496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8343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9190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70038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885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1732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2579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3426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427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5120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967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6814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7661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8508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9356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80203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10502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897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27444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3591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4438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5285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6132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979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7827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8674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9521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90368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1215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2062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909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3756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460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127" name="组合 126"/>
            <p:cNvGrpSpPr/>
            <p:nvPr/>
          </p:nvGrpSpPr>
          <p:grpSpPr>
            <a:xfrm>
              <a:off x="11597706" y="6414350"/>
              <a:ext cx="677642" cy="114300"/>
              <a:chOff x="11597706" y="6414350"/>
              <a:chExt cx="677642" cy="114300"/>
            </a:xfrm>
          </p:grpSpPr>
          <p:cxnSp>
            <p:nvCxnSpPr>
              <p:cNvPr id="128" name="直接连接符 127"/>
              <p:cNvCxnSpPr/>
              <p:nvPr/>
            </p:nvCxnSpPr>
            <p:spPr>
              <a:xfrm flipH="1">
                <a:off x="1159770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a:off x="1168241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76712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85183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93654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202125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10596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9067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pic>
          <p:nvPicPr>
            <p:cNvPr id="136" name="图片 135"/>
            <p:cNvPicPr>
              <a:picLocks noChangeAspect="1"/>
            </p:cNvPicPr>
            <p:nvPr/>
          </p:nvPicPr>
          <p:blipFill>
            <a:blip r:embed="rId3">
              <a:duotone>
                <a:schemeClr val="accent4">
                  <a:shade val="45000"/>
                  <a:satMod val="135000"/>
                </a:schemeClr>
                <a:prstClr val="white"/>
              </a:duotone>
            </a:blip>
            <a:stretch>
              <a:fillRect/>
            </a:stretch>
          </p:blipFill>
          <p:spPr>
            <a:xfrm>
              <a:off x="9749032" y="6359109"/>
              <a:ext cx="1554456" cy="224782"/>
            </a:xfrm>
            <a:prstGeom prst="rect">
              <a:avLst/>
            </a:prstGeom>
          </p:spPr>
        </p:pic>
      </p:grpSp>
      <p:sp>
        <p:nvSpPr>
          <p:cNvPr id="3" name="矩形: 圆角 2">
            <a:extLst>
              <a:ext uri="{FF2B5EF4-FFF2-40B4-BE49-F238E27FC236}">
                <a16:creationId xmlns:a16="http://schemas.microsoft.com/office/drawing/2014/main" id="{79E4C720-17AD-5D08-57D8-4C849C85EAE6}"/>
              </a:ext>
            </a:extLst>
          </p:cNvPr>
          <p:cNvSpPr/>
          <p:nvPr userDrawn="1"/>
        </p:nvSpPr>
        <p:spPr>
          <a:xfrm flipV="1">
            <a:off x="91391" y="1052736"/>
            <a:ext cx="9052609" cy="45719"/>
          </a:xfrm>
          <a:prstGeom prst="roundRect">
            <a:avLst>
              <a:gd name="adj" fmla="val 50000"/>
            </a:avLst>
          </a:prstGeom>
          <a:solidFill>
            <a:srgbClr val="7E0C6E">
              <a:alpha val="95000"/>
            </a:srgb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55938118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725766" y="160806"/>
            <a:ext cx="10595531" cy="6697194"/>
          </a:xfrm>
          <a:prstGeom prst="rect">
            <a:avLst/>
          </a:prstGeom>
        </p:spPr>
      </p:pic>
      <p:grpSp>
        <p:nvGrpSpPr>
          <p:cNvPr id="132" name="组合 131"/>
          <p:cNvGrpSpPr/>
          <p:nvPr/>
        </p:nvGrpSpPr>
        <p:grpSpPr>
          <a:xfrm flipH="1">
            <a:off x="397300" y="1"/>
            <a:ext cx="63360" cy="1193800"/>
            <a:chOff x="4399082" y="1624876"/>
            <a:chExt cx="231871" cy="3276600"/>
          </a:xfrm>
        </p:grpSpPr>
        <p:cxnSp>
          <p:nvCxnSpPr>
            <p:cNvPr id="133" name="直接连接符 132"/>
            <p:cNvCxnSpPr/>
            <p:nvPr/>
          </p:nvCxnSpPr>
          <p:spPr>
            <a:xfrm rot="5400000" flipV="1">
              <a:off x="2992653" y="3263176"/>
              <a:ext cx="327660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rot="5400000" flipV="1">
              <a:off x="3608507" y="2415451"/>
              <a:ext cx="158115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grpSp>
      <p:pic>
        <p:nvPicPr>
          <p:cNvPr id="135" name="图片 1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37328" y="524137"/>
            <a:ext cx="1251523" cy="481027"/>
          </a:xfrm>
          <a:prstGeom prst="rect">
            <a:avLst/>
          </a:prstGeom>
        </p:spPr>
      </p:pic>
      <p:grpSp>
        <p:nvGrpSpPr>
          <p:cNvPr id="136" name="组合 135"/>
          <p:cNvGrpSpPr/>
          <p:nvPr/>
        </p:nvGrpSpPr>
        <p:grpSpPr>
          <a:xfrm>
            <a:off x="-23979" y="6359109"/>
            <a:ext cx="9230491" cy="224782"/>
            <a:chOff x="-31973" y="6359109"/>
            <a:chExt cx="12307321" cy="224782"/>
          </a:xfrm>
        </p:grpSpPr>
        <p:grpSp>
          <p:nvGrpSpPr>
            <p:cNvPr id="137" name="组合 136"/>
            <p:cNvGrpSpPr/>
            <p:nvPr/>
          </p:nvGrpSpPr>
          <p:grpSpPr>
            <a:xfrm>
              <a:off x="-31973" y="6414350"/>
              <a:ext cx="9656823" cy="114300"/>
              <a:chOff x="-111800" y="6407270"/>
              <a:chExt cx="9656823" cy="114300"/>
            </a:xfrm>
          </p:grpSpPr>
          <p:cxnSp>
            <p:nvCxnSpPr>
              <p:cNvPr id="148" name="直接连接符 147"/>
              <p:cNvCxnSpPr/>
              <p:nvPr/>
            </p:nvCxnSpPr>
            <p:spPr>
              <a:xfrm flipH="1">
                <a:off x="-1118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2709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H="1">
                <a:off x="576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flipH="1">
                <a:off x="1423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H="1">
                <a:off x="2270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flipH="1">
                <a:off x="3117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a:off x="3964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flipH="1">
                <a:off x="4811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flipH="1">
                <a:off x="56587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flipH="1">
                <a:off x="6505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flipH="1">
                <a:off x="73529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flipH="1">
                <a:off x="8200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flipH="1">
                <a:off x="9047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flipH="1">
                <a:off x="9894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H="1">
                <a:off x="10741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flipH="1">
                <a:off x="11588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flipH="1">
                <a:off x="12435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flipH="1">
                <a:off x="13282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flipH="1">
                <a:off x="14129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14976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flipH="1">
                <a:off x="15823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a:off x="16671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a:off x="17518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H="1">
                <a:off x="18365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H="1">
                <a:off x="19212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H="1">
                <a:off x="20059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flipH="1">
                <a:off x="20906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a:off x="21753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flipH="1">
                <a:off x="22600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flipH="1">
                <a:off x="23447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24294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H="1">
                <a:off x="25141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flipH="1">
                <a:off x="25989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H="1">
                <a:off x="26836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flipH="1">
                <a:off x="27683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flipH="1">
                <a:off x="28530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flipH="1">
                <a:off x="29377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a:off x="30224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flipH="1">
                <a:off x="31071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flipH="1">
                <a:off x="31918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flipH="1">
                <a:off x="32765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a:off x="33612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H="1">
                <a:off x="34460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flipH="1">
                <a:off x="35307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H="1">
                <a:off x="36154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flipH="1">
                <a:off x="37001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H="1">
                <a:off x="37848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a:xfrm flipH="1">
                <a:off x="38695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flipH="1">
                <a:off x="39542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H="1">
                <a:off x="40389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H="1">
                <a:off x="41236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H="1">
                <a:off x="42083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flipH="1">
                <a:off x="42930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flipH="1">
                <a:off x="44625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flipH="1">
                <a:off x="43778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flipH="1">
                <a:off x="45472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flipH="1">
                <a:off x="46319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flipH="1">
                <a:off x="47166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H="1">
                <a:off x="48013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flipH="1">
                <a:off x="48860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flipH="1">
                <a:off x="49707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flipH="1">
                <a:off x="50554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flipH="1">
                <a:off x="51401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H="1">
                <a:off x="52249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53096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flipH="1">
                <a:off x="53943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flipH="1">
                <a:off x="54790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flipH="1">
                <a:off x="55637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flipH="1">
                <a:off x="56484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H="1">
                <a:off x="57331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H="1">
                <a:off x="58178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flipH="1">
                <a:off x="59025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flipH="1">
                <a:off x="59872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flipH="1">
                <a:off x="60719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H="1">
                <a:off x="61567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flipH="1">
                <a:off x="62414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flipH="1">
                <a:off x="63261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flipH="1">
                <a:off x="64108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flipH="1">
                <a:off x="64955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flipH="1">
                <a:off x="65802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flipH="1">
                <a:off x="66649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flipH="1">
                <a:off x="67496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flipH="1">
                <a:off x="68343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190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flipH="1">
                <a:off x="70038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flipH="1">
                <a:off x="70885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flipH="1">
                <a:off x="71732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flipH="1">
                <a:off x="72579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flipH="1">
                <a:off x="73426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flipH="1">
                <a:off x="7427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flipH="1">
                <a:off x="75120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flipH="1">
                <a:off x="75967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flipH="1">
                <a:off x="76814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flipH="1">
                <a:off x="77661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flipH="1">
                <a:off x="78508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flipH="1">
                <a:off x="79356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flipH="1">
                <a:off x="80203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flipH="1">
                <a:off x="810502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flipH="1">
                <a:off x="81897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flipH="1">
                <a:off x="827444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flipH="1">
                <a:off x="83591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p:nvPr/>
            </p:nvCxnSpPr>
            <p:spPr>
              <a:xfrm flipH="1">
                <a:off x="84438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a:xfrm flipH="1">
                <a:off x="85285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flipH="1">
                <a:off x="86132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flipH="1">
                <a:off x="86979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flipH="1">
                <a:off x="87827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flipH="1">
                <a:off x="88674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H="1">
                <a:off x="89521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flipH="1">
                <a:off x="90368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flipH="1">
                <a:off x="91215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flipH="1">
                <a:off x="92062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flipH="1">
                <a:off x="92909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flipH="1">
                <a:off x="93756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flipH="1">
                <a:off x="9460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138" name="组合 137"/>
            <p:cNvGrpSpPr/>
            <p:nvPr/>
          </p:nvGrpSpPr>
          <p:grpSpPr>
            <a:xfrm>
              <a:off x="11597706" y="6414350"/>
              <a:ext cx="677642" cy="114300"/>
              <a:chOff x="11597706" y="6414350"/>
              <a:chExt cx="677642" cy="114300"/>
            </a:xfrm>
          </p:grpSpPr>
          <p:cxnSp>
            <p:nvCxnSpPr>
              <p:cNvPr id="140" name="直接连接符 139"/>
              <p:cNvCxnSpPr/>
              <p:nvPr/>
            </p:nvCxnSpPr>
            <p:spPr>
              <a:xfrm flipH="1">
                <a:off x="1159770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flipH="1">
                <a:off x="1168241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H="1">
                <a:off x="1176712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H="1">
                <a:off x="1185183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H="1">
                <a:off x="1193654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flipH="1">
                <a:off x="1202125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flipH="1">
                <a:off x="1210596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H="1">
                <a:off x="1219067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pic>
          <p:nvPicPr>
            <p:cNvPr id="139" name="图片 138"/>
            <p:cNvPicPr>
              <a:picLocks noChangeAspect="1"/>
            </p:cNvPicPr>
            <p:nvPr/>
          </p:nvPicPr>
          <p:blipFill>
            <a:blip r:embed="rId4">
              <a:duotone>
                <a:schemeClr val="accent4">
                  <a:shade val="45000"/>
                  <a:satMod val="135000"/>
                </a:schemeClr>
                <a:prstClr val="white"/>
              </a:duotone>
            </a:blip>
            <a:stretch>
              <a:fillRect/>
            </a:stretch>
          </p:blipFill>
          <p:spPr>
            <a:xfrm>
              <a:off x="9749032" y="6359109"/>
              <a:ext cx="1554456" cy="224782"/>
            </a:xfrm>
            <a:prstGeom prst="rect">
              <a:avLst/>
            </a:prstGeom>
          </p:spPr>
        </p:pic>
      </p:grpSp>
    </p:spTree>
    <p:extLst>
      <p:ext uri="{BB962C8B-B14F-4D97-AF65-F5344CB8AC3E}">
        <p14:creationId xmlns:p14="http://schemas.microsoft.com/office/powerpoint/2010/main" val="425853568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p>
            <a:fld id="{A781A3CF-2EC8-4F5D-B7DC-5EC4739B3669}" type="slidenum">
              <a:rPr lang="zh-CN" altLang="en-US" smtClean="0"/>
              <a:pPr/>
              <a:t>‹#›</a:t>
            </a:fld>
            <a:endParaRPr lang="en-US" altLang="zh-CN"/>
          </a:p>
        </p:txBody>
      </p:sp>
    </p:spTree>
    <p:extLst>
      <p:ext uri="{BB962C8B-B14F-4D97-AF65-F5344CB8AC3E}">
        <p14:creationId xmlns:p14="http://schemas.microsoft.com/office/powerpoint/2010/main" val="19194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73ED7CA6-5AA9-4306-B9A4-56F3EF77ACC0}" type="slidenum">
              <a:rPr lang="zh-CN" altLang="en-US" smtClean="0"/>
              <a:pPr/>
              <a:t>‹#›</a:t>
            </a:fld>
            <a:endParaRPr lang="en-US" altLang="zh-CN"/>
          </a:p>
        </p:txBody>
      </p:sp>
    </p:spTree>
    <p:extLst>
      <p:ext uri="{BB962C8B-B14F-4D97-AF65-F5344CB8AC3E}">
        <p14:creationId xmlns:p14="http://schemas.microsoft.com/office/powerpoint/2010/main" val="902130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13178960-9854-41CD-AE46-E65BA3A5422C}" type="slidenum">
              <a:rPr lang="zh-CN" altLang="en-US" smtClean="0"/>
              <a:pPr/>
              <a:t>‹#›</a:t>
            </a:fld>
            <a:endParaRPr lang="en-US" altLang="zh-CN"/>
          </a:p>
        </p:txBody>
      </p:sp>
    </p:spTree>
    <p:extLst>
      <p:ext uri="{BB962C8B-B14F-4D97-AF65-F5344CB8AC3E}">
        <p14:creationId xmlns:p14="http://schemas.microsoft.com/office/powerpoint/2010/main" val="83013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6802ECEC-6C76-47B3-BA5A-627CC374C89D}" type="slidenum">
              <a:rPr lang="zh-CN" altLang="en-US" smtClean="0"/>
              <a:pPr/>
              <a:t>‹#›</a:t>
            </a:fld>
            <a:endParaRPr lang="en-US" altLang="zh-CN"/>
          </a:p>
        </p:txBody>
      </p:sp>
    </p:spTree>
    <p:extLst>
      <p:ext uri="{BB962C8B-B14F-4D97-AF65-F5344CB8AC3E}">
        <p14:creationId xmlns:p14="http://schemas.microsoft.com/office/powerpoint/2010/main" val="3194111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0B3EB80E-93F4-4F6D-AAE4-DD20C346F991}" type="slidenum">
              <a:rPr lang="zh-CN" altLang="en-US" smtClean="0"/>
              <a:pPr/>
              <a:t>‹#›</a:t>
            </a:fld>
            <a:endParaRPr lang="en-US" altLang="zh-CN"/>
          </a:p>
        </p:txBody>
      </p:sp>
    </p:spTree>
    <p:extLst>
      <p:ext uri="{BB962C8B-B14F-4D97-AF65-F5344CB8AC3E}">
        <p14:creationId xmlns:p14="http://schemas.microsoft.com/office/powerpoint/2010/main" val="163280545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2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3"/>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0B3EB80E-93F4-4F6D-AAE4-DD20C346F991}" type="slidenum">
              <a:rPr lang="zh-CN" altLang="en-US" smtClean="0"/>
              <a:pPr/>
              <a:t>‹#›</a:t>
            </a:fld>
            <a:endParaRPr lang="en-US" altLang="zh-CN"/>
          </a:p>
        </p:txBody>
      </p:sp>
    </p:spTree>
    <p:extLst>
      <p:ext uri="{BB962C8B-B14F-4D97-AF65-F5344CB8AC3E}">
        <p14:creationId xmlns:p14="http://schemas.microsoft.com/office/powerpoint/2010/main" val="35228374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8690DF-AE40-48C6-9351-D6EFB48F0D2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06C4D06-8777-45C1-87FC-49460AF095C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A3B51ED-69CB-418C-B115-C2C7DD083EC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59C0232B-3684-42E9-BEDB-A64F2A6DC1F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3C04BA62-13BE-45E5-BC81-2C1258D02481}"/>
              </a:ext>
            </a:extLst>
          </p:cNvPr>
          <p:cNvSpPr>
            <a:spLocks noGrp="1"/>
          </p:cNvSpPr>
          <p:nvPr>
            <p:ph type="sldNum" sz="quarter" idx="12"/>
          </p:nvPr>
        </p:nvSpPr>
        <p:spPr/>
        <p:txBody>
          <a:bodyPr/>
          <a:lstStyle>
            <a:lvl1pPr>
              <a:defRPr/>
            </a:lvl1pPr>
          </a:lstStyle>
          <a:p>
            <a:fld id="{637EE4B2-F8DA-46A4-81B1-05FBC238A8A5}" type="slidenum">
              <a:rPr lang="zh-CN" altLang="en-US"/>
              <a:pPr/>
              <a:t>‹#›</a:t>
            </a:fld>
            <a:endParaRPr lang="en-US" altLang="zh-CN"/>
          </a:p>
        </p:txBody>
      </p:sp>
    </p:spTree>
    <p:extLst>
      <p:ext uri="{BB962C8B-B14F-4D97-AF65-F5344CB8AC3E}">
        <p14:creationId xmlns:p14="http://schemas.microsoft.com/office/powerpoint/2010/main" val="37652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B3EB80E-93F4-4F6D-AAE4-DD20C346F991}" type="slidenum">
              <a:rPr lang="zh-CN" altLang="en-US" smtClean="0"/>
              <a:pPr/>
              <a:t>‹#›</a:t>
            </a:fld>
            <a:endParaRPr lang="en-US" altLang="zh-CN"/>
          </a:p>
        </p:txBody>
      </p:sp>
    </p:spTree>
    <p:extLst>
      <p:ext uri="{BB962C8B-B14F-4D97-AF65-F5344CB8AC3E}">
        <p14:creationId xmlns:p14="http://schemas.microsoft.com/office/powerpoint/2010/main" val="98213877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bilibili.com/video/BV11W411H7YU/?vd_source=5b312e5aac65e2287383b8eb8444ed24" TargetMode="External"/><Relationship Id="rId2" Type="http://schemas.openxmlformats.org/officeDocument/2006/relationships/hyperlink" Target="https://www.bilibili.com/video/BV1e84y117FG/?vd_source=5b312e5aac65e2287383b8eb8444ed24" TargetMode="External"/><Relationship Id="rId1" Type="http://schemas.openxmlformats.org/officeDocument/2006/relationships/slideLayout" Target="../slideLayouts/slideLayout5.xml"/><Relationship Id="rId4" Type="http://schemas.openxmlformats.org/officeDocument/2006/relationships/hyperlink" Target="https://www.bilibili.com/video/BV18DBCYGEms/?vd_source=5b312e5aac65e2287383b8eb8444ed24"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4.wmf"/><Relationship Id="rId5" Type="http://schemas.openxmlformats.org/officeDocument/2006/relationships/oleObject" Target="../embeddings/oleObject3.bin"/><Relationship Id="rId4" Type="http://schemas.openxmlformats.org/officeDocument/2006/relationships/image" Target="../media/image13.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6.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6.bin"/><Relationship Id="rId1" Type="http://schemas.openxmlformats.org/officeDocument/2006/relationships/slideLayout" Target="../slideLayouts/slideLayout5.xml"/><Relationship Id="rId6" Type="http://schemas.openxmlformats.org/officeDocument/2006/relationships/oleObject" Target="../embeddings/oleObject8.bin"/><Relationship Id="rId5" Type="http://schemas.openxmlformats.org/officeDocument/2006/relationships/image" Target="../media/image18.wmf"/><Relationship Id="rId4" Type="http://schemas.openxmlformats.org/officeDocument/2006/relationships/oleObject" Target="../embeddings/oleObject7.bin"/><Relationship Id="rId9" Type="http://schemas.openxmlformats.org/officeDocument/2006/relationships/image" Target="../media/image20.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2.wmf"/><Relationship Id="rId5" Type="http://schemas.openxmlformats.org/officeDocument/2006/relationships/oleObject" Target="../embeddings/oleObject11.bin"/><Relationship Id="rId4" Type="http://schemas.openxmlformats.org/officeDocument/2006/relationships/image" Target="../media/image21.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21.wmf"/><Relationship Id="rId5" Type="http://schemas.openxmlformats.org/officeDocument/2006/relationships/oleObject" Target="../embeddings/oleObject10.bin"/><Relationship Id="rId4" Type="http://schemas.openxmlformats.org/officeDocument/2006/relationships/image" Target="../media/image23.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hyperlink" Target="http://en.wikipedia.org/wiki/Manindra_Agrawal" TargetMode="External"/><Relationship Id="rId7" Type="http://schemas.openxmlformats.org/officeDocument/2006/relationships/hyperlink" Target="http://en.wikipedia.org/wiki/2002"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hyperlink" Target="http://en.wikipedia.org/wiki/August_6" TargetMode="External"/><Relationship Id="rId5" Type="http://schemas.openxmlformats.org/officeDocument/2006/relationships/hyperlink" Target="http://en.wikipedia.org/wiki/Nitin_Saxena" TargetMode="External"/><Relationship Id="rId4" Type="http://schemas.openxmlformats.org/officeDocument/2006/relationships/hyperlink" Target="http://en.wikipedia.org/wiki/Neeraj_Kayal"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36.wmf"/><Relationship Id="rId5" Type="http://schemas.openxmlformats.org/officeDocument/2006/relationships/oleObject" Target="../embeddings/oleObject14.bin"/><Relationship Id="rId4" Type="http://schemas.openxmlformats.org/officeDocument/2006/relationships/image" Target="../media/image35.w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hyperlink" Target="https://www.bilibili.com/video/BV187411n7zC/?vd_source=5b312e5aac65e2287383b8eb8444ed24" TargetMode="External"/><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F6BA92E-F928-445F-A2DC-55BCE4C81CF8}"/>
              </a:ext>
            </a:extLst>
          </p:cNvPr>
          <p:cNvSpPr>
            <a:spLocks noGrp="1" noChangeArrowheads="1"/>
          </p:cNvSpPr>
          <p:nvPr>
            <p:ph type="ctrTitle" idx="4294967295"/>
          </p:nvPr>
        </p:nvSpPr>
        <p:spPr>
          <a:xfrm>
            <a:off x="1691680" y="1443112"/>
            <a:ext cx="7772400" cy="2387600"/>
          </a:xfrm>
        </p:spPr>
        <p:txBody>
          <a:bodyPr/>
          <a:lstStyle/>
          <a:p>
            <a:pPr algn="ctr"/>
            <a:r>
              <a:rPr lang="zh-CN" altLang="en-US" dirty="0"/>
              <a:t>第八章 </a:t>
            </a:r>
            <a:r>
              <a:rPr lang="en-US" altLang="zh-CN" dirty="0"/>
              <a:t>NP</a:t>
            </a:r>
            <a:r>
              <a:rPr lang="zh-CN" altLang="en-US" dirty="0"/>
              <a:t>与计算的难解性</a:t>
            </a:r>
          </a:p>
        </p:txBody>
      </p:sp>
      <p:sp>
        <p:nvSpPr>
          <p:cNvPr id="6" name="Rectangle 16">
            <a:extLst>
              <a:ext uri="{FF2B5EF4-FFF2-40B4-BE49-F238E27FC236}">
                <a16:creationId xmlns:a16="http://schemas.microsoft.com/office/drawing/2014/main" id="{27413185-6E81-4371-95E6-09B66CA06C08}"/>
              </a:ext>
            </a:extLst>
          </p:cNvPr>
          <p:cNvSpPr>
            <a:spLocks noGrp="1" noChangeArrowheads="1"/>
          </p:cNvSpPr>
          <p:nvPr>
            <p:ph type="sldNum" sz="quarter" idx="4294967295"/>
          </p:nvPr>
        </p:nvSpPr>
        <p:spPr>
          <a:xfrm>
            <a:off x="7086600" y="6356350"/>
            <a:ext cx="2057400" cy="365125"/>
          </a:xfrm>
        </p:spPr>
        <p:txBody>
          <a:bodyPr/>
          <a:lstStyle/>
          <a:p>
            <a:fld id="{F29989CD-4F6F-46AC-9CF3-16478E8F9846}" type="slidenum">
              <a:rPr lang="zh-CN" altLang="en-US"/>
              <a:pPr/>
              <a:t>1</a:t>
            </a:fld>
            <a:endParaRPr lang="en-US" altLang="zh-CN"/>
          </a:p>
        </p:txBody>
      </p:sp>
      <p:sp>
        <p:nvSpPr>
          <p:cNvPr id="2" name="文本框 1">
            <a:extLst>
              <a:ext uri="{FF2B5EF4-FFF2-40B4-BE49-F238E27FC236}">
                <a16:creationId xmlns:a16="http://schemas.microsoft.com/office/drawing/2014/main" id="{84D264FF-5854-3024-8075-1D22F12048A5}"/>
              </a:ext>
            </a:extLst>
          </p:cNvPr>
          <p:cNvSpPr txBox="1"/>
          <p:nvPr/>
        </p:nvSpPr>
        <p:spPr>
          <a:xfrm>
            <a:off x="3444141" y="4221088"/>
            <a:ext cx="4665406" cy="966547"/>
          </a:xfrm>
          <a:prstGeom prst="rect">
            <a:avLst/>
          </a:prstGeom>
          <a:noFill/>
        </p:spPr>
        <p:txBody>
          <a:bodyPr wrap="square">
            <a:spAutoFit/>
          </a:bodyPr>
          <a:lstStyle/>
          <a:p>
            <a:pPr algn="ctr">
              <a:lnSpc>
                <a:spcPct val="150000"/>
              </a:lnSpc>
            </a:pPr>
            <a:r>
              <a:rPr kumimoji="1" lang="zh-CN" altLang="en-US" sz="2000" dirty="0"/>
              <a:t>授课人：乔亚琼</a:t>
            </a:r>
          </a:p>
          <a:p>
            <a:pPr algn="ctr">
              <a:lnSpc>
                <a:spcPct val="150000"/>
              </a:lnSpc>
            </a:pPr>
            <a:r>
              <a:rPr kumimoji="1" lang="en-US" altLang="zh-CN" sz="2000" dirty="0"/>
              <a:t>2025</a:t>
            </a:r>
            <a:r>
              <a:rPr kumimoji="1" lang="zh-CN" altLang="en-US" sz="2000" dirty="0"/>
              <a:t>年</a:t>
            </a:r>
            <a:r>
              <a:rPr kumimoji="1" lang="en-US" altLang="zh-CN" sz="2000" dirty="0"/>
              <a:t>5</a:t>
            </a:r>
            <a:r>
              <a:rPr kumimoji="1" lang="zh-CN" altLang="en-US" sz="2000" dirty="0"/>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30C67FAF-65B7-483F-BCE2-EE182F131708}"/>
              </a:ext>
            </a:extLst>
          </p:cNvPr>
          <p:cNvSpPr>
            <a:spLocks noGrp="1" noChangeArrowheads="1"/>
          </p:cNvSpPr>
          <p:nvPr>
            <p:ph type="title" idx="4294967295"/>
          </p:nvPr>
        </p:nvSpPr>
        <p:spPr>
          <a:xfrm>
            <a:off x="467544" y="136525"/>
            <a:ext cx="7886700" cy="1325563"/>
          </a:xfrm>
        </p:spPr>
        <p:txBody>
          <a:bodyPr/>
          <a:lstStyle/>
          <a:p>
            <a:r>
              <a:rPr lang="zh-CN" altLang="en-US" dirty="0"/>
              <a:t>内容</a:t>
            </a:r>
          </a:p>
        </p:txBody>
      </p:sp>
      <p:sp>
        <p:nvSpPr>
          <p:cNvPr id="6" name="灯片编号占位符 5">
            <a:extLst>
              <a:ext uri="{FF2B5EF4-FFF2-40B4-BE49-F238E27FC236}">
                <a16:creationId xmlns:a16="http://schemas.microsoft.com/office/drawing/2014/main" id="{13BA369C-A6CD-4F2A-9AE2-DEBAFCD56B7C}"/>
              </a:ext>
            </a:extLst>
          </p:cNvPr>
          <p:cNvSpPr>
            <a:spLocks noGrp="1"/>
          </p:cNvSpPr>
          <p:nvPr>
            <p:ph type="sldNum" sz="quarter" idx="4294967295"/>
          </p:nvPr>
        </p:nvSpPr>
        <p:spPr>
          <a:xfrm>
            <a:off x="7086600" y="6356350"/>
            <a:ext cx="2057400" cy="365125"/>
          </a:xfrm>
        </p:spPr>
        <p:txBody>
          <a:bodyPr/>
          <a:lstStyle/>
          <a:p>
            <a:fld id="{662B3AF0-8107-40C6-B7E4-41276153FD7F}" type="slidenum">
              <a:rPr lang="zh-CN" altLang="en-US"/>
              <a:pPr/>
              <a:t>2</a:t>
            </a:fld>
            <a:endParaRPr lang="en-US" altLang="zh-CN"/>
          </a:p>
        </p:txBody>
      </p:sp>
      <p:sp>
        <p:nvSpPr>
          <p:cNvPr id="64515" name="Rectangle 3">
            <a:extLst>
              <a:ext uri="{FF2B5EF4-FFF2-40B4-BE49-F238E27FC236}">
                <a16:creationId xmlns:a16="http://schemas.microsoft.com/office/drawing/2014/main" id="{C7CDF2D5-8CBC-4DCB-B0CA-5ADB1DA27DCC}"/>
              </a:ext>
            </a:extLst>
          </p:cNvPr>
          <p:cNvSpPr>
            <a:spLocks noGrp="1" noChangeArrowheads="1"/>
          </p:cNvSpPr>
          <p:nvPr>
            <p:ph idx="4294967295"/>
          </p:nvPr>
        </p:nvSpPr>
        <p:spPr>
          <a:xfrm>
            <a:off x="323528" y="1462088"/>
            <a:ext cx="7886700" cy="4351338"/>
          </a:xfrm>
        </p:spPr>
        <p:txBody>
          <a:bodyPr>
            <a:normAutofit/>
          </a:bodyPr>
          <a:lstStyle/>
          <a:p>
            <a:pPr>
              <a:lnSpc>
                <a:spcPct val="150000"/>
              </a:lnSpc>
              <a:buClr>
                <a:schemeClr val="hlink"/>
              </a:buClr>
              <a:buFont typeface="Wingdings" panose="05000000000000000000" pitchFamily="2" charset="2"/>
              <a:buChar char="ü"/>
            </a:pPr>
            <a:r>
              <a:rPr lang="zh-CN" altLang="en-US" sz="2400" b="1" dirty="0"/>
              <a:t>多项式时间归约</a:t>
            </a:r>
          </a:p>
          <a:p>
            <a:pPr>
              <a:lnSpc>
                <a:spcPct val="150000"/>
              </a:lnSpc>
              <a:buClr>
                <a:schemeClr val="hlink"/>
              </a:buClr>
              <a:buFont typeface="Wingdings" panose="05000000000000000000" pitchFamily="2" charset="2"/>
              <a:buChar char="ü"/>
            </a:pPr>
            <a:r>
              <a:rPr lang="zh-CN" altLang="en-US" sz="2400" b="1" dirty="0"/>
              <a:t>使用</a:t>
            </a:r>
            <a:r>
              <a:rPr lang="zh-CN" altLang="en-US" sz="2400" b="1" dirty="0">
                <a:latin typeface="Times New Roman" panose="02020603050405020304" pitchFamily="18" charset="0"/>
              </a:rPr>
              <a:t>“</a:t>
            </a:r>
            <a:r>
              <a:rPr lang="zh-CN" altLang="en-US" sz="2400" b="1" dirty="0"/>
              <a:t>零件</a:t>
            </a:r>
            <a:r>
              <a:rPr lang="zh-CN" altLang="en-US" sz="2400" b="1" dirty="0">
                <a:latin typeface="Times New Roman" panose="02020603050405020304" pitchFamily="18" charset="0"/>
              </a:rPr>
              <a:t>”</a:t>
            </a:r>
            <a:r>
              <a:rPr lang="zh-CN" altLang="en-US" sz="2400" b="1" dirty="0"/>
              <a:t>归约：</a:t>
            </a:r>
            <a:r>
              <a:rPr lang="en-US" altLang="zh-CN" sz="2400" b="1" dirty="0"/>
              <a:t>SAT</a:t>
            </a:r>
          </a:p>
          <a:p>
            <a:pPr>
              <a:lnSpc>
                <a:spcPct val="150000"/>
              </a:lnSpc>
              <a:buClr>
                <a:schemeClr val="hlink"/>
              </a:buClr>
              <a:buFont typeface="Wingdings" panose="05000000000000000000" pitchFamily="2" charset="2"/>
              <a:buChar char="ü"/>
            </a:pPr>
            <a:r>
              <a:rPr lang="zh-CN" altLang="en-US" sz="2400" b="1" dirty="0"/>
              <a:t>有效证书和</a:t>
            </a:r>
            <a:r>
              <a:rPr lang="en-US" altLang="zh-CN" sz="2400" b="1" dirty="0"/>
              <a:t>NP</a:t>
            </a:r>
            <a:r>
              <a:rPr lang="zh-CN" altLang="en-US" sz="2400" b="1" dirty="0"/>
              <a:t>的定义</a:t>
            </a:r>
          </a:p>
          <a:p>
            <a:pPr>
              <a:lnSpc>
                <a:spcPct val="150000"/>
              </a:lnSpc>
              <a:buClr>
                <a:schemeClr val="hlink"/>
              </a:buClr>
              <a:buFont typeface="Wingdings" panose="05000000000000000000" pitchFamily="2" charset="2"/>
              <a:buChar char="ü"/>
            </a:pPr>
            <a:r>
              <a:rPr lang="en-US" altLang="zh-CN" sz="2400" b="1" dirty="0"/>
              <a:t>NP</a:t>
            </a:r>
            <a:r>
              <a:rPr lang="zh-CN" altLang="en-US" sz="2400" b="1" dirty="0"/>
              <a:t>完全问题</a:t>
            </a:r>
          </a:p>
          <a:p>
            <a:pPr>
              <a:lnSpc>
                <a:spcPct val="150000"/>
              </a:lnSpc>
              <a:buClr>
                <a:schemeClr val="hlink"/>
              </a:buClr>
              <a:buFont typeface="Wingdings" panose="05000000000000000000" pitchFamily="2" charset="2"/>
              <a:buChar char="ü"/>
            </a:pPr>
            <a:r>
              <a:rPr lang="zh-CN" altLang="en-US" sz="2400" dirty="0"/>
              <a:t>排序、划分、图着色、数值问题</a:t>
            </a:r>
          </a:p>
          <a:p>
            <a:pPr>
              <a:lnSpc>
                <a:spcPct val="150000"/>
              </a:lnSpc>
              <a:buClr>
                <a:schemeClr val="hlink"/>
              </a:buClr>
              <a:buFont typeface="Wingdings" panose="05000000000000000000" pitchFamily="2" charset="2"/>
              <a:buChar char="ü"/>
            </a:pPr>
            <a:r>
              <a:rPr lang="zh-CN" altLang="en-US" sz="2400" dirty="0"/>
              <a:t>难问题的部分分类</a:t>
            </a:r>
          </a:p>
        </p:txBody>
      </p:sp>
      <p:sp>
        <p:nvSpPr>
          <p:cNvPr id="3" name="文本框 2">
            <a:extLst>
              <a:ext uri="{FF2B5EF4-FFF2-40B4-BE49-F238E27FC236}">
                <a16:creationId xmlns:a16="http://schemas.microsoft.com/office/drawing/2014/main" id="{649D8E40-5308-0E58-7C33-2725AE20A45C}"/>
              </a:ext>
            </a:extLst>
          </p:cNvPr>
          <p:cNvSpPr txBox="1"/>
          <p:nvPr/>
        </p:nvSpPr>
        <p:spPr>
          <a:xfrm>
            <a:off x="539552" y="5395912"/>
            <a:ext cx="4621160" cy="369332"/>
          </a:xfrm>
          <a:prstGeom prst="rect">
            <a:avLst/>
          </a:prstGeom>
          <a:noFill/>
        </p:spPr>
        <p:txBody>
          <a:bodyPr wrap="square">
            <a:spAutoFit/>
          </a:bodyPr>
          <a:lstStyle/>
          <a:p>
            <a:r>
              <a:rPr lang="en-US" altLang="zh-CN" dirty="0">
                <a:hlinkClick r:id="rId2"/>
              </a:rPr>
              <a:t>NP</a:t>
            </a:r>
            <a:r>
              <a:rPr lang="zh-CN" altLang="en-US" dirty="0">
                <a:hlinkClick r:id="rId2"/>
              </a:rPr>
              <a:t>完全问题</a:t>
            </a:r>
            <a:r>
              <a:rPr lang="en-US" altLang="zh-CN" dirty="0">
                <a:hlinkClick r:id="rId2"/>
              </a:rPr>
              <a:t>_</a:t>
            </a:r>
            <a:r>
              <a:rPr lang="zh-CN" altLang="en-US" dirty="0">
                <a:hlinkClick r:id="rId2"/>
              </a:rPr>
              <a:t>哔哩哔哩</a:t>
            </a:r>
            <a:r>
              <a:rPr lang="en-US" altLang="zh-CN" dirty="0">
                <a:hlinkClick r:id="rId2"/>
              </a:rPr>
              <a:t>_</a:t>
            </a:r>
            <a:r>
              <a:rPr lang="en-US" altLang="zh-CN" dirty="0" err="1">
                <a:hlinkClick r:id="rId2"/>
              </a:rPr>
              <a:t>bilibili</a:t>
            </a:r>
            <a:endParaRPr lang="zh-CN" altLang="en-US" dirty="0"/>
          </a:p>
        </p:txBody>
      </p:sp>
      <p:sp>
        <p:nvSpPr>
          <p:cNvPr id="5" name="文本框 4">
            <a:extLst>
              <a:ext uri="{FF2B5EF4-FFF2-40B4-BE49-F238E27FC236}">
                <a16:creationId xmlns:a16="http://schemas.microsoft.com/office/drawing/2014/main" id="{A23D1679-538C-08AF-8890-661369C9BF5E}"/>
              </a:ext>
            </a:extLst>
          </p:cNvPr>
          <p:cNvSpPr txBox="1"/>
          <p:nvPr/>
        </p:nvSpPr>
        <p:spPr>
          <a:xfrm>
            <a:off x="532580" y="5892581"/>
            <a:ext cx="8359900" cy="369332"/>
          </a:xfrm>
          <a:prstGeom prst="rect">
            <a:avLst/>
          </a:prstGeom>
          <a:noFill/>
        </p:spPr>
        <p:txBody>
          <a:bodyPr wrap="square">
            <a:spAutoFit/>
          </a:bodyPr>
          <a:lstStyle/>
          <a:p>
            <a:r>
              <a:rPr lang="zh-CN" altLang="en-US" dirty="0">
                <a:hlinkClick r:id="rId3"/>
              </a:rPr>
              <a:t>世界七大数学难题之一</a:t>
            </a:r>
            <a:r>
              <a:rPr lang="en-US" altLang="zh-CN" dirty="0">
                <a:hlinkClick r:id="rId3"/>
              </a:rPr>
              <a:t>: P</a:t>
            </a:r>
            <a:r>
              <a:rPr lang="zh-CN" altLang="en-US" dirty="0">
                <a:hlinkClick r:id="rId3"/>
              </a:rPr>
              <a:t>与</a:t>
            </a:r>
            <a:r>
              <a:rPr lang="en-US" altLang="zh-CN" dirty="0">
                <a:hlinkClick r:id="rId3"/>
              </a:rPr>
              <a:t>NP</a:t>
            </a:r>
            <a:r>
              <a:rPr lang="zh-CN" altLang="en-US" dirty="0">
                <a:hlinkClick r:id="rId3"/>
              </a:rPr>
              <a:t>复杂度问题 </a:t>
            </a:r>
            <a:r>
              <a:rPr lang="en-US" altLang="zh-CN" dirty="0">
                <a:hlinkClick r:id="rId3"/>
              </a:rPr>
              <a:t>| </a:t>
            </a:r>
            <a:r>
              <a:rPr lang="zh-CN" altLang="en-US" dirty="0">
                <a:hlinkClick r:id="rId3"/>
              </a:rPr>
              <a:t>熟肉</a:t>
            </a:r>
            <a:r>
              <a:rPr lang="en-US" altLang="zh-CN" dirty="0">
                <a:hlinkClick r:id="rId3"/>
              </a:rPr>
              <a:t>_</a:t>
            </a:r>
            <a:r>
              <a:rPr lang="zh-CN" altLang="en-US" dirty="0">
                <a:hlinkClick r:id="rId3"/>
              </a:rPr>
              <a:t>哔哩哔哩</a:t>
            </a:r>
            <a:r>
              <a:rPr lang="en-US" altLang="zh-CN" dirty="0">
                <a:hlinkClick r:id="rId3"/>
              </a:rPr>
              <a:t>_</a:t>
            </a:r>
            <a:r>
              <a:rPr lang="en-US" altLang="zh-CN" dirty="0" err="1">
                <a:hlinkClick r:id="rId3"/>
              </a:rPr>
              <a:t>bilibili</a:t>
            </a:r>
            <a:endParaRPr lang="zh-CN" altLang="en-US" dirty="0"/>
          </a:p>
        </p:txBody>
      </p:sp>
      <p:sp>
        <p:nvSpPr>
          <p:cNvPr id="10" name="文本框 9">
            <a:extLst>
              <a:ext uri="{FF2B5EF4-FFF2-40B4-BE49-F238E27FC236}">
                <a16:creationId xmlns:a16="http://schemas.microsoft.com/office/drawing/2014/main" id="{BD11C7EF-DFF6-5EF1-2963-FAD08803114D}"/>
              </a:ext>
            </a:extLst>
          </p:cNvPr>
          <p:cNvSpPr txBox="1"/>
          <p:nvPr/>
        </p:nvSpPr>
        <p:spPr>
          <a:xfrm>
            <a:off x="551021" y="6360256"/>
            <a:ext cx="4621160" cy="369332"/>
          </a:xfrm>
          <a:prstGeom prst="rect">
            <a:avLst/>
          </a:prstGeom>
          <a:noFill/>
        </p:spPr>
        <p:txBody>
          <a:bodyPr wrap="square">
            <a:spAutoFit/>
          </a:bodyPr>
          <a:lstStyle/>
          <a:p>
            <a:r>
              <a:rPr lang="zh-CN" altLang="en-US" dirty="0">
                <a:hlinkClick r:id="rId4"/>
              </a:rPr>
              <a:t>什么是</a:t>
            </a:r>
            <a:r>
              <a:rPr lang="en-US" altLang="zh-CN" dirty="0">
                <a:hlinkClick r:id="rId4"/>
              </a:rPr>
              <a:t>P/NP</a:t>
            </a:r>
            <a:r>
              <a:rPr lang="zh-CN" altLang="en-US" dirty="0">
                <a:hlinkClick r:id="rId4"/>
              </a:rPr>
              <a:t>问题</a:t>
            </a:r>
            <a:r>
              <a:rPr lang="en-US" altLang="zh-CN" dirty="0">
                <a:hlinkClick r:id="rId4"/>
              </a:rPr>
              <a:t>??_</a:t>
            </a:r>
            <a:r>
              <a:rPr lang="zh-CN" altLang="en-US" dirty="0">
                <a:hlinkClick r:id="rId4"/>
              </a:rPr>
              <a:t>哔哩哔哩</a:t>
            </a:r>
            <a:r>
              <a:rPr lang="en-US" altLang="zh-CN" dirty="0">
                <a:hlinkClick r:id="rId4"/>
              </a:rPr>
              <a:t>_</a:t>
            </a:r>
            <a:r>
              <a:rPr lang="en-US" altLang="zh-CN" dirty="0" err="1">
                <a:hlinkClick r:id="rId4"/>
              </a:rPr>
              <a:t>bilibili</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94F2E9F-CECF-4EAB-9D8A-1D8D660CFC18}"/>
              </a:ext>
            </a:extLst>
          </p:cNvPr>
          <p:cNvSpPr>
            <a:spLocks noGrp="1" noChangeArrowheads="1"/>
          </p:cNvSpPr>
          <p:nvPr>
            <p:ph type="title" idx="4294967295"/>
          </p:nvPr>
        </p:nvSpPr>
        <p:spPr>
          <a:xfrm>
            <a:off x="467544" y="125052"/>
            <a:ext cx="7886700" cy="1325563"/>
          </a:xfrm>
        </p:spPr>
        <p:txBody>
          <a:bodyPr/>
          <a:lstStyle/>
          <a:p>
            <a:r>
              <a:rPr lang="en-US" altLang="zh-CN" dirty="0"/>
              <a:t>NP</a:t>
            </a:r>
            <a:r>
              <a:rPr lang="zh-CN" altLang="en-US" dirty="0"/>
              <a:t>与计算的难解性</a:t>
            </a:r>
          </a:p>
        </p:txBody>
      </p:sp>
      <p:sp>
        <p:nvSpPr>
          <p:cNvPr id="8" name="灯片编号占位符 5">
            <a:extLst>
              <a:ext uri="{FF2B5EF4-FFF2-40B4-BE49-F238E27FC236}">
                <a16:creationId xmlns:a16="http://schemas.microsoft.com/office/drawing/2014/main" id="{5852A8D6-1D0D-4DF6-994A-8FC501CD8E73}"/>
              </a:ext>
            </a:extLst>
          </p:cNvPr>
          <p:cNvSpPr>
            <a:spLocks noGrp="1"/>
          </p:cNvSpPr>
          <p:nvPr>
            <p:ph type="sldNum" sz="quarter" idx="4294967295"/>
          </p:nvPr>
        </p:nvSpPr>
        <p:spPr>
          <a:xfrm>
            <a:off x="7086600" y="6356350"/>
            <a:ext cx="2057400" cy="365125"/>
          </a:xfrm>
        </p:spPr>
        <p:txBody>
          <a:bodyPr/>
          <a:lstStyle/>
          <a:p>
            <a:fld id="{4341D300-1D46-42F6-9C53-94FCC342B318}" type="slidenum">
              <a:rPr lang="zh-CN" altLang="en-US"/>
              <a:pPr/>
              <a:t>3</a:t>
            </a:fld>
            <a:endParaRPr lang="en-US" altLang="zh-CN"/>
          </a:p>
        </p:txBody>
      </p:sp>
      <p:sp>
        <p:nvSpPr>
          <p:cNvPr id="8195" name="Rectangle 3">
            <a:extLst>
              <a:ext uri="{FF2B5EF4-FFF2-40B4-BE49-F238E27FC236}">
                <a16:creationId xmlns:a16="http://schemas.microsoft.com/office/drawing/2014/main" id="{74614522-91CC-4908-ACEE-8627F20F8669}"/>
              </a:ext>
            </a:extLst>
          </p:cNvPr>
          <p:cNvSpPr>
            <a:spLocks noGrp="1" noChangeArrowheads="1"/>
          </p:cNvSpPr>
          <p:nvPr>
            <p:ph idx="4294967295"/>
          </p:nvPr>
        </p:nvSpPr>
        <p:spPr>
          <a:xfrm>
            <a:off x="266700" y="1278448"/>
            <a:ext cx="7886700" cy="4351338"/>
          </a:xfrm>
        </p:spPr>
        <p:txBody>
          <a:bodyPr>
            <a:normAutofit/>
          </a:bodyPr>
          <a:lstStyle/>
          <a:p>
            <a:pPr lvl="1">
              <a:lnSpc>
                <a:spcPct val="150000"/>
              </a:lnSpc>
            </a:pPr>
            <a:r>
              <a:rPr lang="zh-CN" altLang="en-US" sz="2400" dirty="0"/>
              <a:t>贪心算法	区间调度：</a:t>
            </a:r>
            <a:r>
              <a:rPr lang="en-US" altLang="zh-CN" sz="2400" dirty="0"/>
              <a:t>O(n log n)</a:t>
            </a:r>
            <a:r>
              <a:rPr lang="zh-CN" altLang="en-US" sz="2400" dirty="0"/>
              <a:t>.</a:t>
            </a:r>
          </a:p>
          <a:p>
            <a:pPr lvl="1">
              <a:lnSpc>
                <a:spcPct val="150000"/>
              </a:lnSpc>
            </a:pPr>
            <a:r>
              <a:rPr lang="zh-CN" altLang="en-US" sz="2400" dirty="0"/>
              <a:t>分治策略	 </a:t>
            </a:r>
            <a:r>
              <a:rPr lang="en-US" altLang="zh-CN" sz="2400" dirty="0"/>
              <a:t>FFT</a:t>
            </a:r>
            <a:r>
              <a:rPr lang="zh-CN" altLang="en-US" sz="2400" dirty="0"/>
              <a:t>   	</a:t>
            </a:r>
            <a:r>
              <a:rPr lang="en-US" altLang="zh-CN" sz="2400" dirty="0"/>
              <a:t>O(n log n).</a:t>
            </a:r>
          </a:p>
          <a:p>
            <a:pPr lvl="1">
              <a:lnSpc>
                <a:spcPct val="150000"/>
              </a:lnSpc>
            </a:pPr>
            <a:r>
              <a:rPr lang="zh-CN" altLang="en-US" sz="2400" dirty="0"/>
              <a:t>动态规划	编辑距离	</a:t>
            </a:r>
            <a:r>
              <a:rPr lang="en-US" altLang="zh-CN" sz="2400" dirty="0"/>
              <a:t>O(n</a:t>
            </a:r>
            <a:r>
              <a:rPr lang="en-US" altLang="zh-CN" sz="2400" baseline="30000" dirty="0"/>
              <a:t>2</a:t>
            </a:r>
            <a:r>
              <a:rPr lang="en-US" altLang="zh-CN" sz="2400" dirty="0"/>
              <a:t>)</a:t>
            </a:r>
          </a:p>
          <a:p>
            <a:pPr lvl="1">
              <a:lnSpc>
                <a:spcPct val="150000"/>
              </a:lnSpc>
              <a:buFont typeface="Wingdings" panose="05000000000000000000" pitchFamily="2" charset="2"/>
              <a:buNone/>
            </a:pPr>
            <a:r>
              <a:rPr lang="zh-CN" altLang="en-US" sz="2400" dirty="0"/>
              <a:t>最开始我们把</a:t>
            </a:r>
            <a:r>
              <a:rPr lang="zh-CN" altLang="en-US" sz="2400" b="1" dirty="0"/>
              <a:t>多项式时间</a:t>
            </a:r>
            <a:r>
              <a:rPr lang="zh-CN" altLang="en-US" sz="2400" dirty="0"/>
              <a:t>作为效率的工作概念</a:t>
            </a:r>
          </a:p>
        </p:txBody>
      </p:sp>
      <p:sp>
        <p:nvSpPr>
          <p:cNvPr id="8196" name="Text Box 4">
            <a:extLst>
              <a:ext uri="{FF2B5EF4-FFF2-40B4-BE49-F238E27FC236}">
                <a16:creationId xmlns:a16="http://schemas.microsoft.com/office/drawing/2014/main" id="{9AC3BDCC-BA89-498D-B7D0-934361FA3823}"/>
              </a:ext>
            </a:extLst>
          </p:cNvPr>
          <p:cNvSpPr txBox="1">
            <a:spLocks noChangeArrowheads="1"/>
          </p:cNvSpPr>
          <p:nvPr/>
        </p:nvSpPr>
        <p:spPr bwMode="auto">
          <a:xfrm>
            <a:off x="609600" y="3910087"/>
            <a:ext cx="7924800" cy="114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buClrTx/>
              <a:buSzTx/>
              <a:buFontTx/>
              <a:buNone/>
            </a:pPr>
            <a:r>
              <a:rPr lang="zh-CN" altLang="en-US" sz="2400" dirty="0"/>
              <a:t>面对一些困难的问题，我们既不知道这些问题存在多项式时间算法，也不能证明问题不存在多项式时间算法</a:t>
            </a:r>
          </a:p>
        </p:txBody>
      </p:sp>
      <p:sp>
        <p:nvSpPr>
          <p:cNvPr id="8197" name="Text Box 5">
            <a:extLst>
              <a:ext uri="{FF2B5EF4-FFF2-40B4-BE49-F238E27FC236}">
                <a16:creationId xmlns:a16="http://schemas.microsoft.com/office/drawing/2014/main" id="{988F2CF4-ECD1-4146-8164-62E1B3037007}"/>
              </a:ext>
            </a:extLst>
          </p:cNvPr>
          <p:cNvSpPr txBox="1">
            <a:spLocks noChangeArrowheads="1"/>
          </p:cNvSpPr>
          <p:nvPr/>
        </p:nvSpPr>
        <p:spPr bwMode="auto">
          <a:xfrm>
            <a:off x="609600" y="5140910"/>
            <a:ext cx="7886700" cy="114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buClrTx/>
              <a:buSzTx/>
              <a:buFontTx/>
              <a:buNone/>
            </a:pPr>
            <a:r>
              <a:rPr lang="zh-CN" altLang="en-US" sz="2400" dirty="0"/>
              <a:t>这里将会对</a:t>
            </a:r>
            <a:r>
              <a:rPr lang="zh-CN" altLang="en-US" sz="2400" dirty="0">
                <a:latin typeface="Times New Roman" panose="02020603050405020304" pitchFamily="18" charset="0"/>
              </a:rPr>
              <a:t>“</a:t>
            </a:r>
            <a:r>
              <a:rPr lang="zh-CN" altLang="en-US" sz="2400" dirty="0">
                <a:solidFill>
                  <a:schemeClr val="hlink"/>
                </a:solidFill>
              </a:rPr>
              <a:t>困难</a:t>
            </a:r>
            <a:r>
              <a:rPr lang="zh-CN" altLang="en-US" sz="2400" dirty="0">
                <a:latin typeface="Times New Roman" panose="02020603050405020304" pitchFamily="18" charset="0"/>
              </a:rPr>
              <a:t>”</a:t>
            </a:r>
            <a:r>
              <a:rPr lang="zh-CN" altLang="en-US" sz="2400" dirty="0"/>
              <a:t>问题提出一个清晰的概念：在计算上实际上是难的，虽然我们不能证明它---</a:t>
            </a:r>
            <a:r>
              <a:rPr lang="en-US" altLang="zh-CN" sz="2400" dirty="0"/>
              <a:t>NP</a:t>
            </a:r>
            <a:r>
              <a:rPr lang="zh-CN" altLang="en-US" sz="2400" dirty="0"/>
              <a:t>完全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500" fill="hold"/>
                                        <p:tgtEl>
                                          <p:spTgt spid="8196"/>
                                        </p:tgtEl>
                                        <p:attrNameLst>
                                          <p:attrName>ppt_x</p:attrName>
                                        </p:attrNameLst>
                                      </p:cBhvr>
                                      <p:tavLst>
                                        <p:tav tm="0">
                                          <p:val>
                                            <p:strVal val="0-#ppt_w/2"/>
                                          </p:val>
                                        </p:tav>
                                        <p:tav tm="100000">
                                          <p:val>
                                            <p:strVal val="#ppt_x"/>
                                          </p:val>
                                        </p:tav>
                                      </p:tavLst>
                                    </p:anim>
                                    <p:anim calcmode="lin" valueType="num">
                                      <p:cBhvr additive="base">
                                        <p:cTn id="8"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7"/>
                                        </p:tgtEl>
                                        <p:attrNameLst>
                                          <p:attrName>style.visibility</p:attrName>
                                        </p:attrNameLst>
                                      </p:cBhvr>
                                      <p:to>
                                        <p:strVal val="visible"/>
                                      </p:to>
                                    </p:set>
                                    <p:anim calcmode="lin" valueType="num">
                                      <p:cBhvr additive="base">
                                        <p:cTn id="13" dur="500" fill="hold"/>
                                        <p:tgtEl>
                                          <p:spTgt spid="8197"/>
                                        </p:tgtEl>
                                        <p:attrNameLst>
                                          <p:attrName>ppt_x</p:attrName>
                                        </p:attrNameLst>
                                      </p:cBhvr>
                                      <p:tavLst>
                                        <p:tav tm="0">
                                          <p:val>
                                            <p:strVal val="0-#ppt_w/2"/>
                                          </p:val>
                                        </p:tav>
                                        <p:tav tm="100000">
                                          <p:val>
                                            <p:strVal val="#ppt_x"/>
                                          </p:val>
                                        </p:tav>
                                      </p:tavLst>
                                    </p:anim>
                                    <p:anim calcmode="lin" valueType="num">
                                      <p:cBhvr additive="base">
                                        <p:cTn id="14" dur="500" fill="hold"/>
                                        <p:tgtEl>
                                          <p:spTgt spid="81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utoUpdateAnimBg="0"/>
      <p:bldP spid="819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D6E4AF3-5C49-4941-8122-B72F87DE8909}"/>
              </a:ext>
            </a:extLst>
          </p:cNvPr>
          <p:cNvSpPr>
            <a:spLocks noGrp="1" noChangeArrowheads="1"/>
          </p:cNvSpPr>
          <p:nvPr>
            <p:ph type="title" idx="4294967295"/>
          </p:nvPr>
        </p:nvSpPr>
        <p:spPr>
          <a:xfrm>
            <a:off x="395536" y="97757"/>
            <a:ext cx="7886700" cy="1325563"/>
          </a:xfrm>
        </p:spPr>
        <p:txBody>
          <a:bodyPr/>
          <a:lstStyle/>
          <a:p>
            <a:r>
              <a:rPr lang="zh-CN" altLang="en-US" dirty="0"/>
              <a:t>8.1 多项式时间归约</a:t>
            </a:r>
          </a:p>
        </p:txBody>
      </p:sp>
      <p:sp>
        <p:nvSpPr>
          <p:cNvPr id="22" name="灯片编号占位符 5">
            <a:extLst>
              <a:ext uri="{FF2B5EF4-FFF2-40B4-BE49-F238E27FC236}">
                <a16:creationId xmlns:a16="http://schemas.microsoft.com/office/drawing/2014/main" id="{8BFE7175-3C2A-4646-BAAE-39CBF60650DD}"/>
              </a:ext>
            </a:extLst>
          </p:cNvPr>
          <p:cNvSpPr>
            <a:spLocks noGrp="1"/>
          </p:cNvSpPr>
          <p:nvPr>
            <p:ph type="sldNum" sz="quarter" idx="4294967295"/>
          </p:nvPr>
        </p:nvSpPr>
        <p:spPr>
          <a:xfrm>
            <a:off x="7086600" y="6356350"/>
            <a:ext cx="2057400" cy="365125"/>
          </a:xfrm>
        </p:spPr>
        <p:txBody>
          <a:bodyPr/>
          <a:lstStyle/>
          <a:p>
            <a:fld id="{ECAF9804-A014-4BAC-AB58-F040D17EC5C1}" type="slidenum">
              <a:rPr lang="zh-CN" altLang="en-US"/>
              <a:pPr/>
              <a:t>4</a:t>
            </a:fld>
            <a:endParaRPr lang="en-US" altLang="zh-CN"/>
          </a:p>
        </p:txBody>
      </p:sp>
      <p:sp>
        <p:nvSpPr>
          <p:cNvPr id="9219" name="Rectangle 3">
            <a:extLst>
              <a:ext uri="{FF2B5EF4-FFF2-40B4-BE49-F238E27FC236}">
                <a16:creationId xmlns:a16="http://schemas.microsoft.com/office/drawing/2014/main" id="{9F8B9804-19B6-4898-A0A3-E40173B4AA9D}"/>
              </a:ext>
            </a:extLst>
          </p:cNvPr>
          <p:cNvSpPr>
            <a:spLocks noGrp="1" noChangeArrowheads="1"/>
          </p:cNvSpPr>
          <p:nvPr>
            <p:ph idx="4294967295"/>
          </p:nvPr>
        </p:nvSpPr>
        <p:spPr>
          <a:xfrm>
            <a:off x="228600" y="1347787"/>
            <a:ext cx="7886700" cy="4351338"/>
          </a:xfrm>
        </p:spPr>
        <p:txBody>
          <a:bodyPr/>
          <a:lstStyle/>
          <a:p>
            <a:r>
              <a:rPr lang="zh-CN" altLang="en-US" sz="2800" dirty="0"/>
              <a:t>哪些问题在实际中存在可行解?</a:t>
            </a:r>
          </a:p>
          <a:p>
            <a:r>
              <a:rPr lang="zh-CN" altLang="en-US" sz="2800" dirty="0"/>
              <a:t>可行性定义：  </a:t>
            </a:r>
            <a:r>
              <a:rPr lang="zh-CN" altLang="en-US" sz="2800" dirty="0">
                <a:solidFill>
                  <a:schemeClr val="hlink"/>
                </a:solidFill>
              </a:rPr>
              <a:t>[</a:t>
            </a:r>
            <a:r>
              <a:rPr lang="en-US" altLang="zh-CN" sz="2800" dirty="0">
                <a:solidFill>
                  <a:schemeClr val="hlink"/>
                </a:solidFill>
              </a:rPr>
              <a:t>Cobham 1964, Edmonds 1965, Rabin 1966]  </a:t>
            </a:r>
            <a:r>
              <a:rPr lang="zh-CN" altLang="en-US" sz="2800" dirty="0"/>
              <a:t>存在多项式时间的算法.</a:t>
            </a:r>
          </a:p>
          <a:p>
            <a:endParaRPr lang="zh-CN" altLang="en-US" sz="2800" dirty="0"/>
          </a:p>
          <a:p>
            <a:endParaRPr lang="zh-CN" altLang="en-US" dirty="0"/>
          </a:p>
        </p:txBody>
      </p:sp>
      <p:sp>
        <p:nvSpPr>
          <p:cNvPr id="9220" name="Rectangle 4">
            <a:extLst>
              <a:ext uri="{FF2B5EF4-FFF2-40B4-BE49-F238E27FC236}">
                <a16:creationId xmlns:a16="http://schemas.microsoft.com/office/drawing/2014/main" id="{C18B054E-1237-4DAD-AC6A-25B5DBBA5727}"/>
              </a:ext>
            </a:extLst>
          </p:cNvPr>
          <p:cNvSpPr>
            <a:spLocks noChangeArrowheads="1"/>
          </p:cNvSpPr>
          <p:nvPr/>
        </p:nvSpPr>
        <p:spPr bwMode="auto">
          <a:xfrm>
            <a:off x="1763688" y="3040062"/>
            <a:ext cx="2428875" cy="388938"/>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b="1" i="0" dirty="0">
                <a:solidFill>
                  <a:srgbClr val="000000"/>
                </a:solidFill>
                <a:effectLst/>
                <a:latin typeface="Inter"/>
              </a:rPr>
              <a:t>是</a:t>
            </a:r>
            <a:endParaRPr lang="en-US" altLang="zh-CN" sz="1600" dirty="0"/>
          </a:p>
        </p:txBody>
      </p:sp>
      <p:sp>
        <p:nvSpPr>
          <p:cNvPr id="9221" name="Rectangle 5">
            <a:extLst>
              <a:ext uri="{FF2B5EF4-FFF2-40B4-BE49-F238E27FC236}">
                <a16:creationId xmlns:a16="http://schemas.microsoft.com/office/drawing/2014/main" id="{5AFA7FC7-25B9-4558-AC51-1A7F3F37E19C}"/>
              </a:ext>
            </a:extLst>
          </p:cNvPr>
          <p:cNvSpPr>
            <a:spLocks noChangeArrowheads="1"/>
          </p:cNvSpPr>
          <p:nvPr/>
        </p:nvSpPr>
        <p:spPr bwMode="auto">
          <a:xfrm>
            <a:off x="4192563" y="3046412"/>
            <a:ext cx="2405063" cy="37465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b="1" dirty="0">
                <a:solidFill>
                  <a:srgbClr val="000000"/>
                </a:solidFill>
                <a:latin typeface="Inter"/>
              </a:rPr>
              <a:t>大概不是</a:t>
            </a:r>
            <a:endParaRPr lang="en-US" altLang="zh-CN" sz="1600" b="1" dirty="0">
              <a:solidFill>
                <a:srgbClr val="000000"/>
              </a:solidFill>
              <a:latin typeface="Inter"/>
            </a:endParaRPr>
          </a:p>
        </p:txBody>
      </p:sp>
      <p:sp>
        <p:nvSpPr>
          <p:cNvPr id="9222" name="Rectangle 6">
            <a:extLst>
              <a:ext uri="{FF2B5EF4-FFF2-40B4-BE49-F238E27FC236}">
                <a16:creationId xmlns:a16="http://schemas.microsoft.com/office/drawing/2014/main" id="{13E9273E-24FA-43F3-A5CB-246B622D0D92}"/>
              </a:ext>
            </a:extLst>
          </p:cNvPr>
          <p:cNvSpPr>
            <a:spLocks noChangeArrowheads="1"/>
          </p:cNvSpPr>
          <p:nvPr/>
        </p:nvSpPr>
        <p:spPr bwMode="auto">
          <a:xfrm>
            <a:off x="1763688" y="3421062"/>
            <a:ext cx="2428875"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最短路径</a:t>
            </a:r>
            <a:endParaRPr lang="en-US" altLang="zh-CN" sz="1600" dirty="0"/>
          </a:p>
        </p:txBody>
      </p:sp>
      <p:sp>
        <p:nvSpPr>
          <p:cNvPr id="9223" name="Rectangle 7">
            <a:extLst>
              <a:ext uri="{FF2B5EF4-FFF2-40B4-BE49-F238E27FC236}">
                <a16:creationId xmlns:a16="http://schemas.microsoft.com/office/drawing/2014/main" id="{58A03423-063C-41F9-87AA-D83F15822D52}"/>
              </a:ext>
            </a:extLst>
          </p:cNvPr>
          <p:cNvSpPr>
            <a:spLocks noChangeArrowheads="1"/>
          </p:cNvSpPr>
          <p:nvPr/>
        </p:nvSpPr>
        <p:spPr bwMode="auto">
          <a:xfrm>
            <a:off x="4192563" y="3421062"/>
            <a:ext cx="2405063"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最长路径</a:t>
            </a:r>
            <a:endParaRPr lang="en-US" altLang="zh-CN" sz="1600" dirty="0"/>
          </a:p>
        </p:txBody>
      </p:sp>
      <p:sp>
        <p:nvSpPr>
          <p:cNvPr id="9224" name="Rectangle 8">
            <a:extLst>
              <a:ext uri="{FF2B5EF4-FFF2-40B4-BE49-F238E27FC236}">
                <a16:creationId xmlns:a16="http://schemas.microsoft.com/office/drawing/2014/main" id="{4142147B-5287-4C83-8AD3-CECC1EE00AB8}"/>
              </a:ext>
            </a:extLst>
          </p:cNvPr>
          <p:cNvSpPr>
            <a:spLocks noChangeArrowheads="1"/>
          </p:cNvSpPr>
          <p:nvPr/>
        </p:nvSpPr>
        <p:spPr bwMode="auto">
          <a:xfrm>
            <a:off x="1763688" y="4183062"/>
            <a:ext cx="2428875"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最小割</a:t>
            </a:r>
            <a:endParaRPr lang="en-US" altLang="zh-CN" sz="1600" dirty="0"/>
          </a:p>
        </p:txBody>
      </p:sp>
      <p:sp>
        <p:nvSpPr>
          <p:cNvPr id="9225" name="Rectangle 9">
            <a:extLst>
              <a:ext uri="{FF2B5EF4-FFF2-40B4-BE49-F238E27FC236}">
                <a16:creationId xmlns:a16="http://schemas.microsoft.com/office/drawing/2014/main" id="{0E7F00A5-DCB2-4CEE-BA20-85925C9DC5CC}"/>
              </a:ext>
            </a:extLst>
          </p:cNvPr>
          <p:cNvSpPr>
            <a:spLocks noChangeArrowheads="1"/>
          </p:cNvSpPr>
          <p:nvPr/>
        </p:nvSpPr>
        <p:spPr bwMode="auto">
          <a:xfrm>
            <a:off x="4192563" y="4183062"/>
            <a:ext cx="2405063"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最大割</a:t>
            </a:r>
            <a:endParaRPr lang="en-US" altLang="zh-CN" sz="1600" dirty="0"/>
          </a:p>
        </p:txBody>
      </p:sp>
      <p:sp>
        <p:nvSpPr>
          <p:cNvPr id="9226" name="Rectangle 10">
            <a:extLst>
              <a:ext uri="{FF2B5EF4-FFF2-40B4-BE49-F238E27FC236}">
                <a16:creationId xmlns:a16="http://schemas.microsoft.com/office/drawing/2014/main" id="{DCDF24E3-8077-4781-9A9D-76696C772A06}"/>
              </a:ext>
            </a:extLst>
          </p:cNvPr>
          <p:cNvSpPr>
            <a:spLocks noChangeArrowheads="1"/>
          </p:cNvSpPr>
          <p:nvPr/>
        </p:nvSpPr>
        <p:spPr bwMode="auto">
          <a:xfrm>
            <a:off x="1763688" y="4564062"/>
            <a:ext cx="2428875"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2-</a:t>
            </a:r>
            <a:r>
              <a:rPr lang="en-US" altLang="zh-CN" sz="1600" dirty="0"/>
              <a:t>SAT</a:t>
            </a:r>
          </a:p>
        </p:txBody>
      </p:sp>
      <p:sp>
        <p:nvSpPr>
          <p:cNvPr id="9227" name="Rectangle 11">
            <a:extLst>
              <a:ext uri="{FF2B5EF4-FFF2-40B4-BE49-F238E27FC236}">
                <a16:creationId xmlns:a16="http://schemas.microsoft.com/office/drawing/2014/main" id="{0C1D7327-8DC3-4B88-91B6-5C0B43F5CD07}"/>
              </a:ext>
            </a:extLst>
          </p:cNvPr>
          <p:cNvSpPr>
            <a:spLocks noChangeArrowheads="1"/>
          </p:cNvSpPr>
          <p:nvPr/>
        </p:nvSpPr>
        <p:spPr bwMode="auto">
          <a:xfrm>
            <a:off x="4192563" y="4564062"/>
            <a:ext cx="2405063"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3-</a:t>
            </a:r>
            <a:r>
              <a:rPr lang="en-US" altLang="zh-CN" sz="1600" dirty="0"/>
              <a:t>SAT</a:t>
            </a:r>
          </a:p>
        </p:txBody>
      </p:sp>
      <p:sp>
        <p:nvSpPr>
          <p:cNvPr id="9228" name="Rectangle 12">
            <a:extLst>
              <a:ext uri="{FF2B5EF4-FFF2-40B4-BE49-F238E27FC236}">
                <a16:creationId xmlns:a16="http://schemas.microsoft.com/office/drawing/2014/main" id="{0809D888-82AF-4E75-8DB6-E6769CA153C9}"/>
              </a:ext>
            </a:extLst>
          </p:cNvPr>
          <p:cNvSpPr>
            <a:spLocks noChangeArrowheads="1"/>
          </p:cNvSpPr>
          <p:nvPr/>
        </p:nvSpPr>
        <p:spPr bwMode="auto">
          <a:xfrm>
            <a:off x="1763688" y="3802062"/>
            <a:ext cx="2428875"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匹配</a:t>
            </a:r>
            <a:endParaRPr lang="en-US" altLang="zh-CN" sz="1600" dirty="0"/>
          </a:p>
        </p:txBody>
      </p:sp>
      <p:sp>
        <p:nvSpPr>
          <p:cNvPr id="9229" name="Rectangle 13">
            <a:extLst>
              <a:ext uri="{FF2B5EF4-FFF2-40B4-BE49-F238E27FC236}">
                <a16:creationId xmlns:a16="http://schemas.microsoft.com/office/drawing/2014/main" id="{8E102987-9DE7-4227-B4F3-8AAD0EB15FBB}"/>
              </a:ext>
            </a:extLst>
          </p:cNvPr>
          <p:cNvSpPr>
            <a:spLocks noChangeArrowheads="1"/>
          </p:cNvSpPr>
          <p:nvPr/>
        </p:nvSpPr>
        <p:spPr bwMode="auto">
          <a:xfrm>
            <a:off x="4192563" y="3802062"/>
            <a:ext cx="2405063"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三维匹配</a:t>
            </a:r>
            <a:endParaRPr lang="en-US" altLang="zh-CN" sz="1600" dirty="0"/>
          </a:p>
        </p:txBody>
      </p:sp>
      <p:sp>
        <p:nvSpPr>
          <p:cNvPr id="9230" name="Rectangle 14">
            <a:extLst>
              <a:ext uri="{FF2B5EF4-FFF2-40B4-BE49-F238E27FC236}">
                <a16:creationId xmlns:a16="http://schemas.microsoft.com/office/drawing/2014/main" id="{44016C49-B934-4B10-B961-B0900A31AF21}"/>
              </a:ext>
            </a:extLst>
          </p:cNvPr>
          <p:cNvSpPr>
            <a:spLocks noChangeArrowheads="1"/>
          </p:cNvSpPr>
          <p:nvPr/>
        </p:nvSpPr>
        <p:spPr bwMode="auto">
          <a:xfrm>
            <a:off x="1763688" y="5707062"/>
            <a:ext cx="2428875"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buClrTx/>
              <a:buSzTx/>
              <a:buFontTx/>
              <a:buNone/>
            </a:pPr>
            <a:r>
              <a:rPr lang="zh-CN" altLang="en-US" sz="1600" b="0" dirty="0">
                <a:effectLst/>
              </a:rPr>
              <a:t>素性测试</a:t>
            </a:r>
            <a:endParaRPr lang="en-US" altLang="zh-CN" sz="1600" dirty="0">
              <a:latin typeface="Comic Sans MS" panose="030F0702030302020204" pitchFamily="66" charset="0"/>
            </a:endParaRPr>
          </a:p>
        </p:txBody>
      </p:sp>
      <p:sp>
        <p:nvSpPr>
          <p:cNvPr id="9231" name="Rectangle 15">
            <a:extLst>
              <a:ext uri="{FF2B5EF4-FFF2-40B4-BE49-F238E27FC236}">
                <a16:creationId xmlns:a16="http://schemas.microsoft.com/office/drawing/2014/main" id="{5477C748-3EB3-4D91-B84A-94729B7D43B8}"/>
              </a:ext>
            </a:extLst>
          </p:cNvPr>
          <p:cNvSpPr>
            <a:spLocks noChangeArrowheads="1"/>
          </p:cNvSpPr>
          <p:nvPr/>
        </p:nvSpPr>
        <p:spPr bwMode="auto">
          <a:xfrm>
            <a:off x="4192563" y="5707062"/>
            <a:ext cx="2405063"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buClrTx/>
              <a:buSzTx/>
              <a:buFontTx/>
              <a:buNone/>
            </a:pPr>
            <a:r>
              <a:rPr lang="zh-CN" altLang="en-US" sz="1600" b="0" dirty="0">
                <a:effectLst/>
              </a:rPr>
              <a:t>因式分解</a:t>
            </a:r>
            <a:endParaRPr lang="en-US" altLang="zh-CN" sz="1600" dirty="0">
              <a:latin typeface="Comic Sans MS" panose="030F0702030302020204" pitchFamily="66" charset="0"/>
            </a:endParaRPr>
          </a:p>
        </p:txBody>
      </p:sp>
      <p:sp>
        <p:nvSpPr>
          <p:cNvPr id="9232" name="Rectangle 16">
            <a:extLst>
              <a:ext uri="{FF2B5EF4-FFF2-40B4-BE49-F238E27FC236}">
                <a16:creationId xmlns:a16="http://schemas.microsoft.com/office/drawing/2014/main" id="{793E389A-A3C8-4826-BB92-607A17ACB515}"/>
              </a:ext>
            </a:extLst>
          </p:cNvPr>
          <p:cNvSpPr>
            <a:spLocks noChangeArrowheads="1"/>
          </p:cNvSpPr>
          <p:nvPr/>
        </p:nvSpPr>
        <p:spPr bwMode="auto">
          <a:xfrm>
            <a:off x="1763688" y="4945062"/>
            <a:ext cx="2428875"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平面四着色</a:t>
            </a:r>
            <a:endParaRPr lang="en-US" altLang="zh-CN" sz="1600" dirty="0"/>
          </a:p>
        </p:txBody>
      </p:sp>
      <p:sp>
        <p:nvSpPr>
          <p:cNvPr id="9233" name="Rectangle 17">
            <a:extLst>
              <a:ext uri="{FF2B5EF4-FFF2-40B4-BE49-F238E27FC236}">
                <a16:creationId xmlns:a16="http://schemas.microsoft.com/office/drawing/2014/main" id="{0F003B93-1147-46DC-921A-D77F24B3E40A}"/>
              </a:ext>
            </a:extLst>
          </p:cNvPr>
          <p:cNvSpPr>
            <a:spLocks noChangeArrowheads="1"/>
          </p:cNvSpPr>
          <p:nvPr/>
        </p:nvSpPr>
        <p:spPr bwMode="auto">
          <a:xfrm>
            <a:off x="4192563" y="4945062"/>
            <a:ext cx="2405063"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buClrTx/>
              <a:buSzTx/>
              <a:buFontTx/>
              <a:buNone/>
            </a:pPr>
            <a:r>
              <a:rPr lang="zh-CN" altLang="en-US" sz="1600" b="0" dirty="0">
                <a:effectLst/>
              </a:rPr>
              <a:t>平面三着色</a:t>
            </a:r>
            <a:endParaRPr lang="en-US" altLang="zh-CN" sz="1600" dirty="0">
              <a:latin typeface="Comic Sans MS" panose="030F0702030302020204" pitchFamily="66" charset="0"/>
            </a:endParaRPr>
          </a:p>
        </p:txBody>
      </p:sp>
      <p:sp>
        <p:nvSpPr>
          <p:cNvPr id="9234" name="Rectangle 18">
            <a:extLst>
              <a:ext uri="{FF2B5EF4-FFF2-40B4-BE49-F238E27FC236}">
                <a16:creationId xmlns:a16="http://schemas.microsoft.com/office/drawing/2014/main" id="{B688E092-DC7F-4573-AFE2-C03E62C9C94C}"/>
              </a:ext>
            </a:extLst>
          </p:cNvPr>
          <p:cNvSpPr>
            <a:spLocks noChangeArrowheads="1"/>
          </p:cNvSpPr>
          <p:nvPr/>
        </p:nvSpPr>
        <p:spPr bwMode="auto">
          <a:xfrm>
            <a:off x="1763688" y="5326062"/>
            <a:ext cx="2428875"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pPr>
            <a:r>
              <a:rPr lang="zh-CN" altLang="en-US" sz="1600" dirty="0"/>
              <a:t>二分图顶点覆盖</a:t>
            </a:r>
            <a:endParaRPr lang="en-US" altLang="zh-CN" sz="1600" dirty="0"/>
          </a:p>
        </p:txBody>
      </p:sp>
      <p:sp>
        <p:nvSpPr>
          <p:cNvPr id="9235" name="Rectangle 19">
            <a:extLst>
              <a:ext uri="{FF2B5EF4-FFF2-40B4-BE49-F238E27FC236}">
                <a16:creationId xmlns:a16="http://schemas.microsoft.com/office/drawing/2014/main" id="{7BBE291F-E0AF-40E3-B42D-D373480737FB}"/>
              </a:ext>
            </a:extLst>
          </p:cNvPr>
          <p:cNvSpPr>
            <a:spLocks noChangeArrowheads="1"/>
          </p:cNvSpPr>
          <p:nvPr/>
        </p:nvSpPr>
        <p:spPr bwMode="auto">
          <a:xfrm>
            <a:off x="4192563" y="5326062"/>
            <a:ext cx="2405063" cy="381000"/>
          </a:xfrm>
          <a:prstGeom prst="rect">
            <a:avLst/>
          </a:prstGeom>
          <a:solidFill>
            <a:srgbClr val="C0C0C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eaLnBrk="0" hangingPunct="0">
              <a:spcBef>
                <a:spcPct val="0"/>
              </a:spcBef>
              <a:buClrTx/>
              <a:buSzTx/>
              <a:buFontTx/>
              <a:buNone/>
            </a:pPr>
            <a:r>
              <a:rPr lang="zh-CN" altLang="en-US" sz="1600" b="0" dirty="0">
                <a:effectLst/>
              </a:rPr>
              <a:t>顶点覆盖</a:t>
            </a:r>
            <a:endParaRPr lang="en-US" altLang="zh-CN" sz="1600" dirty="0">
              <a:latin typeface="Comic Sans MS" panose="030F0702030302020204" pitchFamily="66"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91523E1-162E-4103-9390-9E4B9EEE6514}"/>
              </a:ext>
            </a:extLst>
          </p:cNvPr>
          <p:cNvSpPr>
            <a:spLocks noGrp="1" noChangeArrowheads="1"/>
          </p:cNvSpPr>
          <p:nvPr>
            <p:ph type="title" idx="4294967295"/>
          </p:nvPr>
        </p:nvSpPr>
        <p:spPr>
          <a:xfrm>
            <a:off x="467544" y="136525"/>
            <a:ext cx="7886700" cy="1325563"/>
          </a:xfrm>
        </p:spPr>
        <p:txBody>
          <a:bodyPr/>
          <a:lstStyle/>
          <a:p>
            <a:r>
              <a:rPr lang="zh-CN" altLang="en-US" dirty="0"/>
              <a:t>多项式时间归约</a:t>
            </a:r>
          </a:p>
        </p:txBody>
      </p:sp>
      <p:sp>
        <p:nvSpPr>
          <p:cNvPr id="6" name="灯片编号占位符 5">
            <a:extLst>
              <a:ext uri="{FF2B5EF4-FFF2-40B4-BE49-F238E27FC236}">
                <a16:creationId xmlns:a16="http://schemas.microsoft.com/office/drawing/2014/main" id="{CEB4F841-E41F-4958-8B72-3C7ABD0C6B1E}"/>
              </a:ext>
            </a:extLst>
          </p:cNvPr>
          <p:cNvSpPr>
            <a:spLocks noGrp="1"/>
          </p:cNvSpPr>
          <p:nvPr>
            <p:ph type="sldNum" sz="quarter" idx="4294967295"/>
          </p:nvPr>
        </p:nvSpPr>
        <p:spPr>
          <a:xfrm>
            <a:off x="7086600" y="6356350"/>
            <a:ext cx="2057400" cy="365125"/>
          </a:xfrm>
        </p:spPr>
        <p:txBody>
          <a:bodyPr/>
          <a:lstStyle/>
          <a:p>
            <a:fld id="{72E0B87C-D4E4-4B2F-8303-7059BFA5DD92}" type="slidenum">
              <a:rPr lang="zh-CN" altLang="en-US"/>
              <a:pPr/>
              <a:t>5</a:t>
            </a:fld>
            <a:endParaRPr lang="en-US" altLang="zh-CN"/>
          </a:p>
        </p:txBody>
      </p:sp>
      <p:sp>
        <p:nvSpPr>
          <p:cNvPr id="10243" name="Rectangle 3">
            <a:extLst>
              <a:ext uri="{FF2B5EF4-FFF2-40B4-BE49-F238E27FC236}">
                <a16:creationId xmlns:a16="http://schemas.microsoft.com/office/drawing/2014/main" id="{A7FD24B9-7D88-477A-BF89-6FF18F6F7D90}"/>
              </a:ext>
            </a:extLst>
          </p:cNvPr>
          <p:cNvSpPr>
            <a:spLocks noGrp="1" noChangeArrowheads="1"/>
          </p:cNvSpPr>
          <p:nvPr>
            <p:ph idx="4294967295"/>
          </p:nvPr>
        </p:nvSpPr>
        <p:spPr>
          <a:xfrm>
            <a:off x="467544" y="1435601"/>
            <a:ext cx="7886700" cy="4351338"/>
          </a:xfrm>
        </p:spPr>
        <p:txBody>
          <a:bodyPr>
            <a:normAutofit/>
          </a:bodyPr>
          <a:lstStyle/>
          <a:p>
            <a:pPr>
              <a:lnSpc>
                <a:spcPct val="150000"/>
              </a:lnSpc>
              <a:buFont typeface="Wingdings" panose="05000000000000000000" pitchFamily="2" charset="2"/>
              <a:buNone/>
            </a:pPr>
            <a:r>
              <a:rPr lang="zh-CN" altLang="en-US" sz="2400" dirty="0"/>
              <a:t>对问题按照相对难度做一个</a:t>
            </a:r>
            <a:r>
              <a:rPr lang="zh-CN" altLang="en-US" sz="2400" dirty="0">
                <a:solidFill>
                  <a:schemeClr val="hlink"/>
                </a:solidFill>
              </a:rPr>
              <a:t>分类</a:t>
            </a:r>
          </a:p>
          <a:p>
            <a:pPr>
              <a:lnSpc>
                <a:spcPct val="150000"/>
              </a:lnSpc>
            </a:pPr>
            <a:r>
              <a:rPr lang="zh-CN" altLang="en-US" sz="2400" dirty="0">
                <a:solidFill>
                  <a:schemeClr val="hlink"/>
                </a:solidFill>
              </a:rPr>
              <a:t>基本技术：比较</a:t>
            </a:r>
          </a:p>
          <a:p>
            <a:pPr>
              <a:lnSpc>
                <a:spcPct val="150000"/>
              </a:lnSpc>
            </a:pPr>
            <a:r>
              <a:rPr lang="zh-CN" altLang="en-US" sz="2400" dirty="0"/>
              <a:t>如何形式的表达</a:t>
            </a:r>
            <a:r>
              <a:rPr lang="zh-CN" altLang="en-US" sz="2400" dirty="0">
                <a:latin typeface="Times New Roman" panose="02020603050405020304" pitchFamily="18" charset="0"/>
              </a:rPr>
              <a:t>“</a:t>
            </a:r>
            <a:r>
              <a:rPr lang="zh-CN" altLang="en-US" sz="2400" dirty="0"/>
              <a:t>问题</a:t>
            </a:r>
            <a:r>
              <a:rPr lang="en-US" altLang="zh-CN" sz="2400" dirty="0"/>
              <a:t>X</a:t>
            </a:r>
            <a:r>
              <a:rPr lang="zh-CN" altLang="en-US" sz="2400" dirty="0"/>
              <a:t>至少像问题</a:t>
            </a:r>
            <a:r>
              <a:rPr lang="en-US" altLang="zh-CN" sz="2400" dirty="0"/>
              <a:t>Y</a:t>
            </a:r>
            <a:r>
              <a:rPr lang="zh-CN" altLang="en-US" sz="2400" dirty="0"/>
              <a:t>一样的难</a:t>
            </a:r>
            <a:r>
              <a:rPr lang="zh-CN" altLang="en-US" sz="2400" dirty="0">
                <a:latin typeface="Times New Roman" panose="02020603050405020304" pitchFamily="18" charset="0"/>
              </a:rPr>
              <a:t>”</a:t>
            </a:r>
            <a:r>
              <a:rPr lang="zh-CN" altLang="en-US" sz="2400" dirty="0"/>
              <a:t>？</a:t>
            </a:r>
          </a:p>
          <a:p>
            <a:pPr>
              <a:lnSpc>
                <a:spcPct val="150000"/>
              </a:lnSpc>
            </a:pPr>
            <a:r>
              <a:rPr lang="zh-CN" altLang="en-US" sz="2400" dirty="0"/>
              <a:t>在计算模型中假设</a:t>
            </a:r>
            <a:r>
              <a:rPr lang="en-US" altLang="zh-CN" sz="2400" dirty="0"/>
              <a:t>X</a:t>
            </a:r>
            <a:r>
              <a:rPr lang="zh-CN" altLang="en-US" sz="2400" dirty="0"/>
              <a:t>可以在多项式时间内求解。假设有一个能解问题</a:t>
            </a:r>
            <a:r>
              <a:rPr lang="en-US" altLang="zh-CN" sz="2400" dirty="0"/>
              <a:t>X</a:t>
            </a:r>
            <a:r>
              <a:rPr lang="zh-CN" altLang="en-US" sz="2400" dirty="0"/>
              <a:t>实例的</a:t>
            </a:r>
            <a:r>
              <a:rPr lang="zh-CN" altLang="en-US" sz="2400" b="1" dirty="0"/>
              <a:t>黑盒子</a:t>
            </a:r>
            <a:r>
              <a:rPr lang="zh-CN" altLang="en-US" sz="2400" dirty="0"/>
              <a:t>，如果写下</a:t>
            </a:r>
            <a:r>
              <a:rPr lang="en-US" altLang="zh-CN" sz="2400" dirty="0"/>
              <a:t>X</a:t>
            </a:r>
            <a:r>
              <a:rPr lang="zh-CN" altLang="en-US" sz="2400" dirty="0"/>
              <a:t>实例的输入，那么可以一步返回正确答案。</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6887404-F920-1A10-F9DF-0E61DC6F3B0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E4516AA-3391-43EE-AAA6-FB1E5EAE1033}"/>
              </a:ext>
            </a:extLst>
          </p:cNvPr>
          <p:cNvSpPr>
            <a:spLocks noGrp="1" noChangeArrowheads="1"/>
          </p:cNvSpPr>
          <p:nvPr>
            <p:ph type="title" idx="4294967295"/>
          </p:nvPr>
        </p:nvSpPr>
        <p:spPr>
          <a:xfrm>
            <a:off x="467544" y="136525"/>
            <a:ext cx="7886700" cy="1325563"/>
          </a:xfrm>
        </p:spPr>
        <p:txBody>
          <a:bodyPr/>
          <a:lstStyle/>
          <a:p>
            <a:r>
              <a:rPr lang="zh-CN" altLang="en-US" dirty="0"/>
              <a:t>多项式时间归约</a:t>
            </a:r>
          </a:p>
        </p:txBody>
      </p:sp>
      <p:sp>
        <p:nvSpPr>
          <p:cNvPr id="6" name="灯片编号占位符 5">
            <a:extLst>
              <a:ext uri="{FF2B5EF4-FFF2-40B4-BE49-F238E27FC236}">
                <a16:creationId xmlns:a16="http://schemas.microsoft.com/office/drawing/2014/main" id="{F1CCFA40-1B38-CC12-DA13-64AA6E70A181}"/>
              </a:ext>
            </a:extLst>
          </p:cNvPr>
          <p:cNvSpPr>
            <a:spLocks noGrp="1"/>
          </p:cNvSpPr>
          <p:nvPr>
            <p:ph type="sldNum" sz="quarter" idx="4294967295"/>
          </p:nvPr>
        </p:nvSpPr>
        <p:spPr>
          <a:xfrm>
            <a:off x="7086600" y="6356350"/>
            <a:ext cx="2057400" cy="365125"/>
          </a:xfrm>
        </p:spPr>
        <p:txBody>
          <a:bodyPr/>
          <a:lstStyle/>
          <a:p>
            <a:fld id="{72E0B87C-D4E4-4B2F-8303-7059BFA5DD92}" type="slidenum">
              <a:rPr lang="zh-CN" altLang="en-US"/>
              <a:pPr/>
              <a:t>6</a:t>
            </a:fld>
            <a:endParaRPr lang="en-US" altLang="zh-CN"/>
          </a:p>
        </p:txBody>
      </p:sp>
      <p:sp>
        <p:nvSpPr>
          <p:cNvPr id="10243" name="Rectangle 3">
            <a:extLst>
              <a:ext uri="{FF2B5EF4-FFF2-40B4-BE49-F238E27FC236}">
                <a16:creationId xmlns:a16="http://schemas.microsoft.com/office/drawing/2014/main" id="{E42956F3-6E41-F84C-6907-ACF4D71E59B2}"/>
              </a:ext>
            </a:extLst>
          </p:cNvPr>
          <p:cNvSpPr>
            <a:spLocks noGrp="1" noChangeArrowheads="1"/>
          </p:cNvSpPr>
          <p:nvPr>
            <p:ph idx="4294967295"/>
          </p:nvPr>
        </p:nvSpPr>
        <p:spPr>
          <a:xfrm>
            <a:off x="467544" y="1435601"/>
            <a:ext cx="7886700" cy="4351338"/>
          </a:xfrm>
        </p:spPr>
        <p:txBody>
          <a:bodyPr>
            <a:normAutofit/>
          </a:bodyPr>
          <a:lstStyle/>
          <a:p>
            <a:pPr>
              <a:lnSpc>
                <a:spcPct val="150000"/>
              </a:lnSpc>
              <a:buFont typeface="Wingdings" panose="05000000000000000000" pitchFamily="2" charset="2"/>
              <a:buNone/>
            </a:pPr>
            <a:r>
              <a:rPr lang="zh-CN" altLang="en-US" sz="2400" dirty="0"/>
              <a:t>可以提出下述问题：</a:t>
            </a:r>
            <a:endParaRPr lang="en-US" altLang="zh-CN" sz="2400" dirty="0"/>
          </a:p>
          <a:p>
            <a:pPr algn="just">
              <a:lnSpc>
                <a:spcPct val="150000"/>
              </a:lnSpc>
              <a:buFont typeface="Wingdings" panose="05000000000000000000" pitchFamily="2" charset="2"/>
              <a:buNone/>
            </a:pPr>
            <a:r>
              <a:rPr lang="zh-CN" altLang="en-US" sz="2400" dirty="0"/>
              <a:t>   </a:t>
            </a:r>
            <a:r>
              <a:rPr lang="zh-CN" altLang="en-US" sz="3200" dirty="0"/>
              <a:t>能够用多项式个标准的计算步骤加多项式次调用解问题 </a:t>
            </a:r>
            <a:r>
              <a:rPr lang="en-US" altLang="zh-CN" sz="3200" dirty="0"/>
              <a:t>X </a:t>
            </a:r>
            <a:r>
              <a:rPr lang="zh-CN" altLang="en-US" sz="3200" dirty="0"/>
              <a:t>的黑盒子来解问题 </a:t>
            </a:r>
            <a:r>
              <a:rPr lang="en-US" altLang="zh-CN" sz="3200" dirty="0"/>
              <a:t>Y </a:t>
            </a:r>
            <a:r>
              <a:rPr lang="zh-CN" altLang="en-US" sz="3200" dirty="0"/>
              <a:t>的任意实例吗？</a:t>
            </a:r>
            <a:endParaRPr lang="en-US" altLang="zh-CN" sz="2800" dirty="0"/>
          </a:p>
        </p:txBody>
      </p:sp>
    </p:spTree>
    <p:extLst>
      <p:ext uri="{BB962C8B-B14F-4D97-AF65-F5344CB8AC3E}">
        <p14:creationId xmlns:p14="http://schemas.microsoft.com/office/powerpoint/2010/main" val="7779990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611E86D-08CC-484C-9BCE-18BAF6333679}"/>
              </a:ext>
            </a:extLst>
          </p:cNvPr>
          <p:cNvSpPr>
            <a:spLocks noGrp="1" noChangeArrowheads="1"/>
          </p:cNvSpPr>
          <p:nvPr>
            <p:ph type="title" idx="4294967295"/>
          </p:nvPr>
        </p:nvSpPr>
        <p:spPr>
          <a:xfrm>
            <a:off x="323528" y="136525"/>
            <a:ext cx="7886700" cy="1325563"/>
          </a:xfrm>
        </p:spPr>
        <p:txBody>
          <a:bodyPr/>
          <a:lstStyle/>
          <a:p>
            <a:r>
              <a:rPr lang="zh-CN" altLang="en-US" dirty="0"/>
              <a:t>多项式时间归约</a:t>
            </a:r>
            <a:endParaRPr lang="en-US" altLang="zh-CN" dirty="0"/>
          </a:p>
        </p:txBody>
      </p:sp>
      <p:sp>
        <p:nvSpPr>
          <p:cNvPr id="7" name="灯片编号占位符 5">
            <a:extLst>
              <a:ext uri="{FF2B5EF4-FFF2-40B4-BE49-F238E27FC236}">
                <a16:creationId xmlns:a16="http://schemas.microsoft.com/office/drawing/2014/main" id="{C20E2726-6D7D-48EC-AA8B-A0DCD0A53FA0}"/>
              </a:ext>
            </a:extLst>
          </p:cNvPr>
          <p:cNvSpPr>
            <a:spLocks noGrp="1"/>
          </p:cNvSpPr>
          <p:nvPr>
            <p:ph type="sldNum" sz="quarter" idx="4294967295"/>
          </p:nvPr>
        </p:nvSpPr>
        <p:spPr>
          <a:xfrm>
            <a:off x="7086600" y="6356350"/>
            <a:ext cx="2057400" cy="365125"/>
          </a:xfrm>
        </p:spPr>
        <p:txBody>
          <a:bodyPr/>
          <a:lstStyle/>
          <a:p>
            <a:fld id="{CD631621-CC55-4C21-9E46-5DB8F5403186}" type="slidenum">
              <a:rPr lang="zh-CN" altLang="en-US"/>
              <a:pPr/>
              <a:t>7</a:t>
            </a:fld>
            <a:endParaRPr lang="en-US" altLang="zh-CN"/>
          </a:p>
        </p:txBody>
      </p:sp>
      <p:sp>
        <p:nvSpPr>
          <p:cNvPr id="11267" name="Rectangle 3">
            <a:extLst>
              <a:ext uri="{FF2B5EF4-FFF2-40B4-BE49-F238E27FC236}">
                <a16:creationId xmlns:a16="http://schemas.microsoft.com/office/drawing/2014/main" id="{83B88E12-830E-49E9-A925-A58FFDD7377A}"/>
              </a:ext>
            </a:extLst>
          </p:cNvPr>
          <p:cNvSpPr>
            <a:spLocks noGrp="1" noChangeArrowheads="1"/>
          </p:cNvSpPr>
          <p:nvPr>
            <p:ph idx="4294967295"/>
          </p:nvPr>
        </p:nvSpPr>
        <p:spPr>
          <a:xfrm>
            <a:off x="323528" y="1497777"/>
            <a:ext cx="7886700" cy="4351338"/>
          </a:xfrm>
        </p:spPr>
        <p:txBody>
          <a:bodyPr>
            <a:normAutofit/>
          </a:bodyPr>
          <a:lstStyle/>
          <a:p>
            <a:pPr>
              <a:lnSpc>
                <a:spcPct val="150000"/>
              </a:lnSpc>
            </a:pPr>
            <a:r>
              <a:rPr lang="zh-CN" altLang="en-US" sz="2800" dirty="0"/>
              <a:t>如果对于问题</a:t>
            </a:r>
            <a:r>
              <a:rPr lang="en-US" altLang="zh-CN" sz="2800" dirty="0"/>
              <a:t>Y:</a:t>
            </a:r>
          </a:p>
          <a:p>
            <a:pPr>
              <a:lnSpc>
                <a:spcPct val="150000"/>
              </a:lnSpc>
              <a:buClr>
                <a:schemeClr val="hlink"/>
              </a:buClr>
              <a:buFontTx/>
              <a:buChar char="•"/>
            </a:pPr>
            <a:r>
              <a:rPr lang="zh-CN" altLang="en-US" sz="2800" dirty="0"/>
              <a:t>能够用多项式个标准的计算步骤；</a:t>
            </a:r>
          </a:p>
          <a:p>
            <a:pPr>
              <a:lnSpc>
                <a:spcPct val="150000"/>
              </a:lnSpc>
              <a:buClr>
                <a:schemeClr val="hlink"/>
              </a:buClr>
              <a:buFontTx/>
              <a:buChar char="•"/>
            </a:pPr>
            <a:r>
              <a:rPr lang="zh-CN" altLang="en-US" sz="2800" dirty="0"/>
              <a:t>加上多项式次调用解问题</a:t>
            </a:r>
            <a:r>
              <a:rPr lang="en-US" altLang="zh-CN" sz="2800" dirty="0"/>
              <a:t>X</a:t>
            </a:r>
            <a:r>
              <a:rPr lang="zh-CN" altLang="en-US" sz="2800" dirty="0"/>
              <a:t>的黑盒子来解问题</a:t>
            </a:r>
            <a:r>
              <a:rPr lang="en-US" altLang="zh-CN" sz="2800" dirty="0"/>
              <a:t>Y</a:t>
            </a:r>
          </a:p>
          <a:p>
            <a:pPr>
              <a:lnSpc>
                <a:spcPct val="150000"/>
              </a:lnSpc>
              <a:buClr>
                <a:schemeClr val="hlink"/>
              </a:buClr>
              <a:buFontTx/>
              <a:buChar char="•"/>
            </a:pPr>
            <a:endParaRPr lang="en-US" altLang="zh-CN" sz="2800" dirty="0"/>
          </a:p>
        </p:txBody>
      </p:sp>
      <p:sp>
        <p:nvSpPr>
          <p:cNvPr id="11268" name="Text Box 4">
            <a:extLst>
              <a:ext uri="{FF2B5EF4-FFF2-40B4-BE49-F238E27FC236}">
                <a16:creationId xmlns:a16="http://schemas.microsoft.com/office/drawing/2014/main" id="{CAB59AE2-919D-4DE5-B228-988301783675}"/>
              </a:ext>
            </a:extLst>
          </p:cNvPr>
          <p:cNvSpPr txBox="1">
            <a:spLocks noChangeArrowheads="1"/>
          </p:cNvSpPr>
          <p:nvPr/>
        </p:nvSpPr>
        <p:spPr bwMode="auto">
          <a:xfrm>
            <a:off x="467544" y="4005064"/>
            <a:ext cx="7315200" cy="158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800" dirty="0"/>
              <a:t>那么记作：</a:t>
            </a:r>
            <a:r>
              <a:rPr lang="en-US" altLang="zh-CN" sz="2800" dirty="0">
                <a:latin typeface="Comic Sans MS" panose="030F0702030302020204" pitchFamily="66" charset="0"/>
              </a:rPr>
              <a:t>Y </a:t>
            </a:r>
            <a:r>
              <a:rPr lang="en-US" altLang="zh-CN" sz="2800" dirty="0">
                <a:latin typeface="Comic Sans MS" panose="030F0702030302020204" pitchFamily="66" charset="0"/>
                <a:sym typeface="Symbol" panose="05050102010706020507" pitchFamily="18" charset="2"/>
              </a:rPr>
              <a:t></a:t>
            </a:r>
            <a:r>
              <a:rPr lang="en-US" altLang="zh-CN" sz="2800" baseline="-25000" dirty="0">
                <a:latin typeface="Comic Sans MS" panose="030F0702030302020204" pitchFamily="66" charset="0"/>
                <a:sym typeface="Symbol" panose="05050102010706020507" pitchFamily="18" charset="2"/>
              </a:rPr>
              <a:t> P</a:t>
            </a:r>
            <a:r>
              <a:rPr lang="en-US" altLang="zh-CN" sz="2800" dirty="0">
                <a:latin typeface="Comic Sans MS" panose="030F0702030302020204" pitchFamily="66" charset="0"/>
              </a:rPr>
              <a:t> X; </a:t>
            </a:r>
          </a:p>
          <a:p>
            <a:pPr>
              <a:spcBef>
                <a:spcPct val="50000"/>
              </a:spcBef>
              <a:buClrTx/>
              <a:buSzTx/>
              <a:buFontTx/>
              <a:buNone/>
            </a:pPr>
            <a:r>
              <a:rPr lang="zh-CN" altLang="en-US" sz="2800" dirty="0">
                <a:latin typeface="Comic Sans MS" panose="030F0702030302020204" pitchFamily="66" charset="0"/>
              </a:rPr>
              <a:t>读作“</a:t>
            </a:r>
            <a:r>
              <a:rPr lang="en-US" altLang="zh-CN" sz="2800" dirty="0">
                <a:solidFill>
                  <a:schemeClr val="hlink"/>
                </a:solidFill>
                <a:latin typeface="Comic Sans MS" panose="030F0702030302020204" pitchFamily="66" charset="0"/>
              </a:rPr>
              <a:t>Y</a:t>
            </a:r>
            <a:r>
              <a:rPr lang="zh-CN" altLang="en-US" sz="2800" dirty="0">
                <a:solidFill>
                  <a:schemeClr val="hlink"/>
                </a:solidFill>
                <a:latin typeface="Comic Sans MS" panose="030F0702030302020204" pitchFamily="66" charset="0"/>
              </a:rPr>
              <a:t>多项式时间可归约到</a:t>
            </a:r>
            <a:r>
              <a:rPr lang="en-US" altLang="zh-CN" sz="2800" dirty="0">
                <a:solidFill>
                  <a:schemeClr val="hlink"/>
                </a:solidFill>
                <a:latin typeface="Comic Sans MS" panose="030F0702030302020204" pitchFamily="66" charset="0"/>
              </a:rPr>
              <a:t>X</a:t>
            </a:r>
            <a:r>
              <a:rPr lang="en-US" altLang="zh-CN" sz="2800" dirty="0">
                <a:latin typeface="Comic Sans MS" panose="030F0702030302020204" pitchFamily="66" charset="0"/>
              </a:rPr>
              <a:t>”;</a:t>
            </a:r>
            <a:r>
              <a:rPr lang="zh-CN" altLang="en-US" sz="2800" dirty="0">
                <a:latin typeface="Comic Sans MS" panose="030F0702030302020204" pitchFamily="66" charset="0"/>
              </a:rPr>
              <a:t>或“</a:t>
            </a:r>
            <a:r>
              <a:rPr lang="en-US" altLang="zh-CN" sz="2800" dirty="0">
                <a:latin typeface="Comic Sans MS" panose="030F0702030302020204" pitchFamily="66" charset="0"/>
              </a:rPr>
              <a:t>X</a:t>
            </a:r>
            <a:r>
              <a:rPr lang="zh-CN" altLang="en-US" sz="2800" dirty="0">
                <a:latin typeface="Comic Sans MS" panose="030F0702030302020204" pitchFamily="66" charset="0"/>
              </a:rPr>
              <a:t>至少像</a:t>
            </a:r>
            <a:r>
              <a:rPr lang="en-US" altLang="zh-CN" sz="2800" dirty="0">
                <a:latin typeface="Comic Sans MS" panose="030F0702030302020204" pitchFamily="66" charset="0"/>
              </a:rPr>
              <a:t>Y</a:t>
            </a:r>
            <a:r>
              <a:rPr lang="zh-CN" altLang="en-US" sz="2800" dirty="0">
                <a:latin typeface="Comic Sans MS" panose="030F0702030302020204" pitchFamily="66" charset="0"/>
              </a:rPr>
              <a:t>一样的难(相对于多项式时间</a:t>
            </a:r>
            <a:r>
              <a:rPr lang="en-US" altLang="zh-CN" sz="2800" dirty="0">
                <a:latin typeface="Comic Sans MS" panose="030F0702030302020204" pitchFamily="66"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71F9660-1017-4B2D-ABEA-E3A0754AD23C}"/>
              </a:ext>
            </a:extLst>
          </p:cNvPr>
          <p:cNvSpPr>
            <a:spLocks noGrp="1" noChangeArrowheads="1"/>
          </p:cNvSpPr>
          <p:nvPr>
            <p:ph type="title" idx="4294967295"/>
          </p:nvPr>
        </p:nvSpPr>
        <p:spPr>
          <a:xfrm>
            <a:off x="467544" y="115220"/>
            <a:ext cx="7886700" cy="1325563"/>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1C49EBED-CF77-4B6A-AA2D-C2006FCF85CE}"/>
              </a:ext>
            </a:extLst>
          </p:cNvPr>
          <p:cNvSpPr>
            <a:spLocks noGrp="1"/>
          </p:cNvSpPr>
          <p:nvPr>
            <p:ph type="sldNum" sz="quarter" idx="4294967295"/>
          </p:nvPr>
        </p:nvSpPr>
        <p:spPr>
          <a:xfrm>
            <a:off x="7086600" y="6356350"/>
            <a:ext cx="2057400" cy="365125"/>
          </a:xfrm>
        </p:spPr>
        <p:txBody>
          <a:bodyPr/>
          <a:lstStyle/>
          <a:p>
            <a:fld id="{472DF843-214B-40FC-ABB3-7BDD40E27A14}" type="slidenum">
              <a:rPr lang="zh-CN" altLang="en-US"/>
              <a:pPr/>
              <a:t>8</a:t>
            </a:fld>
            <a:endParaRPr lang="en-US" altLang="zh-CN"/>
          </a:p>
        </p:txBody>
      </p:sp>
      <p:sp>
        <p:nvSpPr>
          <p:cNvPr id="12291" name="Rectangle 3">
            <a:extLst>
              <a:ext uri="{FF2B5EF4-FFF2-40B4-BE49-F238E27FC236}">
                <a16:creationId xmlns:a16="http://schemas.microsoft.com/office/drawing/2014/main" id="{356E12F8-D31B-4F82-89BC-E7A51E1CE53C}"/>
              </a:ext>
            </a:extLst>
          </p:cNvPr>
          <p:cNvSpPr>
            <a:spLocks noGrp="1" noChangeArrowheads="1"/>
          </p:cNvSpPr>
          <p:nvPr>
            <p:ph idx="4294967295"/>
          </p:nvPr>
        </p:nvSpPr>
        <p:spPr>
          <a:xfrm>
            <a:off x="467544" y="1696410"/>
            <a:ext cx="7886700" cy="4351338"/>
          </a:xfrm>
        </p:spPr>
        <p:txBody>
          <a:bodyPr/>
          <a:lstStyle/>
          <a:p>
            <a:pPr>
              <a:lnSpc>
                <a:spcPct val="150000"/>
              </a:lnSpc>
            </a:pPr>
            <a:r>
              <a:rPr lang="zh-CN" altLang="en-US" sz="2800" dirty="0"/>
              <a:t>定理8.1 假设</a:t>
            </a:r>
            <a:r>
              <a:rPr lang="en-US" altLang="zh-CN" sz="2800" dirty="0">
                <a:latin typeface="Comic Sans MS" panose="030F0702030302020204" pitchFamily="66" charset="0"/>
              </a:rPr>
              <a:t>Y </a:t>
            </a:r>
            <a:r>
              <a:rPr lang="en-US" altLang="zh-CN" sz="2800" dirty="0">
                <a:latin typeface="Comic Sans MS" panose="030F0702030302020204" pitchFamily="66" charset="0"/>
                <a:sym typeface="Symbol" panose="05050102010706020507" pitchFamily="18" charset="2"/>
              </a:rPr>
              <a:t></a:t>
            </a:r>
            <a:r>
              <a:rPr lang="en-US" altLang="zh-CN" sz="2800" baseline="-25000" dirty="0">
                <a:latin typeface="Comic Sans MS" panose="030F0702030302020204" pitchFamily="66" charset="0"/>
                <a:sym typeface="Symbol" panose="05050102010706020507" pitchFamily="18" charset="2"/>
              </a:rPr>
              <a:t> P</a:t>
            </a:r>
            <a:r>
              <a:rPr lang="en-US" altLang="zh-CN" sz="2800" dirty="0">
                <a:latin typeface="Comic Sans MS" panose="030F0702030302020204" pitchFamily="66" charset="0"/>
              </a:rPr>
              <a:t> X，</a:t>
            </a:r>
            <a:r>
              <a:rPr lang="zh-CN" altLang="en-US" sz="2800" dirty="0">
                <a:latin typeface="Comic Sans MS" panose="030F0702030302020204" pitchFamily="66" charset="0"/>
              </a:rPr>
              <a:t>如果</a:t>
            </a:r>
            <a:r>
              <a:rPr lang="en-US" altLang="zh-CN" sz="2800" dirty="0">
                <a:latin typeface="Comic Sans MS" panose="030F0702030302020204" pitchFamily="66" charset="0"/>
              </a:rPr>
              <a:t>X</a:t>
            </a:r>
            <a:r>
              <a:rPr lang="zh-CN" altLang="en-US" sz="2800" dirty="0">
                <a:latin typeface="Comic Sans MS" panose="030F0702030302020204" pitchFamily="66" charset="0"/>
              </a:rPr>
              <a:t>能在多项式时间内求解，则</a:t>
            </a:r>
            <a:r>
              <a:rPr lang="en-US" altLang="zh-CN" sz="2800" dirty="0">
                <a:latin typeface="Comic Sans MS" panose="030F0702030302020204" pitchFamily="66" charset="0"/>
              </a:rPr>
              <a:t>Y</a:t>
            </a:r>
            <a:r>
              <a:rPr lang="zh-CN" altLang="en-US" sz="2800" dirty="0">
                <a:latin typeface="Comic Sans MS" panose="030F0702030302020204" pitchFamily="66" charset="0"/>
              </a:rPr>
              <a:t>也能在多项式时间内求解。</a:t>
            </a:r>
          </a:p>
          <a:p>
            <a:pPr>
              <a:lnSpc>
                <a:spcPct val="150000"/>
              </a:lnSpc>
            </a:pPr>
            <a:endParaRPr lang="en-US" altLang="zh-CN" sz="2800" dirty="0">
              <a:latin typeface="Comic Sans MS" panose="030F0702030302020204" pitchFamily="66" charset="0"/>
            </a:endParaRPr>
          </a:p>
          <a:p>
            <a:pPr>
              <a:lnSpc>
                <a:spcPct val="150000"/>
              </a:lnSpc>
            </a:pPr>
            <a:r>
              <a:rPr lang="zh-CN" altLang="en-US" sz="2800" dirty="0">
                <a:latin typeface="Comic Sans MS" panose="030F0702030302020204" pitchFamily="66" charset="0"/>
              </a:rPr>
              <a:t>定理8.2 </a:t>
            </a:r>
            <a:r>
              <a:rPr lang="zh-CN" altLang="en-US" sz="2800" dirty="0"/>
              <a:t>假设</a:t>
            </a:r>
            <a:r>
              <a:rPr lang="en-US" altLang="zh-CN" sz="2800" dirty="0">
                <a:latin typeface="Comic Sans MS" panose="030F0702030302020204" pitchFamily="66" charset="0"/>
              </a:rPr>
              <a:t>Y </a:t>
            </a:r>
            <a:r>
              <a:rPr lang="en-US" altLang="zh-CN" sz="2800" dirty="0">
                <a:latin typeface="Comic Sans MS" panose="030F0702030302020204" pitchFamily="66" charset="0"/>
                <a:sym typeface="Symbol" panose="05050102010706020507" pitchFamily="18" charset="2"/>
              </a:rPr>
              <a:t></a:t>
            </a:r>
            <a:r>
              <a:rPr lang="en-US" altLang="zh-CN" sz="2800" baseline="-25000" dirty="0">
                <a:latin typeface="Comic Sans MS" panose="030F0702030302020204" pitchFamily="66" charset="0"/>
                <a:sym typeface="Symbol" panose="05050102010706020507" pitchFamily="18" charset="2"/>
              </a:rPr>
              <a:t> P</a:t>
            </a:r>
            <a:r>
              <a:rPr lang="en-US" altLang="zh-CN" sz="2800" dirty="0">
                <a:latin typeface="Comic Sans MS" panose="030F0702030302020204" pitchFamily="66" charset="0"/>
              </a:rPr>
              <a:t> X，</a:t>
            </a:r>
            <a:r>
              <a:rPr lang="zh-CN" altLang="en-US" sz="2800" dirty="0">
                <a:latin typeface="Comic Sans MS" panose="030F0702030302020204" pitchFamily="66" charset="0"/>
              </a:rPr>
              <a:t>如果</a:t>
            </a:r>
            <a:r>
              <a:rPr lang="en-US" altLang="zh-CN" sz="2800" dirty="0">
                <a:latin typeface="Comic Sans MS" panose="030F0702030302020204" pitchFamily="66" charset="0"/>
              </a:rPr>
              <a:t>Y</a:t>
            </a:r>
            <a:r>
              <a:rPr lang="zh-CN" altLang="en-US" sz="2800" dirty="0">
                <a:latin typeface="Comic Sans MS" panose="030F0702030302020204" pitchFamily="66" charset="0"/>
              </a:rPr>
              <a:t>不能在多项式时间内解决，则</a:t>
            </a:r>
            <a:r>
              <a:rPr lang="en-US" altLang="zh-CN" sz="2800" dirty="0">
                <a:latin typeface="Comic Sans MS" panose="030F0702030302020204" pitchFamily="66" charset="0"/>
              </a:rPr>
              <a:t>X</a:t>
            </a:r>
            <a:r>
              <a:rPr lang="zh-CN" altLang="en-US" sz="2800" dirty="0">
                <a:latin typeface="Comic Sans MS" panose="030F0702030302020204" pitchFamily="66" charset="0"/>
              </a:rPr>
              <a:t>不能在多项式时间内解决。</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7246D3C-06DA-482A-A2B0-A0430285035B}"/>
              </a:ext>
            </a:extLst>
          </p:cNvPr>
          <p:cNvSpPr>
            <a:spLocks noGrp="1" noChangeArrowheads="1"/>
          </p:cNvSpPr>
          <p:nvPr>
            <p:ph type="title" idx="4294967295"/>
          </p:nvPr>
        </p:nvSpPr>
        <p:spPr>
          <a:xfrm>
            <a:off x="467544" y="136525"/>
            <a:ext cx="7886700" cy="1325563"/>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FD4245C2-382B-41FA-884C-80764051363F}"/>
              </a:ext>
            </a:extLst>
          </p:cNvPr>
          <p:cNvSpPr>
            <a:spLocks noGrp="1"/>
          </p:cNvSpPr>
          <p:nvPr>
            <p:ph type="sldNum" sz="quarter" idx="4294967295"/>
          </p:nvPr>
        </p:nvSpPr>
        <p:spPr>
          <a:xfrm>
            <a:off x="7086600" y="6356350"/>
            <a:ext cx="2057400" cy="365125"/>
          </a:xfrm>
        </p:spPr>
        <p:txBody>
          <a:bodyPr/>
          <a:lstStyle/>
          <a:p>
            <a:fld id="{F225BF99-0775-442C-A1D5-204967620306}" type="slidenum">
              <a:rPr lang="zh-CN" altLang="en-US"/>
              <a:pPr/>
              <a:t>9</a:t>
            </a:fld>
            <a:endParaRPr lang="en-US" altLang="zh-CN"/>
          </a:p>
        </p:txBody>
      </p:sp>
      <p:sp>
        <p:nvSpPr>
          <p:cNvPr id="13315" name="Rectangle 3">
            <a:extLst>
              <a:ext uri="{FF2B5EF4-FFF2-40B4-BE49-F238E27FC236}">
                <a16:creationId xmlns:a16="http://schemas.microsoft.com/office/drawing/2014/main" id="{6BB16D5A-438D-4D97-A9D6-FBDCCC300DC2}"/>
              </a:ext>
            </a:extLst>
          </p:cNvPr>
          <p:cNvSpPr>
            <a:spLocks noGrp="1" noChangeArrowheads="1"/>
          </p:cNvSpPr>
          <p:nvPr>
            <p:ph idx="4294967295"/>
          </p:nvPr>
        </p:nvSpPr>
        <p:spPr>
          <a:xfrm>
            <a:off x="467544" y="1253331"/>
            <a:ext cx="7886700" cy="4351338"/>
          </a:xfrm>
        </p:spPr>
        <p:txBody>
          <a:bodyPr/>
          <a:lstStyle/>
          <a:p>
            <a:pPr>
              <a:lnSpc>
                <a:spcPct val="150000"/>
              </a:lnSpc>
            </a:pPr>
            <a:r>
              <a:rPr lang="zh-CN" altLang="en-US" sz="3200" dirty="0"/>
              <a:t>归约的基本策略</a:t>
            </a:r>
          </a:p>
          <a:p>
            <a:pPr>
              <a:lnSpc>
                <a:spcPct val="150000"/>
              </a:lnSpc>
            </a:pPr>
            <a:endParaRPr lang="en-US" altLang="zh-CN" dirty="0"/>
          </a:p>
          <a:p>
            <a:pPr lvl="1">
              <a:lnSpc>
                <a:spcPct val="150000"/>
              </a:lnSpc>
            </a:pPr>
            <a:r>
              <a:rPr lang="zh-CN" altLang="en-US" sz="3200" dirty="0"/>
              <a:t>简单等价归约</a:t>
            </a:r>
            <a:r>
              <a:rPr lang="en-US" altLang="zh-CN" sz="3200" dirty="0"/>
              <a:t>.</a:t>
            </a:r>
          </a:p>
          <a:p>
            <a:pPr lvl="1">
              <a:lnSpc>
                <a:spcPct val="150000"/>
              </a:lnSpc>
            </a:pPr>
            <a:r>
              <a:rPr lang="zh-CN" altLang="en-US" sz="3200" dirty="0"/>
              <a:t>从特殊情形归约</a:t>
            </a:r>
            <a:r>
              <a:rPr lang="en-US" altLang="zh-CN" sz="3200" dirty="0"/>
              <a:t>.</a:t>
            </a:r>
          </a:p>
          <a:p>
            <a:pPr lvl="1">
              <a:lnSpc>
                <a:spcPct val="150000"/>
              </a:lnSpc>
            </a:pPr>
            <a:r>
              <a:rPr lang="zh-CN" altLang="en-US" sz="3200" dirty="0"/>
              <a:t>使用零件归约</a:t>
            </a:r>
            <a:r>
              <a:rPr lang="en-US" altLang="zh-CN" sz="32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9D06F27-D175-4614-B6B5-7AA8B83D5156}"/>
              </a:ext>
            </a:extLst>
          </p:cNvPr>
          <p:cNvSpPr>
            <a:spLocks noGrp="1" noChangeArrowheads="1"/>
          </p:cNvSpPr>
          <p:nvPr>
            <p:ph type="title" idx="4294967295"/>
          </p:nvPr>
        </p:nvSpPr>
        <p:spPr>
          <a:xfrm>
            <a:off x="539552" y="99218"/>
            <a:ext cx="7886700" cy="1325563"/>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5D7BD6C4-29E3-4A38-87BC-E9D8C275C46F}"/>
              </a:ext>
            </a:extLst>
          </p:cNvPr>
          <p:cNvSpPr>
            <a:spLocks noGrp="1"/>
          </p:cNvSpPr>
          <p:nvPr>
            <p:ph type="sldNum" sz="quarter" idx="4294967295"/>
          </p:nvPr>
        </p:nvSpPr>
        <p:spPr>
          <a:xfrm>
            <a:off x="7086600" y="6356350"/>
            <a:ext cx="2057400" cy="365125"/>
          </a:xfrm>
        </p:spPr>
        <p:txBody>
          <a:bodyPr/>
          <a:lstStyle/>
          <a:p>
            <a:fld id="{A7B91AE8-1B0B-423F-A5C1-6F945617DA5C}" type="slidenum">
              <a:rPr lang="zh-CN" altLang="en-US"/>
              <a:pPr/>
              <a:t>10</a:t>
            </a:fld>
            <a:endParaRPr lang="en-US" altLang="zh-CN"/>
          </a:p>
        </p:txBody>
      </p:sp>
      <p:sp>
        <p:nvSpPr>
          <p:cNvPr id="14339" name="Rectangle 3">
            <a:extLst>
              <a:ext uri="{FF2B5EF4-FFF2-40B4-BE49-F238E27FC236}">
                <a16:creationId xmlns:a16="http://schemas.microsoft.com/office/drawing/2014/main" id="{F77C6B12-65FC-4479-8F41-B1E355E99658}"/>
              </a:ext>
            </a:extLst>
          </p:cNvPr>
          <p:cNvSpPr>
            <a:spLocks noGrp="1" noChangeArrowheads="1"/>
          </p:cNvSpPr>
          <p:nvPr>
            <p:ph idx="4294967295"/>
          </p:nvPr>
        </p:nvSpPr>
        <p:spPr>
          <a:xfrm>
            <a:off x="619745" y="1371600"/>
            <a:ext cx="7772400" cy="4114800"/>
          </a:xfrm>
        </p:spPr>
        <p:txBody>
          <a:bodyPr>
            <a:normAutofit fontScale="92500" lnSpcReduction="20000"/>
          </a:bodyPr>
          <a:lstStyle/>
          <a:p>
            <a:pPr>
              <a:lnSpc>
                <a:spcPct val="150000"/>
              </a:lnSpc>
              <a:buFont typeface="Wingdings" panose="05000000000000000000" pitchFamily="2" charset="2"/>
              <a:buNone/>
            </a:pPr>
            <a:r>
              <a:rPr lang="zh-CN" altLang="en-US" sz="3200" dirty="0">
                <a:solidFill>
                  <a:schemeClr val="hlink"/>
                </a:solidFill>
              </a:rPr>
              <a:t>独立集</a:t>
            </a:r>
          </a:p>
          <a:p>
            <a:pPr>
              <a:lnSpc>
                <a:spcPct val="150000"/>
              </a:lnSpc>
            </a:pPr>
            <a:r>
              <a:rPr lang="en-US" altLang="zh-CN" sz="3200" dirty="0"/>
              <a:t> </a:t>
            </a:r>
            <a:r>
              <a:rPr lang="zh-CN" altLang="en-US" sz="3200" dirty="0"/>
              <a:t>在图</a:t>
            </a:r>
            <a:r>
              <a:rPr lang="en-US" altLang="zh-CN" sz="3200" dirty="0"/>
              <a:t>G=(V,E)</a:t>
            </a:r>
            <a:r>
              <a:rPr lang="zh-CN" altLang="en-US" sz="3200" dirty="0"/>
              <a:t>中，如果</a:t>
            </a:r>
            <a:r>
              <a:rPr lang="zh-CN" altLang="en-US" sz="3200" b="1" dirty="0"/>
              <a:t>顶点集合</a:t>
            </a:r>
            <a:r>
              <a:rPr lang="en-US" altLang="zh-CN" sz="3200" b="1" dirty="0"/>
              <a:t>S </a:t>
            </a:r>
            <a:r>
              <a:rPr lang="en-US" altLang="zh-CN" sz="3200" dirty="0">
                <a:sym typeface="Symbol" panose="05050102010706020507" pitchFamily="18" charset="2"/>
              </a:rPr>
              <a:t> V </a:t>
            </a:r>
            <a:r>
              <a:rPr lang="zh-CN" altLang="en-US" sz="3200" b="1" dirty="0">
                <a:sym typeface="Symbol" panose="05050102010706020507" pitchFamily="18" charset="2"/>
              </a:rPr>
              <a:t>中的任意两点之间没有边</a:t>
            </a:r>
            <a:r>
              <a:rPr lang="zh-CN" altLang="en-US" sz="3200" dirty="0">
                <a:sym typeface="Symbol" panose="05050102010706020507" pitchFamily="18" charset="2"/>
              </a:rPr>
              <a:t>，则称</a:t>
            </a:r>
            <a:r>
              <a:rPr lang="en-US" altLang="zh-CN" sz="3200" dirty="0">
                <a:sym typeface="Symbol" panose="05050102010706020507" pitchFamily="18" charset="2"/>
              </a:rPr>
              <a:t>S</a:t>
            </a:r>
            <a:r>
              <a:rPr lang="zh-CN" altLang="en-US" sz="3200" dirty="0">
                <a:sym typeface="Symbol" panose="05050102010706020507" pitchFamily="18" charset="2"/>
              </a:rPr>
              <a:t>是</a:t>
            </a:r>
            <a:r>
              <a:rPr lang="zh-CN" altLang="en-US" sz="3200" b="1" dirty="0">
                <a:sym typeface="Symbol" panose="05050102010706020507" pitchFamily="18" charset="2"/>
              </a:rPr>
              <a:t>独立</a:t>
            </a:r>
            <a:r>
              <a:rPr lang="zh-CN" altLang="en-US" sz="3200" dirty="0">
                <a:sym typeface="Symbol" panose="05050102010706020507" pitchFamily="18" charset="2"/>
              </a:rPr>
              <a:t>的。</a:t>
            </a:r>
          </a:p>
          <a:p>
            <a:pPr>
              <a:lnSpc>
                <a:spcPct val="150000"/>
              </a:lnSpc>
            </a:pPr>
            <a:r>
              <a:rPr lang="zh-CN" altLang="en-US" sz="3200" b="1" dirty="0">
                <a:sym typeface="Symbol" panose="05050102010706020507" pitchFamily="18" charset="2"/>
              </a:rPr>
              <a:t>独立集问题</a:t>
            </a:r>
            <a:r>
              <a:rPr lang="zh-CN" altLang="en-US" sz="3200" dirty="0">
                <a:sym typeface="Symbol" panose="05050102010706020507" pitchFamily="18" charset="2"/>
              </a:rPr>
              <a:t>：</a:t>
            </a:r>
          </a:p>
          <a:p>
            <a:pPr>
              <a:lnSpc>
                <a:spcPct val="150000"/>
              </a:lnSpc>
            </a:pPr>
            <a:r>
              <a:rPr lang="zh-CN" altLang="en-US" sz="3200" dirty="0">
                <a:sym typeface="Symbol" panose="05050102010706020507" pitchFamily="18" charset="2"/>
              </a:rPr>
              <a:t>给定图</a:t>
            </a:r>
            <a:r>
              <a:rPr lang="en-US" altLang="zh-CN" sz="3200" dirty="0">
                <a:sym typeface="Symbol" panose="05050102010706020507" pitchFamily="18" charset="2"/>
              </a:rPr>
              <a:t>G</a:t>
            </a:r>
            <a:r>
              <a:rPr lang="zh-CN" altLang="en-US" sz="3200" dirty="0">
                <a:sym typeface="Symbol" panose="05050102010706020507" pitchFamily="18" charset="2"/>
              </a:rPr>
              <a:t>和数</a:t>
            </a:r>
            <a:r>
              <a:rPr lang="en-US" altLang="zh-CN" sz="3200" dirty="0">
                <a:sym typeface="Symbol" panose="05050102010706020507" pitchFamily="18" charset="2"/>
              </a:rPr>
              <a:t>k,</a:t>
            </a:r>
            <a:r>
              <a:rPr lang="zh-CN" altLang="en-US" sz="3200" dirty="0">
                <a:sym typeface="Symbol" panose="05050102010706020507" pitchFamily="18" charset="2"/>
              </a:rPr>
              <a:t>问</a:t>
            </a:r>
            <a:r>
              <a:rPr lang="en-US" altLang="zh-CN" sz="3200" dirty="0">
                <a:sym typeface="Symbol" panose="05050102010706020507" pitchFamily="18" charset="2"/>
              </a:rPr>
              <a:t>G</a:t>
            </a:r>
            <a:r>
              <a:rPr lang="zh-CN" altLang="en-US" sz="3200" dirty="0">
                <a:sym typeface="Symbol" panose="05050102010706020507" pitchFamily="18" charset="2"/>
              </a:rPr>
              <a:t>包含大小至少为</a:t>
            </a:r>
            <a:r>
              <a:rPr lang="en-US" altLang="zh-CN" sz="3200" dirty="0">
                <a:sym typeface="Symbol" panose="05050102010706020507" pitchFamily="18" charset="2"/>
              </a:rPr>
              <a:t>k</a:t>
            </a:r>
            <a:r>
              <a:rPr lang="zh-CN" altLang="en-US" sz="3200" dirty="0">
                <a:sym typeface="Symbol" panose="05050102010706020507" pitchFamily="18" charset="2"/>
              </a:rPr>
              <a:t>的独立集吗？</a:t>
            </a:r>
            <a:endParaRPr lang="en-US" altLang="zh-CN" sz="3200" dirty="0">
              <a:sym typeface="Symbol" panose="05050102010706020507" pitchFamily="18"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9BB3F4E-4752-4386-B35C-E552B46473E4}"/>
              </a:ext>
            </a:extLst>
          </p:cNvPr>
          <p:cNvSpPr>
            <a:spLocks noGrp="1" noChangeArrowheads="1"/>
          </p:cNvSpPr>
          <p:nvPr>
            <p:ph type="title" idx="4294967295"/>
          </p:nvPr>
        </p:nvSpPr>
        <p:spPr>
          <a:xfrm>
            <a:off x="476250" y="61912"/>
            <a:ext cx="7886700" cy="1325563"/>
          </a:xfrm>
        </p:spPr>
        <p:txBody>
          <a:bodyPr/>
          <a:lstStyle/>
          <a:p>
            <a:r>
              <a:rPr lang="zh-CN" altLang="en-US" dirty="0"/>
              <a:t>多项式时间归约</a:t>
            </a:r>
            <a:endParaRPr lang="en-US" altLang="zh-CN" dirty="0"/>
          </a:p>
        </p:txBody>
      </p:sp>
      <p:sp>
        <p:nvSpPr>
          <p:cNvPr id="10" name="灯片编号占位符 5">
            <a:extLst>
              <a:ext uri="{FF2B5EF4-FFF2-40B4-BE49-F238E27FC236}">
                <a16:creationId xmlns:a16="http://schemas.microsoft.com/office/drawing/2014/main" id="{AD95206F-0676-4874-9FBF-853C09FB5E78}"/>
              </a:ext>
            </a:extLst>
          </p:cNvPr>
          <p:cNvSpPr>
            <a:spLocks noGrp="1"/>
          </p:cNvSpPr>
          <p:nvPr>
            <p:ph type="sldNum" sz="quarter" idx="4294967295"/>
          </p:nvPr>
        </p:nvSpPr>
        <p:spPr>
          <a:xfrm>
            <a:off x="7086600" y="6356350"/>
            <a:ext cx="2057400" cy="365125"/>
          </a:xfrm>
        </p:spPr>
        <p:txBody>
          <a:bodyPr/>
          <a:lstStyle/>
          <a:p>
            <a:fld id="{672B1FD2-BB10-4B55-B811-CDEA1B215F50}" type="slidenum">
              <a:rPr lang="zh-CN" altLang="en-US"/>
              <a:pPr/>
              <a:t>11</a:t>
            </a:fld>
            <a:endParaRPr lang="en-US" altLang="zh-CN"/>
          </a:p>
        </p:txBody>
      </p:sp>
      <p:pic>
        <p:nvPicPr>
          <p:cNvPr id="15363" name="Picture 3">
            <a:extLst>
              <a:ext uri="{FF2B5EF4-FFF2-40B4-BE49-F238E27FC236}">
                <a16:creationId xmlns:a16="http://schemas.microsoft.com/office/drawing/2014/main" id="{8D5BB218-7ED6-4B68-8277-4A5D72B611EA}"/>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611560" y="1628800"/>
            <a:ext cx="3276600" cy="4114800"/>
          </a:xfrm>
        </p:spPr>
      </p:pic>
      <p:sp>
        <p:nvSpPr>
          <p:cNvPr id="15364" name="Text Box 4">
            <a:extLst>
              <a:ext uri="{FF2B5EF4-FFF2-40B4-BE49-F238E27FC236}">
                <a16:creationId xmlns:a16="http://schemas.microsoft.com/office/drawing/2014/main" id="{162B67BD-4675-4E99-BE8C-07CE199F49AD}"/>
              </a:ext>
            </a:extLst>
          </p:cNvPr>
          <p:cNvSpPr txBox="1">
            <a:spLocks noChangeArrowheads="1"/>
          </p:cNvSpPr>
          <p:nvPr/>
        </p:nvSpPr>
        <p:spPr bwMode="auto">
          <a:xfrm>
            <a:off x="4114800" y="2209800"/>
            <a:ext cx="464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800"/>
              <a:t>存在大小至少为6的独立集吗？</a:t>
            </a:r>
            <a:endParaRPr lang="en-US" altLang="zh-CN" sz="2800"/>
          </a:p>
        </p:txBody>
      </p:sp>
      <p:sp>
        <p:nvSpPr>
          <p:cNvPr id="15365" name="Text Box 5">
            <a:extLst>
              <a:ext uri="{FF2B5EF4-FFF2-40B4-BE49-F238E27FC236}">
                <a16:creationId xmlns:a16="http://schemas.microsoft.com/office/drawing/2014/main" id="{B853A886-ABC0-403B-A66B-EE6553F571A2}"/>
              </a:ext>
            </a:extLst>
          </p:cNvPr>
          <p:cNvSpPr txBox="1">
            <a:spLocks noChangeArrowheads="1"/>
          </p:cNvSpPr>
          <p:nvPr/>
        </p:nvSpPr>
        <p:spPr bwMode="auto">
          <a:xfrm>
            <a:off x="4419600" y="2971800"/>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en-US" altLang="zh-CN" sz="2800"/>
              <a:t>Yes</a:t>
            </a:r>
          </a:p>
        </p:txBody>
      </p:sp>
      <p:sp>
        <p:nvSpPr>
          <p:cNvPr id="15366" name="Text Box 6">
            <a:extLst>
              <a:ext uri="{FF2B5EF4-FFF2-40B4-BE49-F238E27FC236}">
                <a16:creationId xmlns:a16="http://schemas.microsoft.com/office/drawing/2014/main" id="{1572DA56-542E-4CF5-A8F0-E78305095B18}"/>
              </a:ext>
            </a:extLst>
          </p:cNvPr>
          <p:cNvSpPr txBox="1">
            <a:spLocks noChangeArrowheads="1"/>
          </p:cNvSpPr>
          <p:nvPr/>
        </p:nvSpPr>
        <p:spPr bwMode="auto">
          <a:xfrm>
            <a:off x="4114800" y="3810000"/>
            <a:ext cx="464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800"/>
              <a:t>存在大小至少为7的独立集吗？</a:t>
            </a:r>
            <a:endParaRPr lang="en-US" altLang="zh-CN" sz="2800"/>
          </a:p>
        </p:txBody>
      </p:sp>
      <p:sp>
        <p:nvSpPr>
          <p:cNvPr id="15369" name="Text Box 9">
            <a:extLst>
              <a:ext uri="{FF2B5EF4-FFF2-40B4-BE49-F238E27FC236}">
                <a16:creationId xmlns:a16="http://schemas.microsoft.com/office/drawing/2014/main" id="{96EB63C3-67BB-40EA-80B7-017BDE0A4B24}"/>
              </a:ext>
            </a:extLst>
          </p:cNvPr>
          <p:cNvSpPr txBox="1">
            <a:spLocks noChangeArrowheads="1"/>
          </p:cNvSpPr>
          <p:nvPr/>
        </p:nvSpPr>
        <p:spPr bwMode="auto">
          <a:xfrm>
            <a:off x="4419600" y="4541228"/>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en-US" altLang="zh-CN" sz="2800"/>
              <a:t>No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 calcmode="lin" valueType="num">
                                      <p:cBhvr additive="base">
                                        <p:cTn id="7" dur="500" fill="hold"/>
                                        <p:tgtEl>
                                          <p:spTgt spid="15364"/>
                                        </p:tgtEl>
                                        <p:attrNameLst>
                                          <p:attrName>ppt_x</p:attrName>
                                        </p:attrNameLst>
                                      </p:cBhvr>
                                      <p:tavLst>
                                        <p:tav tm="0">
                                          <p:val>
                                            <p:strVal val="1+#ppt_w/2"/>
                                          </p:val>
                                        </p:tav>
                                        <p:tav tm="100000">
                                          <p:val>
                                            <p:strVal val="#ppt_x"/>
                                          </p:val>
                                        </p:tav>
                                      </p:tavLst>
                                    </p:anim>
                                    <p:anim calcmode="lin" valueType="num">
                                      <p:cBhvr additive="base">
                                        <p:cTn id="8" dur="500" fill="hold"/>
                                        <p:tgtEl>
                                          <p:spTgt spid="1536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5365"/>
                                        </p:tgtEl>
                                        <p:attrNameLst>
                                          <p:attrName>style.visibility</p:attrName>
                                        </p:attrNameLst>
                                      </p:cBhvr>
                                      <p:to>
                                        <p:strVal val="visible"/>
                                      </p:to>
                                    </p:set>
                                    <p:anim calcmode="lin" valueType="num">
                                      <p:cBhvr additive="base">
                                        <p:cTn id="13" dur="500" fill="hold"/>
                                        <p:tgtEl>
                                          <p:spTgt spid="15365"/>
                                        </p:tgtEl>
                                        <p:attrNameLst>
                                          <p:attrName>ppt_x</p:attrName>
                                        </p:attrNameLst>
                                      </p:cBhvr>
                                      <p:tavLst>
                                        <p:tav tm="0">
                                          <p:val>
                                            <p:strVal val="1+#ppt_w/2"/>
                                          </p:val>
                                        </p:tav>
                                        <p:tav tm="100000">
                                          <p:val>
                                            <p:strVal val="#ppt_x"/>
                                          </p:val>
                                        </p:tav>
                                      </p:tavLst>
                                    </p:anim>
                                    <p:anim calcmode="lin" valueType="num">
                                      <p:cBhvr additive="base">
                                        <p:cTn id="14"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5366"/>
                                        </p:tgtEl>
                                        <p:attrNameLst>
                                          <p:attrName>style.visibility</p:attrName>
                                        </p:attrNameLst>
                                      </p:cBhvr>
                                      <p:to>
                                        <p:strVal val="visible"/>
                                      </p:to>
                                    </p:set>
                                    <p:anim calcmode="lin" valueType="num">
                                      <p:cBhvr additive="base">
                                        <p:cTn id="19" dur="500" fill="hold"/>
                                        <p:tgtEl>
                                          <p:spTgt spid="15366"/>
                                        </p:tgtEl>
                                        <p:attrNameLst>
                                          <p:attrName>ppt_x</p:attrName>
                                        </p:attrNameLst>
                                      </p:cBhvr>
                                      <p:tavLst>
                                        <p:tav tm="0">
                                          <p:val>
                                            <p:strVal val="1+#ppt_w/2"/>
                                          </p:val>
                                        </p:tav>
                                        <p:tav tm="100000">
                                          <p:val>
                                            <p:strVal val="#ppt_x"/>
                                          </p:val>
                                        </p:tav>
                                      </p:tavLst>
                                    </p:anim>
                                    <p:anim calcmode="lin" valueType="num">
                                      <p:cBhvr additive="base">
                                        <p:cTn id="20" dur="500" fill="hold"/>
                                        <p:tgtEl>
                                          <p:spTgt spid="1536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5369"/>
                                        </p:tgtEl>
                                        <p:attrNameLst>
                                          <p:attrName>style.visibility</p:attrName>
                                        </p:attrNameLst>
                                      </p:cBhvr>
                                      <p:to>
                                        <p:strVal val="visible"/>
                                      </p:to>
                                    </p:set>
                                    <p:anim calcmode="lin" valueType="num">
                                      <p:cBhvr additive="base">
                                        <p:cTn id="25" dur="500" fill="hold"/>
                                        <p:tgtEl>
                                          <p:spTgt spid="15369"/>
                                        </p:tgtEl>
                                        <p:attrNameLst>
                                          <p:attrName>ppt_x</p:attrName>
                                        </p:attrNameLst>
                                      </p:cBhvr>
                                      <p:tavLst>
                                        <p:tav tm="0">
                                          <p:val>
                                            <p:strVal val="1+#ppt_w/2"/>
                                          </p:val>
                                        </p:tav>
                                        <p:tav tm="100000">
                                          <p:val>
                                            <p:strVal val="#ppt_x"/>
                                          </p:val>
                                        </p:tav>
                                      </p:tavLst>
                                    </p:anim>
                                    <p:anim calcmode="lin" valueType="num">
                                      <p:cBhvr additive="base">
                                        <p:cTn id="26" dur="500" fill="hold"/>
                                        <p:tgtEl>
                                          <p:spTgt spid="153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utoUpdateAnimBg="0"/>
      <p:bldP spid="15365" grpId="0" autoUpdateAnimBg="0"/>
      <p:bldP spid="15366" grpId="0" autoUpdateAnimBg="0"/>
      <p:bldP spid="1536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A481504-5B3B-4BAF-B376-3132946E5165}"/>
              </a:ext>
            </a:extLst>
          </p:cNvPr>
          <p:cNvSpPr>
            <a:spLocks noGrp="1" noChangeArrowheads="1"/>
          </p:cNvSpPr>
          <p:nvPr>
            <p:ph type="title" idx="4294967295"/>
          </p:nvPr>
        </p:nvSpPr>
        <p:spPr>
          <a:xfrm>
            <a:off x="827584" y="32520"/>
            <a:ext cx="7793037" cy="1143000"/>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B5EA8E21-4DFD-4258-9205-5C382204D42F}"/>
              </a:ext>
            </a:extLst>
          </p:cNvPr>
          <p:cNvSpPr>
            <a:spLocks noGrp="1"/>
          </p:cNvSpPr>
          <p:nvPr>
            <p:ph type="sldNum" sz="quarter" idx="4294967295"/>
          </p:nvPr>
        </p:nvSpPr>
        <p:spPr>
          <a:xfrm>
            <a:off x="7086600" y="6356350"/>
            <a:ext cx="2057400" cy="365125"/>
          </a:xfrm>
        </p:spPr>
        <p:txBody>
          <a:bodyPr/>
          <a:lstStyle/>
          <a:p>
            <a:fld id="{3714BB37-A6D8-4ECF-BD54-602BCA4BE557}" type="slidenum">
              <a:rPr lang="zh-CN" altLang="en-US"/>
              <a:pPr/>
              <a:t>12</a:t>
            </a:fld>
            <a:endParaRPr lang="en-US" altLang="zh-CN"/>
          </a:p>
        </p:txBody>
      </p:sp>
      <p:sp>
        <p:nvSpPr>
          <p:cNvPr id="16387" name="Rectangle 3">
            <a:extLst>
              <a:ext uri="{FF2B5EF4-FFF2-40B4-BE49-F238E27FC236}">
                <a16:creationId xmlns:a16="http://schemas.microsoft.com/office/drawing/2014/main" id="{480B6DC9-35E1-48BE-9A8A-AE9BD423F198}"/>
              </a:ext>
            </a:extLst>
          </p:cNvPr>
          <p:cNvSpPr>
            <a:spLocks noGrp="1" noChangeArrowheads="1"/>
          </p:cNvSpPr>
          <p:nvPr>
            <p:ph idx="4294967295"/>
          </p:nvPr>
        </p:nvSpPr>
        <p:spPr>
          <a:xfrm>
            <a:off x="628650" y="1340768"/>
            <a:ext cx="7886700" cy="4351338"/>
          </a:xfrm>
        </p:spPr>
        <p:txBody>
          <a:bodyPr>
            <a:normAutofit fontScale="92500" lnSpcReduction="10000"/>
          </a:bodyPr>
          <a:lstStyle/>
          <a:p>
            <a:pPr>
              <a:lnSpc>
                <a:spcPct val="150000"/>
              </a:lnSpc>
              <a:buFont typeface="Wingdings" panose="05000000000000000000" pitchFamily="2" charset="2"/>
              <a:buNone/>
            </a:pPr>
            <a:r>
              <a:rPr lang="zh-CN" altLang="en-US" sz="3200" dirty="0"/>
              <a:t>现在考虑另外一个基本图论问题：顶点覆盖</a:t>
            </a:r>
            <a:endParaRPr lang="en-US" altLang="zh-CN" sz="3200" dirty="0"/>
          </a:p>
          <a:p>
            <a:pPr>
              <a:lnSpc>
                <a:spcPct val="150000"/>
              </a:lnSpc>
            </a:pPr>
            <a:r>
              <a:rPr lang="zh-CN" altLang="en-US" sz="3200" dirty="0"/>
              <a:t>给定图</a:t>
            </a:r>
            <a:r>
              <a:rPr lang="en-US" altLang="zh-CN" sz="3200" dirty="0"/>
              <a:t>G=(V,E),</a:t>
            </a:r>
            <a:r>
              <a:rPr lang="zh-CN" altLang="en-US" sz="3200" dirty="0"/>
              <a:t>如果</a:t>
            </a:r>
            <a:r>
              <a:rPr lang="zh-CN" altLang="en-US" sz="3200" b="1" dirty="0"/>
              <a:t>每一条边</a:t>
            </a:r>
            <a:r>
              <a:rPr lang="en-US" altLang="zh-CN" sz="3200" dirty="0"/>
              <a:t>e </a:t>
            </a:r>
            <a:r>
              <a:rPr lang="en-US" altLang="zh-CN" sz="3200" dirty="0">
                <a:sym typeface="Symbol" panose="05050102010706020507" pitchFamily="18" charset="2"/>
              </a:rPr>
              <a:t></a:t>
            </a:r>
            <a:r>
              <a:rPr lang="en-US" altLang="zh-CN" sz="3200" dirty="0"/>
              <a:t> E</a:t>
            </a:r>
            <a:r>
              <a:rPr lang="zh-CN" altLang="en-US" sz="3200" b="1" dirty="0"/>
              <a:t>至少有一个端点在</a:t>
            </a:r>
            <a:r>
              <a:rPr lang="en-US" altLang="zh-CN" sz="3200" b="1" dirty="0"/>
              <a:t>S</a:t>
            </a:r>
            <a:r>
              <a:rPr lang="zh-CN" altLang="en-US" sz="3200" dirty="0"/>
              <a:t>中，则称</a:t>
            </a:r>
            <a:r>
              <a:rPr lang="en-US" altLang="zh-CN" sz="3200" dirty="0"/>
              <a:t>S</a:t>
            </a:r>
            <a:r>
              <a:rPr lang="zh-CN" altLang="en-US" sz="3200" dirty="0"/>
              <a:t>是一个</a:t>
            </a:r>
            <a:r>
              <a:rPr lang="zh-CN" altLang="en-US" sz="3200" b="1" dirty="0"/>
              <a:t>顶点覆盖</a:t>
            </a:r>
            <a:r>
              <a:rPr lang="zh-CN" altLang="en-US" sz="3200" dirty="0"/>
              <a:t>。</a:t>
            </a:r>
          </a:p>
          <a:p>
            <a:pPr>
              <a:lnSpc>
                <a:spcPct val="150000"/>
              </a:lnSpc>
            </a:pPr>
            <a:r>
              <a:rPr lang="zh-CN" altLang="en-US" sz="3200" dirty="0">
                <a:solidFill>
                  <a:schemeClr val="hlink"/>
                </a:solidFill>
              </a:rPr>
              <a:t>顶点覆盖</a:t>
            </a:r>
            <a:r>
              <a:rPr lang="zh-CN" altLang="en-US" sz="3200" dirty="0"/>
              <a:t>问题：</a:t>
            </a:r>
          </a:p>
          <a:p>
            <a:pPr>
              <a:lnSpc>
                <a:spcPct val="150000"/>
              </a:lnSpc>
            </a:pPr>
            <a:r>
              <a:rPr lang="zh-CN" altLang="en-US" sz="3200" dirty="0">
                <a:sym typeface="Symbol" panose="05050102010706020507" pitchFamily="18" charset="2"/>
              </a:rPr>
              <a:t>给定图</a:t>
            </a:r>
            <a:r>
              <a:rPr lang="en-US" altLang="zh-CN" sz="3200" dirty="0">
                <a:sym typeface="Symbol" panose="05050102010706020507" pitchFamily="18" charset="2"/>
              </a:rPr>
              <a:t>G</a:t>
            </a:r>
            <a:r>
              <a:rPr lang="zh-CN" altLang="en-US" sz="3200" dirty="0">
                <a:sym typeface="Symbol" panose="05050102010706020507" pitchFamily="18" charset="2"/>
              </a:rPr>
              <a:t>和数</a:t>
            </a:r>
            <a:r>
              <a:rPr lang="en-US" altLang="zh-CN" sz="3200" dirty="0">
                <a:sym typeface="Symbol" panose="05050102010706020507" pitchFamily="18" charset="2"/>
              </a:rPr>
              <a:t>k,</a:t>
            </a:r>
            <a:r>
              <a:rPr lang="zh-CN" altLang="en-US" sz="3200" dirty="0">
                <a:sym typeface="Symbol" panose="05050102010706020507" pitchFamily="18" charset="2"/>
              </a:rPr>
              <a:t>问</a:t>
            </a:r>
            <a:r>
              <a:rPr lang="en-US" altLang="zh-CN" sz="3200" dirty="0">
                <a:sym typeface="Symbol" panose="05050102010706020507" pitchFamily="18" charset="2"/>
              </a:rPr>
              <a:t>G</a:t>
            </a:r>
            <a:r>
              <a:rPr lang="zh-CN" altLang="en-US" sz="3200" dirty="0">
                <a:sym typeface="Symbol" panose="05050102010706020507" pitchFamily="18" charset="2"/>
              </a:rPr>
              <a:t>是否包含大小至多为</a:t>
            </a:r>
            <a:r>
              <a:rPr lang="en-US" altLang="zh-CN" sz="3200" dirty="0">
                <a:sym typeface="Symbol" panose="05050102010706020507" pitchFamily="18" charset="2"/>
              </a:rPr>
              <a:t>k</a:t>
            </a:r>
            <a:r>
              <a:rPr lang="zh-CN" altLang="en-US" sz="3200" dirty="0">
                <a:sym typeface="Symbol" panose="05050102010706020507" pitchFamily="18" charset="2"/>
              </a:rPr>
              <a:t>的顶点覆盖？</a:t>
            </a:r>
            <a:endParaRPr lang="en-US" altLang="zh-CN"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FD785C8-B50D-4EB7-AFFB-61C11B8AFCE1}"/>
              </a:ext>
            </a:extLst>
          </p:cNvPr>
          <p:cNvSpPr>
            <a:spLocks noGrp="1" noChangeArrowheads="1"/>
          </p:cNvSpPr>
          <p:nvPr>
            <p:ph type="title" idx="4294967295"/>
          </p:nvPr>
        </p:nvSpPr>
        <p:spPr>
          <a:xfrm>
            <a:off x="675481" y="-53975"/>
            <a:ext cx="7793037" cy="1143000"/>
          </a:xfrm>
        </p:spPr>
        <p:txBody>
          <a:bodyPr/>
          <a:lstStyle/>
          <a:p>
            <a:r>
              <a:rPr lang="zh-CN" altLang="en-US" dirty="0"/>
              <a:t>多项式时间归约</a:t>
            </a:r>
            <a:endParaRPr lang="en-US" altLang="zh-CN" dirty="0"/>
          </a:p>
        </p:txBody>
      </p:sp>
      <p:sp>
        <p:nvSpPr>
          <p:cNvPr id="10" name="灯片编号占位符 5">
            <a:extLst>
              <a:ext uri="{FF2B5EF4-FFF2-40B4-BE49-F238E27FC236}">
                <a16:creationId xmlns:a16="http://schemas.microsoft.com/office/drawing/2014/main" id="{6D3EAC12-1743-44E8-8D25-1618C1AA6B8D}"/>
              </a:ext>
            </a:extLst>
          </p:cNvPr>
          <p:cNvSpPr>
            <a:spLocks noGrp="1"/>
          </p:cNvSpPr>
          <p:nvPr>
            <p:ph type="sldNum" sz="quarter" idx="4294967295"/>
          </p:nvPr>
        </p:nvSpPr>
        <p:spPr>
          <a:xfrm>
            <a:off x="7086600" y="6356350"/>
            <a:ext cx="2057400" cy="365125"/>
          </a:xfrm>
        </p:spPr>
        <p:txBody>
          <a:bodyPr/>
          <a:lstStyle/>
          <a:p>
            <a:fld id="{18C4496E-3E69-4922-BB73-325771D16973}" type="slidenum">
              <a:rPr lang="zh-CN" altLang="en-US"/>
              <a:pPr/>
              <a:t>13</a:t>
            </a:fld>
            <a:endParaRPr lang="en-US" altLang="zh-CN"/>
          </a:p>
        </p:txBody>
      </p:sp>
      <p:pic>
        <p:nvPicPr>
          <p:cNvPr id="17411" name="Picture 3">
            <a:extLst>
              <a:ext uri="{FF2B5EF4-FFF2-40B4-BE49-F238E27FC236}">
                <a16:creationId xmlns:a16="http://schemas.microsoft.com/office/drawing/2014/main" id="{BF50E58F-4F05-4052-8F17-B1E44D7754D9}"/>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395536" y="1416844"/>
            <a:ext cx="3313113" cy="4114800"/>
          </a:xfrm>
        </p:spPr>
      </p:pic>
      <p:sp>
        <p:nvSpPr>
          <p:cNvPr id="17412" name="Text Box 4">
            <a:extLst>
              <a:ext uri="{FF2B5EF4-FFF2-40B4-BE49-F238E27FC236}">
                <a16:creationId xmlns:a16="http://schemas.microsoft.com/office/drawing/2014/main" id="{2AAD4FB1-6116-423D-AE81-76C32AFA9B52}"/>
              </a:ext>
            </a:extLst>
          </p:cNvPr>
          <p:cNvSpPr txBox="1">
            <a:spLocks noChangeArrowheads="1"/>
          </p:cNvSpPr>
          <p:nvPr/>
        </p:nvSpPr>
        <p:spPr bwMode="auto">
          <a:xfrm>
            <a:off x="4038600" y="2452688"/>
            <a:ext cx="510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800"/>
              <a:t>存在大小至多为4的顶点覆盖吗？</a:t>
            </a:r>
            <a:endParaRPr lang="en-US" altLang="zh-CN" sz="2800"/>
          </a:p>
        </p:txBody>
      </p:sp>
      <p:sp>
        <p:nvSpPr>
          <p:cNvPr id="17413" name="Text Box 5">
            <a:extLst>
              <a:ext uri="{FF2B5EF4-FFF2-40B4-BE49-F238E27FC236}">
                <a16:creationId xmlns:a16="http://schemas.microsoft.com/office/drawing/2014/main" id="{CDDB6F93-1B16-40AF-A5FB-D84EEE93E46D}"/>
              </a:ext>
            </a:extLst>
          </p:cNvPr>
          <p:cNvSpPr txBox="1">
            <a:spLocks noChangeArrowheads="1"/>
          </p:cNvSpPr>
          <p:nvPr/>
        </p:nvSpPr>
        <p:spPr bwMode="auto">
          <a:xfrm>
            <a:off x="4648200" y="3214688"/>
            <a:ext cx="220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en-US" altLang="zh-CN" sz="2800"/>
              <a:t>Yes</a:t>
            </a:r>
          </a:p>
        </p:txBody>
      </p:sp>
      <p:sp>
        <p:nvSpPr>
          <p:cNvPr id="17414" name="Text Box 6">
            <a:extLst>
              <a:ext uri="{FF2B5EF4-FFF2-40B4-BE49-F238E27FC236}">
                <a16:creationId xmlns:a16="http://schemas.microsoft.com/office/drawing/2014/main" id="{B0E76FEA-4823-4404-9F7A-25C4DA9AFE45}"/>
              </a:ext>
            </a:extLst>
          </p:cNvPr>
          <p:cNvSpPr txBox="1">
            <a:spLocks noChangeArrowheads="1"/>
          </p:cNvSpPr>
          <p:nvPr/>
        </p:nvSpPr>
        <p:spPr bwMode="auto">
          <a:xfrm>
            <a:off x="3962400" y="4052888"/>
            <a:ext cx="502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800"/>
              <a:t>存在大小至多为3的顶点覆盖吗？</a:t>
            </a:r>
            <a:endParaRPr lang="en-US" altLang="zh-CN" sz="2800"/>
          </a:p>
        </p:txBody>
      </p:sp>
      <p:sp>
        <p:nvSpPr>
          <p:cNvPr id="17415" name="Text Box 7">
            <a:extLst>
              <a:ext uri="{FF2B5EF4-FFF2-40B4-BE49-F238E27FC236}">
                <a16:creationId xmlns:a16="http://schemas.microsoft.com/office/drawing/2014/main" id="{D49D96AA-1C2C-440A-BAA9-95A912BD3EFE}"/>
              </a:ext>
            </a:extLst>
          </p:cNvPr>
          <p:cNvSpPr txBox="1">
            <a:spLocks noChangeArrowheads="1"/>
          </p:cNvSpPr>
          <p:nvPr/>
        </p:nvSpPr>
        <p:spPr bwMode="auto">
          <a:xfrm>
            <a:off x="4572000" y="4945061"/>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en-US" altLang="zh-CN" sz="2800" dirty="0"/>
              <a:t>No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1+#ppt_w/2"/>
                                          </p:val>
                                        </p:tav>
                                        <p:tav tm="100000">
                                          <p:val>
                                            <p:strVal val="#ppt_x"/>
                                          </p:val>
                                        </p:tav>
                                      </p:tavLst>
                                    </p:anim>
                                    <p:anim calcmode="lin" valueType="num">
                                      <p:cBhvr additive="base">
                                        <p:cTn id="8" dur="500" fill="hold"/>
                                        <p:tgtEl>
                                          <p:spTgt spid="174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413"/>
                                        </p:tgtEl>
                                        <p:attrNameLst>
                                          <p:attrName>style.visibility</p:attrName>
                                        </p:attrNameLst>
                                      </p:cBhvr>
                                      <p:to>
                                        <p:strVal val="visible"/>
                                      </p:to>
                                    </p:set>
                                    <p:anim calcmode="lin" valueType="num">
                                      <p:cBhvr additive="base">
                                        <p:cTn id="13" dur="500" fill="hold"/>
                                        <p:tgtEl>
                                          <p:spTgt spid="17413"/>
                                        </p:tgtEl>
                                        <p:attrNameLst>
                                          <p:attrName>ppt_x</p:attrName>
                                        </p:attrNameLst>
                                      </p:cBhvr>
                                      <p:tavLst>
                                        <p:tav tm="0">
                                          <p:val>
                                            <p:strVal val="1+#ppt_w/2"/>
                                          </p:val>
                                        </p:tav>
                                        <p:tav tm="100000">
                                          <p:val>
                                            <p:strVal val="#ppt_x"/>
                                          </p:val>
                                        </p:tav>
                                      </p:tavLst>
                                    </p:anim>
                                    <p:anim calcmode="lin" valueType="num">
                                      <p:cBhvr additive="base">
                                        <p:cTn id="14" dur="500" fill="hold"/>
                                        <p:tgtEl>
                                          <p:spTgt spid="1741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414"/>
                                        </p:tgtEl>
                                        <p:attrNameLst>
                                          <p:attrName>style.visibility</p:attrName>
                                        </p:attrNameLst>
                                      </p:cBhvr>
                                      <p:to>
                                        <p:strVal val="visible"/>
                                      </p:to>
                                    </p:set>
                                    <p:anim calcmode="lin" valueType="num">
                                      <p:cBhvr additive="base">
                                        <p:cTn id="19" dur="500" fill="hold"/>
                                        <p:tgtEl>
                                          <p:spTgt spid="17414"/>
                                        </p:tgtEl>
                                        <p:attrNameLst>
                                          <p:attrName>ppt_x</p:attrName>
                                        </p:attrNameLst>
                                      </p:cBhvr>
                                      <p:tavLst>
                                        <p:tav tm="0">
                                          <p:val>
                                            <p:strVal val="1+#ppt_w/2"/>
                                          </p:val>
                                        </p:tav>
                                        <p:tav tm="100000">
                                          <p:val>
                                            <p:strVal val="#ppt_x"/>
                                          </p:val>
                                        </p:tav>
                                      </p:tavLst>
                                    </p:anim>
                                    <p:anim calcmode="lin" valueType="num">
                                      <p:cBhvr additive="base">
                                        <p:cTn id="20" dur="500" fill="hold"/>
                                        <p:tgtEl>
                                          <p:spTgt spid="1741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415"/>
                                        </p:tgtEl>
                                        <p:attrNameLst>
                                          <p:attrName>style.visibility</p:attrName>
                                        </p:attrNameLst>
                                      </p:cBhvr>
                                      <p:to>
                                        <p:strVal val="visible"/>
                                      </p:to>
                                    </p:set>
                                    <p:anim calcmode="lin" valueType="num">
                                      <p:cBhvr additive="base">
                                        <p:cTn id="25" dur="500" fill="hold"/>
                                        <p:tgtEl>
                                          <p:spTgt spid="17415"/>
                                        </p:tgtEl>
                                        <p:attrNameLst>
                                          <p:attrName>ppt_x</p:attrName>
                                        </p:attrNameLst>
                                      </p:cBhvr>
                                      <p:tavLst>
                                        <p:tav tm="0">
                                          <p:val>
                                            <p:strVal val="1+#ppt_w/2"/>
                                          </p:val>
                                        </p:tav>
                                        <p:tav tm="100000">
                                          <p:val>
                                            <p:strVal val="#ppt_x"/>
                                          </p:val>
                                        </p:tav>
                                      </p:tavLst>
                                    </p:anim>
                                    <p:anim calcmode="lin" valueType="num">
                                      <p:cBhvr additive="base">
                                        <p:cTn id="26" dur="500" fill="hold"/>
                                        <p:tgtEl>
                                          <p:spTgt spid="174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utoUpdateAnimBg="0"/>
      <p:bldP spid="17413" grpId="0" autoUpdateAnimBg="0"/>
      <p:bldP spid="17414" grpId="0" autoUpdateAnimBg="0"/>
      <p:bldP spid="1741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F1A8973-1496-4D6D-97B0-FA342851C093}"/>
              </a:ext>
            </a:extLst>
          </p:cNvPr>
          <p:cNvSpPr>
            <a:spLocks noGrp="1" noChangeArrowheads="1"/>
          </p:cNvSpPr>
          <p:nvPr>
            <p:ph type="title" idx="4294967295"/>
          </p:nvPr>
        </p:nvSpPr>
        <p:spPr>
          <a:xfrm>
            <a:off x="539552" y="81755"/>
            <a:ext cx="7886700" cy="1325563"/>
          </a:xfrm>
        </p:spPr>
        <p:txBody>
          <a:bodyPr/>
          <a:lstStyle/>
          <a:p>
            <a:r>
              <a:rPr lang="zh-CN" altLang="en-US" dirty="0"/>
              <a:t>多项式时间归约</a:t>
            </a:r>
            <a:endParaRPr lang="en-US" altLang="zh-CN" dirty="0"/>
          </a:p>
        </p:txBody>
      </p:sp>
      <p:sp>
        <p:nvSpPr>
          <p:cNvPr id="11" name="灯片编号占位符 5">
            <a:extLst>
              <a:ext uri="{FF2B5EF4-FFF2-40B4-BE49-F238E27FC236}">
                <a16:creationId xmlns:a16="http://schemas.microsoft.com/office/drawing/2014/main" id="{8633C324-F0D1-4450-AB4A-4C18CDC2730E}"/>
              </a:ext>
            </a:extLst>
          </p:cNvPr>
          <p:cNvSpPr>
            <a:spLocks noGrp="1"/>
          </p:cNvSpPr>
          <p:nvPr>
            <p:ph type="sldNum" sz="quarter" idx="4294967295"/>
          </p:nvPr>
        </p:nvSpPr>
        <p:spPr>
          <a:xfrm>
            <a:off x="7086600" y="6356350"/>
            <a:ext cx="2057400" cy="365125"/>
          </a:xfrm>
        </p:spPr>
        <p:txBody>
          <a:bodyPr/>
          <a:lstStyle/>
          <a:p>
            <a:fld id="{78E6FFFB-D716-4766-A01B-2CFCD1EB2E29}" type="slidenum">
              <a:rPr lang="zh-CN" altLang="en-US"/>
              <a:pPr/>
              <a:t>14</a:t>
            </a:fld>
            <a:endParaRPr lang="en-US" altLang="zh-CN"/>
          </a:p>
        </p:txBody>
      </p:sp>
      <p:sp>
        <p:nvSpPr>
          <p:cNvPr id="18435" name="Rectangle 3">
            <a:extLst>
              <a:ext uri="{FF2B5EF4-FFF2-40B4-BE49-F238E27FC236}">
                <a16:creationId xmlns:a16="http://schemas.microsoft.com/office/drawing/2014/main" id="{90DCE066-B64D-4055-B340-40A2F6F72B82}"/>
              </a:ext>
            </a:extLst>
          </p:cNvPr>
          <p:cNvSpPr>
            <a:spLocks noGrp="1" noChangeArrowheads="1"/>
          </p:cNvSpPr>
          <p:nvPr>
            <p:ph idx="4294967295"/>
          </p:nvPr>
        </p:nvSpPr>
        <p:spPr>
          <a:xfrm>
            <a:off x="628650" y="1407318"/>
            <a:ext cx="7886700" cy="4351338"/>
          </a:xfrm>
        </p:spPr>
        <p:txBody>
          <a:bodyPr>
            <a:normAutofit/>
          </a:bodyPr>
          <a:lstStyle/>
          <a:p>
            <a:r>
              <a:rPr lang="zh-CN" altLang="en-US" sz="3200" dirty="0"/>
              <a:t>看起来顶点覆盖问题，独立集问题可能存在一定联系</a:t>
            </a:r>
            <a:endParaRPr lang="en-US" altLang="zh-CN" sz="3200" dirty="0"/>
          </a:p>
          <a:p>
            <a:endParaRPr lang="zh-CN" altLang="en-US" sz="3200" dirty="0"/>
          </a:p>
        </p:txBody>
      </p:sp>
      <p:pic>
        <p:nvPicPr>
          <p:cNvPr id="18436" name="Picture 4">
            <a:extLst>
              <a:ext uri="{FF2B5EF4-FFF2-40B4-BE49-F238E27FC236}">
                <a16:creationId xmlns:a16="http://schemas.microsoft.com/office/drawing/2014/main" id="{38A1CD4B-F76B-4447-A15A-40FDCD39A0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24" y="3047603"/>
            <a:ext cx="2790825"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a:extLst>
              <a:ext uri="{FF2B5EF4-FFF2-40B4-BE49-F238E27FC236}">
                <a16:creationId xmlns:a16="http://schemas.microsoft.com/office/drawing/2014/main" id="{5E4B16DC-9E98-496D-899A-82C6D1F82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249" y="3133725"/>
            <a:ext cx="304800"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8" name="Picture 6">
            <a:extLst>
              <a:ext uri="{FF2B5EF4-FFF2-40B4-BE49-F238E27FC236}">
                <a16:creationId xmlns:a16="http://schemas.microsoft.com/office/drawing/2014/main" id="{A417E49F-14D8-499E-9978-757ADC7277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9723" y="3997821"/>
            <a:ext cx="31432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9" name="Text Box 7">
            <a:extLst>
              <a:ext uri="{FF2B5EF4-FFF2-40B4-BE49-F238E27FC236}">
                <a16:creationId xmlns:a16="http://schemas.microsoft.com/office/drawing/2014/main" id="{7ED198DA-AE30-4152-B10B-086E1559521C}"/>
              </a:ext>
            </a:extLst>
          </p:cNvPr>
          <p:cNvSpPr txBox="1">
            <a:spLocks noChangeArrowheads="1"/>
          </p:cNvSpPr>
          <p:nvPr/>
        </p:nvSpPr>
        <p:spPr bwMode="auto">
          <a:xfrm>
            <a:off x="5324049" y="305752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zh-CN" altLang="en-US" sz="2400" dirty="0"/>
              <a:t>独立集</a:t>
            </a:r>
          </a:p>
        </p:txBody>
      </p:sp>
      <p:sp>
        <p:nvSpPr>
          <p:cNvPr id="18440" name="Text Box 8">
            <a:extLst>
              <a:ext uri="{FF2B5EF4-FFF2-40B4-BE49-F238E27FC236}">
                <a16:creationId xmlns:a16="http://schemas.microsoft.com/office/drawing/2014/main" id="{F47D389D-16D9-4B66-9689-D661548CA995}"/>
              </a:ext>
            </a:extLst>
          </p:cNvPr>
          <p:cNvSpPr txBox="1">
            <a:spLocks noChangeArrowheads="1"/>
          </p:cNvSpPr>
          <p:nvPr/>
        </p:nvSpPr>
        <p:spPr bwMode="auto">
          <a:xfrm>
            <a:off x="5324049" y="3895725"/>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400"/>
              <a:t>顶点覆盖</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B5EE272-84EF-4BCD-AF10-1961ADA07612}"/>
              </a:ext>
            </a:extLst>
          </p:cNvPr>
          <p:cNvSpPr>
            <a:spLocks noGrp="1" noChangeArrowheads="1"/>
          </p:cNvSpPr>
          <p:nvPr>
            <p:ph type="title" idx="4294967295"/>
          </p:nvPr>
        </p:nvSpPr>
        <p:spPr>
          <a:xfrm>
            <a:off x="755576" y="136525"/>
            <a:ext cx="7793037" cy="1143000"/>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E14CB91F-4EC0-4948-BA4F-5C91D13B190A}"/>
              </a:ext>
            </a:extLst>
          </p:cNvPr>
          <p:cNvSpPr>
            <a:spLocks noGrp="1"/>
          </p:cNvSpPr>
          <p:nvPr>
            <p:ph type="sldNum" sz="quarter" idx="4294967295"/>
          </p:nvPr>
        </p:nvSpPr>
        <p:spPr>
          <a:xfrm>
            <a:off x="7086600" y="6356350"/>
            <a:ext cx="2057400" cy="365125"/>
          </a:xfrm>
        </p:spPr>
        <p:txBody>
          <a:bodyPr/>
          <a:lstStyle/>
          <a:p>
            <a:fld id="{7622A72A-19E7-470D-8972-802A36D0B15E}" type="slidenum">
              <a:rPr lang="zh-CN" altLang="en-US"/>
              <a:pPr/>
              <a:t>15</a:t>
            </a:fld>
            <a:endParaRPr lang="en-US" altLang="zh-CN"/>
          </a:p>
        </p:txBody>
      </p:sp>
      <p:sp>
        <p:nvSpPr>
          <p:cNvPr id="19459" name="Rectangle 3">
            <a:extLst>
              <a:ext uri="{FF2B5EF4-FFF2-40B4-BE49-F238E27FC236}">
                <a16:creationId xmlns:a16="http://schemas.microsoft.com/office/drawing/2014/main" id="{3D9AB055-198F-4651-9F76-726643424667}"/>
              </a:ext>
            </a:extLst>
          </p:cNvPr>
          <p:cNvSpPr>
            <a:spLocks noGrp="1" noChangeArrowheads="1"/>
          </p:cNvSpPr>
          <p:nvPr>
            <p:ph idx="4294967295"/>
          </p:nvPr>
        </p:nvSpPr>
        <p:spPr>
          <a:xfrm>
            <a:off x="467544" y="1484784"/>
            <a:ext cx="7886700" cy="4351338"/>
          </a:xfrm>
        </p:spPr>
        <p:txBody>
          <a:bodyPr>
            <a:normAutofit/>
          </a:bodyPr>
          <a:lstStyle/>
          <a:p>
            <a:pPr>
              <a:lnSpc>
                <a:spcPct val="150000"/>
              </a:lnSpc>
            </a:pPr>
            <a:r>
              <a:rPr lang="zh-CN" altLang="en-US" sz="2800" dirty="0"/>
              <a:t>引理8.3 设</a:t>
            </a:r>
            <a:r>
              <a:rPr lang="en-US" altLang="zh-CN" sz="2800" dirty="0"/>
              <a:t>G=(V,E)</a:t>
            </a:r>
            <a:r>
              <a:rPr lang="zh-CN" altLang="en-US" sz="2800" dirty="0"/>
              <a:t>是一个图， </a:t>
            </a:r>
            <a:r>
              <a:rPr lang="en-US" altLang="zh-CN" sz="2800" dirty="0"/>
              <a:t>S </a:t>
            </a:r>
            <a:r>
              <a:rPr lang="en-US" altLang="zh-CN" sz="2800" dirty="0">
                <a:sym typeface="Symbol" panose="05050102010706020507" pitchFamily="18" charset="2"/>
              </a:rPr>
              <a:t> V ，</a:t>
            </a:r>
            <a:r>
              <a:rPr lang="zh-CN" altLang="en-US" sz="2800" dirty="0">
                <a:sym typeface="Symbol" panose="05050102010706020507" pitchFamily="18" charset="2"/>
              </a:rPr>
              <a:t>那么</a:t>
            </a:r>
            <a:r>
              <a:rPr lang="en-US" altLang="zh-CN" sz="2800" dirty="0">
                <a:sym typeface="Symbol" panose="05050102010706020507" pitchFamily="18" charset="2"/>
              </a:rPr>
              <a:t>S</a:t>
            </a:r>
            <a:r>
              <a:rPr lang="zh-CN" altLang="en-US" sz="2800" dirty="0">
                <a:sym typeface="Symbol" panose="05050102010706020507" pitchFamily="18" charset="2"/>
              </a:rPr>
              <a:t>是一个独立集当且仅当它的补</a:t>
            </a:r>
            <a:r>
              <a:rPr lang="en-US" altLang="zh-CN" sz="2800" dirty="0">
                <a:sym typeface="Symbol" panose="05050102010706020507" pitchFamily="18" charset="2"/>
              </a:rPr>
              <a:t>V-S</a:t>
            </a:r>
            <a:r>
              <a:rPr lang="zh-CN" altLang="en-US" sz="2800" dirty="0">
                <a:sym typeface="Symbol" panose="05050102010706020507" pitchFamily="18" charset="2"/>
              </a:rPr>
              <a:t>是一个顶点覆盖。</a:t>
            </a:r>
          </a:p>
          <a:p>
            <a:pPr>
              <a:lnSpc>
                <a:spcPct val="150000"/>
              </a:lnSpc>
            </a:pPr>
            <a:r>
              <a:rPr lang="zh-CN" altLang="en-US" sz="2800" dirty="0">
                <a:sym typeface="Symbol" panose="05050102010706020507" pitchFamily="18" charset="2"/>
              </a:rPr>
              <a:t>证明： </a:t>
            </a:r>
            <a:r>
              <a:rPr lang="en-US" altLang="zh-CN" sz="2800" dirty="0">
                <a:sym typeface="Symbol" panose="05050102010706020507" pitchFamily="18" charset="2"/>
              </a:rPr>
              <a:t></a:t>
            </a:r>
            <a:endParaRPr lang="zh-CN" altLang="en-US" sz="2800" dirty="0">
              <a:sym typeface="Symbol" panose="05050102010706020507" pitchFamily="18" charset="2"/>
            </a:endParaRPr>
          </a:p>
          <a:p>
            <a:pPr>
              <a:lnSpc>
                <a:spcPct val="150000"/>
              </a:lnSpc>
              <a:buFont typeface="Wingdings" panose="05000000000000000000" pitchFamily="2" charset="2"/>
              <a:buNone/>
            </a:pPr>
            <a:r>
              <a:rPr lang="zh-CN" altLang="en-US" sz="2800" dirty="0">
                <a:sym typeface="Symbol" panose="05050102010706020507" pitchFamily="18" charset="2"/>
              </a:rPr>
              <a:t>  首先，设</a:t>
            </a:r>
            <a:r>
              <a:rPr lang="en-US" altLang="zh-CN" sz="2800" dirty="0">
                <a:sym typeface="Symbol" panose="05050102010706020507" pitchFamily="18" charset="2"/>
              </a:rPr>
              <a:t>S</a:t>
            </a:r>
            <a:r>
              <a:rPr lang="zh-CN" altLang="en-US" sz="2800" dirty="0">
                <a:sym typeface="Symbol" panose="05050102010706020507" pitchFamily="18" charset="2"/>
              </a:rPr>
              <a:t>是一个独立集。考虑任一条边</a:t>
            </a:r>
            <a:r>
              <a:rPr lang="en-US" altLang="zh-CN" sz="2800" dirty="0">
                <a:sym typeface="Symbol" panose="05050102010706020507" pitchFamily="18" charset="2"/>
              </a:rPr>
              <a:t>e=(</a:t>
            </a:r>
            <a:r>
              <a:rPr lang="en-US" altLang="zh-CN" sz="2800" dirty="0" err="1">
                <a:sym typeface="Symbol" panose="05050102010706020507" pitchFamily="18" charset="2"/>
              </a:rPr>
              <a:t>u,v</a:t>
            </a:r>
            <a:r>
              <a:rPr lang="en-US" altLang="zh-CN" sz="2800" dirty="0">
                <a:sym typeface="Symbol" panose="05050102010706020507" pitchFamily="18" charset="2"/>
              </a:rPr>
              <a:t>). </a:t>
            </a:r>
            <a:r>
              <a:rPr lang="zh-CN" altLang="en-US" sz="2800" dirty="0">
                <a:sym typeface="Symbol" panose="05050102010706020507" pitchFamily="18" charset="2"/>
              </a:rPr>
              <a:t>因为</a:t>
            </a:r>
            <a:r>
              <a:rPr lang="en-US" altLang="zh-CN" sz="2800" dirty="0">
                <a:sym typeface="Symbol" panose="05050102010706020507" pitchFamily="18" charset="2"/>
              </a:rPr>
              <a:t>S</a:t>
            </a:r>
            <a:r>
              <a:rPr lang="zh-CN" altLang="en-US" sz="2800" dirty="0">
                <a:sym typeface="Symbol" panose="05050102010706020507" pitchFamily="18" charset="2"/>
              </a:rPr>
              <a:t>是独立集，</a:t>
            </a:r>
            <a:r>
              <a:rPr lang="en-US" altLang="zh-CN" sz="2800" dirty="0">
                <a:sym typeface="Symbol" panose="05050102010706020507" pitchFamily="18" charset="2"/>
              </a:rPr>
              <a:t>u</a:t>
            </a:r>
            <a:r>
              <a:rPr lang="zh-CN" altLang="en-US" sz="2800" dirty="0">
                <a:sym typeface="Symbol" panose="05050102010706020507" pitchFamily="18" charset="2"/>
              </a:rPr>
              <a:t>和</a:t>
            </a:r>
            <a:r>
              <a:rPr lang="en-US" altLang="zh-CN" sz="2800" dirty="0">
                <a:sym typeface="Symbol" panose="05050102010706020507" pitchFamily="18" charset="2"/>
              </a:rPr>
              <a:t>v</a:t>
            </a:r>
            <a:r>
              <a:rPr lang="zh-CN" altLang="en-US" sz="2800" dirty="0">
                <a:sym typeface="Symbol" panose="05050102010706020507" pitchFamily="18" charset="2"/>
              </a:rPr>
              <a:t>不可能同时属于</a:t>
            </a:r>
            <a:r>
              <a:rPr lang="en-US" altLang="zh-CN" sz="2800" dirty="0">
                <a:sym typeface="Symbol" panose="05050102010706020507" pitchFamily="18" charset="2"/>
              </a:rPr>
              <a:t>S</a:t>
            </a:r>
            <a:r>
              <a:rPr lang="zh-CN" altLang="en-US" sz="2800" dirty="0">
                <a:sym typeface="Symbol" panose="05050102010706020507" pitchFamily="18" charset="2"/>
              </a:rPr>
              <a:t>，于是至少有一个端点在</a:t>
            </a:r>
            <a:r>
              <a:rPr lang="en-US" altLang="zh-CN" sz="2800" dirty="0">
                <a:sym typeface="Symbol" panose="05050102010706020507" pitchFamily="18" charset="2"/>
              </a:rPr>
              <a:t>V-S</a:t>
            </a:r>
            <a:r>
              <a:rPr lang="zh-CN" altLang="en-US" sz="2800" dirty="0">
                <a:sym typeface="Symbol" panose="05050102010706020507" pitchFamily="18" charset="2"/>
              </a:rPr>
              <a:t>中。所以</a:t>
            </a:r>
            <a:r>
              <a:rPr lang="en-US" altLang="zh-CN" sz="2800" dirty="0">
                <a:sym typeface="Symbol" panose="05050102010706020507" pitchFamily="18" charset="2"/>
              </a:rPr>
              <a:t>V-S</a:t>
            </a:r>
            <a:r>
              <a:rPr lang="zh-CN" altLang="en-US" sz="2800" dirty="0">
                <a:sym typeface="Symbol" panose="05050102010706020507" pitchFamily="18" charset="2"/>
              </a:rPr>
              <a:t>是一个顶点覆盖。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9A803F5-9BD2-4A60-A138-E1A3AE011810}"/>
              </a:ext>
            </a:extLst>
          </p:cNvPr>
          <p:cNvSpPr>
            <a:spLocks noGrp="1" noChangeArrowheads="1"/>
          </p:cNvSpPr>
          <p:nvPr>
            <p:ph type="title" idx="4294967295"/>
          </p:nvPr>
        </p:nvSpPr>
        <p:spPr>
          <a:xfrm>
            <a:off x="395536" y="72007"/>
            <a:ext cx="7886700" cy="1325563"/>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D1081934-80F1-45FD-9B60-55C2831C0DE2}"/>
              </a:ext>
            </a:extLst>
          </p:cNvPr>
          <p:cNvSpPr>
            <a:spLocks noGrp="1"/>
          </p:cNvSpPr>
          <p:nvPr>
            <p:ph type="sldNum" sz="quarter" idx="4294967295"/>
          </p:nvPr>
        </p:nvSpPr>
        <p:spPr>
          <a:xfrm>
            <a:off x="7086600" y="6356350"/>
            <a:ext cx="2057400" cy="365125"/>
          </a:xfrm>
        </p:spPr>
        <p:txBody>
          <a:bodyPr/>
          <a:lstStyle/>
          <a:p>
            <a:fld id="{AEC5D92C-B92D-4720-B4B0-43C08E280893}" type="slidenum">
              <a:rPr lang="zh-CN" altLang="en-US"/>
              <a:pPr/>
              <a:t>16</a:t>
            </a:fld>
            <a:endParaRPr lang="en-US" altLang="zh-CN"/>
          </a:p>
        </p:txBody>
      </p:sp>
      <p:sp>
        <p:nvSpPr>
          <p:cNvPr id="20483" name="Rectangle 3">
            <a:extLst>
              <a:ext uri="{FF2B5EF4-FFF2-40B4-BE49-F238E27FC236}">
                <a16:creationId xmlns:a16="http://schemas.microsoft.com/office/drawing/2014/main" id="{880E8129-ABB8-4741-8F35-5D4A8678B4BF}"/>
              </a:ext>
            </a:extLst>
          </p:cNvPr>
          <p:cNvSpPr>
            <a:spLocks noGrp="1" noChangeArrowheads="1"/>
          </p:cNvSpPr>
          <p:nvPr>
            <p:ph idx="4294967295"/>
          </p:nvPr>
        </p:nvSpPr>
        <p:spPr>
          <a:xfrm>
            <a:off x="323528" y="1690688"/>
            <a:ext cx="7886700" cy="4351338"/>
          </a:xfrm>
        </p:spPr>
        <p:txBody>
          <a:bodyPr>
            <a:normAutofit/>
          </a:bodyPr>
          <a:lstStyle/>
          <a:p>
            <a:pPr>
              <a:lnSpc>
                <a:spcPct val="150000"/>
              </a:lnSpc>
            </a:pPr>
            <a:r>
              <a:rPr lang="en-US" altLang="zh-CN" sz="2800" dirty="0">
                <a:sym typeface="Symbol" panose="05050102010706020507" pitchFamily="18" charset="2"/>
              </a:rPr>
              <a:t></a:t>
            </a:r>
          </a:p>
          <a:p>
            <a:pPr>
              <a:lnSpc>
                <a:spcPct val="150000"/>
              </a:lnSpc>
            </a:pPr>
            <a:r>
              <a:rPr lang="zh-CN" altLang="en-US" sz="2800" dirty="0">
                <a:sym typeface="Symbol" panose="05050102010706020507" pitchFamily="18" charset="2"/>
              </a:rPr>
              <a:t>设</a:t>
            </a:r>
            <a:r>
              <a:rPr lang="en-US" altLang="zh-CN" sz="2800" dirty="0">
                <a:sym typeface="Symbol" panose="05050102010706020507" pitchFamily="18" charset="2"/>
              </a:rPr>
              <a:t>V-S</a:t>
            </a:r>
            <a:r>
              <a:rPr lang="zh-CN" altLang="en-US" sz="2800" dirty="0">
                <a:sym typeface="Symbol" panose="05050102010706020507" pitchFamily="18" charset="2"/>
              </a:rPr>
              <a:t>是一个顶点覆盖。考虑</a:t>
            </a:r>
            <a:r>
              <a:rPr lang="en-US" altLang="zh-CN" sz="2800" dirty="0">
                <a:sym typeface="Symbol" panose="05050102010706020507" pitchFamily="18" charset="2"/>
              </a:rPr>
              <a:t>S</a:t>
            </a:r>
            <a:r>
              <a:rPr lang="zh-CN" altLang="en-US" sz="2800" dirty="0">
                <a:sym typeface="Symbol" panose="05050102010706020507" pitchFamily="18" charset="2"/>
              </a:rPr>
              <a:t>中的任意两个顶点</a:t>
            </a:r>
            <a:r>
              <a:rPr lang="en-US" altLang="zh-CN" sz="2800" dirty="0">
                <a:sym typeface="Symbol" panose="05050102010706020507" pitchFamily="18" charset="2"/>
              </a:rPr>
              <a:t>u</a:t>
            </a:r>
            <a:r>
              <a:rPr lang="zh-CN" altLang="en-US" sz="2800" dirty="0">
                <a:sym typeface="Symbol" panose="05050102010706020507" pitchFamily="18" charset="2"/>
              </a:rPr>
              <a:t>和</a:t>
            </a:r>
            <a:r>
              <a:rPr lang="en-US" altLang="zh-CN" sz="2800" dirty="0">
                <a:sym typeface="Symbol" panose="05050102010706020507" pitchFamily="18" charset="2"/>
              </a:rPr>
              <a:t>v, </a:t>
            </a:r>
            <a:r>
              <a:rPr lang="zh-CN" altLang="en-US" sz="2800" dirty="0">
                <a:sym typeface="Symbol" panose="05050102010706020507" pitchFamily="18" charset="2"/>
              </a:rPr>
              <a:t>如果他们之间有一条边</a:t>
            </a:r>
            <a:r>
              <a:rPr lang="en-US" altLang="zh-CN" sz="2800" dirty="0">
                <a:sym typeface="Symbol" panose="05050102010706020507" pitchFamily="18" charset="2"/>
              </a:rPr>
              <a:t>e,</a:t>
            </a:r>
            <a:r>
              <a:rPr lang="zh-CN" altLang="en-US" sz="2800" dirty="0">
                <a:sym typeface="Symbol" panose="05050102010706020507" pitchFamily="18" charset="2"/>
              </a:rPr>
              <a:t>那么</a:t>
            </a:r>
            <a:r>
              <a:rPr lang="en-US" altLang="zh-CN" sz="2800" dirty="0">
                <a:sym typeface="Symbol" panose="05050102010706020507" pitchFamily="18" charset="2"/>
              </a:rPr>
              <a:t>e</a:t>
            </a:r>
            <a:r>
              <a:rPr lang="zh-CN" altLang="en-US" sz="2800" dirty="0">
                <a:sym typeface="Symbol" panose="05050102010706020507" pitchFamily="18" charset="2"/>
              </a:rPr>
              <a:t>的两个端点都不在</a:t>
            </a:r>
            <a:r>
              <a:rPr lang="en-US" altLang="zh-CN" sz="2800" dirty="0">
                <a:sym typeface="Symbol" panose="05050102010706020507" pitchFamily="18" charset="2"/>
              </a:rPr>
              <a:t>V-S</a:t>
            </a:r>
            <a:r>
              <a:rPr lang="zh-CN" altLang="en-US" sz="2800" dirty="0">
                <a:sym typeface="Symbol" panose="05050102010706020507" pitchFamily="18" charset="2"/>
              </a:rPr>
              <a:t>中，与假设</a:t>
            </a:r>
            <a:r>
              <a:rPr lang="en-US" altLang="zh-CN" sz="2800" dirty="0">
                <a:sym typeface="Symbol" panose="05050102010706020507" pitchFamily="18" charset="2"/>
              </a:rPr>
              <a:t>V-S</a:t>
            </a:r>
            <a:r>
              <a:rPr lang="zh-CN" altLang="en-US" sz="2800" dirty="0">
                <a:sym typeface="Symbol" panose="05050102010706020507" pitchFamily="18" charset="2"/>
              </a:rPr>
              <a:t>是一个顶点覆盖矛盾。因此，</a:t>
            </a:r>
            <a:r>
              <a:rPr lang="en-US" altLang="zh-CN" sz="2800" dirty="0">
                <a:sym typeface="Symbol" panose="05050102010706020507" pitchFamily="18" charset="2"/>
              </a:rPr>
              <a:t>S</a:t>
            </a:r>
            <a:r>
              <a:rPr lang="zh-CN" altLang="en-US" sz="2800" dirty="0">
                <a:sym typeface="Symbol" panose="05050102010706020507" pitchFamily="18" charset="2"/>
              </a:rPr>
              <a:t>中的任意两个顶点之间都没有边，</a:t>
            </a:r>
            <a:r>
              <a:rPr lang="en-US" altLang="zh-CN" sz="2800" dirty="0">
                <a:sym typeface="Symbol" panose="05050102010706020507" pitchFamily="18" charset="2"/>
              </a:rPr>
              <a:t>S</a:t>
            </a:r>
            <a:r>
              <a:rPr lang="zh-CN" altLang="en-US" sz="2800" dirty="0">
                <a:sym typeface="Symbol" panose="05050102010706020507" pitchFamily="18" charset="2"/>
              </a:rPr>
              <a:t>是一个独立集。</a:t>
            </a:r>
            <a:endParaRPr lang="en-US" altLang="zh-CN" sz="2800" dirty="0">
              <a:sym typeface="Symbol" panose="05050102010706020507" pitchFamily="18"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5A18148-F6F8-4033-AEA9-9425BDCFABFB}"/>
              </a:ext>
            </a:extLst>
          </p:cNvPr>
          <p:cNvSpPr>
            <a:spLocks noGrp="1" noChangeArrowheads="1"/>
          </p:cNvSpPr>
          <p:nvPr>
            <p:ph type="title" idx="4294967295"/>
          </p:nvPr>
        </p:nvSpPr>
        <p:spPr>
          <a:xfrm>
            <a:off x="628650" y="136525"/>
            <a:ext cx="7886700" cy="1325563"/>
          </a:xfrm>
        </p:spPr>
        <p:txBody>
          <a:bodyPr/>
          <a:lstStyle/>
          <a:p>
            <a:r>
              <a:rPr lang="zh-CN" altLang="en-US" dirty="0"/>
              <a:t>多项式时间归约</a:t>
            </a:r>
          </a:p>
        </p:txBody>
      </p:sp>
      <p:sp>
        <p:nvSpPr>
          <p:cNvPr id="6" name="灯片编号占位符 5">
            <a:extLst>
              <a:ext uri="{FF2B5EF4-FFF2-40B4-BE49-F238E27FC236}">
                <a16:creationId xmlns:a16="http://schemas.microsoft.com/office/drawing/2014/main" id="{E76374ED-B775-4091-9A7D-3D27859D9C2C}"/>
              </a:ext>
            </a:extLst>
          </p:cNvPr>
          <p:cNvSpPr>
            <a:spLocks noGrp="1"/>
          </p:cNvSpPr>
          <p:nvPr>
            <p:ph type="sldNum" sz="quarter" idx="4294967295"/>
          </p:nvPr>
        </p:nvSpPr>
        <p:spPr>
          <a:xfrm>
            <a:off x="7086600" y="6356350"/>
            <a:ext cx="2057400" cy="365125"/>
          </a:xfrm>
        </p:spPr>
        <p:txBody>
          <a:bodyPr/>
          <a:lstStyle/>
          <a:p>
            <a:fld id="{1933DC3F-A45E-4818-A3A2-E89B2B315E4F}" type="slidenum">
              <a:rPr lang="zh-CN" altLang="en-US"/>
              <a:pPr/>
              <a:t>17</a:t>
            </a:fld>
            <a:endParaRPr lang="en-US" altLang="zh-CN"/>
          </a:p>
        </p:txBody>
      </p:sp>
      <p:sp>
        <p:nvSpPr>
          <p:cNvPr id="21507" name="Rectangle 3">
            <a:extLst>
              <a:ext uri="{FF2B5EF4-FFF2-40B4-BE49-F238E27FC236}">
                <a16:creationId xmlns:a16="http://schemas.microsoft.com/office/drawing/2014/main" id="{AFE661BD-7350-4E35-954F-997A07B5CE41}"/>
              </a:ext>
            </a:extLst>
          </p:cNvPr>
          <p:cNvSpPr>
            <a:spLocks noGrp="1" noChangeArrowheads="1"/>
          </p:cNvSpPr>
          <p:nvPr>
            <p:ph idx="4294967295"/>
          </p:nvPr>
        </p:nvSpPr>
        <p:spPr>
          <a:xfrm>
            <a:off x="649989" y="1556792"/>
            <a:ext cx="7886700" cy="4351338"/>
          </a:xfrm>
        </p:spPr>
        <p:txBody>
          <a:bodyPr>
            <a:normAutofit fontScale="77500" lnSpcReduction="20000"/>
          </a:bodyPr>
          <a:lstStyle/>
          <a:p>
            <a:pPr marL="0" indent="0">
              <a:lnSpc>
                <a:spcPct val="170000"/>
              </a:lnSpc>
              <a:buNone/>
            </a:pPr>
            <a:r>
              <a:rPr lang="zh-CN" altLang="en-US" sz="3800" dirty="0"/>
              <a:t>定理</a:t>
            </a:r>
            <a:r>
              <a:rPr lang="en-US" altLang="zh-CN" sz="3800" dirty="0"/>
              <a:t>8.4 </a:t>
            </a:r>
            <a:r>
              <a:rPr lang="zh-CN" altLang="en-US" sz="3800" dirty="0">
                <a:sym typeface="Symbol" panose="05050102010706020507" pitchFamily="18" charset="2"/>
              </a:rPr>
              <a:t>独立集 </a:t>
            </a:r>
            <a:r>
              <a:rPr lang="zh-CN" altLang="en-US" sz="3800" dirty="0"/>
              <a:t> </a:t>
            </a:r>
            <a:r>
              <a:rPr lang="en-US" altLang="zh-CN" sz="2400" dirty="0">
                <a:latin typeface="Comic Sans MS" panose="030F0702030302020204" pitchFamily="66" charset="0"/>
                <a:sym typeface="Symbol" panose="05050102010706020507" pitchFamily="18" charset="2"/>
              </a:rPr>
              <a:t></a:t>
            </a:r>
            <a:r>
              <a:rPr lang="en-US" altLang="zh-CN" sz="2400" baseline="-25000" dirty="0">
                <a:latin typeface="Comic Sans MS" panose="030F0702030302020204" pitchFamily="66" charset="0"/>
                <a:sym typeface="Symbol" panose="05050102010706020507" pitchFamily="18" charset="2"/>
              </a:rPr>
              <a:t> P </a:t>
            </a:r>
            <a:r>
              <a:rPr lang="zh-CN" altLang="en-US" sz="4000" dirty="0"/>
              <a:t>顶点覆盖</a:t>
            </a:r>
            <a:endParaRPr lang="en-US" altLang="zh-CN" sz="2400" dirty="0"/>
          </a:p>
          <a:p>
            <a:pPr marL="0" indent="0">
              <a:lnSpc>
                <a:spcPct val="170000"/>
              </a:lnSpc>
              <a:buNone/>
            </a:pPr>
            <a:r>
              <a:rPr lang="zh-CN" altLang="en-US" sz="3800" dirty="0"/>
              <a:t>定理</a:t>
            </a:r>
            <a:r>
              <a:rPr lang="en-US" altLang="zh-CN" sz="3800" dirty="0"/>
              <a:t>8.5 </a:t>
            </a:r>
            <a:r>
              <a:rPr lang="zh-CN" altLang="en-US" sz="3800" dirty="0"/>
              <a:t>顶点覆盖 </a:t>
            </a:r>
            <a:r>
              <a:rPr lang="en-US" altLang="zh-CN" sz="2400" dirty="0">
                <a:latin typeface="Comic Sans MS" panose="030F0702030302020204" pitchFamily="66" charset="0"/>
                <a:sym typeface="Symbol" panose="05050102010706020507" pitchFamily="18" charset="2"/>
              </a:rPr>
              <a:t></a:t>
            </a:r>
            <a:r>
              <a:rPr lang="en-US" altLang="zh-CN" sz="2400" baseline="-25000" dirty="0">
                <a:latin typeface="Comic Sans MS" panose="030F0702030302020204" pitchFamily="66" charset="0"/>
                <a:sym typeface="Symbol" panose="05050102010706020507" pitchFamily="18" charset="2"/>
              </a:rPr>
              <a:t> P </a:t>
            </a:r>
            <a:r>
              <a:rPr lang="zh-CN" altLang="en-US" sz="3800" dirty="0">
                <a:sym typeface="Symbol" panose="05050102010706020507" pitchFamily="18" charset="2"/>
              </a:rPr>
              <a:t>独立集</a:t>
            </a:r>
            <a:endParaRPr lang="en-US" altLang="zh-CN" sz="2400" dirty="0"/>
          </a:p>
          <a:p>
            <a:pPr>
              <a:lnSpc>
                <a:spcPct val="170000"/>
              </a:lnSpc>
            </a:pPr>
            <a:r>
              <a:rPr lang="zh-CN" altLang="en-US" sz="4500" dirty="0"/>
              <a:t>命题.  </a:t>
            </a:r>
          </a:p>
          <a:p>
            <a:pPr>
              <a:lnSpc>
                <a:spcPct val="170000"/>
              </a:lnSpc>
            </a:pPr>
            <a:r>
              <a:rPr lang="zh-CN" altLang="en-US" sz="3600" dirty="0"/>
              <a:t>顶点覆盖</a:t>
            </a:r>
            <a:r>
              <a:rPr lang="en-US" altLang="zh-CN" sz="2800" dirty="0"/>
              <a:t> </a:t>
            </a:r>
            <a:r>
              <a:rPr lang="en-US" altLang="zh-CN" sz="2800" dirty="0">
                <a:sym typeface="Symbol" panose="05050102010706020507" pitchFamily="18" charset="2"/>
              </a:rPr>
              <a:t></a:t>
            </a:r>
            <a:r>
              <a:rPr lang="en-US" altLang="zh-CN" sz="2800" baseline="-25000" dirty="0">
                <a:sym typeface="Symbol" panose="05050102010706020507" pitchFamily="18" charset="2"/>
              </a:rPr>
              <a:t>P</a:t>
            </a:r>
            <a:r>
              <a:rPr lang="en-US" altLang="zh-CN" sz="2800" dirty="0">
                <a:sym typeface="Symbol" panose="05050102010706020507" pitchFamily="18" charset="2"/>
              </a:rPr>
              <a:t> </a:t>
            </a:r>
            <a:r>
              <a:rPr lang="zh-CN" altLang="en-US" sz="3600" dirty="0">
                <a:sym typeface="Symbol" panose="05050102010706020507" pitchFamily="18" charset="2"/>
              </a:rPr>
              <a:t>独立集</a:t>
            </a:r>
            <a:endParaRPr lang="en-US" altLang="zh-CN" sz="2800" dirty="0"/>
          </a:p>
          <a:p>
            <a:endParaRPr lang="en-US" altLang="zh-CN" sz="2800" dirty="0"/>
          </a:p>
          <a:p>
            <a:endParaRPr lang="en-US" altLang="zh-CN" sz="2800" dirty="0"/>
          </a:p>
          <a:p>
            <a:r>
              <a:rPr lang="zh-CN" altLang="en-US" sz="2800" dirty="0"/>
              <a:t>下面将介绍</a:t>
            </a:r>
            <a:r>
              <a:rPr lang="zh-CN" altLang="en-US" sz="3600" dirty="0"/>
              <a:t>从特殊情形归约到一般情形的方法</a:t>
            </a:r>
            <a:endParaRPr lang="zh-CN" altLang="en-US" dirty="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59B937A-29A3-431C-8DD8-307F9A89A12E}"/>
              </a:ext>
            </a:extLst>
          </p:cNvPr>
          <p:cNvSpPr>
            <a:spLocks noGrp="1" noChangeArrowheads="1"/>
          </p:cNvSpPr>
          <p:nvPr>
            <p:ph type="title" idx="4294967295"/>
          </p:nvPr>
        </p:nvSpPr>
        <p:spPr>
          <a:xfrm>
            <a:off x="395536" y="136525"/>
            <a:ext cx="7886700" cy="1325563"/>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F56A4AFD-B079-4FE0-86F4-2CDBEF0D9AA4}"/>
              </a:ext>
            </a:extLst>
          </p:cNvPr>
          <p:cNvSpPr>
            <a:spLocks noGrp="1"/>
          </p:cNvSpPr>
          <p:nvPr>
            <p:ph type="sldNum" sz="quarter" idx="4294967295"/>
          </p:nvPr>
        </p:nvSpPr>
        <p:spPr>
          <a:xfrm>
            <a:off x="7086600" y="6356350"/>
            <a:ext cx="2057400" cy="365125"/>
          </a:xfrm>
        </p:spPr>
        <p:txBody>
          <a:bodyPr/>
          <a:lstStyle/>
          <a:p>
            <a:fld id="{511B6373-0164-4386-87D3-0BEBA1BF5FAA}" type="slidenum">
              <a:rPr lang="zh-CN" altLang="en-US"/>
              <a:pPr/>
              <a:t>18</a:t>
            </a:fld>
            <a:endParaRPr lang="en-US" altLang="zh-CN"/>
          </a:p>
        </p:txBody>
      </p:sp>
      <p:sp>
        <p:nvSpPr>
          <p:cNvPr id="22531" name="Rectangle 3">
            <a:extLst>
              <a:ext uri="{FF2B5EF4-FFF2-40B4-BE49-F238E27FC236}">
                <a16:creationId xmlns:a16="http://schemas.microsoft.com/office/drawing/2014/main" id="{12803C50-47BF-4952-9817-95D3355FCDEA}"/>
              </a:ext>
            </a:extLst>
          </p:cNvPr>
          <p:cNvSpPr>
            <a:spLocks noGrp="1" noChangeArrowheads="1"/>
          </p:cNvSpPr>
          <p:nvPr>
            <p:ph idx="4294967295"/>
          </p:nvPr>
        </p:nvSpPr>
        <p:spPr>
          <a:xfrm>
            <a:off x="395536" y="1462088"/>
            <a:ext cx="7886700" cy="4351338"/>
          </a:xfrm>
        </p:spPr>
        <p:txBody>
          <a:bodyPr>
            <a:normAutofit lnSpcReduction="10000"/>
          </a:bodyPr>
          <a:lstStyle/>
          <a:p>
            <a:pPr>
              <a:lnSpc>
                <a:spcPct val="150000"/>
              </a:lnSpc>
            </a:pPr>
            <a:r>
              <a:rPr lang="zh-CN" altLang="en-US" sz="2800" dirty="0"/>
              <a:t>集合覆盖：试图用一组较小的集合覆盖一个任意的对象集合</a:t>
            </a:r>
          </a:p>
          <a:p>
            <a:pPr>
              <a:lnSpc>
                <a:spcPct val="150000"/>
              </a:lnSpc>
            </a:pPr>
            <a:r>
              <a:rPr lang="zh-CN" altLang="en-US" sz="2800" dirty="0"/>
              <a:t>应用实例</a:t>
            </a:r>
            <a:endParaRPr lang="en-US" altLang="zh-CN" sz="2800" dirty="0"/>
          </a:p>
          <a:p>
            <a:pPr lvl="1">
              <a:lnSpc>
                <a:spcPct val="150000"/>
              </a:lnSpc>
            </a:pPr>
            <a:r>
              <a:rPr lang="en-US" altLang="zh-CN" sz="2400" dirty="0"/>
              <a:t>m </a:t>
            </a:r>
            <a:r>
              <a:rPr lang="zh-CN" altLang="en-US" sz="2400" dirty="0"/>
              <a:t>个可供利用的软件；</a:t>
            </a:r>
            <a:endParaRPr lang="en-US" altLang="zh-CN" sz="2400" dirty="0"/>
          </a:p>
          <a:p>
            <a:pPr lvl="1">
              <a:lnSpc>
                <a:spcPct val="150000"/>
              </a:lnSpc>
            </a:pPr>
            <a:r>
              <a:rPr lang="zh-CN" altLang="en-US" sz="2400" dirty="0"/>
              <a:t>集合</a:t>
            </a:r>
            <a:r>
              <a:rPr lang="en-US" altLang="zh-CN" sz="2400" dirty="0"/>
              <a:t>U</a:t>
            </a:r>
            <a:r>
              <a:rPr lang="zh-CN" altLang="en-US" sz="2400" dirty="0"/>
              <a:t>由整个系统必须具备的</a:t>
            </a:r>
            <a:r>
              <a:rPr lang="en-US" altLang="zh-CN" sz="2400" dirty="0"/>
              <a:t>n</a:t>
            </a:r>
            <a:r>
              <a:rPr lang="zh-CN" altLang="en-US" sz="2400" dirty="0"/>
              <a:t>个性能组成</a:t>
            </a:r>
            <a:r>
              <a:rPr lang="en-US" altLang="zh-CN" sz="2400" dirty="0"/>
              <a:t>；</a:t>
            </a:r>
          </a:p>
          <a:p>
            <a:pPr lvl="1">
              <a:lnSpc>
                <a:spcPct val="150000"/>
              </a:lnSpc>
            </a:pPr>
            <a:r>
              <a:rPr lang="zh-CN" altLang="en-US" sz="2400" dirty="0"/>
              <a:t>第</a:t>
            </a:r>
            <a:r>
              <a:rPr lang="en-US" altLang="zh-CN" sz="2400" dirty="0" err="1"/>
              <a:t>i</a:t>
            </a:r>
            <a:r>
              <a:rPr lang="zh-CN" altLang="en-US" sz="2400" dirty="0"/>
              <a:t>个软件包含性能集合</a:t>
            </a:r>
            <a:r>
              <a:rPr lang="en-US" altLang="zh-CN" sz="2400" dirty="0"/>
              <a:t>S</a:t>
            </a:r>
            <a:r>
              <a:rPr lang="en-US" altLang="zh-CN" sz="4000" baseline="-25000" dirty="0"/>
              <a:t>i</a:t>
            </a:r>
            <a:r>
              <a:rPr lang="en-US" altLang="zh-CN" sz="2400" dirty="0"/>
              <a:t> </a:t>
            </a:r>
            <a:r>
              <a:rPr lang="en-US" altLang="zh-CN" sz="2400" dirty="0">
                <a:sym typeface="Symbol" panose="05050102010706020507" pitchFamily="18" charset="2"/>
              </a:rPr>
              <a:t> U.</a:t>
            </a:r>
          </a:p>
          <a:p>
            <a:pPr lvl="1">
              <a:lnSpc>
                <a:spcPct val="150000"/>
              </a:lnSpc>
            </a:pPr>
            <a:r>
              <a:rPr lang="zh-CN" altLang="en-US" sz="2400" dirty="0">
                <a:sym typeface="Symbol" panose="05050102010706020507" pitchFamily="18" charset="2"/>
              </a:rPr>
              <a:t>目标:  用尽可能少数的软件包含所需具备的</a:t>
            </a:r>
            <a:r>
              <a:rPr lang="en-US" altLang="zh-CN" sz="2400" dirty="0">
                <a:sym typeface="Symbol" panose="05050102010706020507" pitchFamily="18" charset="2"/>
              </a:rPr>
              <a:t>n</a:t>
            </a:r>
            <a:r>
              <a:rPr lang="zh-CN" altLang="en-US" sz="2400" dirty="0">
                <a:sym typeface="Symbol" panose="05050102010706020507" pitchFamily="18" charset="2"/>
              </a:rPr>
              <a:t>个性能。</a:t>
            </a:r>
            <a:endParaRPr lang="zh-CN"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BCBC936-007E-4DF1-BF2D-EE2481D2E426}"/>
              </a:ext>
            </a:extLst>
          </p:cNvPr>
          <p:cNvSpPr>
            <a:spLocks noGrp="1" noChangeArrowheads="1"/>
          </p:cNvSpPr>
          <p:nvPr>
            <p:ph type="title" idx="4294967295"/>
          </p:nvPr>
        </p:nvSpPr>
        <p:spPr>
          <a:xfrm>
            <a:off x="628650" y="-13692"/>
            <a:ext cx="7886700" cy="1325563"/>
          </a:xfrm>
        </p:spPr>
        <p:txBody>
          <a:bodyPr/>
          <a:lstStyle/>
          <a:p>
            <a:r>
              <a:rPr lang="zh-CN" altLang="en-US" dirty="0"/>
              <a:t>多项式时间归约</a:t>
            </a:r>
            <a:endParaRPr lang="en-US" altLang="zh-CN" dirty="0"/>
          </a:p>
        </p:txBody>
      </p:sp>
      <p:sp>
        <p:nvSpPr>
          <p:cNvPr id="8" name="灯片编号占位符 5">
            <a:extLst>
              <a:ext uri="{FF2B5EF4-FFF2-40B4-BE49-F238E27FC236}">
                <a16:creationId xmlns:a16="http://schemas.microsoft.com/office/drawing/2014/main" id="{2C4EADC2-202B-4817-B345-CD3AEB296B05}"/>
              </a:ext>
            </a:extLst>
          </p:cNvPr>
          <p:cNvSpPr>
            <a:spLocks noGrp="1"/>
          </p:cNvSpPr>
          <p:nvPr>
            <p:ph type="sldNum" sz="quarter" idx="4294967295"/>
          </p:nvPr>
        </p:nvSpPr>
        <p:spPr>
          <a:xfrm>
            <a:off x="7086600" y="6356350"/>
            <a:ext cx="2057400" cy="365125"/>
          </a:xfrm>
        </p:spPr>
        <p:txBody>
          <a:bodyPr/>
          <a:lstStyle/>
          <a:p>
            <a:fld id="{178675CA-A27F-420B-94F9-C47084A4BA8A}" type="slidenum">
              <a:rPr lang="zh-CN" altLang="en-US"/>
              <a:pPr/>
              <a:t>19</a:t>
            </a:fld>
            <a:endParaRPr lang="en-US" altLang="zh-CN"/>
          </a:p>
        </p:txBody>
      </p:sp>
      <p:sp>
        <p:nvSpPr>
          <p:cNvPr id="23555" name="Rectangle 3">
            <a:extLst>
              <a:ext uri="{FF2B5EF4-FFF2-40B4-BE49-F238E27FC236}">
                <a16:creationId xmlns:a16="http://schemas.microsoft.com/office/drawing/2014/main" id="{BBAD142A-53E0-40E5-8002-4C78BB42F3D0}"/>
              </a:ext>
            </a:extLst>
          </p:cNvPr>
          <p:cNvSpPr>
            <a:spLocks noGrp="1" noChangeArrowheads="1"/>
          </p:cNvSpPr>
          <p:nvPr>
            <p:ph idx="4294967295"/>
          </p:nvPr>
        </p:nvSpPr>
        <p:spPr>
          <a:xfrm>
            <a:off x="467544" y="1253331"/>
            <a:ext cx="7886700" cy="4351338"/>
          </a:xfrm>
        </p:spPr>
        <p:txBody>
          <a:bodyPr>
            <a:normAutofit/>
          </a:bodyPr>
          <a:lstStyle/>
          <a:p>
            <a:pPr>
              <a:lnSpc>
                <a:spcPct val="150000"/>
              </a:lnSpc>
            </a:pPr>
            <a:r>
              <a:rPr lang="zh-CN" altLang="en-US" sz="2800" dirty="0"/>
              <a:t>集合覆盖问题</a:t>
            </a:r>
          </a:p>
          <a:p>
            <a:pPr>
              <a:lnSpc>
                <a:spcPct val="150000"/>
              </a:lnSpc>
            </a:pPr>
            <a:r>
              <a:rPr lang="zh-CN" altLang="en-US" sz="2800" dirty="0"/>
              <a:t>给定</a:t>
            </a:r>
            <a:r>
              <a:rPr lang="en-US" altLang="zh-CN" sz="2800" dirty="0"/>
              <a:t>n</a:t>
            </a:r>
            <a:r>
              <a:rPr lang="zh-CN" altLang="en-US" sz="2800" dirty="0"/>
              <a:t>个元素的集合</a:t>
            </a:r>
            <a:r>
              <a:rPr lang="en-US" altLang="zh-CN" sz="2800" dirty="0"/>
              <a:t>U, U</a:t>
            </a:r>
            <a:r>
              <a:rPr lang="zh-CN" altLang="en-US" sz="2800" dirty="0"/>
              <a:t>的子集</a:t>
            </a:r>
            <a:r>
              <a:rPr lang="en-US" altLang="zh-CN" sz="2800" dirty="0"/>
              <a:t>S</a:t>
            </a:r>
            <a:r>
              <a:rPr lang="en-US" altLang="zh-CN" sz="2800" baseline="-25000" dirty="0"/>
              <a:t>1</a:t>
            </a:r>
            <a:r>
              <a:rPr lang="en-US" altLang="zh-CN" sz="2800" dirty="0"/>
              <a:t>, S</a:t>
            </a:r>
            <a:r>
              <a:rPr lang="en-US" altLang="zh-CN" sz="2800" baseline="-25000" dirty="0"/>
              <a:t>2</a:t>
            </a:r>
            <a:r>
              <a:rPr lang="en-US" altLang="zh-CN" sz="2800" dirty="0"/>
              <a:t>, . . . , </a:t>
            </a:r>
            <a:r>
              <a:rPr lang="en-US" altLang="zh-CN" sz="2800" dirty="0" err="1"/>
              <a:t>S</a:t>
            </a:r>
            <a:r>
              <a:rPr lang="en-US" altLang="zh-CN" sz="2800" baseline="-25000" dirty="0" err="1"/>
              <a:t>m</a:t>
            </a:r>
            <a:r>
              <a:rPr lang="en-US" altLang="zh-CN" sz="2800" dirty="0"/>
              <a:t> </a:t>
            </a:r>
            <a:r>
              <a:rPr lang="zh-CN" altLang="en-US" sz="2800" dirty="0"/>
              <a:t>以及数</a:t>
            </a:r>
            <a:r>
              <a:rPr lang="en-US" altLang="zh-CN" sz="2800" dirty="0"/>
              <a:t>k, </a:t>
            </a:r>
            <a:r>
              <a:rPr lang="zh-CN" altLang="en-US" sz="2800" dirty="0"/>
              <a:t>是否存在数目至多为</a:t>
            </a:r>
            <a:r>
              <a:rPr lang="en-US" altLang="zh-CN" sz="2800" dirty="0"/>
              <a:t>k</a:t>
            </a:r>
            <a:r>
              <a:rPr lang="zh-CN" altLang="en-US" sz="2800" dirty="0"/>
              <a:t>的子集合，其并集等于</a:t>
            </a:r>
            <a:r>
              <a:rPr lang="en-US" altLang="zh-CN" sz="2800" dirty="0"/>
              <a:t>U</a:t>
            </a:r>
          </a:p>
          <a:p>
            <a:pPr>
              <a:lnSpc>
                <a:spcPct val="150000"/>
              </a:lnSpc>
            </a:pPr>
            <a:endParaRPr lang="zh-CN" altLang="en-US" sz="2800" dirty="0"/>
          </a:p>
        </p:txBody>
      </p:sp>
      <p:sp>
        <p:nvSpPr>
          <p:cNvPr id="23556" name="Rectangle 4">
            <a:extLst>
              <a:ext uri="{FF2B5EF4-FFF2-40B4-BE49-F238E27FC236}">
                <a16:creationId xmlns:a16="http://schemas.microsoft.com/office/drawing/2014/main" id="{8D6170CE-B675-4CFA-98B7-8C80024B1540}"/>
              </a:ext>
            </a:extLst>
          </p:cNvPr>
          <p:cNvSpPr>
            <a:spLocks noChangeArrowheads="1"/>
          </p:cNvSpPr>
          <p:nvPr/>
        </p:nvSpPr>
        <p:spPr bwMode="auto">
          <a:xfrm>
            <a:off x="2810282" y="4005064"/>
            <a:ext cx="4267200" cy="1771650"/>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2880" tIns="91440" rIns="92075" bIns="91440">
            <a:spAutoFit/>
          </a:bodyPr>
          <a:lstStyle/>
          <a:p>
            <a:pPr eaLnBrk="0" hangingPunct="0">
              <a:lnSpc>
                <a:spcPts val="2500"/>
              </a:lnSpc>
              <a:spcBef>
                <a:spcPct val="0"/>
              </a:spcBef>
              <a:buClrTx/>
              <a:buSzTx/>
              <a:buFontTx/>
              <a:buNone/>
            </a:pPr>
            <a:r>
              <a:rPr lang="en-US" altLang="zh-CN" sz="2000">
                <a:latin typeface="Comic Sans MS" panose="030F0702030302020204" pitchFamily="66" charset="0"/>
              </a:rPr>
              <a:t>U = { 1, 2, 3, 4, 5, 6, 7 }</a:t>
            </a:r>
            <a:br>
              <a:rPr lang="en-US" altLang="zh-CN" sz="2000">
                <a:latin typeface="Comic Sans MS" panose="030F0702030302020204" pitchFamily="66" charset="0"/>
              </a:rPr>
            </a:br>
            <a:r>
              <a:rPr lang="en-US" altLang="zh-CN" sz="2000">
                <a:latin typeface="Comic Sans MS" panose="030F0702030302020204" pitchFamily="66" charset="0"/>
              </a:rPr>
              <a:t>k = 2</a:t>
            </a:r>
          </a:p>
          <a:p>
            <a:pPr eaLnBrk="0" hangingPunct="0">
              <a:lnSpc>
                <a:spcPts val="2500"/>
              </a:lnSpc>
              <a:spcBef>
                <a:spcPct val="0"/>
              </a:spcBef>
              <a:buClrTx/>
              <a:buSzTx/>
              <a:buFontTx/>
              <a:buNone/>
            </a:pPr>
            <a:r>
              <a:rPr lang="en-US" altLang="zh-CN" sz="2000">
                <a:latin typeface="Comic Sans MS" panose="030F0702030302020204" pitchFamily="66" charset="0"/>
              </a:rPr>
              <a:t>S</a:t>
            </a:r>
            <a:r>
              <a:rPr lang="en-US" altLang="zh-CN" sz="2000" baseline="-25000">
                <a:latin typeface="Comic Sans MS" panose="030F0702030302020204" pitchFamily="66" charset="0"/>
              </a:rPr>
              <a:t>1</a:t>
            </a:r>
            <a:r>
              <a:rPr lang="en-US" altLang="zh-CN" sz="2000">
                <a:latin typeface="Comic Sans MS" panose="030F0702030302020204" pitchFamily="66" charset="0"/>
              </a:rPr>
              <a:t> = {3, 7}	S</a:t>
            </a:r>
            <a:r>
              <a:rPr lang="en-US" altLang="zh-CN" sz="2000" baseline="-25000">
                <a:latin typeface="Comic Sans MS" panose="030F0702030302020204" pitchFamily="66" charset="0"/>
              </a:rPr>
              <a:t>4</a:t>
            </a:r>
            <a:r>
              <a:rPr lang="en-US" altLang="zh-CN" sz="2000">
                <a:latin typeface="Comic Sans MS" panose="030F0702030302020204" pitchFamily="66" charset="0"/>
              </a:rPr>
              <a:t> = {2, 4}</a:t>
            </a:r>
          </a:p>
          <a:p>
            <a:pPr eaLnBrk="0" hangingPunct="0">
              <a:lnSpc>
                <a:spcPts val="2500"/>
              </a:lnSpc>
              <a:spcBef>
                <a:spcPct val="0"/>
              </a:spcBef>
              <a:buClrTx/>
              <a:buSzTx/>
              <a:buFontTx/>
              <a:buNone/>
            </a:pPr>
            <a:r>
              <a:rPr lang="en-US" altLang="zh-CN" sz="2000">
                <a:solidFill>
                  <a:srgbClr val="003399"/>
                </a:solidFill>
                <a:latin typeface="Comic Sans MS" panose="030F0702030302020204" pitchFamily="66" charset="0"/>
              </a:rPr>
              <a:t>S</a:t>
            </a:r>
            <a:r>
              <a:rPr lang="en-US" altLang="zh-CN" sz="2000" baseline="-25000">
                <a:solidFill>
                  <a:srgbClr val="003399"/>
                </a:solidFill>
                <a:latin typeface="Comic Sans MS" panose="030F0702030302020204" pitchFamily="66" charset="0"/>
              </a:rPr>
              <a:t>2</a:t>
            </a:r>
            <a:r>
              <a:rPr lang="en-US" altLang="zh-CN" sz="2000">
                <a:solidFill>
                  <a:srgbClr val="003399"/>
                </a:solidFill>
                <a:latin typeface="Comic Sans MS" panose="030F0702030302020204" pitchFamily="66" charset="0"/>
              </a:rPr>
              <a:t> = {3, 4, 5, 6}</a:t>
            </a:r>
            <a:r>
              <a:rPr lang="en-US" altLang="zh-CN" sz="2000">
                <a:latin typeface="Comic Sans MS" panose="030F0702030302020204" pitchFamily="66" charset="0"/>
              </a:rPr>
              <a:t>	S</a:t>
            </a:r>
            <a:r>
              <a:rPr lang="en-US" altLang="zh-CN" sz="2000" baseline="-25000">
                <a:latin typeface="Comic Sans MS" panose="030F0702030302020204" pitchFamily="66" charset="0"/>
              </a:rPr>
              <a:t>5</a:t>
            </a:r>
            <a:r>
              <a:rPr lang="en-US" altLang="zh-CN" sz="2000">
                <a:latin typeface="Comic Sans MS" panose="030F0702030302020204" pitchFamily="66" charset="0"/>
              </a:rPr>
              <a:t> = {5}</a:t>
            </a:r>
            <a:br>
              <a:rPr lang="en-US" altLang="zh-CN" sz="2000">
                <a:latin typeface="Comic Sans MS" panose="030F0702030302020204" pitchFamily="66" charset="0"/>
              </a:rPr>
            </a:br>
            <a:r>
              <a:rPr lang="en-US" altLang="zh-CN" sz="2000">
                <a:latin typeface="Comic Sans MS" panose="030F0702030302020204" pitchFamily="66" charset="0"/>
              </a:rPr>
              <a:t>S</a:t>
            </a:r>
            <a:r>
              <a:rPr lang="en-US" altLang="zh-CN" sz="2000" baseline="-25000">
                <a:latin typeface="Comic Sans MS" panose="030F0702030302020204" pitchFamily="66" charset="0"/>
              </a:rPr>
              <a:t>3</a:t>
            </a:r>
            <a:r>
              <a:rPr lang="en-US" altLang="zh-CN" sz="2000">
                <a:latin typeface="Comic Sans MS" panose="030F0702030302020204" pitchFamily="66" charset="0"/>
              </a:rPr>
              <a:t> = {1}		</a:t>
            </a:r>
            <a:r>
              <a:rPr lang="en-US" altLang="zh-CN" sz="2000">
                <a:solidFill>
                  <a:srgbClr val="003399"/>
                </a:solidFill>
                <a:latin typeface="Comic Sans MS" panose="030F0702030302020204" pitchFamily="66" charset="0"/>
              </a:rPr>
              <a:t>S</a:t>
            </a:r>
            <a:r>
              <a:rPr lang="en-US" altLang="zh-CN" sz="2000" baseline="-25000">
                <a:solidFill>
                  <a:srgbClr val="003399"/>
                </a:solidFill>
                <a:latin typeface="Comic Sans MS" panose="030F0702030302020204" pitchFamily="66" charset="0"/>
              </a:rPr>
              <a:t>6</a:t>
            </a:r>
            <a:r>
              <a:rPr lang="en-US" altLang="zh-CN" sz="2000">
                <a:solidFill>
                  <a:srgbClr val="003399"/>
                </a:solidFill>
                <a:latin typeface="Comic Sans MS" panose="030F0702030302020204" pitchFamily="66" charset="0"/>
              </a:rPr>
              <a:t> =  {1, 2, 6, 7}</a:t>
            </a:r>
          </a:p>
        </p:txBody>
      </p:sp>
      <p:sp>
        <p:nvSpPr>
          <p:cNvPr id="23557" name="Text Box 5">
            <a:extLst>
              <a:ext uri="{FF2B5EF4-FFF2-40B4-BE49-F238E27FC236}">
                <a16:creationId xmlns:a16="http://schemas.microsoft.com/office/drawing/2014/main" id="{D73E82EB-FFC5-48F9-9DBD-602669BB3A64}"/>
              </a:ext>
            </a:extLst>
          </p:cNvPr>
          <p:cNvSpPr txBox="1">
            <a:spLocks noChangeArrowheads="1"/>
          </p:cNvSpPr>
          <p:nvPr/>
        </p:nvSpPr>
        <p:spPr bwMode="auto">
          <a:xfrm>
            <a:off x="685800" y="45720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400"/>
              <a:t>例子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F47499-980F-43E6-B109-DB29711AE54F}"/>
              </a:ext>
            </a:extLst>
          </p:cNvPr>
          <p:cNvSpPr>
            <a:spLocks noGrp="1" noChangeArrowheads="1"/>
          </p:cNvSpPr>
          <p:nvPr>
            <p:ph type="title" idx="4294967295"/>
          </p:nvPr>
        </p:nvSpPr>
        <p:spPr>
          <a:xfrm>
            <a:off x="539552" y="136525"/>
            <a:ext cx="7886700" cy="1325563"/>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A54B822A-0E3E-461D-960B-91CC423BDB88}"/>
              </a:ext>
            </a:extLst>
          </p:cNvPr>
          <p:cNvSpPr>
            <a:spLocks noGrp="1"/>
          </p:cNvSpPr>
          <p:nvPr>
            <p:ph type="sldNum" sz="quarter" idx="4294967295"/>
          </p:nvPr>
        </p:nvSpPr>
        <p:spPr>
          <a:xfrm>
            <a:off x="7086600" y="6356350"/>
            <a:ext cx="2057400" cy="365125"/>
          </a:xfrm>
        </p:spPr>
        <p:txBody>
          <a:bodyPr/>
          <a:lstStyle/>
          <a:p>
            <a:fld id="{A0F3E5C6-CCC4-4876-8AF2-D83EA5CC65C0}" type="slidenum">
              <a:rPr lang="zh-CN" altLang="en-US"/>
              <a:pPr/>
              <a:t>20</a:t>
            </a:fld>
            <a:endParaRPr lang="en-US" altLang="zh-CN"/>
          </a:p>
        </p:txBody>
      </p:sp>
      <p:sp>
        <p:nvSpPr>
          <p:cNvPr id="24579" name="Rectangle 3">
            <a:extLst>
              <a:ext uri="{FF2B5EF4-FFF2-40B4-BE49-F238E27FC236}">
                <a16:creationId xmlns:a16="http://schemas.microsoft.com/office/drawing/2014/main" id="{F2BFA067-7BA2-4D80-B58B-B7CF2BB5FDAE}"/>
              </a:ext>
            </a:extLst>
          </p:cNvPr>
          <p:cNvSpPr>
            <a:spLocks noGrp="1" noChangeArrowheads="1"/>
          </p:cNvSpPr>
          <p:nvPr>
            <p:ph idx="4294967295"/>
          </p:nvPr>
        </p:nvSpPr>
        <p:spPr>
          <a:xfrm>
            <a:off x="395536" y="1340768"/>
            <a:ext cx="7886700" cy="4351338"/>
          </a:xfrm>
        </p:spPr>
        <p:txBody>
          <a:bodyPr>
            <a:normAutofit fontScale="92500"/>
          </a:bodyPr>
          <a:lstStyle/>
          <a:p>
            <a:pPr>
              <a:lnSpc>
                <a:spcPct val="150000"/>
              </a:lnSpc>
              <a:buFont typeface="Wingdings" panose="05000000000000000000" pitchFamily="2" charset="2"/>
              <a:buNone/>
            </a:pPr>
            <a:r>
              <a:rPr lang="zh-CN" altLang="en-US" sz="2800" dirty="0"/>
              <a:t>直觉上告诉我们，集合覆盖比顶点覆盖更具一般性</a:t>
            </a:r>
            <a:endParaRPr lang="en-US" altLang="zh-CN" sz="2800" dirty="0"/>
          </a:p>
          <a:p>
            <a:pPr>
              <a:lnSpc>
                <a:spcPct val="150000"/>
              </a:lnSpc>
            </a:pPr>
            <a:r>
              <a:rPr lang="zh-CN" altLang="en-US" sz="2800" dirty="0"/>
              <a:t>定理8.6 顶点覆盖</a:t>
            </a:r>
            <a:r>
              <a:rPr lang="en-US" altLang="zh-CN" sz="2800" dirty="0">
                <a:sym typeface="Symbol" panose="05050102010706020507" pitchFamily="18" charset="2"/>
              </a:rPr>
              <a:t> </a:t>
            </a:r>
            <a:r>
              <a:rPr lang="en-US" altLang="zh-CN" sz="2800" baseline="-25000" dirty="0">
                <a:sym typeface="Symbol" panose="05050102010706020507" pitchFamily="18" charset="2"/>
              </a:rPr>
              <a:t>P</a:t>
            </a:r>
            <a:r>
              <a:rPr lang="en-US" altLang="zh-CN" sz="2800" dirty="0">
                <a:sym typeface="Symbol" panose="05050102010706020507" pitchFamily="18" charset="2"/>
              </a:rPr>
              <a:t> </a:t>
            </a:r>
            <a:r>
              <a:rPr lang="zh-CN" altLang="en-US" sz="2800" dirty="0">
                <a:sym typeface="Symbol" panose="05050102010706020507" pitchFamily="18" charset="2"/>
              </a:rPr>
              <a:t>集合覆盖</a:t>
            </a:r>
          </a:p>
          <a:p>
            <a:pPr>
              <a:lnSpc>
                <a:spcPct val="150000"/>
              </a:lnSpc>
            </a:pPr>
            <a:r>
              <a:rPr lang="zh-CN" altLang="en-US" sz="2800" dirty="0">
                <a:sym typeface="Symbol" panose="05050102010706020507" pitchFamily="18" charset="2"/>
              </a:rPr>
              <a:t>证明：</a:t>
            </a:r>
            <a:r>
              <a:rPr lang="zh-CN" altLang="en-US" sz="2800" i="1" dirty="0">
                <a:sym typeface="Symbol" panose="05050102010706020507" pitchFamily="18" charset="2"/>
              </a:rPr>
              <a:t>我们构造集合覆盖的一个实例</a:t>
            </a:r>
            <a:r>
              <a:rPr lang="zh-CN" altLang="en-US" sz="2800" dirty="0">
                <a:sym typeface="Symbol" panose="05050102010706020507" pitchFamily="18" charset="2"/>
              </a:rPr>
              <a:t>，</a:t>
            </a:r>
            <a:r>
              <a:rPr lang="en-US" altLang="zh-CN" sz="2800" dirty="0">
                <a:sym typeface="Symbol" panose="05050102010706020507" pitchFamily="18" charset="2"/>
              </a:rPr>
              <a:t>U=E. </a:t>
            </a:r>
            <a:r>
              <a:rPr lang="zh-CN" altLang="en-US" sz="2800" dirty="0">
                <a:sym typeface="Symbol" panose="05050102010706020507" pitchFamily="18" charset="2"/>
              </a:rPr>
              <a:t>在顶点覆盖中，每次取一个顶点覆盖所有与它关联的边。于是，对每一个顶点</a:t>
            </a:r>
            <a:r>
              <a:rPr lang="en-US" altLang="zh-CN" sz="2800" dirty="0" err="1">
                <a:sym typeface="Symbol" panose="05050102010706020507" pitchFamily="18" charset="2"/>
              </a:rPr>
              <a:t>i</a:t>
            </a:r>
            <a:r>
              <a:rPr lang="en-US" altLang="zh-CN" sz="2800" dirty="0">
                <a:sym typeface="Symbol" panose="05050102010706020507" pitchFamily="18" charset="2"/>
              </a:rPr>
              <a:t> V, </a:t>
            </a:r>
            <a:r>
              <a:rPr lang="en-US" altLang="zh-CN" sz="2800" dirty="0"/>
              <a:t>S</a:t>
            </a:r>
            <a:r>
              <a:rPr lang="en-US" altLang="zh-CN" sz="4400" baseline="-25000" dirty="0"/>
              <a:t>i</a:t>
            </a:r>
            <a:r>
              <a:rPr lang="en-US" altLang="zh-CN" sz="2800" dirty="0">
                <a:sym typeface="Symbol" panose="05050102010706020507" pitchFamily="18" charset="2"/>
              </a:rPr>
              <a:t> = {e  E : e </a:t>
            </a:r>
            <a:r>
              <a:rPr lang="zh-CN" altLang="en-US" sz="2800" dirty="0">
                <a:sym typeface="Symbol" panose="05050102010706020507" pitchFamily="18" charset="2"/>
              </a:rPr>
              <a:t>连接到</a:t>
            </a:r>
            <a:r>
              <a:rPr lang="en-US" altLang="zh-CN" sz="2800" i="1" dirty="0" err="1">
                <a:sym typeface="Symbol" panose="05050102010706020507" pitchFamily="18" charset="2"/>
              </a:rPr>
              <a:t>i</a:t>
            </a:r>
            <a:r>
              <a:rPr lang="en-US" altLang="zh-CN" sz="2800" dirty="0">
                <a:sym typeface="Symbol" panose="05050102010706020507" pitchFamily="18" charset="2"/>
              </a:rPr>
              <a:t> };      k = 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E84FAE0-9F17-4393-94F0-D8CA8729AF13}"/>
              </a:ext>
            </a:extLst>
          </p:cNvPr>
          <p:cNvSpPr>
            <a:spLocks noGrp="1" noChangeArrowheads="1"/>
          </p:cNvSpPr>
          <p:nvPr>
            <p:ph type="title" idx="4294967295"/>
          </p:nvPr>
        </p:nvSpPr>
        <p:spPr>
          <a:xfrm>
            <a:off x="395536" y="136525"/>
            <a:ext cx="7886700" cy="1325563"/>
          </a:xfrm>
        </p:spPr>
        <p:txBody>
          <a:bodyPr/>
          <a:lstStyle/>
          <a:p>
            <a:r>
              <a:rPr lang="zh-CN" altLang="en-US" dirty="0"/>
              <a:t>多项式时间归约</a:t>
            </a:r>
          </a:p>
        </p:txBody>
      </p:sp>
      <p:sp>
        <p:nvSpPr>
          <p:cNvPr id="6" name="灯片编号占位符 5">
            <a:extLst>
              <a:ext uri="{FF2B5EF4-FFF2-40B4-BE49-F238E27FC236}">
                <a16:creationId xmlns:a16="http://schemas.microsoft.com/office/drawing/2014/main" id="{6EEE7DD4-C36C-4593-9F9F-F59BFCD9A8B5}"/>
              </a:ext>
            </a:extLst>
          </p:cNvPr>
          <p:cNvSpPr>
            <a:spLocks noGrp="1"/>
          </p:cNvSpPr>
          <p:nvPr>
            <p:ph type="sldNum" sz="quarter" idx="4294967295"/>
          </p:nvPr>
        </p:nvSpPr>
        <p:spPr>
          <a:xfrm>
            <a:off x="7086600" y="6356350"/>
            <a:ext cx="2057400" cy="365125"/>
          </a:xfrm>
        </p:spPr>
        <p:txBody>
          <a:bodyPr/>
          <a:lstStyle/>
          <a:p>
            <a:fld id="{A24BE684-39C0-4C8F-8B9E-D1EB497659DA}" type="slidenum">
              <a:rPr lang="zh-CN" altLang="en-US"/>
              <a:pPr/>
              <a:t>21</a:t>
            </a:fld>
            <a:endParaRPr lang="en-US" altLang="zh-CN"/>
          </a:p>
        </p:txBody>
      </p:sp>
      <p:graphicFrame>
        <p:nvGraphicFramePr>
          <p:cNvPr id="26628" name="Object 4">
            <a:extLst>
              <a:ext uri="{FF2B5EF4-FFF2-40B4-BE49-F238E27FC236}">
                <a16:creationId xmlns:a16="http://schemas.microsoft.com/office/drawing/2014/main" id="{C43FE21E-0431-44DF-9D09-EE3B89A57F13}"/>
              </a:ext>
            </a:extLst>
          </p:cNvPr>
          <p:cNvGraphicFramePr>
            <a:graphicFrameLocks noGrp="1" noChangeAspect="1"/>
          </p:cNvGraphicFramePr>
          <p:nvPr>
            <p:ph idx="4294967295"/>
            <p:extLst>
              <p:ext uri="{D42A27DB-BD31-4B8C-83A1-F6EECF244321}">
                <p14:modId xmlns:p14="http://schemas.microsoft.com/office/powerpoint/2010/main" val="46949312"/>
              </p:ext>
            </p:extLst>
          </p:nvPr>
        </p:nvGraphicFramePr>
        <p:xfrm>
          <a:off x="76200" y="2057400"/>
          <a:ext cx="9067800" cy="3467100"/>
        </p:xfrm>
        <a:graphic>
          <a:graphicData uri="http://schemas.openxmlformats.org/presentationml/2006/ole">
            <mc:AlternateContent xmlns:mc="http://schemas.openxmlformats.org/markup-compatibility/2006">
              <mc:Choice xmlns:v="urn:schemas-microsoft-com:vml" Requires="v">
                <p:oleObj name="BMP 图像" r:id="rId3" imgW="6628571" imgH="2534004" progId="Paint.Picture">
                  <p:embed/>
                </p:oleObj>
              </mc:Choice>
              <mc:Fallback>
                <p:oleObj name="BMP 图像" r:id="rId3" imgW="6628571" imgH="2534004"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2057400"/>
                        <a:ext cx="9067800" cy="3467100"/>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898A4E2-EEA1-401E-A5B2-6DBF37A201C2}"/>
              </a:ext>
            </a:extLst>
          </p:cNvPr>
          <p:cNvSpPr>
            <a:spLocks noGrp="1" noChangeArrowheads="1"/>
          </p:cNvSpPr>
          <p:nvPr>
            <p:ph type="title" idx="4294967295"/>
          </p:nvPr>
        </p:nvSpPr>
        <p:spPr>
          <a:xfrm>
            <a:off x="466725" y="233690"/>
            <a:ext cx="7793037" cy="1143000"/>
          </a:xfrm>
        </p:spPr>
        <p:txBody>
          <a:bodyPr/>
          <a:lstStyle/>
          <a:p>
            <a:r>
              <a:rPr lang="zh-CN" altLang="en-US" dirty="0"/>
              <a:t>多项式时间归约</a:t>
            </a:r>
            <a:endParaRPr lang="en-US" altLang="zh-CN" dirty="0"/>
          </a:p>
        </p:txBody>
      </p:sp>
      <p:sp>
        <p:nvSpPr>
          <p:cNvPr id="10" name="灯片编号占位符 5">
            <a:extLst>
              <a:ext uri="{FF2B5EF4-FFF2-40B4-BE49-F238E27FC236}">
                <a16:creationId xmlns:a16="http://schemas.microsoft.com/office/drawing/2014/main" id="{288B1DC7-48CE-4A14-906A-CCC8384F6C5C}"/>
              </a:ext>
            </a:extLst>
          </p:cNvPr>
          <p:cNvSpPr>
            <a:spLocks noGrp="1"/>
          </p:cNvSpPr>
          <p:nvPr>
            <p:ph type="sldNum" sz="quarter" idx="4294967295"/>
          </p:nvPr>
        </p:nvSpPr>
        <p:spPr>
          <a:xfrm>
            <a:off x="7086600" y="6356350"/>
            <a:ext cx="2057400" cy="365125"/>
          </a:xfrm>
        </p:spPr>
        <p:txBody>
          <a:bodyPr/>
          <a:lstStyle/>
          <a:p>
            <a:fld id="{A82ACA8D-81D9-478E-ABFD-C0EFEDF5F388}" type="slidenum">
              <a:rPr lang="zh-CN" altLang="en-US"/>
              <a:pPr/>
              <a:t>22</a:t>
            </a:fld>
            <a:endParaRPr lang="en-US" altLang="zh-CN"/>
          </a:p>
        </p:txBody>
      </p:sp>
      <p:sp>
        <p:nvSpPr>
          <p:cNvPr id="97283" name="Rectangle 3">
            <a:extLst>
              <a:ext uri="{FF2B5EF4-FFF2-40B4-BE49-F238E27FC236}">
                <a16:creationId xmlns:a16="http://schemas.microsoft.com/office/drawing/2014/main" id="{348C9073-8445-4D9F-9228-4732EEB77C54}"/>
              </a:ext>
            </a:extLst>
          </p:cNvPr>
          <p:cNvSpPr>
            <a:spLocks noGrp="1" noChangeArrowheads="1"/>
          </p:cNvSpPr>
          <p:nvPr>
            <p:ph idx="4294967295"/>
          </p:nvPr>
        </p:nvSpPr>
        <p:spPr>
          <a:xfrm>
            <a:off x="466725" y="1268760"/>
            <a:ext cx="7772400" cy="4114800"/>
          </a:xfrm>
        </p:spPr>
        <p:txBody>
          <a:bodyPr>
            <a:normAutofit/>
          </a:bodyPr>
          <a:lstStyle/>
          <a:p>
            <a:pPr>
              <a:lnSpc>
                <a:spcPct val="150000"/>
              </a:lnSpc>
            </a:pPr>
            <a:r>
              <a:rPr lang="zh-CN" altLang="en-US" sz="2800" dirty="0"/>
              <a:t>对于这个构造的实例，</a:t>
            </a:r>
            <a:r>
              <a:rPr lang="en-US" altLang="zh-CN" sz="2800" dirty="0"/>
              <a:t>U</a:t>
            </a:r>
            <a:r>
              <a:rPr lang="zh-CN" altLang="en-US" sz="2800" dirty="0"/>
              <a:t>能被至多</a:t>
            </a:r>
            <a:r>
              <a:rPr lang="en-US" altLang="zh-CN" sz="2800" dirty="0"/>
              <a:t>k</a:t>
            </a:r>
            <a:r>
              <a:rPr lang="zh-CN" altLang="en-US" sz="2800" dirty="0"/>
              <a:t>个子集合覆盖，当且仅当</a:t>
            </a:r>
            <a:r>
              <a:rPr lang="en-US" altLang="zh-CN" sz="2800" dirty="0"/>
              <a:t>G</a:t>
            </a:r>
            <a:r>
              <a:rPr lang="zh-CN" altLang="en-US" sz="2800" dirty="0"/>
              <a:t>有大小至多为</a:t>
            </a:r>
            <a:r>
              <a:rPr lang="en-US" altLang="zh-CN" sz="2800" dirty="0"/>
              <a:t>k</a:t>
            </a:r>
            <a:r>
              <a:rPr lang="zh-CN" altLang="en-US" sz="2800" dirty="0"/>
              <a:t>的顶点覆盖。</a:t>
            </a:r>
          </a:p>
          <a:p>
            <a:pPr>
              <a:lnSpc>
                <a:spcPct val="150000"/>
              </a:lnSpc>
            </a:pPr>
            <a:r>
              <a:rPr lang="zh-CN" altLang="en-US" sz="2800" dirty="0"/>
              <a:t>如果                   是</a:t>
            </a:r>
            <a:r>
              <a:rPr lang="en-US" altLang="zh-CN" sz="2800" i="1" dirty="0"/>
              <a:t>l&lt;=k</a:t>
            </a:r>
            <a:r>
              <a:rPr lang="zh-CN" altLang="en-US" sz="2800" dirty="0"/>
              <a:t>个覆盖</a:t>
            </a:r>
            <a:r>
              <a:rPr lang="en-US" altLang="zh-CN" sz="2800" dirty="0"/>
              <a:t>U</a:t>
            </a:r>
            <a:r>
              <a:rPr lang="zh-CN" altLang="en-US" sz="2800" dirty="0"/>
              <a:t>的集合，那么</a:t>
            </a:r>
            <a:r>
              <a:rPr lang="en-US" altLang="zh-CN" sz="2800" dirty="0"/>
              <a:t>G</a:t>
            </a:r>
            <a:r>
              <a:rPr lang="zh-CN" altLang="en-US" sz="2800" dirty="0"/>
              <a:t>中的每一条边都关联到顶点</a:t>
            </a:r>
          </a:p>
          <a:p>
            <a:pPr>
              <a:lnSpc>
                <a:spcPct val="150000"/>
              </a:lnSpc>
              <a:buFont typeface="Wingdings" panose="05000000000000000000" pitchFamily="2" charset="2"/>
              <a:buNone/>
            </a:pPr>
            <a:r>
              <a:rPr lang="en-US" altLang="zh-CN" sz="2800" dirty="0"/>
              <a:t>   </a:t>
            </a:r>
            <a:r>
              <a:rPr lang="zh-CN" altLang="en-US" sz="2800" dirty="0"/>
              <a:t>中的一个，                     是</a:t>
            </a:r>
            <a:r>
              <a:rPr lang="en-US" altLang="zh-CN" sz="2800" dirty="0"/>
              <a:t>G</a:t>
            </a:r>
            <a:r>
              <a:rPr lang="zh-CN" altLang="en-US" sz="2800" dirty="0"/>
              <a:t>中大小为</a:t>
            </a:r>
            <a:r>
              <a:rPr lang="en-US" altLang="zh-CN" sz="2800" i="1" dirty="0"/>
              <a:t>l</a:t>
            </a:r>
            <a:r>
              <a:rPr lang="zh-CN" altLang="en-US" sz="2800" dirty="0"/>
              <a:t>的顶点覆盖。反过来亦然。</a:t>
            </a:r>
            <a:endParaRPr lang="en-US" altLang="zh-CN" sz="2800" dirty="0"/>
          </a:p>
        </p:txBody>
      </p:sp>
      <p:graphicFrame>
        <p:nvGraphicFramePr>
          <p:cNvPr id="97284" name="Object 4">
            <a:extLst>
              <a:ext uri="{FF2B5EF4-FFF2-40B4-BE49-F238E27FC236}">
                <a16:creationId xmlns:a16="http://schemas.microsoft.com/office/drawing/2014/main" id="{830F62BF-2059-4201-BA93-2EF167D42F87}"/>
              </a:ext>
            </a:extLst>
          </p:cNvPr>
          <p:cNvGraphicFramePr>
            <a:graphicFrameLocks noChangeAspect="1"/>
          </p:cNvGraphicFramePr>
          <p:nvPr>
            <p:extLst>
              <p:ext uri="{D42A27DB-BD31-4B8C-83A1-F6EECF244321}">
                <p14:modId xmlns:p14="http://schemas.microsoft.com/office/powerpoint/2010/main" val="3963729031"/>
              </p:ext>
            </p:extLst>
          </p:nvPr>
        </p:nvGraphicFramePr>
        <p:xfrm>
          <a:off x="1547664" y="2786212"/>
          <a:ext cx="1416050" cy="573087"/>
        </p:xfrm>
        <a:graphic>
          <a:graphicData uri="http://schemas.openxmlformats.org/presentationml/2006/ole">
            <mc:AlternateContent xmlns:mc="http://schemas.openxmlformats.org/markup-compatibility/2006">
              <mc:Choice xmlns:v="urn:schemas-microsoft-com:vml" Requires="v">
                <p:oleObj name="Equation" r:id="rId3" imgW="596880" imgH="241200" progId="Equation.3">
                  <p:embed/>
                </p:oleObj>
              </mc:Choice>
              <mc:Fallback>
                <p:oleObj name="Equation" r:id="rId3" imgW="596880" imgH="241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2786212"/>
                        <a:ext cx="1416050"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5" name="Text Box 5">
            <a:extLst>
              <a:ext uri="{FF2B5EF4-FFF2-40B4-BE49-F238E27FC236}">
                <a16:creationId xmlns:a16="http://schemas.microsoft.com/office/drawing/2014/main" id="{E0BFBA15-0325-4989-8B55-B301E6EDA513}"/>
              </a:ext>
            </a:extLst>
          </p:cNvPr>
          <p:cNvSpPr txBox="1">
            <a:spLocks noChangeArrowheads="1"/>
          </p:cNvSpPr>
          <p:nvPr/>
        </p:nvSpPr>
        <p:spPr bwMode="auto">
          <a:xfrm>
            <a:off x="2574925" y="3614738"/>
            <a:ext cx="27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lang="zh-CN" altLang="en-US" sz="2400"/>
              <a:t> </a:t>
            </a:r>
          </a:p>
        </p:txBody>
      </p:sp>
      <p:graphicFrame>
        <p:nvGraphicFramePr>
          <p:cNvPr id="97286" name="Object 6">
            <a:extLst>
              <a:ext uri="{FF2B5EF4-FFF2-40B4-BE49-F238E27FC236}">
                <a16:creationId xmlns:a16="http://schemas.microsoft.com/office/drawing/2014/main" id="{FE2B5A40-5A7C-43ED-A305-F92A2625F58F}"/>
              </a:ext>
            </a:extLst>
          </p:cNvPr>
          <p:cNvGraphicFramePr>
            <a:graphicFrameLocks noChangeAspect="1"/>
          </p:cNvGraphicFramePr>
          <p:nvPr>
            <p:extLst>
              <p:ext uri="{D42A27DB-BD31-4B8C-83A1-F6EECF244321}">
                <p14:modId xmlns:p14="http://schemas.microsoft.com/office/powerpoint/2010/main" val="2584714416"/>
              </p:ext>
            </p:extLst>
          </p:nvPr>
        </p:nvGraphicFramePr>
        <p:xfrm>
          <a:off x="4860032" y="3450000"/>
          <a:ext cx="1566863" cy="479425"/>
        </p:xfrm>
        <a:graphic>
          <a:graphicData uri="http://schemas.openxmlformats.org/presentationml/2006/ole">
            <mc:AlternateContent xmlns:mc="http://schemas.openxmlformats.org/markup-compatibility/2006">
              <mc:Choice xmlns:v="urn:schemas-microsoft-com:vml" Requires="v">
                <p:oleObj name="Equation" r:id="rId5" imgW="457200" imgH="228600" progId="Equation.3">
                  <p:embed/>
                </p:oleObj>
              </mc:Choice>
              <mc:Fallback>
                <p:oleObj name="Equation" r:id="rId5" imgW="4572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3450000"/>
                        <a:ext cx="1566863"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7" name="Object 7">
            <a:extLst>
              <a:ext uri="{FF2B5EF4-FFF2-40B4-BE49-F238E27FC236}">
                <a16:creationId xmlns:a16="http://schemas.microsoft.com/office/drawing/2014/main" id="{14CA9271-0537-4687-A095-1EC7A72DC8F1}"/>
              </a:ext>
            </a:extLst>
          </p:cNvPr>
          <p:cNvGraphicFramePr>
            <a:graphicFrameLocks noChangeAspect="1"/>
          </p:cNvGraphicFramePr>
          <p:nvPr>
            <p:extLst>
              <p:ext uri="{D42A27DB-BD31-4B8C-83A1-F6EECF244321}">
                <p14:modId xmlns:p14="http://schemas.microsoft.com/office/powerpoint/2010/main" val="3332059472"/>
              </p:ext>
            </p:extLst>
          </p:nvPr>
        </p:nvGraphicFramePr>
        <p:xfrm>
          <a:off x="2453275" y="4265787"/>
          <a:ext cx="1887538" cy="461962"/>
        </p:xfrm>
        <a:graphic>
          <a:graphicData uri="http://schemas.openxmlformats.org/presentationml/2006/ole">
            <mc:AlternateContent xmlns:mc="http://schemas.openxmlformats.org/markup-compatibility/2006">
              <mc:Choice xmlns:v="urn:schemas-microsoft-com:vml" Requires="v">
                <p:oleObj name="Equation" r:id="rId7" imgW="571320" imgH="228600" progId="Equation.DSMT4">
                  <p:embed/>
                </p:oleObj>
              </mc:Choice>
              <mc:Fallback>
                <p:oleObj name="Equation" r:id="rId7" imgW="571320" imgH="228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3275" y="4265787"/>
                        <a:ext cx="1887538"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2853465-4727-4073-9280-BB75CE726B38}"/>
              </a:ext>
            </a:extLst>
          </p:cNvPr>
          <p:cNvSpPr>
            <a:spLocks noGrp="1" noChangeArrowheads="1"/>
          </p:cNvSpPr>
          <p:nvPr>
            <p:ph type="title" idx="4294967295"/>
          </p:nvPr>
        </p:nvSpPr>
        <p:spPr>
          <a:xfrm>
            <a:off x="395536" y="136525"/>
            <a:ext cx="7886700" cy="1325563"/>
          </a:xfrm>
        </p:spPr>
        <p:txBody>
          <a:bodyPr/>
          <a:lstStyle/>
          <a:p>
            <a:r>
              <a:rPr lang="zh-CN" altLang="en-US" dirty="0"/>
              <a:t>多项式时间归约</a:t>
            </a:r>
            <a:endParaRPr lang="en-US" altLang="zh-CN" dirty="0"/>
          </a:p>
        </p:txBody>
      </p:sp>
      <p:sp>
        <p:nvSpPr>
          <p:cNvPr id="6" name="灯片编号占位符 5">
            <a:extLst>
              <a:ext uri="{FF2B5EF4-FFF2-40B4-BE49-F238E27FC236}">
                <a16:creationId xmlns:a16="http://schemas.microsoft.com/office/drawing/2014/main" id="{56547F8D-9DE6-453E-BB2A-BB200942EC3B}"/>
              </a:ext>
            </a:extLst>
          </p:cNvPr>
          <p:cNvSpPr>
            <a:spLocks noGrp="1"/>
          </p:cNvSpPr>
          <p:nvPr>
            <p:ph type="sldNum" sz="quarter" idx="4294967295"/>
          </p:nvPr>
        </p:nvSpPr>
        <p:spPr>
          <a:xfrm>
            <a:off x="7086600" y="6356350"/>
            <a:ext cx="2057400" cy="365125"/>
          </a:xfrm>
        </p:spPr>
        <p:txBody>
          <a:bodyPr/>
          <a:lstStyle/>
          <a:p>
            <a:fld id="{E91C56B9-8F26-4272-9C10-FDCB0D432637}" type="slidenum">
              <a:rPr lang="zh-CN" altLang="en-US"/>
              <a:pPr/>
              <a:t>23</a:t>
            </a:fld>
            <a:endParaRPr lang="en-US" altLang="zh-CN"/>
          </a:p>
        </p:txBody>
      </p:sp>
      <p:sp>
        <p:nvSpPr>
          <p:cNvPr id="27651" name="Rectangle 3">
            <a:extLst>
              <a:ext uri="{FF2B5EF4-FFF2-40B4-BE49-F238E27FC236}">
                <a16:creationId xmlns:a16="http://schemas.microsoft.com/office/drawing/2014/main" id="{06C1285A-BB24-4438-B02C-948AA26959C6}"/>
              </a:ext>
            </a:extLst>
          </p:cNvPr>
          <p:cNvSpPr>
            <a:spLocks noGrp="1" noChangeArrowheads="1"/>
          </p:cNvSpPr>
          <p:nvPr>
            <p:ph idx="4294967295"/>
          </p:nvPr>
        </p:nvSpPr>
        <p:spPr>
          <a:xfrm>
            <a:off x="375546" y="1462088"/>
            <a:ext cx="7886700" cy="5063256"/>
          </a:xfrm>
        </p:spPr>
        <p:txBody>
          <a:bodyPr>
            <a:normAutofit fontScale="92500"/>
          </a:bodyPr>
          <a:lstStyle/>
          <a:p>
            <a:pPr>
              <a:lnSpc>
                <a:spcPct val="150000"/>
              </a:lnSpc>
            </a:pPr>
            <a:r>
              <a:rPr lang="zh-CN" altLang="en-US" sz="2800" dirty="0"/>
              <a:t>注意到</a:t>
            </a:r>
            <a:r>
              <a:rPr lang="zh-CN" altLang="en-US" sz="2800" b="1" dirty="0"/>
              <a:t>集合覆盖是顶点覆盖的自然推广</a:t>
            </a:r>
            <a:endParaRPr lang="en-US" altLang="zh-CN" sz="2800" b="1" dirty="0"/>
          </a:p>
          <a:p>
            <a:pPr>
              <a:lnSpc>
                <a:spcPct val="150000"/>
              </a:lnSpc>
            </a:pPr>
            <a:r>
              <a:rPr lang="zh-CN" altLang="en-US" sz="2800" dirty="0"/>
              <a:t>类似的，</a:t>
            </a:r>
            <a:r>
              <a:rPr lang="zh-CN" altLang="en-US" sz="2800" b="1" dirty="0"/>
              <a:t>独立集的自然推广是关于集合的包装问题</a:t>
            </a:r>
          </a:p>
          <a:p>
            <a:pPr>
              <a:lnSpc>
                <a:spcPct val="150000"/>
              </a:lnSpc>
            </a:pPr>
            <a:r>
              <a:rPr lang="zh-CN" altLang="en-US" sz="2800" b="1" dirty="0"/>
              <a:t>集合包装</a:t>
            </a:r>
            <a:r>
              <a:rPr lang="zh-CN" altLang="en-US" sz="2800" dirty="0"/>
              <a:t>问题：</a:t>
            </a:r>
            <a:r>
              <a:rPr lang="zh-CN" altLang="en-US" sz="2800" b="1" dirty="0"/>
              <a:t>希望把大量集合包装在一起，限制他们中的任意两个都不重叠</a:t>
            </a:r>
            <a:r>
              <a:rPr lang="zh-CN" altLang="en-US" sz="2800" dirty="0"/>
              <a:t>。</a:t>
            </a:r>
            <a:endParaRPr lang="en-US" altLang="zh-CN" sz="2800" dirty="0"/>
          </a:p>
          <a:p>
            <a:pPr>
              <a:lnSpc>
                <a:spcPct val="150000"/>
              </a:lnSpc>
            </a:pPr>
            <a:r>
              <a:rPr lang="zh-CN" altLang="en-US" sz="2800" dirty="0"/>
              <a:t>问题描述：</a:t>
            </a:r>
            <a:endParaRPr lang="en-US" altLang="zh-CN" sz="2800" dirty="0"/>
          </a:p>
          <a:p>
            <a:pPr>
              <a:lnSpc>
                <a:spcPct val="150000"/>
              </a:lnSpc>
            </a:pPr>
            <a:r>
              <a:rPr lang="zh-CN" altLang="en-US" sz="2800" dirty="0"/>
              <a:t>给定</a:t>
            </a:r>
            <a:r>
              <a:rPr lang="en-US" altLang="zh-CN" sz="2800" dirty="0"/>
              <a:t>n</a:t>
            </a:r>
            <a:r>
              <a:rPr lang="zh-CN" altLang="en-US" sz="2800" dirty="0"/>
              <a:t>个元素的集合</a:t>
            </a:r>
            <a:r>
              <a:rPr lang="en-US" altLang="zh-CN" sz="2800" dirty="0"/>
              <a:t>U, U</a:t>
            </a:r>
            <a:r>
              <a:rPr lang="zh-CN" altLang="en-US" sz="2800" dirty="0"/>
              <a:t>的子集</a:t>
            </a:r>
          </a:p>
          <a:p>
            <a:pPr>
              <a:lnSpc>
                <a:spcPct val="150000"/>
              </a:lnSpc>
              <a:buFont typeface="Wingdings" panose="05000000000000000000" pitchFamily="2" charset="2"/>
              <a:buNone/>
            </a:pPr>
            <a:r>
              <a:rPr lang="en-US" altLang="zh-CN" sz="2800" dirty="0"/>
              <a:t>  </a:t>
            </a:r>
            <a:r>
              <a:rPr lang="zh-CN" altLang="en-US" sz="2800" dirty="0"/>
              <a:t>以及数</a:t>
            </a:r>
            <a:r>
              <a:rPr lang="en-US" altLang="zh-CN" sz="2800" dirty="0"/>
              <a:t>k, </a:t>
            </a:r>
            <a:r>
              <a:rPr lang="zh-CN" altLang="en-US" sz="2800" dirty="0"/>
              <a:t>问在这些子集中至少有</a:t>
            </a:r>
            <a:r>
              <a:rPr lang="en-US" altLang="zh-CN" sz="2800" dirty="0"/>
              <a:t>k</a:t>
            </a:r>
            <a:r>
              <a:rPr lang="zh-CN" altLang="en-US" sz="2800" dirty="0"/>
              <a:t>个两两不相交吗？</a:t>
            </a:r>
          </a:p>
        </p:txBody>
      </p:sp>
      <p:graphicFrame>
        <p:nvGraphicFramePr>
          <p:cNvPr id="28676" name="Object 4">
            <a:extLst>
              <a:ext uri="{FF2B5EF4-FFF2-40B4-BE49-F238E27FC236}">
                <a16:creationId xmlns:a16="http://schemas.microsoft.com/office/drawing/2014/main" id="{4F0135F2-4EA1-4E0C-BB6E-04A41D20BC3A}"/>
              </a:ext>
            </a:extLst>
          </p:cNvPr>
          <p:cNvGraphicFramePr>
            <a:graphicFrameLocks noChangeAspect="1"/>
          </p:cNvGraphicFramePr>
          <p:nvPr>
            <p:extLst>
              <p:ext uri="{D42A27DB-BD31-4B8C-83A1-F6EECF244321}">
                <p14:modId xmlns:p14="http://schemas.microsoft.com/office/powerpoint/2010/main" val="105080794"/>
              </p:ext>
            </p:extLst>
          </p:nvPr>
        </p:nvGraphicFramePr>
        <p:xfrm>
          <a:off x="5292080" y="4941168"/>
          <a:ext cx="1218456" cy="522920"/>
        </p:xfrm>
        <a:graphic>
          <a:graphicData uri="http://schemas.openxmlformats.org/presentationml/2006/ole">
            <mc:AlternateContent xmlns:mc="http://schemas.openxmlformats.org/markup-compatibility/2006">
              <mc:Choice xmlns:v="urn:schemas-microsoft-com:vml" Requires="v">
                <p:oleObj name="Equation" r:id="rId3" imgW="533160" imgH="228600" progId="Equation.3">
                  <p:embed/>
                </p:oleObj>
              </mc:Choice>
              <mc:Fallback>
                <p:oleObj name="Equation" r:id="rId3" imgW="533160" imgH="228600" progId="Equation.3">
                  <p:embed/>
                  <p:pic>
                    <p:nvPicPr>
                      <p:cNvPr id="28676" name="Object 4">
                        <a:extLst>
                          <a:ext uri="{FF2B5EF4-FFF2-40B4-BE49-F238E27FC236}">
                            <a16:creationId xmlns:a16="http://schemas.microsoft.com/office/drawing/2014/main" id="{4F0135F2-4EA1-4E0C-BB6E-04A41D20BC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4941168"/>
                        <a:ext cx="1218456" cy="522920"/>
                      </a:xfrm>
                      <a:prstGeom prst="rect">
                        <a:avLst/>
                      </a:prstGeom>
                      <a:noFill/>
                      <a:ln>
                        <a:noFill/>
                      </a:ln>
                      <a:effec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98AF4E4-F680-4917-B082-6048C61B06D8}"/>
              </a:ext>
            </a:extLst>
          </p:cNvPr>
          <p:cNvSpPr>
            <a:spLocks noGrp="1" noChangeArrowheads="1"/>
          </p:cNvSpPr>
          <p:nvPr>
            <p:ph type="title" idx="4294967295"/>
          </p:nvPr>
        </p:nvSpPr>
        <p:spPr>
          <a:xfrm>
            <a:off x="611560" y="136525"/>
            <a:ext cx="7793037" cy="1143000"/>
          </a:xfrm>
        </p:spPr>
        <p:txBody>
          <a:bodyPr/>
          <a:lstStyle/>
          <a:p>
            <a:r>
              <a:rPr lang="zh-CN" altLang="en-US" dirty="0"/>
              <a:t>多项式时间归约</a:t>
            </a:r>
            <a:endParaRPr lang="en-US" altLang="zh-CN" dirty="0"/>
          </a:p>
        </p:txBody>
      </p:sp>
      <p:sp>
        <p:nvSpPr>
          <p:cNvPr id="7" name="灯片编号占位符 5">
            <a:extLst>
              <a:ext uri="{FF2B5EF4-FFF2-40B4-BE49-F238E27FC236}">
                <a16:creationId xmlns:a16="http://schemas.microsoft.com/office/drawing/2014/main" id="{6E5D2DEE-61D7-446E-973D-9AA944258A7F}"/>
              </a:ext>
            </a:extLst>
          </p:cNvPr>
          <p:cNvSpPr>
            <a:spLocks noGrp="1"/>
          </p:cNvSpPr>
          <p:nvPr>
            <p:ph type="sldNum" sz="quarter" idx="4294967295"/>
          </p:nvPr>
        </p:nvSpPr>
        <p:spPr>
          <a:xfrm>
            <a:off x="7086600" y="6356350"/>
            <a:ext cx="2057400" cy="365125"/>
          </a:xfrm>
        </p:spPr>
        <p:txBody>
          <a:bodyPr/>
          <a:lstStyle/>
          <a:p>
            <a:fld id="{46ED799D-7DDA-47F3-8DEA-173A3EAC5815}" type="slidenum">
              <a:rPr lang="zh-CN" altLang="en-US"/>
              <a:pPr/>
              <a:t>24</a:t>
            </a:fld>
            <a:endParaRPr lang="en-US" altLang="zh-CN"/>
          </a:p>
        </p:txBody>
      </p:sp>
      <p:sp>
        <p:nvSpPr>
          <p:cNvPr id="28675" name="Rectangle 3">
            <a:extLst>
              <a:ext uri="{FF2B5EF4-FFF2-40B4-BE49-F238E27FC236}">
                <a16:creationId xmlns:a16="http://schemas.microsoft.com/office/drawing/2014/main" id="{B9954A4B-E841-4411-B5B5-1440BE9032E0}"/>
              </a:ext>
            </a:extLst>
          </p:cNvPr>
          <p:cNvSpPr>
            <a:spLocks noGrp="1" noChangeArrowheads="1"/>
          </p:cNvSpPr>
          <p:nvPr>
            <p:ph idx="4294967295"/>
          </p:nvPr>
        </p:nvSpPr>
        <p:spPr>
          <a:xfrm>
            <a:off x="515818" y="1556792"/>
            <a:ext cx="7886700" cy="4896544"/>
          </a:xfrm>
        </p:spPr>
        <p:txBody>
          <a:bodyPr>
            <a:normAutofit/>
          </a:bodyPr>
          <a:lstStyle/>
          <a:p>
            <a:pPr>
              <a:lnSpc>
                <a:spcPct val="150000"/>
              </a:lnSpc>
            </a:pPr>
            <a:r>
              <a:rPr lang="zh-CN" altLang="en-US" sz="2800" dirty="0"/>
              <a:t>例子：设想有</a:t>
            </a:r>
            <a:r>
              <a:rPr lang="en-US" altLang="zh-CN" sz="2800" dirty="0"/>
              <a:t>n</a:t>
            </a:r>
            <a:r>
              <a:rPr lang="zh-CN" altLang="en-US" sz="2800" dirty="0"/>
              <a:t>个不能共享的资源集合</a:t>
            </a:r>
            <a:r>
              <a:rPr lang="en-US" altLang="zh-CN" sz="2800" dirty="0"/>
              <a:t>U, m</a:t>
            </a:r>
            <a:r>
              <a:rPr lang="zh-CN" altLang="en-US" sz="2800" dirty="0"/>
              <a:t>个软件进程，第</a:t>
            </a:r>
            <a:r>
              <a:rPr lang="en-US" altLang="zh-CN" sz="2800" dirty="0" err="1"/>
              <a:t>i</a:t>
            </a:r>
            <a:r>
              <a:rPr lang="zh-CN" altLang="en-US" sz="2800" dirty="0"/>
              <a:t>个进程运行需要的资源集为</a:t>
            </a:r>
            <a:r>
              <a:rPr lang="en-US" altLang="zh-CN" sz="2800" dirty="0"/>
              <a:t>S</a:t>
            </a:r>
            <a:r>
              <a:rPr lang="en-US" altLang="zh-CN" sz="1600" dirty="0"/>
              <a:t>i</a:t>
            </a:r>
            <a:r>
              <a:rPr lang="en-US" altLang="zh-CN" sz="2800" dirty="0"/>
              <a:t>,</a:t>
            </a:r>
            <a:r>
              <a:rPr lang="zh-CN" altLang="en-US" sz="2800" dirty="0"/>
              <a:t>需要从这些进程中寻找一组进程，使得他们能够同时运行，而且所需资源没有重叠</a:t>
            </a:r>
            <a:r>
              <a:rPr lang="zh-CN" altLang="en-US" sz="2800" b="1" dirty="0"/>
              <a:t>冲突</a:t>
            </a:r>
            <a:r>
              <a:rPr lang="zh-CN" altLang="en-US" sz="2800" dirty="0"/>
              <a:t>。</a:t>
            </a:r>
          </a:p>
          <a:p>
            <a:pPr>
              <a:lnSpc>
                <a:spcPct val="150000"/>
              </a:lnSpc>
            </a:pPr>
            <a:r>
              <a:rPr lang="zh-CN" altLang="en-US" sz="2800" dirty="0"/>
              <a:t>定理8.7  独立集</a:t>
            </a:r>
            <a:r>
              <a:rPr lang="en-US" altLang="zh-CN" sz="2800" dirty="0">
                <a:sym typeface="Symbol" panose="05050102010706020507" pitchFamily="18" charset="2"/>
              </a:rPr>
              <a:t> </a:t>
            </a:r>
            <a:r>
              <a:rPr lang="en-US" altLang="zh-CN" sz="2800" baseline="-25000" dirty="0">
                <a:sym typeface="Symbol" panose="05050102010706020507" pitchFamily="18" charset="2"/>
              </a:rPr>
              <a:t>P</a:t>
            </a:r>
            <a:r>
              <a:rPr lang="zh-CN" altLang="en-US" sz="2800" dirty="0"/>
              <a:t>集合包装</a:t>
            </a:r>
            <a:endParaRPr lang="en-US" altLang="zh-CN" sz="2800" dirty="0"/>
          </a:p>
          <a:p>
            <a:pPr>
              <a:lnSpc>
                <a:spcPct val="150000"/>
              </a:lnSpc>
            </a:pPr>
            <a:endParaRPr lang="zh-CN" alt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EF030EF-A410-4E1E-B64F-91AF760651E7}"/>
              </a:ext>
            </a:extLst>
          </p:cNvPr>
          <p:cNvSpPr>
            <a:spLocks noGrp="1" noChangeArrowheads="1"/>
          </p:cNvSpPr>
          <p:nvPr>
            <p:ph type="title" idx="4294967295"/>
          </p:nvPr>
        </p:nvSpPr>
        <p:spPr>
          <a:xfrm>
            <a:off x="539552" y="202176"/>
            <a:ext cx="7793037" cy="1143000"/>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endParaRPr lang="en-US" altLang="zh-CN" dirty="0"/>
          </a:p>
        </p:txBody>
      </p:sp>
      <p:sp>
        <p:nvSpPr>
          <p:cNvPr id="10" name="灯片编号占位符 5">
            <a:extLst>
              <a:ext uri="{FF2B5EF4-FFF2-40B4-BE49-F238E27FC236}">
                <a16:creationId xmlns:a16="http://schemas.microsoft.com/office/drawing/2014/main" id="{E439DE19-6C24-4C54-B2D2-9A10DD0AE251}"/>
              </a:ext>
            </a:extLst>
          </p:cNvPr>
          <p:cNvSpPr>
            <a:spLocks noGrp="1"/>
          </p:cNvSpPr>
          <p:nvPr>
            <p:ph type="sldNum" sz="quarter" idx="4294967295"/>
          </p:nvPr>
        </p:nvSpPr>
        <p:spPr>
          <a:xfrm>
            <a:off x="7086600" y="6356350"/>
            <a:ext cx="2057400" cy="365125"/>
          </a:xfrm>
        </p:spPr>
        <p:txBody>
          <a:bodyPr/>
          <a:lstStyle/>
          <a:p>
            <a:fld id="{63B27B5E-C23A-4679-BA5B-6A2C55531CA4}" type="slidenum">
              <a:rPr lang="zh-CN" altLang="en-US"/>
              <a:pPr/>
              <a:t>25</a:t>
            </a:fld>
            <a:endParaRPr lang="en-US" altLang="zh-CN"/>
          </a:p>
        </p:txBody>
      </p:sp>
      <p:sp>
        <p:nvSpPr>
          <p:cNvPr id="29699" name="Rectangle 3">
            <a:extLst>
              <a:ext uri="{FF2B5EF4-FFF2-40B4-BE49-F238E27FC236}">
                <a16:creationId xmlns:a16="http://schemas.microsoft.com/office/drawing/2014/main" id="{1175026A-F42D-4A7F-8C1E-9F890FFF697B}"/>
              </a:ext>
            </a:extLst>
          </p:cNvPr>
          <p:cNvSpPr>
            <a:spLocks noGrp="1" noChangeArrowheads="1"/>
          </p:cNvSpPr>
          <p:nvPr>
            <p:ph idx="4294967295"/>
          </p:nvPr>
        </p:nvSpPr>
        <p:spPr>
          <a:xfrm>
            <a:off x="469803" y="1507344"/>
            <a:ext cx="7886700" cy="4801975"/>
          </a:xfrm>
        </p:spPr>
        <p:txBody>
          <a:bodyPr>
            <a:normAutofit/>
          </a:bodyPr>
          <a:lstStyle/>
          <a:p>
            <a:pPr>
              <a:lnSpc>
                <a:spcPct val="150000"/>
              </a:lnSpc>
            </a:pPr>
            <a:r>
              <a:rPr lang="zh-CN" altLang="en-US" sz="2400" dirty="0"/>
              <a:t>给定</a:t>
            </a:r>
            <a:r>
              <a:rPr lang="en-US" altLang="zh-CN" sz="2400" dirty="0"/>
              <a:t>n</a:t>
            </a:r>
            <a:r>
              <a:rPr lang="zh-CN" altLang="en-US" sz="2400" dirty="0"/>
              <a:t>个布尔变量                      的集合</a:t>
            </a:r>
            <a:r>
              <a:rPr lang="en-US" altLang="zh-CN" sz="2400" dirty="0"/>
              <a:t>X,</a:t>
            </a:r>
            <a:r>
              <a:rPr lang="zh-CN" altLang="en-US" sz="2400" dirty="0"/>
              <a:t>每个布尔变量可以取值0,1</a:t>
            </a:r>
          </a:p>
          <a:p>
            <a:pPr>
              <a:lnSpc>
                <a:spcPct val="150000"/>
              </a:lnSpc>
            </a:pPr>
            <a:r>
              <a:rPr lang="zh-CN" altLang="en-US" sz="2400" dirty="0"/>
              <a:t>项(</a:t>
            </a:r>
            <a:r>
              <a:rPr lang="en-US" altLang="zh-CN" sz="2400" dirty="0"/>
              <a:t>Literal):</a:t>
            </a:r>
            <a:r>
              <a:rPr lang="zh-CN" altLang="en-US" sz="2400" dirty="0"/>
              <a:t>一个布尔变量或者其逆</a:t>
            </a:r>
            <a:endParaRPr lang="en-US" altLang="zh-CN" sz="2400" dirty="0"/>
          </a:p>
          <a:p>
            <a:pPr>
              <a:lnSpc>
                <a:spcPct val="150000"/>
              </a:lnSpc>
            </a:pPr>
            <a:r>
              <a:rPr lang="zh-CN" altLang="en-US" sz="2400" dirty="0"/>
              <a:t>子句(</a:t>
            </a:r>
            <a:r>
              <a:rPr lang="en-US" altLang="zh-CN" sz="2400" dirty="0"/>
              <a:t>Clause): </a:t>
            </a:r>
            <a:r>
              <a:rPr lang="zh-CN" altLang="en-US" sz="2400" dirty="0"/>
              <a:t>项的析取</a:t>
            </a:r>
          </a:p>
          <a:p>
            <a:pPr>
              <a:lnSpc>
                <a:spcPct val="150000"/>
              </a:lnSpc>
            </a:pPr>
            <a:r>
              <a:rPr lang="zh-CN" altLang="en-US" sz="2400" dirty="0"/>
              <a:t>合取范式(</a:t>
            </a:r>
            <a:r>
              <a:rPr lang="en-US" altLang="zh-CN" sz="2400" dirty="0"/>
              <a:t>Conjunctive normal form):  </a:t>
            </a:r>
            <a:r>
              <a:rPr lang="zh-CN" altLang="en-US" sz="2400" dirty="0"/>
              <a:t>一个命题公式</a:t>
            </a:r>
            <a:r>
              <a:rPr lang="en-US" altLang="zh-CN" sz="2400" dirty="0">
                <a:sym typeface="Symbol" panose="05050102010706020507" pitchFamily="18" charset="2"/>
              </a:rPr>
              <a:t></a:t>
            </a:r>
            <a:r>
              <a:rPr lang="zh-CN" altLang="en-US" sz="2400" dirty="0">
                <a:sym typeface="Symbol" panose="05050102010706020507" pitchFamily="18" charset="2"/>
              </a:rPr>
              <a:t>，</a:t>
            </a:r>
            <a:r>
              <a:rPr lang="en-US" altLang="zh-CN" sz="2400" dirty="0">
                <a:sym typeface="Symbol" panose="05050102010706020507" pitchFamily="18" charset="2"/>
              </a:rPr>
              <a:t> </a:t>
            </a:r>
            <a:r>
              <a:rPr lang="zh-CN" altLang="en-US" sz="2400" dirty="0">
                <a:sym typeface="Symbol" panose="05050102010706020507" pitchFamily="18" charset="2"/>
              </a:rPr>
              <a:t>由子句的合取范式构成。</a:t>
            </a:r>
            <a:endParaRPr lang="en-US" altLang="zh-CN" sz="2400" dirty="0"/>
          </a:p>
        </p:txBody>
      </p:sp>
      <p:graphicFrame>
        <p:nvGraphicFramePr>
          <p:cNvPr id="29700" name="Object 4">
            <a:extLst>
              <a:ext uri="{FF2B5EF4-FFF2-40B4-BE49-F238E27FC236}">
                <a16:creationId xmlns:a16="http://schemas.microsoft.com/office/drawing/2014/main" id="{AD7450D8-40D0-4590-BC98-C9687654A91F}"/>
              </a:ext>
            </a:extLst>
          </p:cNvPr>
          <p:cNvGraphicFramePr>
            <a:graphicFrameLocks noChangeAspect="1"/>
          </p:cNvGraphicFramePr>
          <p:nvPr>
            <p:extLst>
              <p:ext uri="{D42A27DB-BD31-4B8C-83A1-F6EECF244321}">
                <p14:modId xmlns:p14="http://schemas.microsoft.com/office/powerpoint/2010/main" val="2133976977"/>
              </p:ext>
            </p:extLst>
          </p:nvPr>
        </p:nvGraphicFramePr>
        <p:xfrm>
          <a:off x="3193953" y="1560311"/>
          <a:ext cx="1219200" cy="509588"/>
        </p:xfrm>
        <a:graphic>
          <a:graphicData uri="http://schemas.openxmlformats.org/presentationml/2006/ole">
            <mc:AlternateContent xmlns:mc="http://schemas.openxmlformats.org/markup-compatibility/2006">
              <mc:Choice xmlns:v="urn:schemas-microsoft-com:vml" Requires="v">
                <p:oleObj name="Equation" r:id="rId2" imgW="545760" imgH="228600" progId="Equation.3">
                  <p:embed/>
                </p:oleObj>
              </mc:Choice>
              <mc:Fallback>
                <p:oleObj name="Equation" r:id="rId2" imgW="545760" imgH="228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3953" y="1560311"/>
                        <a:ext cx="1219200" cy="50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1" name="Object 5">
            <a:extLst>
              <a:ext uri="{FF2B5EF4-FFF2-40B4-BE49-F238E27FC236}">
                <a16:creationId xmlns:a16="http://schemas.microsoft.com/office/drawing/2014/main" id="{E519E09C-430C-463A-8EC7-291FF735870D}"/>
              </a:ext>
            </a:extLst>
          </p:cNvPr>
          <p:cNvGraphicFramePr>
            <a:graphicFrameLocks noChangeAspect="1"/>
          </p:cNvGraphicFramePr>
          <p:nvPr>
            <p:extLst>
              <p:ext uri="{D42A27DB-BD31-4B8C-83A1-F6EECF244321}">
                <p14:modId xmlns:p14="http://schemas.microsoft.com/office/powerpoint/2010/main" val="1322245785"/>
              </p:ext>
            </p:extLst>
          </p:nvPr>
        </p:nvGraphicFramePr>
        <p:xfrm>
          <a:off x="3995936" y="3458182"/>
          <a:ext cx="2743200" cy="481013"/>
        </p:xfrm>
        <a:graphic>
          <a:graphicData uri="http://schemas.openxmlformats.org/presentationml/2006/ole">
            <mc:AlternateContent xmlns:mc="http://schemas.openxmlformats.org/markup-compatibility/2006">
              <mc:Choice xmlns:v="urn:schemas-microsoft-com:vml" Requires="v">
                <p:oleObj name="Equation" r:id="rId4" imgW="1816100" imgH="317500" progId="Equation.3">
                  <p:embed/>
                </p:oleObj>
              </mc:Choice>
              <mc:Fallback>
                <p:oleObj name="Equation" r:id="rId4" imgW="1816100" imgH="317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936" y="3458182"/>
                        <a:ext cx="2743200" cy="48101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2" name="Object 6">
            <a:extLst>
              <a:ext uri="{FF2B5EF4-FFF2-40B4-BE49-F238E27FC236}">
                <a16:creationId xmlns:a16="http://schemas.microsoft.com/office/drawing/2014/main" id="{9AC71170-86E1-4240-9196-922216D1A2CC}"/>
              </a:ext>
            </a:extLst>
          </p:cNvPr>
          <p:cNvGraphicFramePr>
            <a:graphicFrameLocks noChangeAspect="1"/>
          </p:cNvGraphicFramePr>
          <p:nvPr>
            <p:extLst>
              <p:ext uri="{D42A27DB-BD31-4B8C-83A1-F6EECF244321}">
                <p14:modId xmlns:p14="http://schemas.microsoft.com/office/powerpoint/2010/main" val="713656444"/>
              </p:ext>
            </p:extLst>
          </p:nvPr>
        </p:nvGraphicFramePr>
        <p:xfrm>
          <a:off x="5349230" y="2746045"/>
          <a:ext cx="1371600" cy="487363"/>
        </p:xfrm>
        <a:graphic>
          <a:graphicData uri="http://schemas.openxmlformats.org/presentationml/2006/ole">
            <mc:AlternateContent xmlns:mc="http://schemas.openxmlformats.org/markup-compatibility/2006">
              <mc:Choice xmlns:v="urn:schemas-microsoft-com:vml" Requires="v">
                <p:oleObj name="Equation" r:id="rId6" imgW="825500" imgH="292100" progId="Equation.3">
                  <p:embed/>
                </p:oleObj>
              </mc:Choice>
              <mc:Fallback>
                <p:oleObj name="Equation" r:id="rId6" imgW="825500" imgH="2921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49230" y="2746045"/>
                        <a:ext cx="1371600" cy="4873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3" name="Object 7">
            <a:extLst>
              <a:ext uri="{FF2B5EF4-FFF2-40B4-BE49-F238E27FC236}">
                <a16:creationId xmlns:a16="http://schemas.microsoft.com/office/drawing/2014/main" id="{3DF76137-E346-4F48-A8F4-2F1059222ADD}"/>
              </a:ext>
            </a:extLst>
          </p:cNvPr>
          <p:cNvGraphicFramePr>
            <a:graphicFrameLocks noChangeAspect="1"/>
          </p:cNvGraphicFramePr>
          <p:nvPr>
            <p:extLst>
              <p:ext uri="{D42A27DB-BD31-4B8C-83A1-F6EECF244321}">
                <p14:modId xmlns:p14="http://schemas.microsoft.com/office/powerpoint/2010/main" val="3157860511"/>
              </p:ext>
            </p:extLst>
          </p:nvPr>
        </p:nvGraphicFramePr>
        <p:xfrm>
          <a:off x="1907704" y="5229200"/>
          <a:ext cx="4572000" cy="541338"/>
        </p:xfrm>
        <a:graphic>
          <a:graphicData uri="http://schemas.openxmlformats.org/presentationml/2006/ole">
            <mc:AlternateContent xmlns:mc="http://schemas.openxmlformats.org/markup-compatibility/2006">
              <mc:Choice xmlns:v="urn:schemas-microsoft-com:vml" Requires="v">
                <p:oleObj name="Equation" r:id="rId8" imgW="2260600" imgH="266700" progId="Equation.3">
                  <p:embed/>
                </p:oleObj>
              </mc:Choice>
              <mc:Fallback>
                <p:oleObj name="Equation" r:id="rId8" imgW="2260600" imgH="2667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7704" y="5229200"/>
                        <a:ext cx="4572000" cy="5413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6A24ED9-68F4-4BC2-ABF0-9EAAE983467B}"/>
              </a:ext>
            </a:extLst>
          </p:cNvPr>
          <p:cNvSpPr>
            <a:spLocks noGrp="1" noChangeArrowheads="1"/>
          </p:cNvSpPr>
          <p:nvPr>
            <p:ph type="title" idx="4294967295"/>
          </p:nvPr>
        </p:nvSpPr>
        <p:spPr>
          <a:xfrm>
            <a:off x="598487" y="43730"/>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10" name="灯片编号占位符 5">
            <a:extLst>
              <a:ext uri="{FF2B5EF4-FFF2-40B4-BE49-F238E27FC236}">
                <a16:creationId xmlns:a16="http://schemas.microsoft.com/office/drawing/2014/main" id="{CAE2D3DB-4256-491F-8CA5-B32E237646E0}"/>
              </a:ext>
            </a:extLst>
          </p:cNvPr>
          <p:cNvSpPr>
            <a:spLocks noGrp="1"/>
          </p:cNvSpPr>
          <p:nvPr>
            <p:ph type="sldNum" sz="quarter" idx="4294967295"/>
          </p:nvPr>
        </p:nvSpPr>
        <p:spPr>
          <a:xfrm>
            <a:off x="7086600" y="6356350"/>
            <a:ext cx="2057400" cy="365125"/>
          </a:xfrm>
        </p:spPr>
        <p:txBody>
          <a:bodyPr/>
          <a:lstStyle/>
          <a:p>
            <a:fld id="{5BF61CFF-2853-476F-BEEE-59B838E667FB}" type="slidenum">
              <a:rPr lang="zh-CN" altLang="en-US"/>
              <a:pPr/>
              <a:t>26</a:t>
            </a:fld>
            <a:endParaRPr lang="en-US" altLang="zh-CN"/>
          </a:p>
        </p:txBody>
      </p:sp>
      <p:sp>
        <p:nvSpPr>
          <p:cNvPr id="30723" name="Rectangle 3">
            <a:extLst>
              <a:ext uri="{FF2B5EF4-FFF2-40B4-BE49-F238E27FC236}">
                <a16:creationId xmlns:a16="http://schemas.microsoft.com/office/drawing/2014/main" id="{CB481538-E029-497A-B0F2-B6FA282181AD}"/>
              </a:ext>
            </a:extLst>
          </p:cNvPr>
          <p:cNvSpPr>
            <a:spLocks noGrp="1" noChangeArrowheads="1"/>
          </p:cNvSpPr>
          <p:nvPr>
            <p:ph idx="4294967295"/>
          </p:nvPr>
        </p:nvSpPr>
        <p:spPr>
          <a:xfrm>
            <a:off x="179387" y="1430950"/>
            <a:ext cx="8305800" cy="4351338"/>
          </a:xfrm>
        </p:spPr>
        <p:txBody>
          <a:bodyPr>
            <a:normAutofit/>
          </a:bodyPr>
          <a:lstStyle/>
          <a:p>
            <a:pPr>
              <a:lnSpc>
                <a:spcPct val="150000"/>
              </a:lnSpc>
            </a:pPr>
            <a:r>
              <a:rPr lang="zh-CN" altLang="en-US" sz="2400" dirty="0"/>
              <a:t>如果赋值</a:t>
            </a:r>
            <a:r>
              <a:rPr lang="en-US" altLang="zh-CN" sz="2400" dirty="0"/>
              <a:t>v</a:t>
            </a:r>
            <a:r>
              <a:rPr lang="zh-CN" altLang="en-US" sz="2400" dirty="0"/>
              <a:t>满足每一个子句</a:t>
            </a:r>
            <a:r>
              <a:rPr lang="en-US" altLang="zh-CN" sz="2400" dirty="0"/>
              <a:t>C</a:t>
            </a:r>
            <a:r>
              <a:rPr lang="en-US" altLang="zh-CN" sz="1800" dirty="0"/>
              <a:t>1</a:t>
            </a:r>
            <a:r>
              <a:rPr lang="en-US" altLang="zh-CN" sz="2400" dirty="0"/>
              <a:t>,</a:t>
            </a:r>
            <a:r>
              <a:rPr lang="en-US" altLang="zh-CN" sz="2400" dirty="0">
                <a:latin typeface="Times New Roman" panose="02020603050405020304" pitchFamily="18" charset="0"/>
              </a:rPr>
              <a:t>…</a:t>
            </a:r>
            <a:r>
              <a:rPr lang="en-US" altLang="zh-CN" sz="2400" dirty="0"/>
              <a:t>,C</a:t>
            </a:r>
            <a:r>
              <a:rPr lang="en-US" altLang="zh-CN" sz="1800" dirty="0"/>
              <a:t>k</a:t>
            </a:r>
            <a:r>
              <a:rPr lang="en-US" altLang="zh-CN" sz="2400" dirty="0"/>
              <a:t>, </a:t>
            </a:r>
            <a:r>
              <a:rPr lang="zh-CN" altLang="en-US" sz="2400" dirty="0"/>
              <a:t>也就是合取式                            值为1，称</a:t>
            </a:r>
            <a:r>
              <a:rPr lang="en-US" altLang="zh-CN" sz="2400" dirty="0"/>
              <a:t>v</a:t>
            </a:r>
            <a:r>
              <a:rPr lang="zh-CN" altLang="en-US" sz="2400" dirty="0"/>
              <a:t>是关于</a:t>
            </a:r>
            <a:r>
              <a:rPr lang="en-US" altLang="zh-CN" sz="2400" dirty="0"/>
              <a:t>C</a:t>
            </a:r>
            <a:r>
              <a:rPr lang="en-US" altLang="zh-CN" sz="1800" dirty="0"/>
              <a:t>1</a:t>
            </a:r>
            <a:r>
              <a:rPr lang="en-US" altLang="zh-CN" sz="2400" dirty="0"/>
              <a:t>,</a:t>
            </a:r>
            <a:r>
              <a:rPr lang="en-US" altLang="zh-CN" sz="2400" dirty="0">
                <a:latin typeface="Times New Roman" panose="02020603050405020304" pitchFamily="18" charset="0"/>
              </a:rPr>
              <a:t>…</a:t>
            </a:r>
            <a:r>
              <a:rPr lang="en-US" altLang="zh-CN" sz="2400" dirty="0"/>
              <a:t>,C</a:t>
            </a:r>
            <a:r>
              <a:rPr lang="en-US" altLang="zh-CN" sz="1800" dirty="0"/>
              <a:t>k</a:t>
            </a:r>
            <a:r>
              <a:rPr lang="zh-CN" altLang="en-US" sz="2400" dirty="0"/>
              <a:t>的一个满足的赋值，又称这组子句是可</a:t>
            </a:r>
            <a:r>
              <a:rPr lang="zh-CN" altLang="en-US" sz="2400" b="1" dirty="0"/>
              <a:t>满足</a:t>
            </a:r>
            <a:r>
              <a:rPr lang="zh-CN" altLang="en-US" sz="2400" dirty="0"/>
              <a:t>的。</a:t>
            </a:r>
            <a:endParaRPr lang="en-US" altLang="zh-CN" sz="2400" dirty="0"/>
          </a:p>
        </p:txBody>
      </p:sp>
      <p:graphicFrame>
        <p:nvGraphicFramePr>
          <p:cNvPr id="30725" name="Object 5">
            <a:extLst>
              <a:ext uri="{FF2B5EF4-FFF2-40B4-BE49-F238E27FC236}">
                <a16:creationId xmlns:a16="http://schemas.microsoft.com/office/drawing/2014/main" id="{0B4EFACB-296A-4F1F-95D7-8B055B43AC5F}"/>
              </a:ext>
            </a:extLst>
          </p:cNvPr>
          <p:cNvGraphicFramePr>
            <a:graphicFrameLocks noChangeAspect="1"/>
          </p:cNvGraphicFramePr>
          <p:nvPr>
            <p:extLst>
              <p:ext uri="{D42A27DB-BD31-4B8C-83A1-F6EECF244321}">
                <p14:modId xmlns:p14="http://schemas.microsoft.com/office/powerpoint/2010/main" val="2903251071"/>
              </p:ext>
            </p:extLst>
          </p:nvPr>
        </p:nvGraphicFramePr>
        <p:xfrm>
          <a:off x="6916329" y="1506789"/>
          <a:ext cx="2209800" cy="544513"/>
        </p:xfrm>
        <a:graphic>
          <a:graphicData uri="http://schemas.openxmlformats.org/presentationml/2006/ole">
            <mc:AlternateContent xmlns:mc="http://schemas.openxmlformats.org/markup-compatibility/2006">
              <mc:Choice xmlns:v="urn:schemas-microsoft-com:vml" Requires="v">
                <p:oleObj name="Equation" r:id="rId3" imgW="927000" imgH="228600" progId="Equation.3">
                  <p:embed/>
                </p:oleObj>
              </mc:Choice>
              <mc:Fallback>
                <p:oleObj name="Equation" r:id="rId3" imgW="9270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6329" y="1506789"/>
                        <a:ext cx="2209800" cy="544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7" name="Rectangle 7">
            <a:extLst>
              <a:ext uri="{FF2B5EF4-FFF2-40B4-BE49-F238E27FC236}">
                <a16:creationId xmlns:a16="http://schemas.microsoft.com/office/drawing/2014/main" id="{F376BA0F-9A5A-483E-894D-29B090E7B70B}"/>
              </a:ext>
            </a:extLst>
          </p:cNvPr>
          <p:cNvSpPr>
            <a:spLocks noChangeArrowheads="1"/>
          </p:cNvSpPr>
          <p:nvPr/>
        </p:nvSpPr>
        <p:spPr bwMode="auto">
          <a:xfrm>
            <a:off x="762000" y="3277824"/>
            <a:ext cx="6950075" cy="9001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eaLnBrk="0" hangingPunct="0">
              <a:lnSpc>
                <a:spcPct val="150000"/>
              </a:lnSpc>
              <a:spcBef>
                <a:spcPct val="0"/>
              </a:spcBef>
              <a:buClrTx/>
              <a:buSzTx/>
              <a:buFontTx/>
              <a:buNone/>
            </a:pPr>
            <a:r>
              <a:rPr lang="zh-CN" altLang="en-US" sz="2800">
                <a:latin typeface="Comic Sans MS" panose="030F0702030302020204" pitchFamily="66" charset="0"/>
              </a:rPr>
              <a:t>例子:</a:t>
            </a:r>
          </a:p>
          <a:p>
            <a:pPr eaLnBrk="0" hangingPunct="0">
              <a:lnSpc>
                <a:spcPct val="150000"/>
              </a:lnSpc>
              <a:spcBef>
                <a:spcPct val="0"/>
              </a:spcBef>
              <a:buClrTx/>
              <a:buSzTx/>
              <a:buFontTx/>
              <a:buNone/>
            </a:pPr>
            <a:r>
              <a:rPr lang="zh-CN" altLang="en-US" sz="2800">
                <a:latin typeface="Comic Sans MS" panose="030F0702030302020204" pitchFamily="66" charset="0"/>
              </a:rPr>
              <a:t>      是否可满足？</a:t>
            </a:r>
            <a:r>
              <a:rPr lang="en-US" altLang="zh-CN" sz="2800">
                <a:latin typeface="Comic Sans MS" panose="030F0702030302020204" pitchFamily="66" charset="0"/>
              </a:rPr>
              <a:t> </a:t>
            </a:r>
          </a:p>
        </p:txBody>
      </p:sp>
      <p:graphicFrame>
        <p:nvGraphicFramePr>
          <p:cNvPr id="30728" name="Object 8">
            <a:extLst>
              <a:ext uri="{FF2B5EF4-FFF2-40B4-BE49-F238E27FC236}">
                <a16:creationId xmlns:a16="http://schemas.microsoft.com/office/drawing/2014/main" id="{9C0DA5DE-DF8E-4933-9E70-55B0286E194C}"/>
              </a:ext>
            </a:extLst>
          </p:cNvPr>
          <p:cNvGraphicFramePr>
            <a:graphicFrameLocks noChangeAspect="1"/>
          </p:cNvGraphicFramePr>
          <p:nvPr>
            <p:extLst>
              <p:ext uri="{D42A27DB-BD31-4B8C-83A1-F6EECF244321}">
                <p14:modId xmlns:p14="http://schemas.microsoft.com/office/powerpoint/2010/main" val="649118403"/>
              </p:ext>
            </p:extLst>
          </p:nvPr>
        </p:nvGraphicFramePr>
        <p:xfrm>
          <a:off x="1907704" y="3277824"/>
          <a:ext cx="6984078" cy="384313"/>
        </p:xfrm>
        <a:graphic>
          <a:graphicData uri="http://schemas.openxmlformats.org/presentationml/2006/ole">
            <mc:AlternateContent xmlns:mc="http://schemas.openxmlformats.org/markup-compatibility/2006">
              <mc:Choice xmlns:v="urn:schemas-microsoft-com:vml" Requires="v">
                <p:oleObj name="Equation" r:id="rId5" imgW="6540500" imgH="355600" progId="Equation.3">
                  <p:embed/>
                </p:oleObj>
              </mc:Choice>
              <mc:Fallback>
                <p:oleObj name="Equation" r:id="rId5" imgW="6540500" imgH="355600" progId="Equation.3">
                  <p:embed/>
                  <p:pic>
                    <p:nvPicPr>
                      <p:cNvPr id="0" name="Object 8"/>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7704" y="3277824"/>
                        <a:ext cx="6984078" cy="384313"/>
                      </a:xfrm>
                      <a:prstGeom prst="rect">
                        <a:avLst/>
                      </a:prstGeom>
                      <a:solidFill>
                        <a:srgbClr val="FFFFFF"/>
                      </a:solidFill>
                      <a:ln>
                        <a:noFill/>
                      </a:ln>
                      <a:effectLst/>
                    </p:spPr>
                  </p:pic>
                </p:oleObj>
              </mc:Fallback>
            </mc:AlternateContent>
          </a:graphicData>
        </a:graphic>
      </p:graphicFrame>
      <p:sp>
        <p:nvSpPr>
          <p:cNvPr id="30729" name="Text Box 9">
            <a:extLst>
              <a:ext uri="{FF2B5EF4-FFF2-40B4-BE49-F238E27FC236}">
                <a16:creationId xmlns:a16="http://schemas.microsoft.com/office/drawing/2014/main" id="{C01C8EBB-979B-43EA-BF48-3E72CE382F3A}"/>
              </a:ext>
            </a:extLst>
          </p:cNvPr>
          <p:cNvSpPr txBox="1">
            <a:spLocks noChangeArrowheads="1"/>
          </p:cNvSpPr>
          <p:nvPr/>
        </p:nvSpPr>
        <p:spPr bwMode="auto">
          <a:xfrm>
            <a:off x="838200" y="4735150"/>
            <a:ext cx="83058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ts val="3000"/>
              </a:lnSpc>
              <a:spcBef>
                <a:spcPct val="0"/>
              </a:spcBef>
              <a:buClrTx/>
              <a:buSzTx/>
              <a:buFontTx/>
              <a:buNone/>
            </a:pPr>
            <a:r>
              <a:rPr lang="en-US" altLang="zh-CN" sz="2800" dirty="0">
                <a:solidFill>
                  <a:schemeClr val="hlink"/>
                </a:solidFill>
                <a:latin typeface="Comic Sans MS" panose="030F0702030302020204" pitchFamily="66" charset="0"/>
              </a:rPr>
              <a:t>Yes:</a:t>
            </a:r>
            <a:r>
              <a:rPr lang="en-US" altLang="zh-CN" sz="2800" dirty="0">
                <a:solidFill>
                  <a:srgbClr val="003399"/>
                </a:solidFill>
                <a:latin typeface="Comic Sans MS" panose="030F0702030302020204" pitchFamily="66" charset="0"/>
              </a:rPr>
              <a:t>  </a:t>
            </a:r>
            <a:r>
              <a:rPr lang="en-US" altLang="zh-CN" sz="2800" dirty="0">
                <a:latin typeface="Comic Sans MS" panose="030F0702030302020204" pitchFamily="66" charset="0"/>
              </a:rPr>
              <a:t>x</a:t>
            </a:r>
            <a:r>
              <a:rPr lang="en-US" altLang="zh-CN" sz="2800" baseline="-25000" dirty="0">
                <a:latin typeface="Comic Sans MS" panose="030F0702030302020204" pitchFamily="66" charset="0"/>
              </a:rPr>
              <a:t>1</a:t>
            </a:r>
            <a:r>
              <a:rPr lang="en-US" altLang="zh-CN" sz="2800" dirty="0">
                <a:latin typeface="Comic Sans MS" panose="030F0702030302020204" pitchFamily="66" charset="0"/>
              </a:rPr>
              <a:t> = 1(true), x</a:t>
            </a:r>
            <a:r>
              <a:rPr lang="en-US" altLang="zh-CN" sz="2800" baseline="-25000" dirty="0">
                <a:latin typeface="Comic Sans MS" panose="030F0702030302020204" pitchFamily="66" charset="0"/>
              </a:rPr>
              <a:t>2</a:t>
            </a:r>
            <a:r>
              <a:rPr lang="en-US" altLang="zh-CN" sz="2800" dirty="0">
                <a:latin typeface="Comic Sans MS" panose="030F0702030302020204" pitchFamily="66" charset="0"/>
              </a:rPr>
              <a:t> = 1(true), x</a:t>
            </a:r>
            <a:r>
              <a:rPr lang="en-US" altLang="zh-CN" sz="2800" baseline="-25000" dirty="0">
                <a:latin typeface="Comic Sans MS" panose="030F0702030302020204" pitchFamily="66" charset="0"/>
              </a:rPr>
              <a:t>3</a:t>
            </a:r>
            <a:r>
              <a:rPr lang="en-US" altLang="zh-CN" sz="2800" dirty="0">
                <a:latin typeface="Comic Sans MS" panose="030F0702030302020204" pitchFamily="66" charset="0"/>
              </a:rPr>
              <a:t> = 0(false).</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9"/>
                                        </p:tgtEl>
                                        <p:attrNameLst>
                                          <p:attrName>style.visibility</p:attrName>
                                        </p:attrNameLst>
                                      </p:cBhvr>
                                      <p:to>
                                        <p:strVal val="visible"/>
                                      </p:to>
                                    </p:set>
                                    <p:anim calcmode="lin" valueType="num">
                                      <p:cBhvr additive="base">
                                        <p:cTn id="7" dur="500" fill="hold"/>
                                        <p:tgtEl>
                                          <p:spTgt spid="30729"/>
                                        </p:tgtEl>
                                        <p:attrNameLst>
                                          <p:attrName>ppt_x</p:attrName>
                                        </p:attrNameLst>
                                      </p:cBhvr>
                                      <p:tavLst>
                                        <p:tav tm="0">
                                          <p:val>
                                            <p:strVal val="0-#ppt_w/2"/>
                                          </p:val>
                                        </p:tav>
                                        <p:tav tm="100000">
                                          <p:val>
                                            <p:strVal val="#ppt_x"/>
                                          </p:val>
                                        </p:tav>
                                      </p:tavLst>
                                    </p:anim>
                                    <p:anim calcmode="lin" valueType="num">
                                      <p:cBhvr additive="base">
                                        <p:cTn id="8" dur="500" fill="hold"/>
                                        <p:tgtEl>
                                          <p:spTgt spid="307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EA7B7BE-594F-43F2-9491-FC58EEFBE636}"/>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8" name="灯片编号占位符 5">
            <a:extLst>
              <a:ext uri="{FF2B5EF4-FFF2-40B4-BE49-F238E27FC236}">
                <a16:creationId xmlns:a16="http://schemas.microsoft.com/office/drawing/2014/main" id="{B7868F44-9BB9-45B5-9AB2-69E7DD43443D}"/>
              </a:ext>
            </a:extLst>
          </p:cNvPr>
          <p:cNvSpPr>
            <a:spLocks noGrp="1"/>
          </p:cNvSpPr>
          <p:nvPr>
            <p:ph type="sldNum" sz="quarter" idx="4294967295"/>
          </p:nvPr>
        </p:nvSpPr>
        <p:spPr>
          <a:xfrm>
            <a:off x="7086600" y="6356350"/>
            <a:ext cx="2057400" cy="365125"/>
          </a:xfrm>
        </p:spPr>
        <p:txBody>
          <a:bodyPr/>
          <a:lstStyle/>
          <a:p>
            <a:fld id="{7A43FD7B-4619-4C04-B649-E6973CBC18F6}" type="slidenum">
              <a:rPr lang="zh-CN" altLang="en-US"/>
              <a:pPr/>
              <a:t>27</a:t>
            </a:fld>
            <a:endParaRPr lang="en-US" altLang="zh-CN"/>
          </a:p>
        </p:txBody>
      </p:sp>
      <p:sp>
        <p:nvSpPr>
          <p:cNvPr id="31747" name="Rectangle 3">
            <a:extLst>
              <a:ext uri="{FF2B5EF4-FFF2-40B4-BE49-F238E27FC236}">
                <a16:creationId xmlns:a16="http://schemas.microsoft.com/office/drawing/2014/main" id="{031627A9-7852-4CBC-B3B1-6FFD1A58D1D5}"/>
              </a:ext>
            </a:extLst>
          </p:cNvPr>
          <p:cNvSpPr>
            <a:spLocks noGrp="1" noChangeArrowheads="1"/>
          </p:cNvSpPr>
          <p:nvPr>
            <p:ph idx="4294967295"/>
          </p:nvPr>
        </p:nvSpPr>
        <p:spPr>
          <a:xfrm>
            <a:off x="492145" y="1340768"/>
            <a:ext cx="7886700" cy="4351338"/>
          </a:xfrm>
        </p:spPr>
        <p:txBody>
          <a:bodyPr>
            <a:normAutofit/>
          </a:bodyPr>
          <a:lstStyle/>
          <a:p>
            <a:pPr>
              <a:lnSpc>
                <a:spcPct val="150000"/>
              </a:lnSpc>
            </a:pPr>
            <a:r>
              <a:rPr lang="zh-CN" altLang="en-US" sz="2800" dirty="0"/>
              <a:t>可满足性问题</a:t>
            </a:r>
            <a:r>
              <a:rPr lang="zh-CN" altLang="en-US" sz="2800" dirty="0">
                <a:sym typeface="Wingdings" panose="05000000000000000000" pitchFamily="2" charset="2"/>
              </a:rPr>
              <a:t>:  (</a:t>
            </a:r>
            <a:r>
              <a:rPr lang="en-US" altLang="zh-CN" sz="2800" dirty="0">
                <a:sym typeface="Wingdings" panose="05000000000000000000" pitchFamily="2" charset="2"/>
              </a:rPr>
              <a:t>SAT)</a:t>
            </a:r>
          </a:p>
          <a:p>
            <a:pPr>
              <a:lnSpc>
                <a:spcPct val="150000"/>
              </a:lnSpc>
            </a:pPr>
            <a:r>
              <a:rPr lang="zh-CN" altLang="en-US" sz="2800" dirty="0">
                <a:sym typeface="Wingdings" panose="05000000000000000000" pitchFamily="2" charset="2"/>
              </a:rPr>
              <a:t>给定变量集合                             上的一组子句 </a:t>
            </a:r>
            <a:r>
              <a:rPr lang="en-US" altLang="zh-CN" sz="2800" dirty="0"/>
              <a:t>C</a:t>
            </a:r>
            <a:r>
              <a:rPr lang="en-US" altLang="zh-CN" sz="2000" dirty="0"/>
              <a:t>1</a:t>
            </a:r>
            <a:r>
              <a:rPr lang="en-US" altLang="zh-CN" sz="2800" dirty="0"/>
              <a:t>,</a:t>
            </a:r>
            <a:r>
              <a:rPr lang="en-US" altLang="zh-CN" sz="2800" dirty="0">
                <a:latin typeface="Times New Roman" panose="02020603050405020304" pitchFamily="18" charset="0"/>
              </a:rPr>
              <a:t>…</a:t>
            </a:r>
            <a:r>
              <a:rPr lang="en-US" altLang="zh-CN" sz="2800" dirty="0"/>
              <a:t>,C</a:t>
            </a:r>
            <a:r>
              <a:rPr lang="en-US" altLang="zh-CN" sz="2000" dirty="0"/>
              <a:t>k</a:t>
            </a:r>
            <a:r>
              <a:rPr lang="en-US" altLang="zh-CN" sz="2800" dirty="0"/>
              <a:t>, </a:t>
            </a:r>
            <a:r>
              <a:rPr lang="zh-CN" altLang="en-US" sz="2800" dirty="0"/>
              <a:t>或者是对于                                  </a:t>
            </a:r>
            <a:r>
              <a:rPr lang="en-US" altLang="zh-CN" sz="2800" dirty="0"/>
              <a:t>，</a:t>
            </a:r>
          </a:p>
          <a:p>
            <a:pPr>
              <a:lnSpc>
                <a:spcPct val="150000"/>
              </a:lnSpc>
              <a:buFont typeface="Wingdings" panose="05000000000000000000" pitchFamily="2" charset="2"/>
              <a:buNone/>
            </a:pPr>
            <a:r>
              <a:rPr lang="zh-CN" altLang="en-US" sz="2800" dirty="0"/>
              <a:t>  问存在满足的真值赋值吗？</a:t>
            </a:r>
          </a:p>
          <a:p>
            <a:pPr>
              <a:lnSpc>
                <a:spcPct val="150000"/>
              </a:lnSpc>
              <a:buFont typeface="Wingdings" panose="05000000000000000000" pitchFamily="2" charset="2"/>
              <a:buNone/>
            </a:pPr>
            <a:r>
              <a:rPr lang="zh-CN" altLang="en-US" sz="2800" dirty="0"/>
              <a:t> 3-</a:t>
            </a:r>
            <a:r>
              <a:rPr lang="en-US" altLang="zh-CN" sz="2800" dirty="0"/>
              <a:t>SAT:</a:t>
            </a:r>
            <a:r>
              <a:rPr lang="zh-CN" altLang="en-US" sz="2800" dirty="0"/>
              <a:t>三元可满足性：</a:t>
            </a:r>
          </a:p>
          <a:p>
            <a:pPr>
              <a:lnSpc>
                <a:spcPct val="150000"/>
              </a:lnSpc>
              <a:buFont typeface="Wingdings" panose="05000000000000000000" pitchFamily="2" charset="2"/>
              <a:buNone/>
            </a:pPr>
            <a:r>
              <a:rPr lang="zh-CN" altLang="en-US" sz="2800" dirty="0"/>
              <a:t>要求每一个子句的长为3</a:t>
            </a:r>
            <a:endParaRPr lang="en-US" altLang="zh-CN" sz="2800" dirty="0"/>
          </a:p>
        </p:txBody>
      </p:sp>
      <p:graphicFrame>
        <p:nvGraphicFramePr>
          <p:cNvPr id="31748" name="Object 4">
            <a:extLst>
              <a:ext uri="{FF2B5EF4-FFF2-40B4-BE49-F238E27FC236}">
                <a16:creationId xmlns:a16="http://schemas.microsoft.com/office/drawing/2014/main" id="{9BD40D1C-DF7C-41BC-9633-612F15B4F2DB}"/>
              </a:ext>
            </a:extLst>
          </p:cNvPr>
          <p:cNvGraphicFramePr>
            <a:graphicFrameLocks noChangeAspect="1"/>
          </p:cNvGraphicFramePr>
          <p:nvPr>
            <p:extLst>
              <p:ext uri="{D42A27DB-BD31-4B8C-83A1-F6EECF244321}">
                <p14:modId xmlns:p14="http://schemas.microsoft.com/office/powerpoint/2010/main" val="2600329976"/>
              </p:ext>
            </p:extLst>
          </p:nvPr>
        </p:nvGraphicFramePr>
        <p:xfrm>
          <a:off x="2915816" y="2250389"/>
          <a:ext cx="2214424" cy="530539"/>
        </p:xfrm>
        <a:graphic>
          <a:graphicData uri="http://schemas.openxmlformats.org/presentationml/2006/ole">
            <mc:AlternateContent xmlns:mc="http://schemas.openxmlformats.org/markup-compatibility/2006">
              <mc:Choice xmlns:v="urn:schemas-microsoft-com:vml" Requires="v">
                <p:oleObj name="Equation" r:id="rId3" imgW="952200" imgH="228600" progId="Equation.3">
                  <p:embed/>
                </p:oleObj>
              </mc:Choice>
              <mc:Fallback>
                <p:oleObj name="Equation" r:id="rId3" imgW="9522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2250389"/>
                        <a:ext cx="2214424" cy="530539"/>
                      </a:xfrm>
                      <a:prstGeom prst="rect">
                        <a:avLst/>
                      </a:prstGeom>
                      <a:noFill/>
                      <a:ln>
                        <a:noFill/>
                      </a:ln>
                      <a:effectLst/>
                    </p:spPr>
                  </p:pic>
                </p:oleObj>
              </mc:Fallback>
            </mc:AlternateContent>
          </a:graphicData>
        </a:graphic>
      </p:graphicFrame>
      <p:graphicFrame>
        <p:nvGraphicFramePr>
          <p:cNvPr id="31749" name="Object 5">
            <a:extLst>
              <a:ext uri="{FF2B5EF4-FFF2-40B4-BE49-F238E27FC236}">
                <a16:creationId xmlns:a16="http://schemas.microsoft.com/office/drawing/2014/main" id="{63D75304-AC00-431F-B86C-723A49491993}"/>
              </a:ext>
            </a:extLst>
          </p:cNvPr>
          <p:cNvGraphicFramePr>
            <a:graphicFrameLocks noChangeAspect="1"/>
          </p:cNvGraphicFramePr>
          <p:nvPr>
            <p:extLst>
              <p:ext uri="{D42A27DB-BD31-4B8C-83A1-F6EECF244321}">
                <p14:modId xmlns:p14="http://schemas.microsoft.com/office/powerpoint/2010/main" val="2005419987"/>
              </p:ext>
            </p:extLst>
          </p:nvPr>
        </p:nvGraphicFramePr>
        <p:xfrm>
          <a:off x="4147994" y="2863195"/>
          <a:ext cx="2296214" cy="565806"/>
        </p:xfrm>
        <a:graphic>
          <a:graphicData uri="http://schemas.openxmlformats.org/presentationml/2006/ole">
            <mc:AlternateContent xmlns:mc="http://schemas.openxmlformats.org/markup-compatibility/2006">
              <mc:Choice xmlns:v="urn:schemas-microsoft-com:vml" Requires="v">
                <p:oleObj name="Equation" r:id="rId5" imgW="927000" imgH="228600" progId="Equation.3">
                  <p:embed/>
                </p:oleObj>
              </mc:Choice>
              <mc:Fallback>
                <p:oleObj name="Equation" r:id="rId5" imgW="9270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7994" y="2863195"/>
                        <a:ext cx="2296214" cy="565806"/>
                      </a:xfrm>
                      <a:prstGeom prst="rect">
                        <a:avLst/>
                      </a:prstGeom>
                      <a:noFill/>
                      <a:ln>
                        <a:noFill/>
                      </a:ln>
                      <a:effec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8253C27-6814-4807-8DDA-549D6C8D6B64}"/>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FC52C0B5-0A52-4F5E-A060-BBD87AB75DB5}"/>
              </a:ext>
            </a:extLst>
          </p:cNvPr>
          <p:cNvSpPr>
            <a:spLocks noGrp="1"/>
          </p:cNvSpPr>
          <p:nvPr>
            <p:ph type="sldNum" sz="quarter" idx="4294967295"/>
          </p:nvPr>
        </p:nvSpPr>
        <p:spPr>
          <a:xfrm>
            <a:off x="7086600" y="6356350"/>
            <a:ext cx="2057400" cy="365125"/>
          </a:xfrm>
        </p:spPr>
        <p:txBody>
          <a:bodyPr/>
          <a:lstStyle/>
          <a:p>
            <a:fld id="{120C94E6-BFA0-4141-B1EC-70C053502183}" type="slidenum">
              <a:rPr lang="zh-CN" altLang="en-US"/>
              <a:pPr/>
              <a:t>28</a:t>
            </a:fld>
            <a:endParaRPr lang="en-US" altLang="zh-CN"/>
          </a:p>
        </p:txBody>
      </p:sp>
      <p:sp>
        <p:nvSpPr>
          <p:cNvPr id="32771" name="Rectangle 3">
            <a:extLst>
              <a:ext uri="{FF2B5EF4-FFF2-40B4-BE49-F238E27FC236}">
                <a16:creationId xmlns:a16="http://schemas.microsoft.com/office/drawing/2014/main" id="{B8B224F2-F27F-464B-ADF5-1AF1BE76123B}"/>
              </a:ext>
            </a:extLst>
          </p:cNvPr>
          <p:cNvSpPr>
            <a:spLocks noGrp="1" noChangeArrowheads="1"/>
          </p:cNvSpPr>
          <p:nvPr>
            <p:ph idx="4294967295"/>
          </p:nvPr>
        </p:nvSpPr>
        <p:spPr>
          <a:xfrm>
            <a:off x="395536" y="1462088"/>
            <a:ext cx="7886700" cy="4351338"/>
          </a:xfrm>
        </p:spPr>
        <p:txBody>
          <a:bodyPr>
            <a:normAutofit/>
          </a:bodyPr>
          <a:lstStyle/>
          <a:p>
            <a:pPr>
              <a:lnSpc>
                <a:spcPct val="150000"/>
              </a:lnSpc>
            </a:pPr>
            <a:r>
              <a:rPr lang="zh-CN" altLang="en-US" sz="2800" dirty="0"/>
              <a:t>可满足性和三元可满足性是基本的组合搜索问题，以非常梗概的方式包含一个难计算问题的基本要素，必须作出</a:t>
            </a:r>
            <a:r>
              <a:rPr lang="en-US" altLang="zh-CN" sz="2800" dirty="0"/>
              <a:t>n</a:t>
            </a:r>
            <a:r>
              <a:rPr lang="zh-CN" altLang="en-US" sz="2800" dirty="0"/>
              <a:t>个独立的决定满足一组约束。</a:t>
            </a:r>
          </a:p>
          <a:p>
            <a:pPr>
              <a:lnSpc>
                <a:spcPct val="150000"/>
              </a:lnSpc>
            </a:pPr>
            <a:r>
              <a:rPr lang="zh-CN" altLang="en-US" sz="2800" dirty="0"/>
              <a:t>定理8.8 </a:t>
            </a:r>
            <a:r>
              <a:rPr lang="en-US" altLang="zh-CN" sz="3600" dirty="0"/>
              <a:t>3-SAT </a:t>
            </a:r>
            <a:r>
              <a:rPr lang="en-US" altLang="zh-CN" sz="2800" dirty="0">
                <a:sym typeface="Symbol" panose="05050102010706020507" pitchFamily="18" charset="2"/>
              </a:rPr>
              <a:t> </a:t>
            </a:r>
            <a:r>
              <a:rPr lang="en-US" altLang="zh-CN" sz="2800" baseline="-25000" dirty="0">
                <a:sym typeface="Symbol" panose="05050102010706020507" pitchFamily="18" charset="2"/>
              </a:rPr>
              <a:t>P</a:t>
            </a:r>
            <a:r>
              <a:rPr lang="en-US" altLang="zh-CN" sz="2800" dirty="0">
                <a:sym typeface="Symbol" panose="05050102010706020507" pitchFamily="18" charset="2"/>
              </a:rPr>
              <a:t> </a:t>
            </a:r>
            <a:r>
              <a:rPr lang="zh-CN" altLang="en-US" sz="3600" dirty="0">
                <a:sym typeface="Symbol" panose="05050102010706020507" pitchFamily="18" charset="2"/>
              </a:rPr>
              <a:t>独立集</a:t>
            </a:r>
            <a:r>
              <a:rPr lang="zh-CN" altLang="en-US" sz="2800" dirty="0">
                <a:sym typeface="Symbol" panose="05050102010706020507" pitchFamily="18" charset="2"/>
              </a:rPr>
              <a:t>.</a:t>
            </a:r>
          </a:p>
          <a:p>
            <a:pPr>
              <a:lnSpc>
                <a:spcPct val="150000"/>
              </a:lnSpc>
            </a:pP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771">
                                            <p:txEl>
                                              <p:pRg st="1" end="1"/>
                                            </p:txEl>
                                          </p:spTgt>
                                        </p:tgtEl>
                                        <p:attrNameLst>
                                          <p:attrName>style.visibility</p:attrName>
                                        </p:attrNameLst>
                                      </p:cBhvr>
                                      <p:to>
                                        <p:strVal val="visible"/>
                                      </p:to>
                                    </p:set>
                                    <p:anim calcmode="lin" valueType="num">
                                      <p:cBhvr additive="base">
                                        <p:cTn id="13" dur="500" fill="hold"/>
                                        <p:tgtEl>
                                          <p:spTgt spid="327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77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5CCA5A0-71B0-41DE-8415-87C99E681267}"/>
              </a:ext>
            </a:extLst>
          </p:cNvPr>
          <p:cNvSpPr>
            <a:spLocks noGrp="1" noChangeArrowheads="1"/>
          </p:cNvSpPr>
          <p:nvPr>
            <p:ph type="title" idx="4294967295"/>
          </p:nvPr>
        </p:nvSpPr>
        <p:spPr>
          <a:xfrm>
            <a:off x="539552" y="1825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75ADDE5D-C81F-439D-9BE6-AD81F4C2C6B6}"/>
              </a:ext>
            </a:extLst>
          </p:cNvPr>
          <p:cNvSpPr>
            <a:spLocks noGrp="1"/>
          </p:cNvSpPr>
          <p:nvPr>
            <p:ph type="sldNum" sz="quarter" idx="4294967295"/>
          </p:nvPr>
        </p:nvSpPr>
        <p:spPr>
          <a:xfrm>
            <a:off x="7086600" y="6356350"/>
            <a:ext cx="2057400" cy="365125"/>
          </a:xfrm>
        </p:spPr>
        <p:txBody>
          <a:bodyPr/>
          <a:lstStyle/>
          <a:p>
            <a:fld id="{C5D7274A-42D7-4FAA-AF1A-258B7C91B482}" type="slidenum">
              <a:rPr lang="zh-CN" altLang="en-US"/>
              <a:pPr/>
              <a:t>29</a:t>
            </a:fld>
            <a:endParaRPr lang="en-US" altLang="zh-CN"/>
          </a:p>
        </p:txBody>
      </p:sp>
      <p:sp>
        <p:nvSpPr>
          <p:cNvPr id="33795" name="Rectangle 3">
            <a:extLst>
              <a:ext uri="{FF2B5EF4-FFF2-40B4-BE49-F238E27FC236}">
                <a16:creationId xmlns:a16="http://schemas.microsoft.com/office/drawing/2014/main" id="{61A4D3E5-72F0-4CE8-8EE1-61F313230969}"/>
              </a:ext>
            </a:extLst>
          </p:cNvPr>
          <p:cNvSpPr>
            <a:spLocks noGrp="1" noChangeArrowheads="1"/>
          </p:cNvSpPr>
          <p:nvPr>
            <p:ph idx="4294967295"/>
          </p:nvPr>
        </p:nvSpPr>
        <p:spPr>
          <a:xfrm>
            <a:off x="228600" y="1124744"/>
            <a:ext cx="7886700" cy="4351338"/>
          </a:xfrm>
        </p:spPr>
        <p:txBody>
          <a:bodyPr>
            <a:normAutofit/>
          </a:bodyPr>
          <a:lstStyle/>
          <a:p>
            <a:pPr>
              <a:lnSpc>
                <a:spcPct val="150000"/>
              </a:lnSpc>
            </a:pPr>
            <a:r>
              <a:rPr lang="zh-CN" altLang="en-US" sz="2800" dirty="0"/>
              <a:t>证明：</a:t>
            </a:r>
            <a:endParaRPr lang="zh-CN" altLang="en-US" sz="2400" dirty="0">
              <a:sym typeface="Symbol" panose="05050102010706020507" pitchFamily="18" charset="2"/>
            </a:endParaRPr>
          </a:p>
        </p:txBody>
      </p:sp>
      <p:pic>
        <p:nvPicPr>
          <p:cNvPr id="3" name="图片 2">
            <a:extLst>
              <a:ext uri="{FF2B5EF4-FFF2-40B4-BE49-F238E27FC236}">
                <a16:creationId xmlns:a16="http://schemas.microsoft.com/office/drawing/2014/main" id="{83A431A7-95AB-3979-3D67-ABF77CFD99DA}"/>
              </a:ext>
            </a:extLst>
          </p:cNvPr>
          <p:cNvPicPr>
            <a:picLocks noChangeAspect="1"/>
          </p:cNvPicPr>
          <p:nvPr/>
        </p:nvPicPr>
        <p:blipFill>
          <a:blip r:embed="rId2"/>
          <a:stretch>
            <a:fillRect/>
          </a:stretch>
        </p:blipFill>
        <p:spPr>
          <a:xfrm>
            <a:off x="508830" y="2005012"/>
            <a:ext cx="8373386" cy="435133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7663C9E-7F30-4AA2-AA65-8AFCE9971D85}"/>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558323FE-8261-408D-91E0-E8A8D577D059}"/>
              </a:ext>
            </a:extLst>
          </p:cNvPr>
          <p:cNvSpPr>
            <a:spLocks noGrp="1"/>
          </p:cNvSpPr>
          <p:nvPr>
            <p:ph type="sldNum" sz="quarter" idx="4294967295"/>
          </p:nvPr>
        </p:nvSpPr>
        <p:spPr>
          <a:xfrm>
            <a:off x="7086600" y="6356350"/>
            <a:ext cx="2057400" cy="365125"/>
          </a:xfrm>
        </p:spPr>
        <p:txBody>
          <a:bodyPr/>
          <a:lstStyle/>
          <a:p>
            <a:fld id="{B29CA06E-3BC9-484A-B038-B9C8474FE9E9}" type="slidenum">
              <a:rPr lang="zh-CN" altLang="en-US"/>
              <a:pPr/>
              <a:t>30</a:t>
            </a:fld>
            <a:endParaRPr lang="en-US" altLang="zh-CN"/>
          </a:p>
        </p:txBody>
      </p:sp>
      <p:pic>
        <p:nvPicPr>
          <p:cNvPr id="3" name="图片 2">
            <a:extLst>
              <a:ext uri="{FF2B5EF4-FFF2-40B4-BE49-F238E27FC236}">
                <a16:creationId xmlns:a16="http://schemas.microsoft.com/office/drawing/2014/main" id="{4138C0C6-E303-B8D5-2DED-DB240066649E}"/>
              </a:ext>
            </a:extLst>
          </p:cNvPr>
          <p:cNvPicPr>
            <a:picLocks noChangeAspect="1"/>
          </p:cNvPicPr>
          <p:nvPr/>
        </p:nvPicPr>
        <p:blipFill>
          <a:blip r:embed="rId2"/>
          <a:stretch>
            <a:fillRect/>
          </a:stretch>
        </p:blipFill>
        <p:spPr>
          <a:xfrm>
            <a:off x="251520" y="2348880"/>
            <a:ext cx="8389383" cy="264990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54DC4-D59B-8006-D2BB-10D1BF40A5D4}"/>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E376B7A7-DDF5-7B3F-5EE1-0BB06EE65925}"/>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FF868ABB-59EF-6231-189D-60E5295E97B1}"/>
              </a:ext>
            </a:extLst>
          </p:cNvPr>
          <p:cNvSpPr>
            <a:spLocks noGrp="1"/>
          </p:cNvSpPr>
          <p:nvPr>
            <p:ph type="sldNum" sz="quarter" idx="4294967295"/>
          </p:nvPr>
        </p:nvSpPr>
        <p:spPr>
          <a:xfrm>
            <a:off x="7086600" y="6356350"/>
            <a:ext cx="2057400" cy="365125"/>
          </a:xfrm>
        </p:spPr>
        <p:txBody>
          <a:bodyPr/>
          <a:lstStyle/>
          <a:p>
            <a:fld id="{B29CA06E-3BC9-484A-B038-B9C8474FE9E9}" type="slidenum">
              <a:rPr lang="zh-CN" altLang="en-US"/>
              <a:pPr/>
              <a:t>31</a:t>
            </a:fld>
            <a:endParaRPr lang="en-US" altLang="zh-CN"/>
          </a:p>
        </p:txBody>
      </p:sp>
      <p:pic>
        <p:nvPicPr>
          <p:cNvPr id="3" name="图片 2">
            <a:extLst>
              <a:ext uri="{FF2B5EF4-FFF2-40B4-BE49-F238E27FC236}">
                <a16:creationId xmlns:a16="http://schemas.microsoft.com/office/drawing/2014/main" id="{57E56C3B-4DC3-6E9E-7D59-303A5443D7DF}"/>
              </a:ext>
            </a:extLst>
          </p:cNvPr>
          <p:cNvPicPr>
            <a:picLocks noChangeAspect="1"/>
          </p:cNvPicPr>
          <p:nvPr/>
        </p:nvPicPr>
        <p:blipFill>
          <a:blip r:embed="rId2"/>
          <a:stretch>
            <a:fillRect/>
          </a:stretch>
        </p:blipFill>
        <p:spPr>
          <a:xfrm>
            <a:off x="251520" y="1899422"/>
            <a:ext cx="8475630" cy="3682431"/>
          </a:xfrm>
          <a:prstGeom prst="rect">
            <a:avLst/>
          </a:prstGeom>
        </p:spPr>
      </p:pic>
    </p:spTree>
    <p:extLst>
      <p:ext uri="{BB962C8B-B14F-4D97-AF65-F5344CB8AC3E}">
        <p14:creationId xmlns:p14="http://schemas.microsoft.com/office/powerpoint/2010/main" val="1749706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1E7A6-210F-208C-035F-89BF5B654C22}"/>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F0719696-11F7-F5D3-6C19-D6DDDE1E767F}"/>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BBD0C3D0-EEFC-5AE0-E0E5-A6E16455F980}"/>
              </a:ext>
            </a:extLst>
          </p:cNvPr>
          <p:cNvSpPr>
            <a:spLocks noGrp="1"/>
          </p:cNvSpPr>
          <p:nvPr>
            <p:ph type="sldNum" sz="quarter" idx="4294967295"/>
          </p:nvPr>
        </p:nvSpPr>
        <p:spPr>
          <a:xfrm>
            <a:off x="7086600" y="6356350"/>
            <a:ext cx="2057400" cy="365125"/>
          </a:xfrm>
        </p:spPr>
        <p:txBody>
          <a:bodyPr/>
          <a:lstStyle/>
          <a:p>
            <a:fld id="{B29CA06E-3BC9-484A-B038-B9C8474FE9E9}" type="slidenum">
              <a:rPr lang="zh-CN" altLang="en-US"/>
              <a:pPr/>
              <a:t>32</a:t>
            </a:fld>
            <a:endParaRPr lang="en-US" altLang="zh-CN"/>
          </a:p>
        </p:txBody>
      </p:sp>
      <p:pic>
        <p:nvPicPr>
          <p:cNvPr id="3" name="图片 2">
            <a:extLst>
              <a:ext uri="{FF2B5EF4-FFF2-40B4-BE49-F238E27FC236}">
                <a16:creationId xmlns:a16="http://schemas.microsoft.com/office/drawing/2014/main" id="{DB1EF856-2607-2486-424C-430FCDE0FF7C}"/>
              </a:ext>
            </a:extLst>
          </p:cNvPr>
          <p:cNvPicPr>
            <a:picLocks noChangeAspect="1"/>
          </p:cNvPicPr>
          <p:nvPr/>
        </p:nvPicPr>
        <p:blipFill>
          <a:blip r:embed="rId2"/>
          <a:stretch>
            <a:fillRect/>
          </a:stretch>
        </p:blipFill>
        <p:spPr>
          <a:xfrm>
            <a:off x="169234" y="2279724"/>
            <a:ext cx="8805531" cy="2671764"/>
          </a:xfrm>
          <a:prstGeom prst="rect">
            <a:avLst/>
          </a:prstGeom>
        </p:spPr>
      </p:pic>
    </p:spTree>
    <p:extLst>
      <p:ext uri="{BB962C8B-B14F-4D97-AF65-F5344CB8AC3E}">
        <p14:creationId xmlns:p14="http://schemas.microsoft.com/office/powerpoint/2010/main" val="1049597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594CA-CED9-415A-AA9F-547E8C4F01D7}"/>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008548CD-A41A-8EF8-1604-CA70707D8874}"/>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186256C5-F26A-30F2-7692-1996A65452EF}"/>
              </a:ext>
            </a:extLst>
          </p:cNvPr>
          <p:cNvSpPr>
            <a:spLocks noGrp="1"/>
          </p:cNvSpPr>
          <p:nvPr>
            <p:ph type="sldNum" sz="quarter" idx="4294967295"/>
          </p:nvPr>
        </p:nvSpPr>
        <p:spPr>
          <a:xfrm>
            <a:off x="7086600" y="6356350"/>
            <a:ext cx="2057400" cy="365125"/>
          </a:xfrm>
        </p:spPr>
        <p:txBody>
          <a:bodyPr/>
          <a:lstStyle/>
          <a:p>
            <a:fld id="{B29CA06E-3BC9-484A-B038-B9C8474FE9E9}" type="slidenum">
              <a:rPr lang="zh-CN" altLang="en-US"/>
              <a:pPr/>
              <a:t>33</a:t>
            </a:fld>
            <a:endParaRPr lang="en-US" altLang="zh-CN"/>
          </a:p>
        </p:txBody>
      </p:sp>
      <p:pic>
        <p:nvPicPr>
          <p:cNvPr id="5" name="图片 4">
            <a:extLst>
              <a:ext uri="{FF2B5EF4-FFF2-40B4-BE49-F238E27FC236}">
                <a16:creationId xmlns:a16="http://schemas.microsoft.com/office/drawing/2014/main" id="{C122364C-3CFC-09A8-CDA6-F27ED0302FF2}"/>
              </a:ext>
            </a:extLst>
          </p:cNvPr>
          <p:cNvPicPr>
            <a:picLocks noChangeAspect="1"/>
          </p:cNvPicPr>
          <p:nvPr/>
        </p:nvPicPr>
        <p:blipFill>
          <a:blip r:embed="rId2"/>
          <a:stretch>
            <a:fillRect/>
          </a:stretch>
        </p:blipFill>
        <p:spPr>
          <a:xfrm>
            <a:off x="509480" y="1340768"/>
            <a:ext cx="7609208" cy="4690220"/>
          </a:xfrm>
          <a:prstGeom prst="rect">
            <a:avLst/>
          </a:prstGeom>
        </p:spPr>
      </p:pic>
    </p:spTree>
    <p:extLst>
      <p:ext uri="{BB962C8B-B14F-4D97-AF65-F5344CB8AC3E}">
        <p14:creationId xmlns:p14="http://schemas.microsoft.com/office/powerpoint/2010/main" val="14109901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FFF91-F841-08FF-5D6C-00B0095990B9}"/>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378DC33A-7176-1633-D2E5-3D31339F084F}"/>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BD4B57A3-6582-15B8-304C-AB673AAB2CDC}"/>
              </a:ext>
            </a:extLst>
          </p:cNvPr>
          <p:cNvSpPr>
            <a:spLocks noGrp="1"/>
          </p:cNvSpPr>
          <p:nvPr>
            <p:ph type="sldNum" sz="quarter" idx="4294967295"/>
          </p:nvPr>
        </p:nvSpPr>
        <p:spPr>
          <a:xfrm>
            <a:off x="7086600" y="6356350"/>
            <a:ext cx="2057400" cy="365125"/>
          </a:xfrm>
        </p:spPr>
        <p:txBody>
          <a:bodyPr/>
          <a:lstStyle/>
          <a:p>
            <a:fld id="{B29CA06E-3BC9-484A-B038-B9C8474FE9E9}" type="slidenum">
              <a:rPr lang="zh-CN" altLang="en-US"/>
              <a:pPr/>
              <a:t>34</a:t>
            </a:fld>
            <a:endParaRPr lang="en-US" altLang="zh-CN"/>
          </a:p>
        </p:txBody>
      </p:sp>
      <p:pic>
        <p:nvPicPr>
          <p:cNvPr id="3" name="图片 2">
            <a:extLst>
              <a:ext uri="{FF2B5EF4-FFF2-40B4-BE49-F238E27FC236}">
                <a16:creationId xmlns:a16="http://schemas.microsoft.com/office/drawing/2014/main" id="{85257B95-E34F-2861-D2E9-6BC0FB719EB2}"/>
              </a:ext>
            </a:extLst>
          </p:cNvPr>
          <p:cNvPicPr>
            <a:picLocks noChangeAspect="1"/>
          </p:cNvPicPr>
          <p:nvPr/>
        </p:nvPicPr>
        <p:blipFill>
          <a:blip r:embed="rId2"/>
          <a:stretch>
            <a:fillRect/>
          </a:stretch>
        </p:blipFill>
        <p:spPr>
          <a:xfrm>
            <a:off x="65373" y="136525"/>
            <a:ext cx="9078627" cy="6219825"/>
          </a:xfrm>
          <a:prstGeom prst="rect">
            <a:avLst/>
          </a:prstGeom>
        </p:spPr>
      </p:pic>
    </p:spTree>
    <p:extLst>
      <p:ext uri="{BB962C8B-B14F-4D97-AF65-F5344CB8AC3E}">
        <p14:creationId xmlns:p14="http://schemas.microsoft.com/office/powerpoint/2010/main" val="3185613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B0F54-2454-4392-9DD3-97B3ED823186}"/>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7FB4A6AA-55E0-6EDE-61E9-14D7F20C26E2}"/>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3CBFA731-221E-9703-32AD-D4889044DB54}"/>
              </a:ext>
            </a:extLst>
          </p:cNvPr>
          <p:cNvSpPr>
            <a:spLocks noGrp="1"/>
          </p:cNvSpPr>
          <p:nvPr>
            <p:ph type="sldNum" sz="quarter" idx="4294967295"/>
          </p:nvPr>
        </p:nvSpPr>
        <p:spPr>
          <a:xfrm>
            <a:off x="7086600" y="6356350"/>
            <a:ext cx="2057400" cy="365125"/>
          </a:xfrm>
        </p:spPr>
        <p:txBody>
          <a:bodyPr/>
          <a:lstStyle/>
          <a:p>
            <a:fld id="{B29CA06E-3BC9-484A-B038-B9C8474FE9E9}" type="slidenum">
              <a:rPr lang="zh-CN" altLang="en-US"/>
              <a:pPr/>
              <a:t>35</a:t>
            </a:fld>
            <a:endParaRPr lang="en-US" altLang="zh-CN"/>
          </a:p>
        </p:txBody>
      </p:sp>
      <p:pic>
        <p:nvPicPr>
          <p:cNvPr id="3" name="图片 2">
            <a:extLst>
              <a:ext uri="{FF2B5EF4-FFF2-40B4-BE49-F238E27FC236}">
                <a16:creationId xmlns:a16="http://schemas.microsoft.com/office/drawing/2014/main" id="{F8DF9A26-08E2-0CF6-363D-B4635CDD0E19}"/>
              </a:ext>
            </a:extLst>
          </p:cNvPr>
          <p:cNvPicPr>
            <a:picLocks noChangeAspect="1"/>
          </p:cNvPicPr>
          <p:nvPr/>
        </p:nvPicPr>
        <p:blipFill>
          <a:blip r:embed="rId2"/>
          <a:stretch>
            <a:fillRect/>
          </a:stretch>
        </p:blipFill>
        <p:spPr>
          <a:xfrm>
            <a:off x="103530" y="1142345"/>
            <a:ext cx="8936940" cy="5579130"/>
          </a:xfrm>
          <a:prstGeom prst="rect">
            <a:avLst/>
          </a:prstGeom>
        </p:spPr>
      </p:pic>
    </p:spTree>
    <p:extLst>
      <p:ext uri="{BB962C8B-B14F-4D97-AF65-F5344CB8AC3E}">
        <p14:creationId xmlns:p14="http://schemas.microsoft.com/office/powerpoint/2010/main" val="1195255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A350E-6F72-1352-2BC5-03150F38DCBD}"/>
            </a:ext>
          </a:extLst>
        </p:cNvPr>
        <p:cNvGrpSpPr/>
        <p:nvPr/>
      </p:nvGrpSpPr>
      <p:grpSpPr>
        <a:xfrm>
          <a:off x="0" y="0"/>
          <a:ext cx="0" cy="0"/>
          <a:chOff x="0" y="0"/>
          <a:chExt cx="0" cy="0"/>
        </a:xfrm>
      </p:grpSpPr>
      <p:sp>
        <p:nvSpPr>
          <p:cNvPr id="34818" name="Rectangle 2">
            <a:extLst>
              <a:ext uri="{FF2B5EF4-FFF2-40B4-BE49-F238E27FC236}">
                <a16:creationId xmlns:a16="http://schemas.microsoft.com/office/drawing/2014/main" id="{91C8073C-97B8-B492-89AB-D471ACC99579}"/>
              </a:ext>
            </a:extLst>
          </p:cNvPr>
          <p:cNvSpPr>
            <a:spLocks noGrp="1" noChangeArrowheads="1"/>
          </p:cNvSpPr>
          <p:nvPr>
            <p:ph type="title" idx="4294967295"/>
          </p:nvPr>
        </p:nvSpPr>
        <p:spPr>
          <a:xfrm>
            <a:off x="467544" y="136525"/>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A11DFEA5-6BD0-4C15-F2E2-186938EEF1BA}"/>
              </a:ext>
            </a:extLst>
          </p:cNvPr>
          <p:cNvSpPr>
            <a:spLocks noGrp="1"/>
          </p:cNvSpPr>
          <p:nvPr>
            <p:ph type="sldNum" sz="quarter" idx="4294967295"/>
          </p:nvPr>
        </p:nvSpPr>
        <p:spPr>
          <a:xfrm>
            <a:off x="7086600" y="6356350"/>
            <a:ext cx="2057400" cy="365125"/>
          </a:xfrm>
        </p:spPr>
        <p:txBody>
          <a:bodyPr/>
          <a:lstStyle/>
          <a:p>
            <a:fld id="{B29CA06E-3BC9-484A-B038-B9C8474FE9E9}" type="slidenum">
              <a:rPr lang="zh-CN" altLang="en-US"/>
              <a:pPr/>
              <a:t>36</a:t>
            </a:fld>
            <a:endParaRPr lang="en-US" altLang="zh-CN"/>
          </a:p>
        </p:txBody>
      </p:sp>
      <p:pic>
        <p:nvPicPr>
          <p:cNvPr id="3" name="图片 2">
            <a:extLst>
              <a:ext uri="{FF2B5EF4-FFF2-40B4-BE49-F238E27FC236}">
                <a16:creationId xmlns:a16="http://schemas.microsoft.com/office/drawing/2014/main" id="{79BD410B-E439-C095-E222-0479069BD52F}"/>
              </a:ext>
            </a:extLst>
          </p:cNvPr>
          <p:cNvPicPr>
            <a:picLocks noChangeAspect="1"/>
          </p:cNvPicPr>
          <p:nvPr/>
        </p:nvPicPr>
        <p:blipFill>
          <a:blip r:embed="rId2"/>
          <a:stretch>
            <a:fillRect/>
          </a:stretch>
        </p:blipFill>
        <p:spPr>
          <a:xfrm>
            <a:off x="180368" y="2852936"/>
            <a:ext cx="8783263" cy="1788065"/>
          </a:xfrm>
          <a:prstGeom prst="rect">
            <a:avLst/>
          </a:prstGeom>
        </p:spPr>
      </p:pic>
    </p:spTree>
    <p:extLst>
      <p:ext uri="{BB962C8B-B14F-4D97-AF65-F5344CB8AC3E}">
        <p14:creationId xmlns:p14="http://schemas.microsoft.com/office/powerpoint/2010/main" val="3711773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3F71698-AF51-4C10-B4D3-E6F584BD68E4}"/>
              </a:ext>
            </a:extLst>
          </p:cNvPr>
          <p:cNvSpPr>
            <a:spLocks noGrp="1" noChangeArrowheads="1"/>
          </p:cNvSpPr>
          <p:nvPr>
            <p:ph type="title" idx="4294967295"/>
          </p:nvPr>
        </p:nvSpPr>
        <p:spPr>
          <a:xfrm>
            <a:off x="675481" y="109537"/>
            <a:ext cx="7793037" cy="1143000"/>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6" name="灯片编号占位符 5">
            <a:extLst>
              <a:ext uri="{FF2B5EF4-FFF2-40B4-BE49-F238E27FC236}">
                <a16:creationId xmlns:a16="http://schemas.microsoft.com/office/drawing/2014/main" id="{6C911F46-7BAC-4862-9DBD-8E4A3AE72A6F}"/>
              </a:ext>
            </a:extLst>
          </p:cNvPr>
          <p:cNvSpPr>
            <a:spLocks noGrp="1"/>
          </p:cNvSpPr>
          <p:nvPr>
            <p:ph type="sldNum" sz="quarter" idx="4294967295"/>
          </p:nvPr>
        </p:nvSpPr>
        <p:spPr>
          <a:xfrm>
            <a:off x="7086600" y="6356350"/>
            <a:ext cx="2057400" cy="365125"/>
          </a:xfrm>
        </p:spPr>
        <p:txBody>
          <a:bodyPr/>
          <a:lstStyle/>
          <a:p>
            <a:fld id="{3FA0D887-C34D-4E0D-91EA-993E66F43EA2}" type="slidenum">
              <a:rPr lang="zh-CN" altLang="en-US"/>
              <a:pPr/>
              <a:t>37</a:t>
            </a:fld>
            <a:endParaRPr lang="en-US" altLang="zh-CN"/>
          </a:p>
        </p:txBody>
      </p:sp>
      <p:sp>
        <p:nvSpPr>
          <p:cNvPr id="35843" name="Rectangle 3">
            <a:extLst>
              <a:ext uri="{FF2B5EF4-FFF2-40B4-BE49-F238E27FC236}">
                <a16:creationId xmlns:a16="http://schemas.microsoft.com/office/drawing/2014/main" id="{671A9007-38C6-4134-B505-40B4B67EDD40}"/>
              </a:ext>
            </a:extLst>
          </p:cNvPr>
          <p:cNvSpPr>
            <a:spLocks noGrp="1" noChangeArrowheads="1"/>
          </p:cNvSpPr>
          <p:nvPr>
            <p:ph idx="4294967295"/>
          </p:nvPr>
        </p:nvSpPr>
        <p:spPr>
          <a:xfrm>
            <a:off x="467544" y="1254859"/>
            <a:ext cx="7886700" cy="5143400"/>
          </a:xfrm>
        </p:spPr>
        <p:txBody>
          <a:bodyPr>
            <a:normAutofit/>
          </a:bodyPr>
          <a:lstStyle/>
          <a:p>
            <a:pPr>
              <a:lnSpc>
                <a:spcPct val="150000"/>
              </a:lnSpc>
            </a:pPr>
            <a:r>
              <a:rPr lang="zh-CN" altLang="en-US" sz="2800" dirty="0"/>
              <a:t>规约的传递性</a:t>
            </a:r>
          </a:p>
          <a:p>
            <a:pPr>
              <a:lnSpc>
                <a:spcPct val="150000"/>
              </a:lnSpc>
            </a:pPr>
            <a:r>
              <a:rPr lang="zh-CN" altLang="en-US" sz="2800" dirty="0"/>
              <a:t>定理8.9 如果</a:t>
            </a:r>
            <a:r>
              <a:rPr lang="en-US" altLang="zh-CN" sz="2800" dirty="0"/>
              <a:t>X </a:t>
            </a:r>
            <a:r>
              <a:rPr lang="en-US" altLang="zh-CN" sz="2800" dirty="0">
                <a:sym typeface="Symbol" panose="05050102010706020507" pitchFamily="18" charset="2"/>
              </a:rPr>
              <a:t></a:t>
            </a:r>
            <a:r>
              <a:rPr lang="en-US" altLang="zh-CN" sz="2800" baseline="-25000" dirty="0">
                <a:sym typeface="Symbol" panose="05050102010706020507" pitchFamily="18" charset="2"/>
              </a:rPr>
              <a:t> P</a:t>
            </a:r>
            <a:r>
              <a:rPr lang="en-US" altLang="zh-CN" sz="2800" dirty="0"/>
              <a:t> Y </a:t>
            </a:r>
            <a:r>
              <a:rPr lang="zh-CN" altLang="en-US" sz="2800" dirty="0"/>
              <a:t>且 </a:t>
            </a:r>
            <a:r>
              <a:rPr lang="en-US" altLang="zh-CN" sz="2800" dirty="0"/>
              <a:t>Y </a:t>
            </a:r>
            <a:r>
              <a:rPr lang="en-US" altLang="zh-CN" sz="2800" dirty="0">
                <a:sym typeface="Symbol" panose="05050102010706020507" pitchFamily="18" charset="2"/>
              </a:rPr>
              <a:t></a:t>
            </a:r>
            <a:r>
              <a:rPr lang="en-US" altLang="zh-CN" sz="2800" baseline="-25000" dirty="0">
                <a:sym typeface="Symbol" panose="05050102010706020507" pitchFamily="18" charset="2"/>
              </a:rPr>
              <a:t> P</a:t>
            </a:r>
            <a:r>
              <a:rPr lang="en-US" altLang="zh-CN" sz="2800" dirty="0"/>
              <a:t> Z, </a:t>
            </a:r>
            <a:r>
              <a:rPr lang="zh-CN" altLang="en-US" sz="2800" dirty="0"/>
              <a:t>则</a:t>
            </a:r>
            <a:r>
              <a:rPr lang="en-US" altLang="zh-CN" sz="2800" dirty="0"/>
              <a:t>X </a:t>
            </a:r>
            <a:r>
              <a:rPr lang="en-US" altLang="zh-CN" sz="2800" dirty="0">
                <a:sym typeface="Symbol" panose="05050102010706020507" pitchFamily="18" charset="2"/>
              </a:rPr>
              <a:t></a:t>
            </a:r>
            <a:r>
              <a:rPr lang="en-US" altLang="zh-CN" sz="2800" baseline="-25000" dirty="0">
                <a:sym typeface="Symbol" panose="05050102010706020507" pitchFamily="18" charset="2"/>
              </a:rPr>
              <a:t> P</a:t>
            </a:r>
            <a:r>
              <a:rPr lang="en-US" altLang="zh-CN" sz="2800" dirty="0"/>
              <a:t> Z.</a:t>
            </a:r>
            <a:endParaRPr lang="zh-CN" altLang="en-US" sz="2800" dirty="0"/>
          </a:p>
          <a:p>
            <a:pPr>
              <a:lnSpc>
                <a:spcPct val="150000"/>
              </a:lnSpc>
              <a:buFont typeface="Wingdings" panose="05000000000000000000" pitchFamily="2" charset="2"/>
              <a:buNone/>
            </a:pPr>
            <a:r>
              <a:rPr lang="zh-CN" altLang="en-US" sz="2800" dirty="0"/>
              <a:t>     证明：把两个算法组合起来</a:t>
            </a:r>
            <a:endParaRPr lang="en-US" altLang="zh-CN" sz="2800" dirty="0"/>
          </a:p>
          <a:p>
            <a:pPr>
              <a:lnSpc>
                <a:spcPct val="150000"/>
              </a:lnSpc>
              <a:buFont typeface="Wingdings" panose="05000000000000000000" pitchFamily="2" charset="2"/>
              <a:buNone/>
            </a:pPr>
            <a:endParaRPr lang="zh-CN" altLang="en-US" sz="2800" dirty="0"/>
          </a:p>
          <a:p>
            <a:pPr>
              <a:lnSpc>
                <a:spcPct val="150000"/>
              </a:lnSpc>
            </a:pPr>
            <a:endParaRPr lang="en-US" altLang="zh-CN" sz="2800" dirty="0"/>
          </a:p>
          <a:p>
            <a:pPr>
              <a:lnSpc>
                <a:spcPct val="150000"/>
              </a:lnSpc>
              <a:buFont typeface="Wingdings" panose="05000000000000000000" pitchFamily="2" charset="2"/>
              <a:buNone/>
            </a:pPr>
            <a:endParaRPr lang="en-US" altLang="zh-CN" sz="2800" dirty="0"/>
          </a:p>
        </p:txBody>
      </p:sp>
      <p:pic>
        <p:nvPicPr>
          <p:cNvPr id="3" name="图片 2">
            <a:extLst>
              <a:ext uri="{FF2B5EF4-FFF2-40B4-BE49-F238E27FC236}">
                <a16:creationId xmlns:a16="http://schemas.microsoft.com/office/drawing/2014/main" id="{9CD23AC4-ECA4-E015-0026-6E0F0B2EEC77}"/>
              </a:ext>
            </a:extLst>
          </p:cNvPr>
          <p:cNvPicPr>
            <a:picLocks noChangeAspect="1"/>
          </p:cNvPicPr>
          <p:nvPr/>
        </p:nvPicPr>
        <p:blipFill>
          <a:blip r:embed="rId2"/>
          <a:stretch>
            <a:fillRect/>
          </a:stretch>
        </p:blipFill>
        <p:spPr>
          <a:xfrm>
            <a:off x="142943" y="3602193"/>
            <a:ext cx="8858112" cy="27777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B56099D-322F-48AD-9C6A-B6CC636660A3}"/>
              </a:ext>
            </a:extLst>
          </p:cNvPr>
          <p:cNvSpPr>
            <a:spLocks noGrp="1" noChangeArrowheads="1"/>
          </p:cNvSpPr>
          <p:nvPr>
            <p:ph type="title" idx="4294967295"/>
          </p:nvPr>
        </p:nvSpPr>
        <p:spPr>
          <a:xfrm>
            <a:off x="628650" y="71691"/>
            <a:ext cx="7886700" cy="1325563"/>
          </a:xfrm>
        </p:spPr>
        <p:txBody>
          <a:bodyPr/>
          <a:lstStyle/>
          <a:p>
            <a:r>
              <a:rPr lang="zh-CN" altLang="en-US" dirty="0"/>
              <a:t>使用</a:t>
            </a:r>
            <a:r>
              <a:rPr lang="zh-CN" altLang="en-US" dirty="0">
                <a:latin typeface="Times New Roman" panose="02020603050405020304" pitchFamily="18" charset="0"/>
              </a:rPr>
              <a:t>“</a:t>
            </a:r>
            <a:r>
              <a:rPr lang="zh-CN" altLang="en-US" dirty="0"/>
              <a:t>零件</a:t>
            </a:r>
            <a:r>
              <a:rPr lang="zh-CN" altLang="en-US" dirty="0">
                <a:latin typeface="Times New Roman" panose="02020603050405020304" pitchFamily="18" charset="0"/>
              </a:rPr>
              <a:t>”</a:t>
            </a:r>
            <a:r>
              <a:rPr lang="zh-CN" altLang="en-US" dirty="0"/>
              <a:t>归约</a:t>
            </a:r>
          </a:p>
        </p:txBody>
      </p:sp>
      <p:sp>
        <p:nvSpPr>
          <p:cNvPr id="8" name="灯片编号占位符 5">
            <a:extLst>
              <a:ext uri="{FF2B5EF4-FFF2-40B4-BE49-F238E27FC236}">
                <a16:creationId xmlns:a16="http://schemas.microsoft.com/office/drawing/2014/main" id="{36B641D6-9756-4BF3-95ED-D245626C9E92}"/>
              </a:ext>
            </a:extLst>
          </p:cNvPr>
          <p:cNvSpPr>
            <a:spLocks noGrp="1"/>
          </p:cNvSpPr>
          <p:nvPr>
            <p:ph type="sldNum" sz="quarter" idx="4294967295"/>
          </p:nvPr>
        </p:nvSpPr>
        <p:spPr>
          <a:xfrm>
            <a:off x="7086600" y="6356350"/>
            <a:ext cx="2057400" cy="365125"/>
          </a:xfrm>
        </p:spPr>
        <p:txBody>
          <a:bodyPr/>
          <a:lstStyle/>
          <a:p>
            <a:fld id="{241F3654-BB00-47A8-91E5-A488A89A5686}" type="slidenum">
              <a:rPr lang="zh-CN" altLang="en-US"/>
              <a:pPr/>
              <a:t>38</a:t>
            </a:fld>
            <a:endParaRPr lang="en-US" altLang="zh-CN"/>
          </a:p>
        </p:txBody>
      </p:sp>
      <p:sp>
        <p:nvSpPr>
          <p:cNvPr id="36867" name="Rectangle 3">
            <a:extLst>
              <a:ext uri="{FF2B5EF4-FFF2-40B4-BE49-F238E27FC236}">
                <a16:creationId xmlns:a16="http://schemas.microsoft.com/office/drawing/2014/main" id="{519A4CDE-CE27-48EB-ABF5-20172A5247DB}"/>
              </a:ext>
            </a:extLst>
          </p:cNvPr>
          <p:cNvSpPr>
            <a:spLocks noGrp="1" noChangeArrowheads="1"/>
          </p:cNvSpPr>
          <p:nvPr>
            <p:ph idx="4294967295"/>
          </p:nvPr>
        </p:nvSpPr>
        <p:spPr>
          <a:xfrm>
            <a:off x="323528" y="1085056"/>
            <a:ext cx="7886700" cy="4351338"/>
          </a:xfrm>
        </p:spPr>
        <p:txBody>
          <a:bodyPr>
            <a:normAutofit/>
          </a:bodyPr>
          <a:lstStyle/>
          <a:p>
            <a:pPr lvl="1">
              <a:lnSpc>
                <a:spcPct val="150000"/>
              </a:lnSpc>
            </a:pPr>
            <a:r>
              <a:rPr lang="zh-CN" altLang="en-US" sz="2400" dirty="0">
                <a:solidFill>
                  <a:srgbClr val="000000"/>
                </a:solidFill>
                <a:latin typeface="宋体" panose="02010600030101010101" pitchFamily="2" charset="-122"/>
              </a:rPr>
              <a:t>简单等价归约</a:t>
            </a:r>
            <a:r>
              <a:rPr lang="en-US" altLang="zh-CN" sz="2400" dirty="0"/>
              <a:t>:  </a:t>
            </a:r>
            <a:r>
              <a:rPr lang="zh-CN" altLang="en-US" sz="3200" dirty="0"/>
              <a:t>独立集</a:t>
            </a:r>
            <a:r>
              <a:rPr lang="zh-CN" altLang="en-US" sz="2400" dirty="0"/>
              <a:t> </a:t>
            </a:r>
            <a:r>
              <a:rPr lang="zh-CN" altLang="en-US" sz="2400" dirty="0">
                <a:sym typeface="Symbol" panose="05050102010706020507" pitchFamily="18" charset="2"/>
              </a:rPr>
              <a:t> </a:t>
            </a:r>
            <a:r>
              <a:rPr lang="en-US" altLang="zh-CN" sz="2400" baseline="-25000" dirty="0">
                <a:sym typeface="Symbol" panose="05050102010706020507" pitchFamily="18" charset="2"/>
              </a:rPr>
              <a:t>P</a:t>
            </a:r>
            <a:r>
              <a:rPr lang="en-US" altLang="zh-CN" sz="2400" dirty="0"/>
              <a:t> </a:t>
            </a:r>
            <a:r>
              <a:rPr lang="zh-CN" altLang="en-US" sz="3200" dirty="0"/>
              <a:t>顶点覆盖</a:t>
            </a:r>
            <a:r>
              <a:rPr lang="en-US" altLang="zh-CN" sz="3200" dirty="0"/>
              <a:t>.</a:t>
            </a:r>
            <a:endParaRPr lang="en-US" altLang="zh-CN" sz="2400" dirty="0"/>
          </a:p>
          <a:p>
            <a:pPr lvl="1">
              <a:lnSpc>
                <a:spcPct val="150000"/>
              </a:lnSpc>
            </a:pPr>
            <a:r>
              <a:rPr lang="zh-CN" altLang="en-US" sz="2400" dirty="0">
                <a:solidFill>
                  <a:srgbClr val="000000"/>
                </a:solidFill>
                <a:latin typeface="宋体" panose="02010600030101010101" pitchFamily="2" charset="-122"/>
              </a:rPr>
              <a:t>从特殊情形归约</a:t>
            </a:r>
            <a:r>
              <a:rPr lang="en-US" altLang="zh-CN" sz="2400" dirty="0"/>
              <a:t>:  </a:t>
            </a:r>
            <a:r>
              <a:rPr lang="zh-CN" altLang="en-US" sz="3200" dirty="0"/>
              <a:t>顶点覆盖</a:t>
            </a:r>
            <a:r>
              <a:rPr lang="en-US" altLang="zh-CN" sz="2400" dirty="0"/>
              <a:t> </a:t>
            </a:r>
            <a:r>
              <a:rPr lang="en-US" altLang="zh-CN" sz="2400" dirty="0">
                <a:sym typeface="Symbol" panose="05050102010706020507" pitchFamily="18" charset="2"/>
              </a:rPr>
              <a:t> </a:t>
            </a:r>
            <a:r>
              <a:rPr lang="en-US" altLang="zh-CN" sz="2400" baseline="-25000" dirty="0">
                <a:sym typeface="Symbol" panose="05050102010706020507" pitchFamily="18" charset="2"/>
              </a:rPr>
              <a:t>P</a:t>
            </a:r>
            <a:r>
              <a:rPr lang="en-US" altLang="zh-CN" sz="2400" dirty="0"/>
              <a:t> </a:t>
            </a:r>
            <a:r>
              <a:rPr lang="zh-CN" altLang="en-US" sz="3200" dirty="0"/>
              <a:t>集合覆盖</a:t>
            </a:r>
            <a:r>
              <a:rPr lang="en-US" altLang="zh-CN" sz="3200" dirty="0"/>
              <a:t>.</a:t>
            </a:r>
            <a:endParaRPr lang="en-US" altLang="zh-CN" sz="2400" dirty="0"/>
          </a:p>
          <a:p>
            <a:pPr lvl="1">
              <a:lnSpc>
                <a:spcPct val="150000"/>
              </a:lnSpc>
            </a:pPr>
            <a:r>
              <a:rPr lang="zh-CN" altLang="en-US" sz="2400" dirty="0"/>
              <a:t>使用</a:t>
            </a:r>
            <a:r>
              <a:rPr lang="zh-CN" altLang="en-US" sz="2400" dirty="0">
                <a:latin typeface="Times New Roman" panose="02020603050405020304" pitchFamily="18" charset="0"/>
              </a:rPr>
              <a:t>“</a:t>
            </a:r>
            <a:r>
              <a:rPr lang="zh-CN" altLang="en-US" sz="2400" dirty="0"/>
              <a:t>零件</a:t>
            </a:r>
            <a:r>
              <a:rPr lang="zh-CN" altLang="en-US" sz="2400" dirty="0">
                <a:latin typeface="Times New Roman" panose="02020603050405020304" pitchFamily="18" charset="0"/>
              </a:rPr>
              <a:t>”</a:t>
            </a:r>
            <a:r>
              <a:rPr lang="zh-CN" altLang="en-US" sz="2400" dirty="0"/>
              <a:t>归约</a:t>
            </a:r>
            <a:r>
              <a:rPr lang="en-US" altLang="zh-CN" sz="2400" dirty="0"/>
              <a:t>:  </a:t>
            </a:r>
            <a:r>
              <a:rPr lang="en-US" altLang="zh-CN" sz="3200" dirty="0"/>
              <a:t>3-SAT</a:t>
            </a:r>
            <a:r>
              <a:rPr lang="en-US" altLang="zh-CN" sz="2400" dirty="0"/>
              <a:t> </a:t>
            </a:r>
            <a:r>
              <a:rPr lang="en-US" altLang="zh-CN" sz="2400" dirty="0">
                <a:sym typeface="Symbol" panose="05050102010706020507" pitchFamily="18" charset="2"/>
              </a:rPr>
              <a:t> </a:t>
            </a:r>
            <a:r>
              <a:rPr lang="en-US" altLang="zh-CN" sz="2400" baseline="-25000" dirty="0">
                <a:sym typeface="Symbol" panose="05050102010706020507" pitchFamily="18" charset="2"/>
              </a:rPr>
              <a:t>P</a:t>
            </a:r>
            <a:r>
              <a:rPr lang="en-US" altLang="zh-CN" sz="2400" dirty="0"/>
              <a:t> </a:t>
            </a:r>
            <a:r>
              <a:rPr lang="zh-CN" altLang="en-US" sz="3200" dirty="0"/>
              <a:t>独立集</a:t>
            </a:r>
          </a:p>
          <a:p>
            <a:pPr>
              <a:lnSpc>
                <a:spcPct val="150000"/>
              </a:lnSpc>
            </a:pPr>
            <a:endParaRPr lang="zh-CN" altLang="en-US" sz="2800" dirty="0"/>
          </a:p>
        </p:txBody>
      </p:sp>
      <p:sp>
        <p:nvSpPr>
          <p:cNvPr id="36868" name="Text Box 4">
            <a:extLst>
              <a:ext uri="{FF2B5EF4-FFF2-40B4-BE49-F238E27FC236}">
                <a16:creationId xmlns:a16="http://schemas.microsoft.com/office/drawing/2014/main" id="{30FEB7B1-07EF-443B-A537-F131BDCD9E92}"/>
              </a:ext>
            </a:extLst>
          </p:cNvPr>
          <p:cNvSpPr txBox="1">
            <a:spLocks noChangeArrowheads="1"/>
          </p:cNvSpPr>
          <p:nvPr/>
        </p:nvSpPr>
        <p:spPr bwMode="auto">
          <a:xfrm>
            <a:off x="685800" y="3833813"/>
            <a:ext cx="8515350"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SzTx/>
              <a:buFontTx/>
              <a:buNone/>
            </a:pPr>
            <a:r>
              <a:rPr lang="zh-CN" altLang="en-US" sz="2800"/>
              <a:t>于是对于这几个问题的难度我们有了一个比较关系：</a:t>
            </a:r>
          </a:p>
          <a:p>
            <a:pPr>
              <a:spcBef>
                <a:spcPct val="0"/>
              </a:spcBef>
              <a:buClrTx/>
              <a:buSzTx/>
              <a:buFontTx/>
              <a:buNone/>
            </a:pPr>
            <a:endParaRPr lang="en-US" altLang="zh-CN" sz="2400"/>
          </a:p>
        </p:txBody>
      </p:sp>
      <p:sp>
        <p:nvSpPr>
          <p:cNvPr id="36869" name="Rectangle 5">
            <a:extLst>
              <a:ext uri="{FF2B5EF4-FFF2-40B4-BE49-F238E27FC236}">
                <a16:creationId xmlns:a16="http://schemas.microsoft.com/office/drawing/2014/main" id="{6E5F8968-B83C-49E8-BD6C-E89998E91B42}"/>
              </a:ext>
            </a:extLst>
          </p:cNvPr>
          <p:cNvSpPr>
            <a:spLocks noChangeArrowheads="1"/>
          </p:cNvSpPr>
          <p:nvPr/>
        </p:nvSpPr>
        <p:spPr bwMode="auto">
          <a:xfrm>
            <a:off x="1066800" y="4953000"/>
            <a:ext cx="7848600" cy="9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ts val="2600"/>
              </a:lnSpc>
              <a:spcBef>
                <a:spcPct val="50000"/>
              </a:spcBef>
              <a:buClr>
                <a:srgbClr val="003399"/>
              </a:buClr>
              <a:buSzPct val="50000"/>
              <a:buFont typeface="Monotype Sorts" pitchFamily="92" charset="2"/>
              <a:buNone/>
            </a:pPr>
            <a:r>
              <a:rPr lang="en-US" altLang="zh-CN" sz="2800">
                <a:latin typeface="Comic Sans MS" panose="030F0702030302020204" pitchFamily="66" charset="0"/>
              </a:rPr>
              <a:t>3-SAT </a:t>
            </a:r>
            <a:r>
              <a:rPr lang="en-US" altLang="zh-CN" sz="2800">
                <a:latin typeface="Comic Sans MS" panose="030F0702030302020204" pitchFamily="66" charset="0"/>
                <a:sym typeface="Symbol" panose="05050102010706020507" pitchFamily="18" charset="2"/>
              </a:rPr>
              <a:t> </a:t>
            </a:r>
            <a:r>
              <a:rPr lang="en-US" altLang="zh-CN" sz="2800" baseline="-25000">
                <a:latin typeface="Comic Sans MS" panose="030F0702030302020204" pitchFamily="66" charset="0"/>
                <a:sym typeface="Symbol" panose="05050102010706020507" pitchFamily="18" charset="2"/>
              </a:rPr>
              <a:t>P</a:t>
            </a:r>
            <a:r>
              <a:rPr lang="en-US" altLang="zh-CN" sz="2800">
                <a:latin typeface="Comic Sans MS" panose="030F0702030302020204" pitchFamily="66" charset="0"/>
              </a:rPr>
              <a:t> </a:t>
            </a:r>
            <a:r>
              <a:rPr lang="zh-CN" altLang="en-US" sz="2800">
                <a:latin typeface="Comic Sans MS" panose="030F0702030302020204" pitchFamily="66" charset="0"/>
              </a:rPr>
              <a:t>独立集 </a:t>
            </a:r>
            <a:r>
              <a:rPr lang="zh-CN" altLang="en-US" sz="2800">
                <a:latin typeface="Comic Sans MS" panose="030F0702030302020204" pitchFamily="66" charset="0"/>
                <a:sym typeface="Symbol" panose="05050102010706020507" pitchFamily="18" charset="2"/>
              </a:rPr>
              <a:t> </a:t>
            </a:r>
            <a:r>
              <a:rPr lang="en-US" altLang="zh-CN" sz="2800" baseline="-25000">
                <a:latin typeface="Comic Sans MS" panose="030F0702030302020204" pitchFamily="66" charset="0"/>
                <a:sym typeface="Symbol" panose="05050102010706020507" pitchFamily="18" charset="2"/>
              </a:rPr>
              <a:t>P</a:t>
            </a:r>
            <a:r>
              <a:rPr lang="en-US" altLang="zh-CN" sz="2800">
                <a:latin typeface="Comic Sans MS" panose="030F0702030302020204" pitchFamily="66" charset="0"/>
              </a:rPr>
              <a:t> </a:t>
            </a:r>
            <a:r>
              <a:rPr lang="zh-CN" altLang="en-US" sz="2800">
                <a:latin typeface="Comic Sans MS" panose="030F0702030302020204" pitchFamily="66" charset="0"/>
              </a:rPr>
              <a:t>顶点覆盖</a:t>
            </a:r>
            <a:r>
              <a:rPr lang="en-US" altLang="zh-CN" sz="2800">
                <a:latin typeface="Comic Sans MS" panose="030F0702030302020204" pitchFamily="66" charset="0"/>
              </a:rPr>
              <a:t> </a:t>
            </a:r>
            <a:r>
              <a:rPr lang="en-US" altLang="zh-CN" sz="2800">
                <a:latin typeface="Comic Sans MS" panose="030F0702030302020204" pitchFamily="66" charset="0"/>
                <a:sym typeface="Symbol" panose="05050102010706020507" pitchFamily="18" charset="2"/>
              </a:rPr>
              <a:t> </a:t>
            </a:r>
            <a:r>
              <a:rPr lang="en-US" altLang="zh-CN" sz="2800" baseline="-25000">
                <a:latin typeface="Comic Sans MS" panose="030F0702030302020204" pitchFamily="66" charset="0"/>
                <a:sym typeface="Symbol" panose="05050102010706020507" pitchFamily="18" charset="2"/>
              </a:rPr>
              <a:t>P</a:t>
            </a:r>
            <a:r>
              <a:rPr lang="en-US" altLang="zh-CN" sz="2800">
                <a:latin typeface="Comic Sans MS" panose="030F0702030302020204" pitchFamily="66" charset="0"/>
              </a:rPr>
              <a:t> </a:t>
            </a:r>
            <a:r>
              <a:rPr lang="zh-CN" altLang="en-US" sz="2800">
                <a:latin typeface="Comic Sans MS" panose="030F0702030302020204" pitchFamily="66" charset="0"/>
              </a:rPr>
              <a:t>集合覆盖.</a:t>
            </a:r>
          </a:p>
          <a:p>
            <a:pPr eaLnBrk="0" hangingPunct="0">
              <a:lnSpc>
                <a:spcPts val="2600"/>
              </a:lnSpc>
              <a:spcBef>
                <a:spcPct val="50000"/>
              </a:spcBef>
              <a:buClr>
                <a:srgbClr val="003399"/>
              </a:buClr>
              <a:buSzPct val="50000"/>
              <a:buFont typeface="Monotype Sorts" pitchFamily="92" charset="2"/>
              <a:buNone/>
            </a:pPr>
            <a:endParaRPr lang="en-US" altLang="zh-CN" sz="280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 calcmode="lin" valueType="num">
                                      <p:cBhvr additive="base">
                                        <p:cTn id="7" dur="500" fill="hold"/>
                                        <p:tgtEl>
                                          <p:spTgt spid="36868"/>
                                        </p:tgtEl>
                                        <p:attrNameLst>
                                          <p:attrName>ppt_x</p:attrName>
                                        </p:attrNameLst>
                                      </p:cBhvr>
                                      <p:tavLst>
                                        <p:tav tm="0">
                                          <p:val>
                                            <p:strVal val="0-#ppt_w/2"/>
                                          </p:val>
                                        </p:tav>
                                        <p:tav tm="100000">
                                          <p:val>
                                            <p:strVal val="#ppt_x"/>
                                          </p:val>
                                        </p:tav>
                                      </p:tavLst>
                                    </p:anim>
                                    <p:anim calcmode="lin" valueType="num">
                                      <p:cBhvr additive="base">
                                        <p:cTn id="8" dur="500" fill="hold"/>
                                        <p:tgtEl>
                                          <p:spTgt spid="368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869"/>
                                        </p:tgtEl>
                                        <p:attrNameLst>
                                          <p:attrName>style.visibility</p:attrName>
                                        </p:attrNameLst>
                                      </p:cBhvr>
                                      <p:to>
                                        <p:strVal val="visible"/>
                                      </p:to>
                                    </p:set>
                                    <p:anim calcmode="lin" valueType="num">
                                      <p:cBhvr additive="base">
                                        <p:cTn id="13" dur="500" fill="hold"/>
                                        <p:tgtEl>
                                          <p:spTgt spid="36869"/>
                                        </p:tgtEl>
                                        <p:attrNameLst>
                                          <p:attrName>ppt_x</p:attrName>
                                        </p:attrNameLst>
                                      </p:cBhvr>
                                      <p:tavLst>
                                        <p:tav tm="0">
                                          <p:val>
                                            <p:strVal val="0-#ppt_w/2"/>
                                          </p:val>
                                        </p:tav>
                                        <p:tav tm="100000">
                                          <p:val>
                                            <p:strVal val="#ppt_x"/>
                                          </p:val>
                                        </p:tav>
                                      </p:tavLst>
                                    </p:anim>
                                    <p:anim calcmode="lin" valueType="num">
                                      <p:cBhvr additive="base">
                                        <p:cTn id="14" dur="500" fill="hold"/>
                                        <p:tgtEl>
                                          <p:spTgt spid="368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autoUpdateAnimBg="0"/>
      <p:bldP spid="3686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4EB0AFB-C171-4C00-9114-0B783DBA2529}"/>
              </a:ext>
            </a:extLst>
          </p:cNvPr>
          <p:cNvSpPr>
            <a:spLocks noGrp="1" noChangeArrowheads="1"/>
          </p:cNvSpPr>
          <p:nvPr>
            <p:ph type="title" idx="4294967295"/>
          </p:nvPr>
        </p:nvSpPr>
        <p:spPr>
          <a:xfrm>
            <a:off x="467544" y="18255"/>
            <a:ext cx="7886700" cy="1325563"/>
          </a:xfrm>
        </p:spPr>
        <p:txBody>
          <a:bodyPr/>
          <a:lstStyle/>
          <a:p>
            <a:r>
              <a:rPr lang="zh-CN" altLang="en-US" dirty="0"/>
              <a:t>归约</a:t>
            </a:r>
            <a:r>
              <a:rPr lang="en-US" altLang="zh-CN" dirty="0">
                <a:latin typeface="Times New Roman" panose="02020603050405020304" pitchFamily="18" charset="0"/>
              </a:rPr>
              <a:t>—</a:t>
            </a:r>
            <a:r>
              <a:rPr lang="zh-CN" altLang="en-US" dirty="0"/>
              <a:t>问题描述</a:t>
            </a:r>
          </a:p>
        </p:txBody>
      </p:sp>
      <p:sp>
        <p:nvSpPr>
          <p:cNvPr id="6" name="灯片编号占位符 5">
            <a:extLst>
              <a:ext uri="{FF2B5EF4-FFF2-40B4-BE49-F238E27FC236}">
                <a16:creationId xmlns:a16="http://schemas.microsoft.com/office/drawing/2014/main" id="{A3C5C7CC-6668-42B7-8A0C-B0E9B8959DB6}"/>
              </a:ext>
            </a:extLst>
          </p:cNvPr>
          <p:cNvSpPr>
            <a:spLocks noGrp="1"/>
          </p:cNvSpPr>
          <p:nvPr>
            <p:ph type="sldNum" sz="quarter" idx="4294967295"/>
          </p:nvPr>
        </p:nvSpPr>
        <p:spPr>
          <a:xfrm>
            <a:off x="7086600" y="6356350"/>
            <a:ext cx="2057400" cy="365125"/>
          </a:xfrm>
        </p:spPr>
        <p:txBody>
          <a:bodyPr/>
          <a:lstStyle/>
          <a:p>
            <a:fld id="{D091907C-2762-4F5F-9041-72A99F656B1E}" type="slidenum">
              <a:rPr lang="zh-CN" altLang="en-US"/>
              <a:pPr/>
              <a:t>39</a:t>
            </a:fld>
            <a:endParaRPr lang="en-US" altLang="zh-CN"/>
          </a:p>
        </p:txBody>
      </p:sp>
      <p:sp>
        <p:nvSpPr>
          <p:cNvPr id="37891" name="Rectangle 3">
            <a:extLst>
              <a:ext uri="{FF2B5EF4-FFF2-40B4-BE49-F238E27FC236}">
                <a16:creationId xmlns:a16="http://schemas.microsoft.com/office/drawing/2014/main" id="{13894025-5B15-4B4C-9AE7-D06F6BC055DE}"/>
              </a:ext>
            </a:extLst>
          </p:cNvPr>
          <p:cNvSpPr>
            <a:spLocks noGrp="1" noChangeArrowheads="1"/>
          </p:cNvSpPr>
          <p:nvPr>
            <p:ph idx="4294967295"/>
          </p:nvPr>
        </p:nvSpPr>
        <p:spPr>
          <a:xfrm>
            <a:off x="438865" y="1484784"/>
            <a:ext cx="7886700" cy="4351338"/>
          </a:xfrm>
        </p:spPr>
        <p:txBody>
          <a:bodyPr>
            <a:normAutofit/>
          </a:bodyPr>
          <a:lstStyle/>
          <a:p>
            <a:pPr>
              <a:lnSpc>
                <a:spcPct val="150000"/>
              </a:lnSpc>
            </a:pPr>
            <a:r>
              <a:rPr lang="zh-CN" altLang="en-US" sz="2800" dirty="0"/>
              <a:t>判别问题.  是否</a:t>
            </a:r>
            <a:r>
              <a:rPr lang="zh-CN" altLang="en-US" sz="2800" dirty="0">
                <a:solidFill>
                  <a:schemeClr val="hlink"/>
                </a:solidFill>
              </a:rPr>
              <a:t>存在</a:t>
            </a:r>
            <a:r>
              <a:rPr lang="zh-CN" altLang="en-US" sz="2800" dirty="0"/>
              <a:t>一个集合大小不超过</a:t>
            </a:r>
            <a:r>
              <a:rPr lang="en-US" altLang="zh-CN" sz="2800" dirty="0"/>
              <a:t>k</a:t>
            </a:r>
            <a:r>
              <a:rPr lang="zh-CN" altLang="en-US" sz="2800" dirty="0"/>
              <a:t>的顶点覆盖？</a:t>
            </a:r>
          </a:p>
          <a:p>
            <a:pPr>
              <a:lnSpc>
                <a:spcPct val="150000"/>
              </a:lnSpc>
            </a:pPr>
            <a:r>
              <a:rPr lang="zh-CN" altLang="en-US" sz="2800" dirty="0"/>
              <a:t>寻找问题.  </a:t>
            </a:r>
            <a:r>
              <a:rPr lang="zh-CN" altLang="en-US" sz="2800" dirty="0">
                <a:solidFill>
                  <a:schemeClr val="hlink"/>
                </a:solidFill>
              </a:rPr>
              <a:t>寻找</a:t>
            </a:r>
            <a:r>
              <a:rPr lang="zh-CN" altLang="en-US" sz="2800" dirty="0"/>
              <a:t>最小的顶点覆盖</a:t>
            </a:r>
            <a:endParaRPr lang="en-US" altLang="zh-CN" sz="2800" dirty="0"/>
          </a:p>
          <a:p>
            <a:pPr>
              <a:lnSpc>
                <a:spcPct val="150000"/>
              </a:lnSpc>
            </a:pPr>
            <a:r>
              <a:rPr lang="zh-CN" altLang="en-US" sz="2800" dirty="0"/>
              <a:t>自归约性质.  寻找问题 </a:t>
            </a:r>
            <a:r>
              <a:rPr lang="zh-CN" altLang="en-US" sz="2800" dirty="0">
                <a:sym typeface="Symbol" panose="05050102010706020507" pitchFamily="18" charset="2"/>
              </a:rPr>
              <a:t> </a:t>
            </a:r>
            <a:r>
              <a:rPr lang="en-US" altLang="zh-CN" sz="2800" baseline="-25000" dirty="0">
                <a:sym typeface="Symbol" panose="05050102010706020507" pitchFamily="18" charset="2"/>
              </a:rPr>
              <a:t>P</a:t>
            </a:r>
            <a:r>
              <a:rPr lang="en-US" altLang="zh-CN" sz="2800" dirty="0"/>
              <a:t> </a:t>
            </a:r>
            <a:r>
              <a:rPr lang="zh-CN" altLang="en-US" sz="2800" dirty="0"/>
              <a:t>判别问题</a:t>
            </a:r>
          </a:p>
          <a:p>
            <a:pPr lvl="1">
              <a:lnSpc>
                <a:spcPct val="150000"/>
              </a:lnSpc>
            </a:pPr>
            <a:r>
              <a:rPr lang="zh-CN" altLang="en-US" sz="2400" dirty="0"/>
              <a:t>可以应用到本章中的所有(</a:t>
            </a:r>
            <a:r>
              <a:rPr lang="en-US" altLang="zh-CN" sz="2400" dirty="0"/>
              <a:t>NP</a:t>
            </a:r>
            <a:r>
              <a:rPr lang="zh-CN" altLang="en-US" sz="2400" dirty="0"/>
              <a:t>完全)问题.</a:t>
            </a:r>
          </a:p>
          <a:p>
            <a:pPr lvl="1">
              <a:lnSpc>
                <a:spcPct val="150000"/>
              </a:lnSpc>
            </a:pPr>
            <a:r>
              <a:rPr lang="zh-CN" altLang="en-US" sz="2400" dirty="0"/>
              <a:t>我们可以重点集中讨论判别问题</a:t>
            </a:r>
            <a:r>
              <a:rPr lang="en-US" altLang="zh-CN" sz="2400" dirty="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89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91BE3C8-DFE9-44D1-911D-6289EC89764F}"/>
              </a:ext>
            </a:extLst>
          </p:cNvPr>
          <p:cNvSpPr>
            <a:spLocks noGrp="1" noChangeArrowheads="1"/>
          </p:cNvSpPr>
          <p:nvPr>
            <p:ph type="title" idx="4294967295"/>
          </p:nvPr>
        </p:nvSpPr>
        <p:spPr>
          <a:xfrm>
            <a:off x="395536" y="0"/>
            <a:ext cx="7886700" cy="1325563"/>
          </a:xfrm>
        </p:spPr>
        <p:txBody>
          <a:bodyPr/>
          <a:lstStyle/>
          <a:p>
            <a:r>
              <a:rPr lang="zh-CN" altLang="en-US" dirty="0"/>
              <a:t>8.3 有效证书和</a:t>
            </a:r>
            <a:r>
              <a:rPr lang="en-US" altLang="zh-CN" dirty="0"/>
              <a:t>NP</a:t>
            </a:r>
            <a:r>
              <a:rPr lang="zh-CN" altLang="en-US" dirty="0"/>
              <a:t>的定义</a:t>
            </a:r>
            <a:endParaRPr lang="en-US" altLang="zh-CN" dirty="0"/>
          </a:p>
        </p:txBody>
      </p:sp>
      <p:sp>
        <p:nvSpPr>
          <p:cNvPr id="6" name="灯片编号占位符 5">
            <a:extLst>
              <a:ext uri="{FF2B5EF4-FFF2-40B4-BE49-F238E27FC236}">
                <a16:creationId xmlns:a16="http://schemas.microsoft.com/office/drawing/2014/main" id="{F3E1FD99-0811-4CCA-9F3C-B4E98AB9BE5B}"/>
              </a:ext>
            </a:extLst>
          </p:cNvPr>
          <p:cNvSpPr>
            <a:spLocks noGrp="1"/>
          </p:cNvSpPr>
          <p:nvPr>
            <p:ph type="sldNum" sz="quarter" idx="4294967295"/>
          </p:nvPr>
        </p:nvSpPr>
        <p:spPr>
          <a:xfrm>
            <a:off x="7086600" y="6356350"/>
            <a:ext cx="2057400" cy="365125"/>
          </a:xfrm>
        </p:spPr>
        <p:txBody>
          <a:bodyPr/>
          <a:lstStyle/>
          <a:p>
            <a:fld id="{32C026A7-9862-40A0-9BDB-8A1D77A184DA}" type="slidenum">
              <a:rPr lang="zh-CN" altLang="en-US"/>
              <a:pPr/>
              <a:t>40</a:t>
            </a:fld>
            <a:endParaRPr lang="en-US" altLang="zh-CN"/>
          </a:p>
        </p:txBody>
      </p:sp>
      <p:sp>
        <p:nvSpPr>
          <p:cNvPr id="38915" name="Rectangle 3">
            <a:extLst>
              <a:ext uri="{FF2B5EF4-FFF2-40B4-BE49-F238E27FC236}">
                <a16:creationId xmlns:a16="http://schemas.microsoft.com/office/drawing/2014/main" id="{39026E72-E1BE-40B2-8B72-9D5F5F026CC9}"/>
              </a:ext>
            </a:extLst>
          </p:cNvPr>
          <p:cNvSpPr>
            <a:spLocks noGrp="1" noChangeArrowheads="1"/>
          </p:cNvSpPr>
          <p:nvPr>
            <p:ph idx="4294967295"/>
          </p:nvPr>
        </p:nvSpPr>
        <p:spPr>
          <a:xfrm>
            <a:off x="395536" y="1484784"/>
            <a:ext cx="8208912" cy="4351338"/>
          </a:xfrm>
        </p:spPr>
        <p:txBody>
          <a:bodyPr>
            <a:normAutofit/>
          </a:bodyPr>
          <a:lstStyle/>
          <a:p>
            <a:pPr>
              <a:lnSpc>
                <a:spcPct val="150000"/>
              </a:lnSpc>
            </a:pPr>
            <a:r>
              <a:rPr lang="zh-CN" altLang="en-US" sz="2800" dirty="0"/>
              <a:t>一个计算问题的输入被编码成有穷的二进制串</a:t>
            </a:r>
            <a:r>
              <a:rPr lang="en-US" altLang="zh-CN" sz="2800" dirty="0"/>
              <a:t>s,</a:t>
            </a:r>
            <a:r>
              <a:rPr lang="zh-CN" altLang="en-US" sz="2800" dirty="0"/>
              <a:t>串</a:t>
            </a:r>
            <a:r>
              <a:rPr lang="en-US" altLang="zh-CN" sz="2800" dirty="0"/>
              <a:t>s</a:t>
            </a:r>
            <a:r>
              <a:rPr lang="zh-CN" altLang="en-US" sz="2800" dirty="0"/>
              <a:t>的长度记为|</a:t>
            </a:r>
            <a:r>
              <a:rPr lang="en-US" altLang="zh-CN" sz="2800" dirty="0"/>
              <a:t>s|. </a:t>
            </a:r>
            <a:r>
              <a:rPr lang="zh-CN" altLang="en-US" sz="2800" dirty="0"/>
              <a:t>把判定问题</a:t>
            </a:r>
            <a:r>
              <a:rPr lang="en-US" altLang="zh-CN" sz="2800" dirty="0"/>
              <a:t>X</a:t>
            </a:r>
            <a:r>
              <a:rPr lang="zh-CN" altLang="en-US" sz="2800" dirty="0"/>
              <a:t>等同于由对它的答案为</a:t>
            </a:r>
            <a:r>
              <a:rPr lang="zh-CN" altLang="en-US" sz="2800" dirty="0">
                <a:latin typeface="Times New Roman" panose="02020603050405020304" pitchFamily="18" charset="0"/>
              </a:rPr>
              <a:t>“</a:t>
            </a:r>
            <a:r>
              <a:rPr lang="en-US" altLang="zh-CN" sz="2800" dirty="0"/>
              <a:t>Yes</a:t>
            </a:r>
            <a:r>
              <a:rPr lang="en-US" altLang="zh-CN" sz="2800" dirty="0">
                <a:latin typeface="Times New Roman" panose="02020603050405020304" pitchFamily="18" charset="0"/>
              </a:rPr>
              <a:t>”</a:t>
            </a:r>
            <a:r>
              <a:rPr lang="zh-CN" altLang="en-US" sz="2800" dirty="0"/>
              <a:t>的串组成的集合</a:t>
            </a:r>
          </a:p>
          <a:p>
            <a:pPr>
              <a:lnSpc>
                <a:spcPct val="150000"/>
              </a:lnSpc>
            </a:pPr>
            <a:r>
              <a:rPr lang="zh-CN" altLang="en-US" sz="2800" dirty="0"/>
              <a:t>判定问题的算法</a:t>
            </a:r>
            <a:r>
              <a:rPr lang="en-US" altLang="zh-CN" sz="2800" dirty="0"/>
              <a:t>A</a:t>
            </a:r>
            <a:r>
              <a:rPr lang="zh-CN" altLang="en-US" sz="2800" dirty="0"/>
              <a:t>接受输入串</a:t>
            </a:r>
            <a:r>
              <a:rPr lang="en-US" altLang="zh-CN" sz="2800" dirty="0"/>
              <a:t>s</a:t>
            </a:r>
            <a:r>
              <a:rPr lang="zh-CN" altLang="en-US" sz="2800" dirty="0"/>
              <a:t>并返回值</a:t>
            </a:r>
            <a:r>
              <a:rPr lang="zh-CN" altLang="en-US" sz="2800" dirty="0">
                <a:latin typeface="Times New Roman" panose="02020603050405020304" pitchFamily="18" charset="0"/>
              </a:rPr>
              <a:t>“</a:t>
            </a:r>
            <a:r>
              <a:rPr lang="en-US" altLang="zh-CN" sz="2800" dirty="0"/>
              <a:t>yes</a:t>
            </a:r>
            <a:r>
              <a:rPr lang="en-US" altLang="zh-CN" sz="2800" dirty="0">
                <a:latin typeface="Times New Roman" panose="02020603050405020304" pitchFamily="18" charset="0"/>
              </a:rPr>
              <a:t>”</a:t>
            </a:r>
            <a:r>
              <a:rPr lang="zh-CN" altLang="en-US" sz="2800" dirty="0"/>
              <a:t>或</a:t>
            </a:r>
            <a:r>
              <a:rPr lang="zh-CN" altLang="en-US" sz="2800" dirty="0">
                <a:latin typeface="Times New Roman" panose="02020603050405020304" pitchFamily="18" charset="0"/>
              </a:rPr>
              <a:t>“</a:t>
            </a:r>
            <a:r>
              <a:rPr lang="en-US" altLang="zh-CN" sz="2800" dirty="0"/>
              <a:t>no</a:t>
            </a:r>
            <a:r>
              <a:rPr lang="en-US" altLang="zh-CN" sz="2800" dirty="0">
                <a:latin typeface="Times New Roman" panose="02020603050405020304" pitchFamily="18" charset="0"/>
              </a:rPr>
              <a:t>”</a:t>
            </a:r>
            <a:r>
              <a:rPr lang="en-US" altLang="zh-CN" sz="2800" dirty="0"/>
              <a:t>,</a:t>
            </a:r>
            <a:r>
              <a:rPr lang="zh-CN" altLang="en-US" sz="2800" dirty="0"/>
              <a:t>返回的值记为</a:t>
            </a:r>
            <a:r>
              <a:rPr lang="en-US" altLang="zh-CN" sz="2800" dirty="0"/>
              <a:t>A(s),</a:t>
            </a:r>
            <a:r>
              <a:rPr lang="zh-CN" altLang="en-US" sz="2800" dirty="0"/>
              <a:t>如果对所有的串</a:t>
            </a:r>
            <a:r>
              <a:rPr lang="en-US" altLang="zh-CN" sz="2800" dirty="0"/>
              <a:t>s, A(s)=yes</a:t>
            </a:r>
            <a:r>
              <a:rPr lang="zh-CN" altLang="en-US" sz="2800" i="1" dirty="0"/>
              <a:t>当且仅当 </a:t>
            </a:r>
            <a:r>
              <a:rPr lang="en-US" altLang="zh-CN" sz="2800" dirty="0" err="1"/>
              <a:t>s</a:t>
            </a:r>
            <a:r>
              <a:rPr lang="en-US" altLang="zh-CN" sz="2800" dirty="0" err="1">
                <a:sym typeface="Symbol" panose="05050102010706020507" pitchFamily="18" charset="2"/>
              </a:rPr>
              <a:t>X</a:t>
            </a:r>
            <a:r>
              <a:rPr lang="en-US" altLang="zh-CN" sz="2800" dirty="0">
                <a:sym typeface="Symbol" panose="05050102010706020507" pitchFamily="18" charset="2"/>
              </a:rPr>
              <a:t>, </a:t>
            </a:r>
            <a:r>
              <a:rPr lang="zh-CN" altLang="en-US" sz="2800" dirty="0">
                <a:sym typeface="Symbol" panose="05050102010706020507" pitchFamily="18" charset="2"/>
              </a:rPr>
              <a:t>则称</a:t>
            </a:r>
            <a:r>
              <a:rPr lang="en-US" altLang="zh-CN" sz="2800" dirty="0">
                <a:solidFill>
                  <a:schemeClr val="hlink"/>
                </a:solidFill>
                <a:sym typeface="Symbol" panose="05050102010706020507" pitchFamily="18" charset="2"/>
              </a:rPr>
              <a:t>A</a:t>
            </a:r>
            <a:r>
              <a:rPr lang="zh-CN" altLang="en-US" sz="2800" dirty="0">
                <a:solidFill>
                  <a:schemeClr val="hlink"/>
                </a:solidFill>
                <a:sym typeface="Symbol" panose="05050102010706020507" pitchFamily="18" charset="2"/>
              </a:rPr>
              <a:t>解问题</a:t>
            </a:r>
            <a:r>
              <a:rPr lang="en-US" altLang="zh-CN" sz="2800" dirty="0">
                <a:solidFill>
                  <a:schemeClr val="hlink"/>
                </a:solidFill>
                <a:sym typeface="Symbol" panose="05050102010706020507" pitchFamily="18" charset="2"/>
              </a:rPr>
              <a:t>X</a:t>
            </a:r>
            <a:r>
              <a:rPr lang="en-US" altLang="zh-CN" sz="2800" dirty="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A3F4F90-67F5-4A2D-A155-4E0EC22D32C3}"/>
              </a:ext>
            </a:extLst>
          </p:cNvPr>
          <p:cNvSpPr>
            <a:spLocks noGrp="1" noChangeArrowheads="1"/>
          </p:cNvSpPr>
          <p:nvPr>
            <p:ph type="title" idx="4294967295"/>
          </p:nvPr>
        </p:nvSpPr>
        <p:spPr>
          <a:xfrm>
            <a:off x="467544" y="18255"/>
            <a:ext cx="7886700" cy="1325563"/>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FE8B6E49-D771-425B-97D0-61122A9F451F}"/>
              </a:ext>
            </a:extLst>
          </p:cNvPr>
          <p:cNvSpPr>
            <a:spLocks noGrp="1"/>
          </p:cNvSpPr>
          <p:nvPr>
            <p:ph type="sldNum" sz="quarter" idx="4294967295"/>
          </p:nvPr>
        </p:nvSpPr>
        <p:spPr>
          <a:xfrm>
            <a:off x="7086600" y="6356350"/>
            <a:ext cx="2057400" cy="365125"/>
          </a:xfrm>
        </p:spPr>
        <p:txBody>
          <a:bodyPr/>
          <a:lstStyle/>
          <a:p>
            <a:fld id="{8CC30C05-51CA-4465-BCA3-EF255DF72562}" type="slidenum">
              <a:rPr lang="zh-CN" altLang="en-US"/>
              <a:pPr/>
              <a:t>41</a:t>
            </a:fld>
            <a:endParaRPr lang="en-US" altLang="zh-CN"/>
          </a:p>
        </p:txBody>
      </p:sp>
      <p:sp>
        <p:nvSpPr>
          <p:cNvPr id="39939" name="Rectangle 3">
            <a:extLst>
              <a:ext uri="{FF2B5EF4-FFF2-40B4-BE49-F238E27FC236}">
                <a16:creationId xmlns:a16="http://schemas.microsoft.com/office/drawing/2014/main" id="{9731AD08-AA51-41AA-B743-96EBCA6D86A5}"/>
              </a:ext>
            </a:extLst>
          </p:cNvPr>
          <p:cNvSpPr>
            <a:spLocks noGrp="1" noChangeArrowheads="1"/>
          </p:cNvSpPr>
          <p:nvPr>
            <p:ph idx="4294967295"/>
          </p:nvPr>
        </p:nvSpPr>
        <p:spPr>
          <a:xfrm>
            <a:off x="323528" y="1556792"/>
            <a:ext cx="7886700" cy="4351338"/>
          </a:xfrm>
        </p:spPr>
        <p:txBody>
          <a:bodyPr>
            <a:normAutofit/>
          </a:bodyPr>
          <a:lstStyle/>
          <a:p>
            <a:pPr>
              <a:lnSpc>
                <a:spcPct val="150000"/>
              </a:lnSpc>
            </a:pPr>
            <a:r>
              <a:rPr lang="zh-CN" altLang="en-US" sz="2800" dirty="0"/>
              <a:t>如果存在多项式</a:t>
            </a:r>
            <a:r>
              <a:rPr lang="en-US" altLang="zh-CN" sz="2800" dirty="0"/>
              <a:t>p(.)</a:t>
            </a:r>
            <a:r>
              <a:rPr lang="zh-CN" altLang="en-US" sz="2800" dirty="0"/>
              <a:t>使得对每一个输入串</a:t>
            </a:r>
            <a:r>
              <a:rPr lang="en-US" altLang="zh-CN" sz="2800" dirty="0"/>
              <a:t>s, </a:t>
            </a:r>
            <a:r>
              <a:rPr lang="zh-CN" altLang="en-US" sz="2800" dirty="0"/>
              <a:t>算法</a:t>
            </a:r>
            <a:r>
              <a:rPr lang="en-US" altLang="zh-CN" sz="2800" dirty="0"/>
              <a:t>A</a:t>
            </a:r>
            <a:r>
              <a:rPr lang="zh-CN" altLang="en-US" sz="2800" dirty="0"/>
              <a:t>对</a:t>
            </a:r>
            <a:r>
              <a:rPr lang="en-US" altLang="zh-CN" sz="2800" dirty="0"/>
              <a:t>s</a:t>
            </a:r>
            <a:r>
              <a:rPr lang="zh-CN" altLang="en-US" sz="2800" dirty="0"/>
              <a:t>的计算在至多</a:t>
            </a:r>
            <a:r>
              <a:rPr lang="en-US" altLang="zh-CN" sz="2800" dirty="0"/>
              <a:t>O(</a:t>
            </a:r>
            <a:r>
              <a:rPr lang="en-US" altLang="zh-CN" sz="2800" dirty="0" err="1"/>
              <a:t>p|s</a:t>
            </a:r>
            <a:r>
              <a:rPr lang="en-US" altLang="zh-CN" sz="2800" dirty="0"/>
              <a:t>|)</a:t>
            </a:r>
            <a:r>
              <a:rPr lang="zh-CN" altLang="en-US" sz="2800" dirty="0"/>
              <a:t>步内终止，则称</a:t>
            </a:r>
            <a:r>
              <a:rPr lang="en-US" altLang="zh-CN" sz="2800" dirty="0"/>
              <a:t>A</a:t>
            </a:r>
            <a:r>
              <a:rPr lang="zh-CN" altLang="en-US" sz="2800" dirty="0"/>
              <a:t>有多项式运行时间。</a:t>
            </a:r>
          </a:p>
          <a:p>
            <a:pPr>
              <a:lnSpc>
                <a:spcPct val="150000"/>
              </a:lnSpc>
            </a:pPr>
            <a:r>
              <a:rPr lang="zh-CN" altLang="en-US" sz="2800" dirty="0"/>
              <a:t>根据这一概念，就形成了问题类：</a:t>
            </a:r>
            <a:r>
              <a:rPr lang="zh-CN" altLang="en-US" sz="2800" b="1" dirty="0"/>
              <a:t>存在多项式时间解法的问题的集合</a:t>
            </a:r>
            <a:r>
              <a:rPr lang="en-US" altLang="zh-CN" sz="2800" b="1" dirty="0">
                <a:solidFill>
                  <a:schemeClr val="hlink"/>
                </a:solidFill>
              </a:rPr>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D3E0C46-D45D-4F8F-80D0-AD16E5F2D7FF}"/>
              </a:ext>
            </a:extLst>
          </p:cNvPr>
          <p:cNvSpPr>
            <a:spLocks noGrp="1" noChangeArrowheads="1"/>
          </p:cNvSpPr>
          <p:nvPr>
            <p:ph type="title" idx="4294967295"/>
          </p:nvPr>
        </p:nvSpPr>
        <p:spPr>
          <a:xfrm>
            <a:off x="539552" y="136525"/>
            <a:ext cx="7793037" cy="1143000"/>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15C8028E-6C5B-4CB0-A870-E99C3E7D960E}"/>
              </a:ext>
            </a:extLst>
          </p:cNvPr>
          <p:cNvSpPr>
            <a:spLocks noGrp="1"/>
          </p:cNvSpPr>
          <p:nvPr>
            <p:ph type="sldNum" sz="quarter" idx="4294967295"/>
          </p:nvPr>
        </p:nvSpPr>
        <p:spPr>
          <a:xfrm>
            <a:off x="7086600" y="6356350"/>
            <a:ext cx="2057400" cy="365125"/>
          </a:xfrm>
        </p:spPr>
        <p:txBody>
          <a:bodyPr/>
          <a:lstStyle/>
          <a:p>
            <a:fld id="{C8B0D43A-D770-4B08-A749-7E139BFCFE63}" type="slidenum">
              <a:rPr lang="zh-CN" altLang="en-US"/>
              <a:pPr/>
              <a:t>42</a:t>
            </a:fld>
            <a:endParaRPr lang="en-US" altLang="zh-CN"/>
          </a:p>
        </p:txBody>
      </p:sp>
      <p:sp>
        <p:nvSpPr>
          <p:cNvPr id="40963" name="Rectangle 3">
            <a:extLst>
              <a:ext uri="{FF2B5EF4-FFF2-40B4-BE49-F238E27FC236}">
                <a16:creationId xmlns:a16="http://schemas.microsoft.com/office/drawing/2014/main" id="{AD3470BA-3668-499F-8187-C1FABC766A7B}"/>
              </a:ext>
            </a:extLst>
          </p:cNvPr>
          <p:cNvSpPr>
            <a:spLocks noGrp="1" noChangeArrowheads="1"/>
          </p:cNvSpPr>
          <p:nvPr>
            <p:ph idx="4294967295"/>
          </p:nvPr>
        </p:nvSpPr>
        <p:spPr>
          <a:xfrm>
            <a:off x="161764" y="1484784"/>
            <a:ext cx="8820472" cy="4968552"/>
          </a:xfrm>
        </p:spPr>
        <p:txBody>
          <a:bodyPr>
            <a:normAutofit lnSpcReduction="10000"/>
          </a:bodyPr>
          <a:lstStyle/>
          <a:p>
            <a:pPr>
              <a:lnSpc>
                <a:spcPct val="120000"/>
              </a:lnSpc>
            </a:pPr>
            <a:r>
              <a:rPr lang="zh-CN" altLang="en-US" sz="2800" b="1" i="0" dirty="0">
                <a:solidFill>
                  <a:srgbClr val="000000"/>
                </a:solidFill>
                <a:effectLst/>
                <a:latin typeface="Inter"/>
              </a:rPr>
              <a:t>素数集合</a:t>
            </a:r>
            <a:r>
              <a:rPr lang="en-US" altLang="zh-CN" sz="2800" dirty="0"/>
              <a:t>:  X = { 2, 3, 5, 7, 11, 13, 17, 23, 29, 31, 37, </a:t>
            </a:r>
            <a:r>
              <a:rPr lang="en-US" altLang="zh-CN" sz="2800" dirty="0">
                <a:latin typeface="Comic Sans MS" panose="030F0702030302020204" pitchFamily="66" charset="0"/>
              </a:rPr>
              <a:t>…</a:t>
            </a:r>
            <a:r>
              <a:rPr lang="en-US" altLang="zh-CN" sz="2800" dirty="0"/>
              <a:t>. }</a:t>
            </a:r>
          </a:p>
          <a:p>
            <a:pPr>
              <a:lnSpc>
                <a:spcPct val="120000"/>
              </a:lnSpc>
            </a:pPr>
            <a:r>
              <a:rPr lang="zh-CN" altLang="en-US" sz="2800" dirty="0"/>
              <a:t>判定素性问题：</a:t>
            </a:r>
          </a:p>
          <a:p>
            <a:pPr>
              <a:lnSpc>
                <a:spcPct val="120000"/>
              </a:lnSpc>
            </a:pPr>
            <a:r>
              <a:rPr lang="en-US" altLang="zh-CN" sz="2800" dirty="0">
                <a:solidFill>
                  <a:schemeClr val="hlink"/>
                </a:solidFill>
              </a:rPr>
              <a:t>[Agrawal-Kayal-Saxena, 2002] AKS</a:t>
            </a:r>
            <a:r>
              <a:rPr lang="zh-CN" altLang="en-US" sz="2800" dirty="0">
                <a:solidFill>
                  <a:schemeClr val="hlink"/>
                </a:solidFill>
              </a:rPr>
              <a:t>算法</a:t>
            </a:r>
          </a:p>
          <a:p>
            <a:pPr>
              <a:lnSpc>
                <a:spcPct val="120000"/>
              </a:lnSpc>
            </a:pPr>
            <a:r>
              <a:rPr lang="en-US" altLang="zh-CN" sz="2800" dirty="0">
                <a:hlinkClick r:id="rId3" tooltip="Manindra Agrawal"/>
              </a:rPr>
              <a:t>Manindra Agrawal</a:t>
            </a:r>
            <a:r>
              <a:rPr lang="en-US" altLang="zh-CN" sz="2800" dirty="0"/>
              <a:t>, </a:t>
            </a:r>
            <a:r>
              <a:rPr lang="en-US" altLang="zh-CN" sz="2800" dirty="0">
                <a:hlinkClick r:id="rId4" tooltip="Neeraj Kayal"/>
              </a:rPr>
              <a:t>Neeraj Kayal</a:t>
            </a:r>
            <a:r>
              <a:rPr lang="en-US" altLang="zh-CN" sz="2800" dirty="0"/>
              <a:t>, and </a:t>
            </a:r>
            <a:r>
              <a:rPr lang="en-US" altLang="zh-CN" sz="2800" dirty="0">
                <a:hlinkClick r:id="rId5" tooltip="Nitin Saxena"/>
              </a:rPr>
              <a:t>Nitin Saxena</a:t>
            </a:r>
            <a:r>
              <a:rPr lang="en-US" altLang="zh-CN" sz="2800" dirty="0"/>
              <a:t> on </a:t>
            </a:r>
            <a:r>
              <a:rPr lang="en-US" altLang="zh-CN" sz="2800" dirty="0">
                <a:hlinkClick r:id="rId6" tooltip="August 6"/>
              </a:rPr>
              <a:t>August 6</a:t>
            </a:r>
            <a:r>
              <a:rPr lang="en-US" altLang="zh-CN" sz="2800" dirty="0"/>
              <a:t>, </a:t>
            </a:r>
            <a:r>
              <a:rPr lang="en-US" altLang="zh-CN" sz="2800" dirty="0">
                <a:hlinkClick r:id="rId7" tooltip="2002"/>
              </a:rPr>
              <a:t>2002</a:t>
            </a:r>
            <a:r>
              <a:rPr lang="zh-CN" altLang="en-US" sz="2800" dirty="0"/>
              <a:t>证明素数判定问题（</a:t>
            </a:r>
            <a:r>
              <a:rPr lang="en-US" altLang="zh-CN" sz="2800" dirty="0"/>
              <a:t>PRIMES</a:t>
            </a:r>
            <a:r>
              <a:rPr lang="zh-CN" altLang="en-US" sz="2800" dirty="0"/>
              <a:t>）属于 </a:t>
            </a:r>
            <a:r>
              <a:rPr lang="en-US" altLang="zh-CN" sz="2800" dirty="0"/>
              <a:t>P </a:t>
            </a:r>
            <a:r>
              <a:rPr lang="zh-CN" altLang="en-US" sz="2800" dirty="0"/>
              <a:t>类问题</a:t>
            </a:r>
            <a:r>
              <a:rPr lang="en-US" altLang="zh-CN" sz="2800" dirty="0"/>
              <a:t>.</a:t>
            </a:r>
            <a:r>
              <a:rPr lang="en-US" altLang="zh-CN" sz="2800" baseline="30000" dirty="0"/>
              <a:t> </a:t>
            </a:r>
          </a:p>
          <a:p>
            <a:pPr>
              <a:lnSpc>
                <a:spcPct val="120000"/>
              </a:lnSpc>
            </a:pPr>
            <a:r>
              <a:rPr lang="zh-CN" altLang="en-US" sz="2800" dirty="0"/>
              <a:t>几位作者因该成果荣获 </a:t>
            </a:r>
            <a:r>
              <a:rPr lang="en-US" altLang="zh-CN" sz="2800" dirty="0"/>
              <a:t>2006 </a:t>
            </a:r>
            <a:r>
              <a:rPr lang="zh-CN" altLang="en-US" sz="2800" dirty="0"/>
              <a:t>年哥德尔奖（</a:t>
            </a:r>
            <a:r>
              <a:rPr lang="en-US" altLang="zh-CN" sz="2800" dirty="0"/>
              <a:t>Gödel Prize</a:t>
            </a:r>
            <a:r>
              <a:rPr lang="zh-CN" altLang="en-US" sz="2800" dirty="0"/>
              <a:t>）和 </a:t>
            </a:r>
            <a:r>
              <a:rPr lang="en-US" altLang="zh-CN" sz="2800" dirty="0"/>
              <a:t>2006 </a:t>
            </a:r>
            <a:r>
              <a:rPr lang="zh-CN" altLang="en-US" sz="2800" dirty="0"/>
              <a:t>年富尔克森奖（</a:t>
            </a:r>
            <a:r>
              <a:rPr lang="en-US" altLang="zh-CN" sz="2800" dirty="0"/>
              <a:t>Fulkerson Prize</a:t>
            </a:r>
            <a:r>
              <a:rPr lang="zh-CN" altLang="en-US" sz="2800" dirty="0"/>
              <a:t>）</a:t>
            </a:r>
            <a:r>
              <a:rPr lang="en-US" altLang="zh-CN" sz="2800" dirty="0"/>
              <a:t>.</a:t>
            </a:r>
          </a:p>
          <a:p>
            <a:pPr>
              <a:lnSpc>
                <a:spcPct val="120000"/>
              </a:lnSpc>
            </a:pPr>
            <a:r>
              <a:rPr lang="en-US" altLang="zh-CN" sz="2800" dirty="0"/>
              <a:t>p(|s|) = |s|</a:t>
            </a:r>
            <a:r>
              <a:rPr lang="en-US" altLang="zh-CN" sz="2800" baseline="30000" dirty="0"/>
              <a:t>6+ε</a:t>
            </a:r>
            <a:endParaRPr lang="zh-CN" altLang="en-US" sz="2800" baseline="30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22EF44F-6C36-4855-91FE-037646DB6127}"/>
              </a:ext>
            </a:extLst>
          </p:cNvPr>
          <p:cNvSpPr>
            <a:spLocks noGrp="1" noChangeArrowheads="1"/>
          </p:cNvSpPr>
          <p:nvPr>
            <p:ph type="title" idx="4294967295"/>
          </p:nvPr>
        </p:nvSpPr>
        <p:spPr>
          <a:xfrm>
            <a:off x="533400" y="18255"/>
            <a:ext cx="7886700" cy="1325563"/>
          </a:xfrm>
        </p:spPr>
        <p:txBody>
          <a:bodyPr/>
          <a:lstStyle/>
          <a:p>
            <a:r>
              <a:rPr lang="en-US" altLang="zh-CN" dirty="0"/>
              <a:t>NP</a:t>
            </a:r>
            <a:r>
              <a:rPr lang="zh-CN" altLang="en-US" dirty="0"/>
              <a:t>的定义</a:t>
            </a:r>
          </a:p>
        </p:txBody>
      </p:sp>
      <p:sp>
        <p:nvSpPr>
          <p:cNvPr id="7" name="灯片编号占位符 5">
            <a:extLst>
              <a:ext uri="{FF2B5EF4-FFF2-40B4-BE49-F238E27FC236}">
                <a16:creationId xmlns:a16="http://schemas.microsoft.com/office/drawing/2014/main" id="{2C975A09-684E-41AC-8F97-5D5FEDEA3EF0}"/>
              </a:ext>
            </a:extLst>
          </p:cNvPr>
          <p:cNvSpPr>
            <a:spLocks noGrp="1"/>
          </p:cNvSpPr>
          <p:nvPr>
            <p:ph type="sldNum" sz="quarter" idx="4294967295"/>
          </p:nvPr>
        </p:nvSpPr>
        <p:spPr>
          <a:xfrm>
            <a:off x="7086600" y="6356350"/>
            <a:ext cx="2057400" cy="365125"/>
          </a:xfrm>
        </p:spPr>
        <p:txBody>
          <a:bodyPr/>
          <a:lstStyle/>
          <a:p>
            <a:fld id="{D58D0677-76E2-4F8D-AD30-D2728EDBAF27}" type="slidenum">
              <a:rPr lang="zh-CN" altLang="en-US"/>
              <a:pPr/>
              <a:t>43</a:t>
            </a:fld>
            <a:endParaRPr lang="en-US" altLang="zh-CN"/>
          </a:p>
        </p:txBody>
      </p:sp>
      <p:sp>
        <p:nvSpPr>
          <p:cNvPr id="41987" name="Rectangle 3">
            <a:extLst>
              <a:ext uri="{FF2B5EF4-FFF2-40B4-BE49-F238E27FC236}">
                <a16:creationId xmlns:a16="http://schemas.microsoft.com/office/drawing/2014/main" id="{A8654D29-5D14-4D3D-9129-F59CD14B0D72}"/>
              </a:ext>
            </a:extLst>
          </p:cNvPr>
          <p:cNvSpPr>
            <a:spLocks noGrp="1" noChangeArrowheads="1"/>
          </p:cNvSpPr>
          <p:nvPr>
            <p:ph idx="4294967295"/>
          </p:nvPr>
        </p:nvSpPr>
        <p:spPr>
          <a:xfrm>
            <a:off x="542588" y="1403022"/>
            <a:ext cx="7886700" cy="4351338"/>
          </a:xfrm>
        </p:spPr>
        <p:txBody>
          <a:bodyPr>
            <a:normAutofit/>
          </a:bodyPr>
          <a:lstStyle/>
          <a:p>
            <a:r>
              <a:rPr lang="zh-CN" altLang="en-US" sz="2800" dirty="0"/>
              <a:t>一些经典的</a:t>
            </a:r>
            <a:r>
              <a:rPr lang="en-US" altLang="zh-CN" sz="2800" dirty="0"/>
              <a:t>P</a:t>
            </a:r>
            <a:r>
              <a:rPr lang="zh-CN" altLang="en-US" sz="2800" dirty="0"/>
              <a:t>类问题</a:t>
            </a:r>
          </a:p>
          <a:p>
            <a:endParaRPr lang="zh-CN" altLang="en-US" sz="2800" dirty="0"/>
          </a:p>
          <a:p>
            <a:endParaRPr lang="zh-CN" altLang="en-US" sz="2800" dirty="0"/>
          </a:p>
        </p:txBody>
      </p:sp>
      <p:graphicFrame>
        <p:nvGraphicFramePr>
          <p:cNvPr id="2" name="表格 1">
            <a:extLst>
              <a:ext uri="{FF2B5EF4-FFF2-40B4-BE49-F238E27FC236}">
                <a16:creationId xmlns:a16="http://schemas.microsoft.com/office/drawing/2014/main" id="{BACE1F9C-FCE2-DCCC-B732-89F55918F464}"/>
              </a:ext>
            </a:extLst>
          </p:cNvPr>
          <p:cNvGraphicFramePr>
            <a:graphicFrameLocks noGrp="1"/>
          </p:cNvGraphicFramePr>
          <p:nvPr>
            <p:extLst>
              <p:ext uri="{D42A27DB-BD31-4B8C-83A1-F6EECF244321}">
                <p14:modId xmlns:p14="http://schemas.microsoft.com/office/powerpoint/2010/main" val="3115022158"/>
              </p:ext>
            </p:extLst>
          </p:nvPr>
        </p:nvGraphicFramePr>
        <p:xfrm>
          <a:off x="251520" y="1921659"/>
          <a:ext cx="8784975" cy="4799814"/>
        </p:xfrm>
        <a:graphic>
          <a:graphicData uri="http://schemas.openxmlformats.org/drawingml/2006/table">
            <a:tbl>
              <a:tblPr firstRow="1" bandRow="1">
                <a:tableStyleId>{5C22544A-7EE6-4342-B048-85BDC9FD1C3A}</a:tableStyleId>
              </a:tblPr>
              <a:tblGrid>
                <a:gridCol w="1756995">
                  <a:extLst>
                    <a:ext uri="{9D8B030D-6E8A-4147-A177-3AD203B41FA5}">
                      <a16:colId xmlns:a16="http://schemas.microsoft.com/office/drawing/2014/main" val="1102155357"/>
                    </a:ext>
                  </a:extLst>
                </a:gridCol>
                <a:gridCol w="1756995">
                  <a:extLst>
                    <a:ext uri="{9D8B030D-6E8A-4147-A177-3AD203B41FA5}">
                      <a16:colId xmlns:a16="http://schemas.microsoft.com/office/drawing/2014/main" val="3158264079"/>
                    </a:ext>
                  </a:extLst>
                </a:gridCol>
                <a:gridCol w="1756995">
                  <a:extLst>
                    <a:ext uri="{9D8B030D-6E8A-4147-A177-3AD203B41FA5}">
                      <a16:colId xmlns:a16="http://schemas.microsoft.com/office/drawing/2014/main" val="2598090833"/>
                    </a:ext>
                  </a:extLst>
                </a:gridCol>
                <a:gridCol w="1756995">
                  <a:extLst>
                    <a:ext uri="{9D8B030D-6E8A-4147-A177-3AD203B41FA5}">
                      <a16:colId xmlns:a16="http://schemas.microsoft.com/office/drawing/2014/main" val="3053717122"/>
                    </a:ext>
                  </a:extLst>
                </a:gridCol>
                <a:gridCol w="1756995">
                  <a:extLst>
                    <a:ext uri="{9D8B030D-6E8A-4147-A177-3AD203B41FA5}">
                      <a16:colId xmlns:a16="http://schemas.microsoft.com/office/drawing/2014/main" val="487740492"/>
                    </a:ext>
                  </a:extLst>
                </a:gridCol>
              </a:tblGrid>
              <a:tr h="799969">
                <a:tc>
                  <a:txBody>
                    <a:bodyPr/>
                    <a:lstStyle/>
                    <a:p>
                      <a:r>
                        <a:rPr lang="zh-CN" altLang="en-US" sz="1800" dirty="0"/>
                        <a:t>问题</a:t>
                      </a:r>
                    </a:p>
                  </a:txBody>
                  <a:tcPr/>
                </a:tc>
                <a:tc>
                  <a:txBody>
                    <a:bodyPr/>
                    <a:lstStyle/>
                    <a:p>
                      <a:r>
                        <a:rPr lang="zh-CN" altLang="en-US" sz="1800" dirty="0"/>
                        <a:t>描述</a:t>
                      </a:r>
                    </a:p>
                  </a:txBody>
                  <a:tcPr/>
                </a:tc>
                <a:tc>
                  <a:txBody>
                    <a:bodyPr/>
                    <a:lstStyle/>
                    <a:p>
                      <a:r>
                        <a:rPr lang="zh-CN" altLang="en-US" sz="1800" dirty="0"/>
                        <a:t>算法</a:t>
                      </a:r>
                    </a:p>
                  </a:txBody>
                  <a:tcPr/>
                </a:tc>
                <a:tc>
                  <a:txBody>
                    <a:bodyPr/>
                    <a:lstStyle/>
                    <a:p>
                      <a:r>
                        <a:rPr lang="zh-CN" altLang="en-US" sz="1800" dirty="0"/>
                        <a:t>是</a:t>
                      </a:r>
                    </a:p>
                  </a:txBody>
                  <a:tcPr/>
                </a:tc>
                <a:tc>
                  <a:txBody>
                    <a:bodyPr/>
                    <a:lstStyle/>
                    <a:p>
                      <a:r>
                        <a:rPr lang="zh-CN" altLang="en-US" sz="1800" dirty="0"/>
                        <a:t>否</a:t>
                      </a:r>
                    </a:p>
                  </a:txBody>
                  <a:tcPr/>
                </a:tc>
                <a:extLst>
                  <a:ext uri="{0D108BD9-81ED-4DB2-BD59-A6C34878D82A}">
                    <a16:rowId xmlns:a16="http://schemas.microsoft.com/office/drawing/2014/main" val="465201128"/>
                  </a:ext>
                </a:extLst>
              </a:tr>
              <a:tr h="799969">
                <a:tc>
                  <a:txBody>
                    <a:bodyPr/>
                    <a:lstStyle/>
                    <a:p>
                      <a:r>
                        <a:rPr lang="zh-CN" altLang="en-US" sz="1800" dirty="0"/>
                        <a:t>倍数问题</a:t>
                      </a:r>
                    </a:p>
                  </a:txBody>
                  <a:tcPr/>
                </a:tc>
                <a:tc>
                  <a:txBody>
                    <a:bodyPr/>
                    <a:lstStyle/>
                    <a:p>
                      <a:r>
                        <a:rPr lang="en-US" altLang="zh-CN" sz="1800" dirty="0"/>
                        <a:t>x</a:t>
                      </a:r>
                      <a:r>
                        <a:rPr lang="zh-CN" altLang="en-US" sz="1800" dirty="0"/>
                        <a:t>是</a:t>
                      </a:r>
                      <a:r>
                        <a:rPr lang="en-US" altLang="zh-CN" sz="1800" dirty="0"/>
                        <a:t>y</a:t>
                      </a:r>
                      <a:r>
                        <a:rPr lang="zh-CN" altLang="en-US" sz="1800" dirty="0"/>
                        <a:t>的倍数吗？</a:t>
                      </a:r>
                    </a:p>
                  </a:txBody>
                  <a:tcPr/>
                </a:tc>
                <a:tc>
                  <a:txBody>
                    <a:bodyPr/>
                    <a:lstStyle/>
                    <a:p>
                      <a:r>
                        <a:rPr lang="zh-CN" altLang="en-US" sz="1800" dirty="0"/>
                        <a:t>小学除法</a:t>
                      </a:r>
                    </a:p>
                  </a:txBody>
                  <a:tcPr/>
                </a:tc>
                <a:tc>
                  <a:txBody>
                    <a:bodyPr/>
                    <a:lstStyle/>
                    <a:p>
                      <a:r>
                        <a:rPr lang="en-US" altLang="zh-CN" sz="1800" dirty="0"/>
                        <a:t>51</a:t>
                      </a:r>
                      <a:r>
                        <a:rPr lang="zh-CN" altLang="en-US" sz="1800" dirty="0"/>
                        <a:t>，</a:t>
                      </a:r>
                      <a:r>
                        <a:rPr lang="en-US" altLang="zh-CN" sz="1800" dirty="0"/>
                        <a:t>17</a:t>
                      </a:r>
                      <a:endParaRPr lang="zh-CN" altLang="en-US" sz="1800" dirty="0"/>
                    </a:p>
                  </a:txBody>
                  <a:tcPr/>
                </a:tc>
                <a:tc>
                  <a:txBody>
                    <a:bodyPr/>
                    <a:lstStyle/>
                    <a:p>
                      <a:r>
                        <a:rPr lang="en-US" altLang="zh-CN" sz="1800" dirty="0"/>
                        <a:t>51</a:t>
                      </a:r>
                      <a:r>
                        <a:rPr lang="zh-CN" altLang="en-US" sz="1800" dirty="0"/>
                        <a:t>，</a:t>
                      </a:r>
                      <a:r>
                        <a:rPr lang="en-US" altLang="zh-CN" sz="1800" dirty="0"/>
                        <a:t>16</a:t>
                      </a:r>
                      <a:endParaRPr lang="zh-CN" altLang="en-US" sz="1800" dirty="0"/>
                    </a:p>
                  </a:txBody>
                  <a:tcPr/>
                </a:tc>
                <a:extLst>
                  <a:ext uri="{0D108BD9-81ED-4DB2-BD59-A6C34878D82A}">
                    <a16:rowId xmlns:a16="http://schemas.microsoft.com/office/drawing/2014/main" val="2266893478"/>
                  </a:ext>
                </a:extLst>
              </a:tr>
              <a:tr h="799969">
                <a:tc>
                  <a:txBody>
                    <a:bodyPr/>
                    <a:lstStyle/>
                    <a:p>
                      <a:r>
                        <a:rPr lang="zh-CN" altLang="en-US" sz="1800" dirty="0"/>
                        <a:t>互质问题</a:t>
                      </a:r>
                    </a:p>
                  </a:txBody>
                  <a:tcPr/>
                </a:tc>
                <a:tc>
                  <a:txBody>
                    <a:bodyPr/>
                    <a:lstStyle/>
                    <a:p>
                      <a:r>
                        <a:rPr lang="en-US" altLang="zh-CN" sz="1800" dirty="0"/>
                        <a:t>x</a:t>
                      </a:r>
                      <a:r>
                        <a:rPr lang="zh-CN" altLang="en-US" sz="1800" dirty="0"/>
                        <a:t>和</a:t>
                      </a:r>
                      <a:r>
                        <a:rPr lang="en-US" altLang="zh-CN" sz="1800" dirty="0"/>
                        <a:t>y</a:t>
                      </a:r>
                      <a:r>
                        <a:rPr lang="zh-CN" altLang="en-US" sz="1800" dirty="0"/>
                        <a:t>互质吗？</a:t>
                      </a:r>
                    </a:p>
                  </a:txBody>
                  <a:tcPr/>
                </a:tc>
                <a:tc>
                  <a:txBody>
                    <a:bodyPr/>
                    <a:lstStyle/>
                    <a:p>
                      <a:r>
                        <a:rPr lang="zh-CN" altLang="en-US" sz="1800" dirty="0"/>
                        <a:t>欧几里得算法（公元前</a:t>
                      </a:r>
                      <a:r>
                        <a:rPr lang="en-US" altLang="zh-CN" sz="1800" dirty="0"/>
                        <a:t>300</a:t>
                      </a:r>
                      <a:r>
                        <a:rPr lang="zh-CN" altLang="en-US" sz="1800" dirty="0"/>
                        <a:t>年）</a:t>
                      </a:r>
                    </a:p>
                  </a:txBody>
                  <a:tcPr/>
                </a:tc>
                <a:tc>
                  <a:txBody>
                    <a:bodyPr/>
                    <a:lstStyle/>
                    <a:p>
                      <a:r>
                        <a:rPr lang="en-US" altLang="zh-CN" sz="1800" dirty="0"/>
                        <a:t>34</a:t>
                      </a:r>
                      <a:r>
                        <a:rPr lang="zh-CN" altLang="en-US" sz="1800" dirty="0"/>
                        <a:t>，</a:t>
                      </a:r>
                      <a:r>
                        <a:rPr lang="en-US" altLang="zh-CN" sz="1800" dirty="0"/>
                        <a:t>39</a:t>
                      </a:r>
                      <a:endParaRPr lang="zh-CN" altLang="en-US" sz="1800" dirty="0"/>
                    </a:p>
                  </a:txBody>
                  <a:tcPr/>
                </a:tc>
                <a:tc>
                  <a:txBody>
                    <a:bodyPr/>
                    <a:lstStyle/>
                    <a:p>
                      <a:r>
                        <a:rPr lang="en-US" altLang="zh-CN" sz="1800" dirty="0"/>
                        <a:t>34</a:t>
                      </a:r>
                      <a:r>
                        <a:rPr lang="zh-CN" altLang="en-US" sz="1800" dirty="0"/>
                        <a:t>，</a:t>
                      </a:r>
                      <a:r>
                        <a:rPr lang="en-US" altLang="zh-CN" sz="1800" dirty="0"/>
                        <a:t>51</a:t>
                      </a:r>
                      <a:endParaRPr lang="zh-CN" altLang="en-US" sz="1800" dirty="0"/>
                    </a:p>
                  </a:txBody>
                  <a:tcPr/>
                </a:tc>
                <a:extLst>
                  <a:ext uri="{0D108BD9-81ED-4DB2-BD59-A6C34878D82A}">
                    <a16:rowId xmlns:a16="http://schemas.microsoft.com/office/drawing/2014/main" val="3733353690"/>
                  </a:ext>
                </a:extLst>
              </a:tr>
              <a:tr h="799969">
                <a:tc>
                  <a:txBody>
                    <a:bodyPr/>
                    <a:lstStyle/>
                    <a:p>
                      <a:r>
                        <a:rPr lang="zh-CN" altLang="en-US" sz="1800" dirty="0"/>
                        <a:t>素数问题</a:t>
                      </a:r>
                    </a:p>
                  </a:txBody>
                  <a:tcPr/>
                </a:tc>
                <a:tc>
                  <a:txBody>
                    <a:bodyPr/>
                    <a:lstStyle/>
                    <a:p>
                      <a:r>
                        <a:rPr lang="en-US" altLang="zh-CN" sz="1800" dirty="0"/>
                        <a:t>x</a:t>
                      </a:r>
                      <a:r>
                        <a:rPr lang="zh-CN" altLang="en-US" sz="1800" dirty="0"/>
                        <a:t>是素数吗？</a:t>
                      </a:r>
                    </a:p>
                  </a:txBody>
                  <a:tcPr/>
                </a:tc>
                <a:tc>
                  <a:txBody>
                    <a:bodyPr/>
                    <a:lstStyle/>
                    <a:p>
                      <a:r>
                        <a:rPr lang="en-US" altLang="zh-CN" sz="1800" dirty="0"/>
                        <a:t>AKS</a:t>
                      </a:r>
                      <a:r>
                        <a:rPr lang="zh-CN" altLang="en-US" sz="1800" dirty="0"/>
                        <a:t>算法（</a:t>
                      </a:r>
                      <a:r>
                        <a:rPr lang="en-US" altLang="zh-CN" sz="1800" dirty="0"/>
                        <a:t>2002</a:t>
                      </a:r>
                      <a:r>
                        <a:rPr lang="zh-CN" altLang="en-US" sz="1800" dirty="0"/>
                        <a:t>年）</a:t>
                      </a:r>
                    </a:p>
                  </a:txBody>
                  <a:tcPr/>
                </a:tc>
                <a:tc>
                  <a:txBody>
                    <a:bodyPr/>
                    <a:lstStyle/>
                    <a:p>
                      <a:r>
                        <a:rPr lang="en-US" altLang="zh-CN" sz="1800" dirty="0"/>
                        <a:t>53</a:t>
                      </a:r>
                      <a:endParaRPr lang="zh-CN" altLang="en-US" sz="1800" dirty="0"/>
                    </a:p>
                  </a:txBody>
                  <a:tcPr/>
                </a:tc>
                <a:tc>
                  <a:txBody>
                    <a:bodyPr/>
                    <a:lstStyle/>
                    <a:p>
                      <a:r>
                        <a:rPr lang="en-US" altLang="zh-CN" sz="1800" dirty="0"/>
                        <a:t>51</a:t>
                      </a:r>
                      <a:endParaRPr lang="zh-CN" altLang="en-US" sz="1800" dirty="0"/>
                    </a:p>
                  </a:txBody>
                  <a:tcPr/>
                </a:tc>
                <a:extLst>
                  <a:ext uri="{0D108BD9-81ED-4DB2-BD59-A6C34878D82A}">
                    <a16:rowId xmlns:a16="http://schemas.microsoft.com/office/drawing/2014/main" val="4026025587"/>
                  </a:ext>
                </a:extLst>
              </a:tr>
              <a:tr h="799969">
                <a:tc>
                  <a:txBody>
                    <a:bodyPr/>
                    <a:lstStyle/>
                    <a:p>
                      <a:r>
                        <a:rPr lang="zh-CN" altLang="en-US" sz="1800" dirty="0"/>
                        <a:t>编辑距离问题</a:t>
                      </a:r>
                    </a:p>
                  </a:txBody>
                  <a:tcPr/>
                </a:tc>
                <a:tc>
                  <a:txBody>
                    <a:bodyPr/>
                    <a:lstStyle/>
                    <a:p>
                      <a:r>
                        <a:rPr lang="en-US" altLang="zh-CN" sz="1800" dirty="0"/>
                        <a:t>x</a:t>
                      </a:r>
                      <a:r>
                        <a:rPr lang="zh-CN" altLang="en-US" sz="1800" dirty="0"/>
                        <a:t>和</a:t>
                      </a:r>
                      <a:r>
                        <a:rPr lang="en-US" altLang="zh-CN" sz="1800" dirty="0"/>
                        <a:t>y</a:t>
                      </a:r>
                      <a:r>
                        <a:rPr lang="zh-CN" altLang="en-US" sz="1800" dirty="0"/>
                        <a:t>之间的编辑距离小于</a:t>
                      </a:r>
                      <a:r>
                        <a:rPr lang="en-US" altLang="zh-CN" sz="1800" dirty="0"/>
                        <a:t>5</a:t>
                      </a:r>
                      <a:r>
                        <a:rPr lang="zh-CN" altLang="en-US" sz="1800" dirty="0"/>
                        <a:t>吗？</a:t>
                      </a:r>
                    </a:p>
                  </a:txBody>
                  <a:tcPr/>
                </a:tc>
                <a:tc>
                  <a:txBody>
                    <a:bodyPr/>
                    <a:lstStyle/>
                    <a:p>
                      <a:r>
                        <a:rPr lang="zh-CN" altLang="en-US" sz="1800" dirty="0"/>
                        <a:t>动态规划</a:t>
                      </a:r>
                    </a:p>
                  </a:txBody>
                  <a:tcPr/>
                </a:tc>
                <a:tc>
                  <a:txBody>
                    <a:bodyPr/>
                    <a:lstStyle/>
                    <a:p>
                      <a:r>
                        <a:rPr lang="en-US" altLang="zh-CN" sz="1800" dirty="0" err="1"/>
                        <a:t>niether</a:t>
                      </a:r>
                      <a:r>
                        <a:rPr lang="en-US" altLang="zh-CN" sz="1800" dirty="0"/>
                        <a:t> neither</a:t>
                      </a:r>
                      <a:endParaRPr lang="zh-CN" altLang="en-US" sz="1800" dirty="0"/>
                    </a:p>
                  </a:txBody>
                  <a:tcPr/>
                </a:tc>
                <a:tc>
                  <a:txBody>
                    <a:bodyPr/>
                    <a:lstStyle/>
                    <a:p>
                      <a:r>
                        <a:rPr lang="en-US" altLang="zh-CN" sz="1800" dirty="0" err="1"/>
                        <a:t>acggggt</a:t>
                      </a:r>
                      <a:r>
                        <a:rPr lang="en-US" altLang="zh-CN" sz="1800" dirty="0"/>
                        <a:t> </a:t>
                      </a:r>
                      <a:r>
                        <a:rPr lang="en-US" altLang="zh-CN" sz="1800" dirty="0" err="1"/>
                        <a:t>ttttta</a:t>
                      </a:r>
                      <a:endParaRPr lang="zh-CN" altLang="en-US" sz="1800" dirty="0"/>
                    </a:p>
                  </a:txBody>
                  <a:tcPr/>
                </a:tc>
                <a:extLst>
                  <a:ext uri="{0D108BD9-81ED-4DB2-BD59-A6C34878D82A}">
                    <a16:rowId xmlns:a16="http://schemas.microsoft.com/office/drawing/2014/main" val="3101546321"/>
                  </a:ext>
                </a:extLst>
              </a:tr>
              <a:tr h="799969">
                <a:tc>
                  <a:txBody>
                    <a:bodyPr/>
                    <a:lstStyle/>
                    <a:p>
                      <a:r>
                        <a:rPr lang="zh-CN" altLang="en-US" sz="1800" dirty="0"/>
                        <a:t>线性方程组求解问题</a:t>
                      </a:r>
                    </a:p>
                  </a:txBody>
                  <a:tcPr/>
                </a:tc>
                <a:tc>
                  <a:txBody>
                    <a:bodyPr/>
                    <a:lstStyle/>
                    <a:p>
                      <a:r>
                        <a:rPr lang="zh-CN" altLang="en-US" sz="1800" dirty="0"/>
                        <a:t>是否存在向量</a:t>
                      </a:r>
                      <a:r>
                        <a:rPr lang="en-US" altLang="zh-CN" sz="1800" dirty="0"/>
                        <a:t>x</a:t>
                      </a:r>
                      <a:r>
                        <a:rPr lang="zh-CN" altLang="en-US" sz="1800" dirty="0"/>
                        <a:t>满足</a:t>
                      </a:r>
                      <a:r>
                        <a:rPr lang="en-US" altLang="zh-CN" sz="1800" dirty="0"/>
                        <a:t>\(Ax = b\)</a:t>
                      </a:r>
                      <a:r>
                        <a:rPr lang="zh-CN" altLang="en-US" sz="1800" dirty="0"/>
                        <a:t>？</a:t>
                      </a:r>
                    </a:p>
                  </a:txBody>
                  <a:tcPr/>
                </a:tc>
                <a:tc>
                  <a:txBody>
                    <a:bodyPr/>
                    <a:lstStyle/>
                    <a:p>
                      <a:r>
                        <a:rPr lang="zh-CN" altLang="en-US" sz="1800" dirty="0"/>
                        <a:t>高斯 </a:t>
                      </a:r>
                      <a:r>
                        <a:rPr lang="en-US" altLang="zh-CN" sz="1800" dirty="0"/>
                        <a:t>- </a:t>
                      </a:r>
                      <a:r>
                        <a:rPr lang="zh-CN" altLang="en-US" sz="1800" dirty="0"/>
                        <a:t>埃德蒙兹消元法</a:t>
                      </a:r>
                    </a:p>
                  </a:txBody>
                  <a:tcPr/>
                </a:tc>
                <a:tc>
                  <a:txBody>
                    <a:bodyPr/>
                    <a:lstStyle/>
                    <a:p>
                      <a:endParaRPr lang="zh-CN" altLang="en-US" sz="1800" dirty="0"/>
                    </a:p>
                  </a:txBody>
                  <a:tcPr/>
                </a:tc>
                <a:tc>
                  <a:txBody>
                    <a:bodyPr/>
                    <a:lstStyle/>
                    <a:p>
                      <a:endParaRPr lang="zh-CN" altLang="en-US" sz="1800" dirty="0"/>
                    </a:p>
                  </a:txBody>
                  <a:tcPr/>
                </a:tc>
                <a:extLst>
                  <a:ext uri="{0D108BD9-81ED-4DB2-BD59-A6C34878D82A}">
                    <a16:rowId xmlns:a16="http://schemas.microsoft.com/office/drawing/2014/main" val="350877308"/>
                  </a:ext>
                </a:extLst>
              </a:tr>
            </a:tbl>
          </a:graphicData>
        </a:graphic>
      </p:graphicFrame>
      <p:pic>
        <p:nvPicPr>
          <p:cNvPr id="4" name="图片 3">
            <a:extLst>
              <a:ext uri="{FF2B5EF4-FFF2-40B4-BE49-F238E27FC236}">
                <a16:creationId xmlns:a16="http://schemas.microsoft.com/office/drawing/2014/main" id="{3524ACC4-FD08-EA6B-7227-AD6EBEA139F4}"/>
              </a:ext>
            </a:extLst>
          </p:cNvPr>
          <p:cNvPicPr>
            <a:picLocks noChangeAspect="1"/>
          </p:cNvPicPr>
          <p:nvPr/>
        </p:nvPicPr>
        <p:blipFill>
          <a:blip r:embed="rId3"/>
          <a:stretch>
            <a:fillRect/>
          </a:stretch>
        </p:blipFill>
        <p:spPr>
          <a:xfrm>
            <a:off x="5560012" y="5905443"/>
            <a:ext cx="1737511" cy="853514"/>
          </a:xfrm>
          <a:prstGeom prst="rect">
            <a:avLst/>
          </a:prstGeom>
        </p:spPr>
      </p:pic>
      <p:pic>
        <p:nvPicPr>
          <p:cNvPr id="6" name="图片 5">
            <a:extLst>
              <a:ext uri="{FF2B5EF4-FFF2-40B4-BE49-F238E27FC236}">
                <a16:creationId xmlns:a16="http://schemas.microsoft.com/office/drawing/2014/main" id="{CA6F1A74-1971-7CBF-B5D9-95BEE36812F6}"/>
              </a:ext>
            </a:extLst>
          </p:cNvPr>
          <p:cNvPicPr>
            <a:picLocks noChangeAspect="1"/>
          </p:cNvPicPr>
          <p:nvPr/>
        </p:nvPicPr>
        <p:blipFill>
          <a:blip r:embed="rId4"/>
          <a:stretch>
            <a:fillRect/>
          </a:stretch>
        </p:blipFill>
        <p:spPr>
          <a:xfrm>
            <a:off x="7379906" y="5924495"/>
            <a:ext cx="1470787" cy="815411"/>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95F289E-3DD1-46AB-8461-BD82B861D6C0}"/>
              </a:ext>
            </a:extLst>
          </p:cNvPr>
          <p:cNvSpPr>
            <a:spLocks noGrp="1" noChangeArrowheads="1"/>
          </p:cNvSpPr>
          <p:nvPr>
            <p:ph type="title" idx="4294967295"/>
          </p:nvPr>
        </p:nvSpPr>
        <p:spPr>
          <a:xfrm>
            <a:off x="467544" y="106856"/>
            <a:ext cx="7886700" cy="1325563"/>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F02FEAD5-7B1E-4ADA-B87F-FE87A1F5F079}"/>
              </a:ext>
            </a:extLst>
          </p:cNvPr>
          <p:cNvSpPr>
            <a:spLocks noGrp="1"/>
          </p:cNvSpPr>
          <p:nvPr>
            <p:ph type="sldNum" sz="quarter" idx="4294967295"/>
          </p:nvPr>
        </p:nvSpPr>
        <p:spPr>
          <a:xfrm>
            <a:off x="7086600" y="6356350"/>
            <a:ext cx="2057400" cy="365125"/>
          </a:xfrm>
        </p:spPr>
        <p:txBody>
          <a:bodyPr/>
          <a:lstStyle/>
          <a:p>
            <a:fld id="{A079ED32-652D-4E8C-81E6-00A729593675}" type="slidenum">
              <a:rPr lang="zh-CN" altLang="en-US"/>
              <a:pPr/>
              <a:t>44</a:t>
            </a:fld>
            <a:endParaRPr lang="en-US" altLang="zh-CN"/>
          </a:p>
        </p:txBody>
      </p:sp>
      <p:sp>
        <p:nvSpPr>
          <p:cNvPr id="43011" name="Rectangle 3">
            <a:extLst>
              <a:ext uri="{FF2B5EF4-FFF2-40B4-BE49-F238E27FC236}">
                <a16:creationId xmlns:a16="http://schemas.microsoft.com/office/drawing/2014/main" id="{FEC0190D-A5B5-4FE7-97F7-5D75AE4440CB}"/>
              </a:ext>
            </a:extLst>
          </p:cNvPr>
          <p:cNvSpPr>
            <a:spLocks noGrp="1" noChangeArrowheads="1"/>
          </p:cNvSpPr>
          <p:nvPr>
            <p:ph idx="4294967295"/>
          </p:nvPr>
        </p:nvSpPr>
        <p:spPr>
          <a:xfrm>
            <a:off x="464608" y="1556792"/>
            <a:ext cx="7886700" cy="4351338"/>
          </a:xfrm>
        </p:spPr>
        <p:txBody>
          <a:bodyPr>
            <a:normAutofit/>
          </a:bodyPr>
          <a:lstStyle/>
          <a:p>
            <a:pPr>
              <a:lnSpc>
                <a:spcPct val="150000"/>
              </a:lnSpc>
            </a:pPr>
            <a:r>
              <a:rPr lang="zh-CN" altLang="en-US" sz="2800" dirty="0"/>
              <a:t>直觉上告诉我们，求解问题是困难的，但是</a:t>
            </a:r>
            <a:r>
              <a:rPr lang="zh-CN" altLang="en-US" sz="2800" b="1" dirty="0"/>
              <a:t>验证</a:t>
            </a:r>
            <a:r>
              <a:rPr lang="zh-CN" altLang="en-US" sz="2800" dirty="0"/>
              <a:t>一个问题的解相对要容易</a:t>
            </a:r>
          </a:p>
          <a:p>
            <a:pPr>
              <a:lnSpc>
                <a:spcPct val="150000"/>
              </a:lnSpc>
            </a:pPr>
            <a:r>
              <a:rPr lang="zh-CN" altLang="en-US" sz="2800" dirty="0"/>
              <a:t>问题</a:t>
            </a:r>
            <a:r>
              <a:rPr lang="en-US" altLang="zh-CN" sz="2800" dirty="0"/>
              <a:t>X</a:t>
            </a:r>
            <a:r>
              <a:rPr lang="zh-CN" altLang="en-US" sz="2800" dirty="0"/>
              <a:t>的</a:t>
            </a:r>
            <a:r>
              <a:rPr lang="zh-CN" altLang="en-US" sz="2800" dirty="0">
                <a:latin typeface="Times New Roman" panose="02020603050405020304" pitchFamily="18" charset="0"/>
              </a:rPr>
              <a:t>“</a:t>
            </a:r>
            <a:r>
              <a:rPr lang="zh-CN" altLang="en-US" sz="2800" dirty="0"/>
              <a:t>验证算法</a:t>
            </a:r>
            <a:r>
              <a:rPr lang="zh-CN" altLang="en-US" sz="2800" dirty="0">
                <a:latin typeface="Times New Roman" panose="02020603050405020304" pitchFamily="18" charset="0"/>
              </a:rPr>
              <a:t>”</a:t>
            </a:r>
            <a:r>
              <a:rPr lang="zh-CN" altLang="en-US" sz="2800" dirty="0"/>
              <a:t>具有不同于求解问题的算法结构，为了验证一个解，需要输入串</a:t>
            </a:r>
            <a:r>
              <a:rPr lang="en-US" altLang="zh-CN" sz="2800" dirty="0"/>
              <a:t>s</a:t>
            </a:r>
            <a:r>
              <a:rPr lang="zh-CN" altLang="en-US" sz="2800" dirty="0"/>
              <a:t>以及另外的</a:t>
            </a:r>
            <a:r>
              <a:rPr lang="zh-CN" altLang="en-US" sz="2800" dirty="0">
                <a:latin typeface="Times New Roman" panose="02020603050405020304" pitchFamily="18" charset="0"/>
              </a:rPr>
              <a:t>“</a:t>
            </a:r>
            <a:r>
              <a:rPr lang="zh-CN" altLang="en-US" sz="2800" b="1" dirty="0"/>
              <a:t>证书</a:t>
            </a:r>
            <a:r>
              <a:rPr lang="en-US" altLang="zh-CN" sz="2800" dirty="0">
                <a:latin typeface="Times New Roman" panose="02020603050405020304" pitchFamily="18" charset="0"/>
              </a:rPr>
              <a:t>”</a:t>
            </a:r>
            <a:r>
              <a:rPr lang="zh-CN" altLang="en-US" sz="2800" dirty="0"/>
              <a:t>串</a:t>
            </a:r>
            <a:r>
              <a:rPr lang="en-US" altLang="zh-CN" sz="2800" dirty="0"/>
              <a:t>t, </a:t>
            </a:r>
            <a:r>
              <a:rPr lang="zh-CN" altLang="en-US" sz="2800" dirty="0"/>
              <a:t>这个证书</a:t>
            </a:r>
            <a:r>
              <a:rPr lang="en-US" altLang="zh-CN" sz="2800" dirty="0"/>
              <a:t>t</a:t>
            </a:r>
            <a:r>
              <a:rPr lang="zh-CN" altLang="en-US" sz="2800" dirty="0"/>
              <a:t>包含</a:t>
            </a:r>
            <a:r>
              <a:rPr lang="en-US" altLang="zh-CN" sz="2800" b="1" dirty="0"/>
              <a:t>s</a:t>
            </a:r>
            <a:r>
              <a:rPr lang="zh-CN" altLang="en-US" sz="2800" b="1" dirty="0"/>
              <a:t>是</a:t>
            </a:r>
            <a:r>
              <a:rPr lang="en-US" altLang="zh-CN" sz="2800" b="1" dirty="0"/>
              <a:t>X</a:t>
            </a:r>
            <a:r>
              <a:rPr lang="zh-CN" altLang="en-US" sz="2800" b="1" dirty="0"/>
              <a:t>的</a:t>
            </a:r>
            <a:r>
              <a:rPr lang="zh-CN" altLang="en-US" sz="2800" b="1" dirty="0">
                <a:latin typeface="Times New Roman" panose="02020603050405020304" pitchFamily="18" charset="0"/>
              </a:rPr>
              <a:t>“</a:t>
            </a:r>
            <a:r>
              <a:rPr lang="en-US" altLang="zh-CN" sz="2800" b="1" dirty="0"/>
              <a:t>yes</a:t>
            </a:r>
            <a:r>
              <a:rPr lang="en-US" altLang="zh-CN" sz="2800" b="1" dirty="0">
                <a:latin typeface="Times New Roman" panose="02020603050405020304" pitchFamily="18" charset="0"/>
              </a:rPr>
              <a:t>”</a:t>
            </a:r>
            <a:r>
              <a:rPr lang="zh-CN" altLang="en-US" sz="2800" b="1" dirty="0"/>
              <a:t>实例</a:t>
            </a:r>
            <a:r>
              <a:rPr lang="zh-CN" altLang="en-US" sz="2800" dirty="0"/>
              <a:t>的证据。</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57FFDC7-6549-4EFD-8BBC-B85CA99407E3}"/>
              </a:ext>
            </a:extLst>
          </p:cNvPr>
          <p:cNvSpPr>
            <a:spLocks noGrp="1" noChangeArrowheads="1"/>
          </p:cNvSpPr>
          <p:nvPr>
            <p:ph type="title" idx="4294967295"/>
          </p:nvPr>
        </p:nvSpPr>
        <p:spPr>
          <a:xfrm>
            <a:off x="467544" y="136525"/>
            <a:ext cx="7886700" cy="1325563"/>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77D46F41-6BF2-4E43-896A-B345B10E18EB}"/>
              </a:ext>
            </a:extLst>
          </p:cNvPr>
          <p:cNvSpPr>
            <a:spLocks noGrp="1"/>
          </p:cNvSpPr>
          <p:nvPr>
            <p:ph type="sldNum" sz="quarter" idx="4294967295"/>
          </p:nvPr>
        </p:nvSpPr>
        <p:spPr>
          <a:xfrm>
            <a:off x="7086600" y="6356350"/>
            <a:ext cx="2057400" cy="365125"/>
          </a:xfrm>
        </p:spPr>
        <p:txBody>
          <a:bodyPr/>
          <a:lstStyle/>
          <a:p>
            <a:fld id="{C2F9E62F-81DB-4261-BAB2-3513C6E5A3B3}" type="slidenum">
              <a:rPr lang="zh-CN" altLang="en-US"/>
              <a:pPr/>
              <a:t>45</a:t>
            </a:fld>
            <a:endParaRPr lang="en-US" altLang="zh-CN"/>
          </a:p>
        </p:txBody>
      </p:sp>
      <p:sp>
        <p:nvSpPr>
          <p:cNvPr id="44035" name="Rectangle 3">
            <a:extLst>
              <a:ext uri="{FF2B5EF4-FFF2-40B4-BE49-F238E27FC236}">
                <a16:creationId xmlns:a16="http://schemas.microsoft.com/office/drawing/2014/main" id="{A1FDF44E-38F3-4283-AA29-FC780C327AF3}"/>
              </a:ext>
            </a:extLst>
          </p:cNvPr>
          <p:cNvSpPr>
            <a:spLocks noGrp="1" noChangeArrowheads="1"/>
          </p:cNvSpPr>
          <p:nvPr>
            <p:ph idx="4294967295"/>
          </p:nvPr>
        </p:nvSpPr>
        <p:spPr>
          <a:xfrm>
            <a:off x="468115" y="1445719"/>
            <a:ext cx="7886700" cy="4351338"/>
          </a:xfrm>
        </p:spPr>
        <p:txBody>
          <a:bodyPr>
            <a:normAutofit fontScale="92500" lnSpcReduction="10000"/>
          </a:bodyPr>
          <a:lstStyle/>
          <a:p>
            <a:pPr>
              <a:lnSpc>
                <a:spcPct val="150000"/>
              </a:lnSpc>
            </a:pPr>
            <a:r>
              <a:rPr lang="zh-CN" altLang="en-US" sz="3000" dirty="0"/>
              <a:t>如果：</a:t>
            </a:r>
          </a:p>
          <a:p>
            <a:pPr>
              <a:lnSpc>
                <a:spcPct val="150000"/>
              </a:lnSpc>
              <a:buClr>
                <a:schemeClr val="hlink"/>
              </a:buClr>
              <a:buFontTx/>
              <a:buChar char="•"/>
            </a:pPr>
            <a:r>
              <a:rPr lang="en-US" altLang="zh-CN" sz="3000" dirty="0"/>
              <a:t>B</a:t>
            </a:r>
            <a:r>
              <a:rPr lang="zh-CN" altLang="en-US" sz="3000" dirty="0"/>
              <a:t>是有两个输入变量</a:t>
            </a:r>
            <a:r>
              <a:rPr lang="en-US" altLang="zh-CN" sz="3000" dirty="0"/>
              <a:t>s, t</a:t>
            </a:r>
            <a:r>
              <a:rPr lang="zh-CN" altLang="en-US" sz="3000" dirty="0"/>
              <a:t>的多项式时间算法</a:t>
            </a:r>
          </a:p>
          <a:p>
            <a:pPr>
              <a:lnSpc>
                <a:spcPct val="150000"/>
              </a:lnSpc>
              <a:buClr>
                <a:schemeClr val="hlink"/>
              </a:buClr>
              <a:buFontTx/>
              <a:buChar char="•"/>
            </a:pPr>
            <a:r>
              <a:rPr lang="zh-CN" altLang="en-US" sz="3000" dirty="0"/>
              <a:t>存在多项式</a:t>
            </a:r>
            <a:r>
              <a:rPr lang="en-US" altLang="zh-CN" sz="3000" dirty="0"/>
              <a:t>p</a:t>
            </a:r>
            <a:r>
              <a:rPr lang="zh-CN" altLang="en-US" sz="3000" dirty="0"/>
              <a:t>使得对每一个输入串</a:t>
            </a:r>
            <a:r>
              <a:rPr lang="en-US" altLang="zh-CN" sz="3000" dirty="0"/>
              <a:t>s, </a:t>
            </a:r>
            <a:r>
              <a:rPr lang="en-US" altLang="zh-CN" sz="3000" dirty="0" err="1"/>
              <a:t>s</a:t>
            </a:r>
            <a:r>
              <a:rPr lang="en-US" altLang="zh-CN" sz="3000" dirty="0" err="1">
                <a:sym typeface="Symbol" panose="05050102010706020507" pitchFamily="18" charset="2"/>
              </a:rPr>
              <a:t>X</a:t>
            </a:r>
            <a:r>
              <a:rPr lang="zh-CN" altLang="en-US" sz="3000" dirty="0">
                <a:sym typeface="Symbol" panose="05050102010706020507" pitchFamily="18" charset="2"/>
              </a:rPr>
              <a:t>当且仅当存</a:t>
            </a:r>
            <a:r>
              <a:rPr lang="zh-CN" altLang="en-US" sz="3000" dirty="0">
                <a:latin typeface="Times New Roman" panose="02020603050405020304" pitchFamily="18" charset="0"/>
                <a:cs typeface="Times New Roman" panose="02020603050405020304" pitchFamily="18" charset="0"/>
                <a:sym typeface="Symbol" panose="05050102010706020507" pitchFamily="18" charset="2"/>
              </a:rPr>
              <a:t>在串</a:t>
            </a:r>
            <a:r>
              <a:rPr lang="en-US" altLang="zh-CN" sz="3000" dirty="0">
                <a:latin typeface="Times New Roman" panose="02020603050405020304" pitchFamily="18" charset="0"/>
                <a:cs typeface="Times New Roman" panose="02020603050405020304" pitchFamily="18" charset="0"/>
                <a:sym typeface="Symbol" panose="05050102010706020507" pitchFamily="18" charset="2"/>
              </a:rPr>
              <a:t>t</a:t>
            </a:r>
            <a:r>
              <a:rPr lang="zh-CN" altLang="en-US" sz="3000" dirty="0">
                <a:latin typeface="Times New Roman" panose="02020603050405020304" pitchFamily="18" charset="0"/>
                <a:cs typeface="Times New Roman" panose="02020603050405020304" pitchFamily="18" charset="0"/>
                <a:sym typeface="Symbol" panose="05050102010706020507" pitchFamily="18" charset="2"/>
              </a:rPr>
              <a:t>，使得</a:t>
            </a:r>
            <a:r>
              <a:rPr lang="en-US" altLang="zh-CN" sz="3600" b="1" dirty="0">
                <a:latin typeface="Times New Roman" panose="02020603050405020304" pitchFamily="18" charset="0"/>
                <a:cs typeface="Times New Roman" panose="02020603050405020304" pitchFamily="18" charset="0"/>
              </a:rPr>
              <a:t>|</a:t>
            </a:r>
            <a:r>
              <a:rPr lang="en-US" altLang="zh-CN" sz="3600" b="1" dirty="0">
                <a:latin typeface="Times New Roman" panose="02020603050405020304" pitchFamily="18" charset="0"/>
                <a:cs typeface="Times New Roman" panose="02020603050405020304" pitchFamily="18" charset="0"/>
                <a:sym typeface="Symbol" panose="05050102010706020507" pitchFamily="18" charset="2"/>
              </a:rPr>
              <a:t>t|  p(|s|)</a:t>
            </a:r>
            <a:r>
              <a:rPr lang="en-US" altLang="zh-CN" sz="36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3600" dirty="0">
                <a:latin typeface="Times New Roman" panose="02020603050405020304" pitchFamily="18" charset="0"/>
                <a:cs typeface="Times New Roman" panose="02020603050405020304" pitchFamily="18" charset="0"/>
                <a:sym typeface="Symbol" panose="05050102010706020507" pitchFamily="18" charset="2"/>
              </a:rPr>
              <a:t>且</a:t>
            </a:r>
            <a:r>
              <a:rPr lang="en-US" altLang="zh-CN" sz="3600" dirty="0">
                <a:latin typeface="Times New Roman" panose="02020603050405020304" pitchFamily="18" charset="0"/>
                <a:cs typeface="Times New Roman" panose="02020603050405020304" pitchFamily="18" charset="0"/>
                <a:sym typeface="Symbol" panose="05050102010706020507" pitchFamily="18" charset="2"/>
              </a:rPr>
              <a:t>B(</a:t>
            </a:r>
            <a:r>
              <a:rPr lang="en-US" altLang="zh-CN" sz="3600" dirty="0" err="1">
                <a:latin typeface="Times New Roman" panose="02020603050405020304" pitchFamily="18" charset="0"/>
                <a:cs typeface="Times New Roman" panose="02020603050405020304" pitchFamily="18" charset="0"/>
                <a:sym typeface="Symbol" panose="05050102010706020507" pitchFamily="18" charset="2"/>
              </a:rPr>
              <a:t>s,t</a:t>
            </a:r>
            <a:r>
              <a:rPr lang="en-US" altLang="zh-CN" sz="3600" dirty="0">
                <a:latin typeface="Times New Roman" panose="02020603050405020304" pitchFamily="18" charset="0"/>
                <a:cs typeface="Times New Roman" panose="02020603050405020304" pitchFamily="18" charset="0"/>
                <a:sym typeface="Symbol" panose="05050102010706020507" pitchFamily="18" charset="2"/>
              </a:rPr>
              <a:t>)=yes.</a:t>
            </a:r>
          </a:p>
          <a:p>
            <a:pPr>
              <a:lnSpc>
                <a:spcPct val="150000"/>
              </a:lnSpc>
            </a:pPr>
            <a:r>
              <a:rPr lang="zh-CN" altLang="en-US" sz="3600" dirty="0">
                <a:latin typeface="Times New Roman" panose="02020603050405020304" pitchFamily="18" charset="0"/>
                <a:cs typeface="Times New Roman" panose="02020603050405020304" pitchFamily="18" charset="0"/>
                <a:sym typeface="Symbol" panose="05050102010706020507" pitchFamily="18" charset="2"/>
              </a:rPr>
              <a:t>则称</a:t>
            </a:r>
            <a:r>
              <a:rPr lang="en-US" altLang="zh-CN" sz="3600" dirty="0">
                <a:latin typeface="Times New Roman" panose="02020603050405020304" pitchFamily="18" charset="0"/>
                <a:cs typeface="Times New Roman" panose="02020603050405020304" pitchFamily="18" charset="0"/>
                <a:sym typeface="Symbol" panose="05050102010706020507" pitchFamily="18" charset="2"/>
              </a:rPr>
              <a:t>B</a:t>
            </a:r>
            <a:r>
              <a:rPr lang="zh-CN" altLang="en-US" sz="3600" dirty="0">
                <a:latin typeface="Times New Roman" panose="02020603050405020304" pitchFamily="18" charset="0"/>
                <a:cs typeface="Times New Roman" panose="02020603050405020304" pitchFamily="18" charset="0"/>
                <a:sym typeface="Symbol" panose="05050102010706020507" pitchFamily="18" charset="2"/>
              </a:rPr>
              <a:t>是问题</a:t>
            </a:r>
            <a:r>
              <a:rPr lang="en-US" altLang="zh-CN" sz="3600" dirty="0">
                <a:latin typeface="Times New Roman" panose="02020603050405020304" pitchFamily="18" charset="0"/>
                <a:cs typeface="Times New Roman" panose="02020603050405020304" pitchFamily="18" charset="0"/>
                <a:sym typeface="Symbol" panose="05050102010706020507" pitchFamily="18" charset="2"/>
              </a:rPr>
              <a:t>X</a:t>
            </a:r>
            <a:r>
              <a:rPr lang="zh-CN" altLang="en-US" sz="3600" dirty="0">
                <a:latin typeface="Times New Roman" panose="02020603050405020304" pitchFamily="18" charset="0"/>
                <a:cs typeface="Times New Roman" panose="02020603050405020304" pitchFamily="18" charset="0"/>
                <a:sym typeface="Symbol" panose="05050102010706020507" pitchFamily="18" charset="2"/>
              </a:rPr>
              <a:t>的有效</a:t>
            </a:r>
            <a:r>
              <a:rPr lang="zh-CN" altLang="en-US" sz="36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验证程序</a:t>
            </a:r>
            <a:r>
              <a:rPr lang="zh-CN" altLang="en-US" sz="3600" dirty="0">
                <a:latin typeface="Times New Roman" panose="02020603050405020304" pitchFamily="18" charset="0"/>
                <a:cs typeface="Times New Roman" panose="02020603050405020304" pitchFamily="18" charset="0"/>
                <a:sym typeface="Symbol" panose="05050102010706020507" pitchFamily="18" charset="2"/>
              </a:rPr>
              <a:t>。</a:t>
            </a:r>
          </a:p>
          <a:p>
            <a:pPr>
              <a:lnSpc>
                <a:spcPct val="150000"/>
              </a:lnSpc>
              <a:buFont typeface="Wingdings" panose="05000000000000000000" pitchFamily="2" charset="2"/>
              <a:buNone/>
            </a:pPr>
            <a:r>
              <a:rPr lang="en-US" altLang="zh-CN" sz="3600" dirty="0">
                <a:latin typeface="Times New Roman" panose="02020603050405020304" pitchFamily="18" charset="0"/>
                <a:cs typeface="Times New Roman" panose="02020603050405020304" pitchFamily="18" charset="0"/>
                <a:sym typeface="Symbol" panose="05050102010706020507" pitchFamily="18" charset="2"/>
              </a:rPr>
              <a:t>   t</a:t>
            </a:r>
            <a:r>
              <a:rPr lang="zh-CN" altLang="en-US" sz="3600" dirty="0">
                <a:latin typeface="Times New Roman" panose="02020603050405020304" pitchFamily="18" charset="0"/>
                <a:cs typeface="Times New Roman" panose="02020603050405020304" pitchFamily="18" charset="0"/>
                <a:sym typeface="Symbol" panose="05050102010706020507" pitchFamily="18" charset="2"/>
              </a:rPr>
              <a:t>是证书</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5C236DB6-AA04-426A-B3B0-E9DCC44D0064}"/>
              </a:ext>
            </a:extLst>
          </p:cNvPr>
          <p:cNvSpPr>
            <a:spLocks noGrp="1" noChangeArrowheads="1"/>
          </p:cNvSpPr>
          <p:nvPr>
            <p:ph type="title" idx="4294967295"/>
          </p:nvPr>
        </p:nvSpPr>
        <p:spPr>
          <a:xfrm>
            <a:off x="395536" y="136525"/>
            <a:ext cx="7886700" cy="1325563"/>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E3DF5CD1-C90B-42FB-A7BF-87F2E9D6338E}"/>
              </a:ext>
            </a:extLst>
          </p:cNvPr>
          <p:cNvSpPr>
            <a:spLocks noGrp="1"/>
          </p:cNvSpPr>
          <p:nvPr>
            <p:ph type="sldNum" sz="quarter" idx="4294967295"/>
          </p:nvPr>
        </p:nvSpPr>
        <p:spPr>
          <a:xfrm>
            <a:off x="7086600" y="6356350"/>
            <a:ext cx="2057400" cy="365125"/>
          </a:xfrm>
        </p:spPr>
        <p:txBody>
          <a:bodyPr/>
          <a:lstStyle/>
          <a:p>
            <a:fld id="{87614AEC-BF3C-4754-9A7C-4D0F3340097F}" type="slidenum">
              <a:rPr lang="zh-CN" altLang="en-US"/>
              <a:pPr/>
              <a:t>46</a:t>
            </a:fld>
            <a:endParaRPr lang="en-US" altLang="zh-CN"/>
          </a:p>
        </p:txBody>
      </p:sp>
      <p:sp>
        <p:nvSpPr>
          <p:cNvPr id="47107" name="Rectangle 3">
            <a:extLst>
              <a:ext uri="{FF2B5EF4-FFF2-40B4-BE49-F238E27FC236}">
                <a16:creationId xmlns:a16="http://schemas.microsoft.com/office/drawing/2014/main" id="{F8BF2220-2182-43A8-8435-88326CCD6DFE}"/>
              </a:ext>
            </a:extLst>
          </p:cNvPr>
          <p:cNvSpPr>
            <a:spLocks noGrp="1" noChangeArrowheads="1"/>
          </p:cNvSpPr>
          <p:nvPr>
            <p:ph idx="4294967295"/>
          </p:nvPr>
        </p:nvSpPr>
        <p:spPr>
          <a:xfrm>
            <a:off x="258914" y="1733550"/>
            <a:ext cx="8561558" cy="4351338"/>
          </a:xfrm>
        </p:spPr>
        <p:txBody>
          <a:bodyPr>
            <a:normAutofit/>
          </a:bodyPr>
          <a:lstStyle/>
          <a:p>
            <a:r>
              <a:rPr lang="zh-CN" altLang="en-US" sz="2800" dirty="0"/>
              <a:t>根据验证算法的性质，可以定义新的问题类别</a:t>
            </a:r>
          </a:p>
          <a:p>
            <a:endParaRPr lang="zh-CN" altLang="en-US" sz="2800" dirty="0"/>
          </a:p>
          <a:p>
            <a:pPr>
              <a:lnSpc>
                <a:spcPct val="150000"/>
              </a:lnSpc>
            </a:pPr>
            <a:r>
              <a:rPr lang="en-US" altLang="zh-CN" sz="2800" dirty="0"/>
              <a:t>NP(Nondeterministic polynomial time)</a:t>
            </a:r>
            <a:r>
              <a:rPr lang="zh-CN" altLang="en-US" sz="2800" dirty="0"/>
              <a:t>是</a:t>
            </a:r>
            <a:r>
              <a:rPr lang="zh-CN" altLang="en-US" sz="2800" b="1" dirty="0"/>
              <a:t>所有</a:t>
            </a:r>
            <a:r>
              <a:rPr lang="zh-CN" altLang="en-US" sz="2800" b="1" dirty="0">
                <a:solidFill>
                  <a:schemeClr val="hlink"/>
                </a:solidFill>
              </a:rPr>
              <a:t>存在有效验证程序</a:t>
            </a:r>
            <a:r>
              <a:rPr lang="zh-CN" altLang="en-US" sz="2800" b="1" dirty="0"/>
              <a:t>的问题的集合</a:t>
            </a:r>
            <a:endParaRPr lang="en-US" altLang="zh-CN" sz="2800" b="1" dirty="0"/>
          </a:p>
          <a:p>
            <a:pPr>
              <a:lnSpc>
                <a:spcPct val="150000"/>
              </a:lnSpc>
            </a:pPr>
            <a:endParaRPr lang="en-US" altLang="zh-CN" sz="2800" b="1" dirty="0"/>
          </a:p>
          <a:p>
            <a:pPr>
              <a:lnSpc>
                <a:spcPct val="150000"/>
              </a:lnSpc>
            </a:pPr>
            <a:r>
              <a:rPr lang="en-US" altLang="zh-CN" sz="2800" b="1" i="0" dirty="0">
                <a:solidFill>
                  <a:srgbClr val="FF0000"/>
                </a:solidFill>
                <a:effectLst/>
                <a:latin typeface="Inter"/>
              </a:rPr>
              <a:t>P </a:t>
            </a:r>
            <a:r>
              <a:rPr lang="zh-CN" altLang="en-US" sz="2800" b="1" i="0" dirty="0">
                <a:solidFill>
                  <a:srgbClr val="FF0000"/>
                </a:solidFill>
                <a:effectLst/>
                <a:latin typeface="Inter"/>
              </a:rPr>
              <a:t>类问题的含义是 </a:t>
            </a:r>
            <a:r>
              <a:rPr lang="en-US" altLang="zh-CN" sz="2800" b="1" i="0" dirty="0">
                <a:solidFill>
                  <a:srgbClr val="FF0000"/>
                </a:solidFill>
                <a:effectLst/>
                <a:latin typeface="Inter"/>
              </a:rPr>
              <a:t>(     ) </a:t>
            </a:r>
            <a:r>
              <a:rPr lang="zh-CN" altLang="en-US" sz="2800" b="1" i="0" dirty="0">
                <a:solidFill>
                  <a:srgbClr val="FF0000"/>
                </a:solidFill>
                <a:effectLst/>
                <a:latin typeface="Inter"/>
              </a:rPr>
              <a:t>；</a:t>
            </a:r>
            <a:r>
              <a:rPr lang="en-US" altLang="zh-CN" sz="2800" b="1" i="0" dirty="0">
                <a:solidFill>
                  <a:srgbClr val="FF0000"/>
                </a:solidFill>
                <a:effectLst/>
                <a:latin typeface="Inter"/>
              </a:rPr>
              <a:t>NP </a:t>
            </a:r>
            <a:r>
              <a:rPr lang="zh-CN" altLang="en-US" sz="2800" b="1" i="0" dirty="0">
                <a:solidFill>
                  <a:srgbClr val="FF0000"/>
                </a:solidFill>
                <a:effectLst/>
                <a:latin typeface="Inter"/>
              </a:rPr>
              <a:t>类问题的含义是 </a:t>
            </a:r>
            <a:r>
              <a:rPr lang="en-US" altLang="zh-CN" sz="2800" b="1" i="0" dirty="0">
                <a:solidFill>
                  <a:srgbClr val="FF0000"/>
                </a:solidFill>
                <a:effectLst/>
                <a:latin typeface="Inter"/>
              </a:rPr>
              <a:t>(    ) </a:t>
            </a:r>
            <a:r>
              <a:rPr lang="zh-CN" altLang="en-US" sz="2800" b="1" i="0" dirty="0">
                <a:solidFill>
                  <a:srgbClr val="FF0000"/>
                </a:solidFill>
                <a:effectLst/>
                <a:latin typeface="Inter"/>
              </a:rPr>
              <a:t>。</a:t>
            </a:r>
            <a:endParaRPr lang="zh-CN" altLang="en-US" sz="3600"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26">
            <a:extLst>
              <a:ext uri="{FF2B5EF4-FFF2-40B4-BE49-F238E27FC236}">
                <a16:creationId xmlns:a16="http://schemas.microsoft.com/office/drawing/2014/main" id="{6C1EC347-F095-4A37-9B26-C99ECD6C73D5}"/>
              </a:ext>
            </a:extLst>
          </p:cNvPr>
          <p:cNvSpPr>
            <a:spLocks noGrp="1" noChangeArrowheads="1"/>
          </p:cNvSpPr>
          <p:nvPr>
            <p:ph type="title" idx="4294967295"/>
          </p:nvPr>
        </p:nvSpPr>
        <p:spPr>
          <a:xfrm>
            <a:off x="539552" y="260648"/>
            <a:ext cx="7793037" cy="1143000"/>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77685518-A0F0-4C1E-8854-6FA1E050D869}"/>
              </a:ext>
            </a:extLst>
          </p:cNvPr>
          <p:cNvSpPr>
            <a:spLocks noGrp="1"/>
          </p:cNvSpPr>
          <p:nvPr>
            <p:ph type="sldNum" sz="quarter" idx="4294967295"/>
          </p:nvPr>
        </p:nvSpPr>
        <p:spPr>
          <a:xfrm>
            <a:off x="7086600" y="6356350"/>
            <a:ext cx="2057400" cy="365125"/>
          </a:xfrm>
        </p:spPr>
        <p:txBody>
          <a:bodyPr/>
          <a:lstStyle/>
          <a:p>
            <a:fld id="{1831CC72-DDB2-4599-95F8-96A2C74C7466}" type="slidenum">
              <a:rPr lang="zh-CN" altLang="en-US"/>
              <a:pPr/>
              <a:t>47</a:t>
            </a:fld>
            <a:endParaRPr lang="en-US" altLang="zh-CN"/>
          </a:p>
        </p:txBody>
      </p:sp>
      <p:sp>
        <p:nvSpPr>
          <p:cNvPr id="53251" name="Rectangle 1027">
            <a:extLst>
              <a:ext uri="{FF2B5EF4-FFF2-40B4-BE49-F238E27FC236}">
                <a16:creationId xmlns:a16="http://schemas.microsoft.com/office/drawing/2014/main" id="{09BD8AFA-BF5F-4CB4-B367-AF29778DC69E}"/>
              </a:ext>
            </a:extLst>
          </p:cNvPr>
          <p:cNvSpPr>
            <a:spLocks noGrp="1" noChangeArrowheads="1"/>
          </p:cNvSpPr>
          <p:nvPr>
            <p:ph idx="4294967295"/>
          </p:nvPr>
        </p:nvSpPr>
        <p:spPr>
          <a:xfrm>
            <a:off x="492720" y="1268760"/>
            <a:ext cx="7886700" cy="5256584"/>
          </a:xfrm>
        </p:spPr>
        <p:txBody>
          <a:bodyPr>
            <a:normAutofit/>
          </a:bodyPr>
          <a:lstStyle/>
          <a:p>
            <a:pPr marL="0" indent="0">
              <a:lnSpc>
                <a:spcPct val="150000"/>
              </a:lnSpc>
              <a:buNone/>
            </a:pPr>
            <a:r>
              <a:rPr lang="zh-CN" altLang="en-US" sz="3200" b="1" dirty="0">
                <a:solidFill>
                  <a:srgbClr val="FF0000"/>
                </a:solidFill>
              </a:rPr>
              <a:t>定理8.10 </a:t>
            </a:r>
            <a:r>
              <a:rPr lang="en-US" altLang="zh-CN" sz="3200" b="1" dirty="0">
                <a:solidFill>
                  <a:srgbClr val="FF0000"/>
                </a:solidFill>
              </a:rPr>
              <a:t>P</a:t>
            </a:r>
            <a:r>
              <a:rPr lang="en-US" altLang="zh-CN" sz="3200" b="1" dirty="0">
                <a:solidFill>
                  <a:srgbClr val="FF0000"/>
                </a:solidFill>
                <a:sym typeface="Symbol" panose="05050102010706020507" pitchFamily="18" charset="2"/>
              </a:rPr>
              <a:t>NP</a:t>
            </a:r>
          </a:p>
          <a:p>
            <a:pPr marL="0" indent="0">
              <a:lnSpc>
                <a:spcPct val="150000"/>
              </a:lnSpc>
              <a:buNone/>
            </a:pPr>
            <a:r>
              <a:rPr lang="zh-CN" altLang="en-US" sz="2400" dirty="0">
                <a:sym typeface="Symbol" panose="05050102010706020507" pitchFamily="18" charset="2"/>
              </a:rPr>
              <a:t>证明：考虑问题</a:t>
            </a:r>
            <a:r>
              <a:rPr lang="en-US" altLang="zh-CN" sz="2400" dirty="0">
                <a:sym typeface="Symbol" panose="05050102010706020507" pitchFamily="18" charset="2"/>
              </a:rPr>
              <a:t>X</a:t>
            </a:r>
            <a:r>
              <a:rPr lang="zh-CN" altLang="en-US" sz="2400" dirty="0">
                <a:sym typeface="Symbol" panose="05050102010706020507" pitchFamily="18" charset="2"/>
              </a:rPr>
              <a:t>∈</a:t>
            </a:r>
            <a:r>
              <a:rPr lang="en-US" altLang="zh-CN" sz="2400" dirty="0">
                <a:sym typeface="Symbol" panose="05050102010706020507" pitchFamily="18" charset="2"/>
              </a:rPr>
              <a:t>P</a:t>
            </a:r>
            <a:r>
              <a:rPr lang="zh-CN" altLang="en-US" sz="2400" dirty="0">
                <a:sym typeface="Symbol" panose="05050102010706020507" pitchFamily="18" charset="2"/>
              </a:rPr>
              <a:t>，这意味着</a:t>
            </a:r>
            <a:r>
              <a:rPr lang="zh-CN" altLang="en-US" sz="2400" dirty="0">
                <a:solidFill>
                  <a:srgbClr val="FF0000"/>
                </a:solidFill>
                <a:sym typeface="Symbol" panose="05050102010706020507" pitchFamily="18" charset="2"/>
              </a:rPr>
              <a:t>有一个解</a:t>
            </a:r>
            <a:r>
              <a:rPr lang="en-US" altLang="zh-CN" sz="2400" dirty="0">
                <a:solidFill>
                  <a:srgbClr val="FF0000"/>
                </a:solidFill>
                <a:sym typeface="Symbol" panose="05050102010706020507" pitchFamily="18" charset="2"/>
              </a:rPr>
              <a:t>X</a:t>
            </a:r>
            <a:r>
              <a:rPr lang="zh-CN" altLang="en-US" sz="2400" dirty="0">
                <a:solidFill>
                  <a:srgbClr val="FF0000"/>
                </a:solidFill>
                <a:sym typeface="Symbol" panose="05050102010706020507" pitchFamily="18" charset="2"/>
              </a:rPr>
              <a:t>的多项式时间算法</a:t>
            </a:r>
            <a:r>
              <a:rPr lang="en-US" altLang="zh-CN" sz="2400" dirty="0">
                <a:solidFill>
                  <a:srgbClr val="FF0000"/>
                </a:solidFill>
                <a:sym typeface="Symbol" panose="05050102010706020507" pitchFamily="18" charset="2"/>
              </a:rPr>
              <a:t>A</a:t>
            </a:r>
            <a:r>
              <a:rPr lang="zh-CN" altLang="en-US" sz="2400" dirty="0">
                <a:sym typeface="Symbol" panose="05050102010706020507" pitchFamily="18" charset="2"/>
              </a:rPr>
              <a:t>。为了证明</a:t>
            </a:r>
            <a:r>
              <a:rPr lang="en-US" altLang="zh-CN" sz="2400" dirty="0">
                <a:sym typeface="Symbol" panose="05050102010706020507" pitchFamily="18" charset="2"/>
              </a:rPr>
              <a:t>X</a:t>
            </a:r>
            <a:r>
              <a:rPr lang="zh-CN" altLang="en-US" sz="2400" dirty="0">
                <a:sym typeface="Symbol" panose="05050102010706020507" pitchFamily="18" charset="2"/>
              </a:rPr>
              <a:t>∈</a:t>
            </a:r>
            <a:r>
              <a:rPr lang="en-US" altLang="zh-CN" sz="2400" dirty="0">
                <a:sym typeface="Symbol" panose="05050102010706020507" pitchFamily="18" charset="2"/>
              </a:rPr>
              <a:t>NP</a:t>
            </a:r>
            <a:r>
              <a:rPr lang="zh-CN" altLang="en-US" sz="2400" dirty="0">
                <a:sym typeface="Symbol" panose="05050102010706020507" pitchFamily="18" charset="2"/>
              </a:rPr>
              <a:t>，必须证明存在关于</a:t>
            </a:r>
            <a:r>
              <a:rPr lang="en-US" altLang="zh-CN" sz="2400" dirty="0">
                <a:sym typeface="Symbol" panose="05050102010706020507" pitchFamily="18" charset="2"/>
              </a:rPr>
              <a:t>X</a:t>
            </a:r>
            <a:r>
              <a:rPr lang="zh-CN" altLang="en-US" sz="2400" dirty="0">
                <a:sym typeface="Symbol" panose="05050102010706020507" pitchFamily="18" charset="2"/>
              </a:rPr>
              <a:t>的有效验证程序</a:t>
            </a:r>
            <a:r>
              <a:rPr lang="en-US" altLang="zh-CN" sz="2400" dirty="0">
                <a:sym typeface="Symbol" panose="05050102010706020507" pitchFamily="18" charset="2"/>
              </a:rPr>
              <a:t>B</a:t>
            </a:r>
            <a:r>
              <a:rPr lang="zh-CN" altLang="en-US" sz="2400" dirty="0">
                <a:sym typeface="Symbol" panose="05050102010706020507" pitchFamily="18" charset="2"/>
              </a:rPr>
              <a:t>。</a:t>
            </a:r>
            <a:endParaRPr lang="en-US" altLang="zh-CN" sz="2400" dirty="0">
              <a:sym typeface="Symbol" panose="05050102010706020507" pitchFamily="18" charset="2"/>
            </a:endParaRPr>
          </a:p>
          <a:p>
            <a:pPr marL="0" indent="0">
              <a:lnSpc>
                <a:spcPct val="150000"/>
              </a:lnSpc>
              <a:buNone/>
            </a:pPr>
            <a:r>
              <a:rPr lang="zh-CN" altLang="en-US" sz="2400" dirty="0">
                <a:sym typeface="Symbol" panose="05050102010706020507" pitchFamily="18" charset="2"/>
              </a:rPr>
              <a:t>  如下设计</a:t>
            </a:r>
            <a:r>
              <a:rPr lang="en-US" altLang="zh-CN" sz="2400" dirty="0">
                <a:sym typeface="Symbol" panose="05050102010706020507" pitchFamily="18" charset="2"/>
              </a:rPr>
              <a:t>B, </a:t>
            </a:r>
            <a:r>
              <a:rPr lang="zh-CN" altLang="en-US" sz="2400" dirty="0">
                <a:sym typeface="Symbol" panose="05050102010706020507" pitchFamily="18" charset="2"/>
              </a:rPr>
              <a:t>对于输入(</a:t>
            </a:r>
            <a:r>
              <a:rPr lang="en-US" altLang="zh-CN" sz="2400" dirty="0" err="1">
                <a:sym typeface="Symbol" panose="05050102010706020507" pitchFamily="18" charset="2"/>
              </a:rPr>
              <a:t>s,t</a:t>
            </a:r>
            <a:r>
              <a:rPr lang="en-US" altLang="zh-CN" sz="2400" dirty="0">
                <a:sym typeface="Symbol" panose="05050102010706020507" pitchFamily="18" charset="2"/>
              </a:rPr>
              <a:t>), </a:t>
            </a:r>
            <a:r>
              <a:rPr lang="zh-CN" altLang="en-US" sz="2400" dirty="0">
                <a:sym typeface="Symbol" panose="05050102010706020507" pitchFamily="18" charset="2"/>
              </a:rPr>
              <a:t>验证程序直接返回值</a:t>
            </a:r>
            <a:r>
              <a:rPr lang="en-US" altLang="zh-CN" sz="2400" dirty="0">
                <a:sym typeface="Symbol" panose="05050102010706020507" pitchFamily="18" charset="2"/>
              </a:rPr>
              <a:t>A(s).</a:t>
            </a:r>
          </a:p>
          <a:p>
            <a:pPr>
              <a:lnSpc>
                <a:spcPct val="150000"/>
              </a:lnSpc>
              <a:buFont typeface="Wingdings" panose="05000000000000000000" pitchFamily="2" charset="2"/>
              <a:buNone/>
            </a:pPr>
            <a:r>
              <a:rPr lang="zh-CN" altLang="en-US" sz="2400" dirty="0">
                <a:sym typeface="Symbol" panose="05050102010706020507" pitchFamily="18" charset="2"/>
              </a:rPr>
              <a:t>  可以看到，如果串</a:t>
            </a:r>
            <a:r>
              <a:rPr lang="en-US" altLang="zh-CN" sz="2400" dirty="0">
                <a:sym typeface="Symbol" panose="05050102010706020507" pitchFamily="18" charset="2"/>
              </a:rPr>
              <a:t>s X,</a:t>
            </a:r>
            <a:r>
              <a:rPr lang="zh-CN" altLang="en-US" sz="2400" dirty="0">
                <a:sym typeface="Symbol" panose="05050102010706020507" pitchFamily="18" charset="2"/>
              </a:rPr>
              <a:t>对于每一个长度不超过</a:t>
            </a:r>
            <a:r>
              <a:rPr lang="en-US" altLang="zh-CN" sz="2400" dirty="0">
                <a:sym typeface="Symbol" panose="05050102010706020507" pitchFamily="18" charset="2"/>
              </a:rPr>
              <a:t>p(|s|)</a:t>
            </a:r>
            <a:r>
              <a:rPr lang="zh-CN" altLang="en-US" sz="2400" dirty="0">
                <a:sym typeface="Symbol" panose="05050102010706020507" pitchFamily="18" charset="2"/>
              </a:rPr>
              <a:t>的</a:t>
            </a:r>
            <a:r>
              <a:rPr lang="en-US" altLang="zh-CN" sz="2400" dirty="0">
                <a:sym typeface="Symbol" panose="05050102010706020507" pitchFamily="18" charset="2"/>
              </a:rPr>
              <a:t>t, </a:t>
            </a:r>
            <a:r>
              <a:rPr lang="zh-CN" altLang="en-US" sz="2400" dirty="0">
                <a:sym typeface="Symbol" panose="05050102010706020507" pitchFamily="18" charset="2"/>
              </a:rPr>
              <a:t>满足</a:t>
            </a:r>
            <a:r>
              <a:rPr lang="en-US" altLang="zh-CN" sz="2400" dirty="0">
                <a:sym typeface="Symbol" panose="05050102010706020507" pitchFamily="18" charset="2"/>
              </a:rPr>
              <a:t>B(</a:t>
            </a:r>
            <a:r>
              <a:rPr lang="en-US" altLang="zh-CN" sz="2400" dirty="0" err="1">
                <a:sym typeface="Symbol" panose="05050102010706020507" pitchFamily="18" charset="2"/>
              </a:rPr>
              <a:t>s,t</a:t>
            </a:r>
            <a:r>
              <a:rPr lang="en-US" altLang="zh-CN" sz="2400" dirty="0">
                <a:sym typeface="Symbol" panose="05050102010706020507" pitchFamily="18" charset="2"/>
              </a:rPr>
              <a:t>)=yes</a:t>
            </a:r>
            <a:r>
              <a:rPr lang="en-US" altLang="zh-CN" sz="2400" dirty="0">
                <a:latin typeface="Comic Sans MS" panose="030F0702030302020204" pitchFamily="66" charset="0"/>
                <a:sym typeface="Symbol" panose="05050102010706020507" pitchFamily="18" charset="2"/>
              </a:rPr>
              <a:t>…</a:t>
            </a:r>
            <a:endParaRPr lang="en-US" altLang="zh-CN" sz="2400" dirty="0">
              <a:sym typeface="Symbol" panose="05050102010706020507" pitchFamily="18" charset="2"/>
            </a:endParaRPr>
          </a:p>
          <a:p>
            <a:pPr>
              <a:lnSpc>
                <a:spcPct val="150000"/>
              </a:lnSpc>
              <a:buFont typeface="Wingdings" panose="05000000000000000000" pitchFamily="2" charset="2"/>
              <a:buNone/>
            </a:pPr>
            <a:r>
              <a:rPr lang="en-US" altLang="zh-CN" sz="2400" dirty="0">
                <a:sym typeface="Symbol" panose="05050102010706020507" pitchFamily="18" charset="2"/>
              </a:rPr>
              <a:t>   </a:t>
            </a:r>
            <a:r>
              <a:rPr lang="zh-CN" altLang="en-US" sz="2400" dirty="0">
                <a:sym typeface="Symbol" panose="05050102010706020507" pitchFamily="18" charset="2"/>
              </a:rPr>
              <a:t>可见</a:t>
            </a:r>
            <a:r>
              <a:rPr lang="en-US" altLang="zh-CN" sz="2400" dirty="0">
                <a:sym typeface="Symbol" panose="05050102010706020507" pitchFamily="18" charset="2"/>
              </a:rPr>
              <a:t>B</a:t>
            </a:r>
            <a:r>
              <a:rPr lang="zh-CN" altLang="en-US" sz="2400" dirty="0">
                <a:sym typeface="Symbol" panose="05050102010706020507" pitchFamily="18" charset="2"/>
              </a:rPr>
              <a:t>是有效验证程序。</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8D28424-DA18-4D12-B407-07BBECAD0C21}"/>
              </a:ext>
            </a:extLst>
          </p:cNvPr>
          <p:cNvSpPr>
            <a:spLocks noGrp="1" noChangeArrowheads="1"/>
          </p:cNvSpPr>
          <p:nvPr>
            <p:ph type="title" idx="4294967295"/>
          </p:nvPr>
        </p:nvSpPr>
        <p:spPr>
          <a:xfrm>
            <a:off x="395536" y="-173"/>
            <a:ext cx="7886700" cy="1325563"/>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EBBA06F9-5A98-4140-9410-57C9819FF41C}"/>
              </a:ext>
            </a:extLst>
          </p:cNvPr>
          <p:cNvSpPr>
            <a:spLocks noGrp="1"/>
          </p:cNvSpPr>
          <p:nvPr>
            <p:ph type="sldNum" sz="quarter" idx="4294967295"/>
          </p:nvPr>
        </p:nvSpPr>
        <p:spPr>
          <a:xfrm>
            <a:off x="7086600" y="6356350"/>
            <a:ext cx="2057400" cy="365125"/>
          </a:xfrm>
        </p:spPr>
        <p:txBody>
          <a:bodyPr/>
          <a:lstStyle/>
          <a:p>
            <a:fld id="{D574A167-E657-45E5-B99B-04DA140159E9}" type="slidenum">
              <a:rPr lang="zh-CN" altLang="en-US"/>
              <a:pPr/>
              <a:t>48</a:t>
            </a:fld>
            <a:endParaRPr lang="en-US" altLang="zh-CN"/>
          </a:p>
        </p:txBody>
      </p:sp>
      <p:sp>
        <p:nvSpPr>
          <p:cNvPr id="48131" name="Rectangle 3">
            <a:extLst>
              <a:ext uri="{FF2B5EF4-FFF2-40B4-BE49-F238E27FC236}">
                <a16:creationId xmlns:a16="http://schemas.microsoft.com/office/drawing/2014/main" id="{80EDC1DD-4BD4-41EA-B288-F60F32122B63}"/>
              </a:ext>
            </a:extLst>
          </p:cNvPr>
          <p:cNvSpPr>
            <a:spLocks noGrp="1" noChangeArrowheads="1"/>
          </p:cNvSpPr>
          <p:nvPr>
            <p:ph idx="4294967295"/>
          </p:nvPr>
        </p:nvSpPr>
        <p:spPr>
          <a:xfrm>
            <a:off x="395536" y="1052736"/>
            <a:ext cx="7886700" cy="4963803"/>
          </a:xfrm>
        </p:spPr>
        <p:txBody>
          <a:bodyPr>
            <a:noAutofit/>
          </a:bodyPr>
          <a:lstStyle/>
          <a:p>
            <a:pPr>
              <a:lnSpc>
                <a:spcPct val="150000"/>
              </a:lnSpc>
            </a:pPr>
            <a:r>
              <a:rPr lang="zh-CN" altLang="en-US" sz="2400" dirty="0"/>
              <a:t>例子：</a:t>
            </a:r>
            <a:endParaRPr lang="en-US" altLang="zh-CN" sz="2400" dirty="0"/>
          </a:p>
          <a:p>
            <a:pPr>
              <a:lnSpc>
                <a:spcPct val="150000"/>
              </a:lnSpc>
            </a:pPr>
            <a:r>
              <a:rPr lang="zh-CN" altLang="en-US" sz="2400" dirty="0"/>
              <a:t>对于三元可满足性问题，证书</a:t>
            </a:r>
            <a:r>
              <a:rPr lang="en-US" altLang="zh-CN" sz="2400" dirty="0"/>
              <a:t>t</a:t>
            </a:r>
            <a:r>
              <a:rPr lang="zh-CN" altLang="en-US" sz="2400" dirty="0"/>
              <a:t>是</a:t>
            </a:r>
            <a:r>
              <a:rPr lang="zh-CN" altLang="en-US" sz="2400" b="1" dirty="0"/>
              <a:t>对所有变量的真值赋值</a:t>
            </a:r>
            <a:r>
              <a:rPr lang="zh-CN" altLang="en-US" sz="2400" dirty="0"/>
              <a:t>，验证程序</a:t>
            </a:r>
            <a:r>
              <a:rPr lang="en-US" altLang="zh-CN" sz="2400" dirty="0"/>
              <a:t>B</a:t>
            </a:r>
            <a:r>
              <a:rPr lang="zh-CN" altLang="en-US" sz="2400" dirty="0"/>
              <a:t>计算</a:t>
            </a:r>
            <a:r>
              <a:rPr lang="zh-CN" altLang="en-US" sz="2400" b="1" dirty="0"/>
              <a:t>给定的子句集在这个赋值下的值</a:t>
            </a:r>
            <a:r>
              <a:rPr lang="zh-CN" altLang="en-US" sz="2400" dirty="0"/>
              <a:t>。</a:t>
            </a:r>
            <a:endParaRPr lang="en-US" altLang="zh-CN" sz="2400" dirty="0"/>
          </a:p>
          <a:p>
            <a:pPr>
              <a:lnSpc>
                <a:spcPct val="150000"/>
              </a:lnSpc>
            </a:pPr>
            <a:r>
              <a:rPr lang="zh-CN" altLang="en-US" sz="2400" dirty="0"/>
              <a:t>对于独立集问题，证书</a:t>
            </a:r>
            <a:r>
              <a:rPr lang="en-US" altLang="zh-CN" sz="2400" dirty="0"/>
              <a:t>t</a:t>
            </a:r>
            <a:r>
              <a:rPr lang="zh-CN" altLang="en-US" sz="2400" dirty="0"/>
              <a:t>是</a:t>
            </a:r>
            <a:r>
              <a:rPr lang="zh-CN" altLang="en-US" sz="2400" b="1" dirty="0"/>
              <a:t>至少有</a:t>
            </a:r>
            <a:r>
              <a:rPr lang="en-US" altLang="zh-CN" sz="2400" b="1" dirty="0"/>
              <a:t>k</a:t>
            </a:r>
            <a:r>
              <a:rPr lang="zh-CN" altLang="en-US" sz="2400" b="1" dirty="0"/>
              <a:t>个顶点的集合</a:t>
            </a:r>
            <a:r>
              <a:rPr lang="zh-CN" altLang="en-US" sz="2400" dirty="0"/>
              <a:t>，验证程序</a:t>
            </a:r>
            <a:r>
              <a:rPr lang="en-US" altLang="zh-CN" sz="2400" dirty="0"/>
              <a:t>B</a:t>
            </a:r>
            <a:r>
              <a:rPr lang="zh-CN" altLang="en-US" sz="2400" b="1" dirty="0"/>
              <a:t>核实这些顶点中的任何一对之间都没有边连接</a:t>
            </a:r>
            <a:r>
              <a:rPr lang="zh-CN" altLang="en-US" sz="2400" dirty="0"/>
              <a:t>。 </a:t>
            </a:r>
            <a:endParaRPr lang="en-US" altLang="zh-CN" sz="2400" dirty="0"/>
          </a:p>
          <a:p>
            <a:pPr>
              <a:lnSpc>
                <a:spcPct val="150000"/>
              </a:lnSpc>
            </a:pPr>
            <a:r>
              <a:rPr lang="zh-CN" altLang="en-US" sz="2400" dirty="0"/>
              <a:t>对于集合覆盖问题，证书</a:t>
            </a:r>
            <a:r>
              <a:rPr lang="en-US" altLang="zh-CN" sz="2400" dirty="0"/>
              <a:t>t</a:t>
            </a:r>
            <a:r>
              <a:rPr lang="zh-CN" altLang="en-US" sz="2400" dirty="0"/>
              <a:t>是</a:t>
            </a:r>
            <a:r>
              <a:rPr lang="zh-CN" altLang="en-US" sz="2400" b="1" dirty="0"/>
              <a:t>给定的一组集合中的</a:t>
            </a:r>
            <a:r>
              <a:rPr lang="en-US" altLang="zh-CN" sz="2400" b="1" dirty="0"/>
              <a:t>k</a:t>
            </a:r>
            <a:r>
              <a:rPr lang="zh-CN" altLang="en-US" sz="2400" b="1" dirty="0"/>
              <a:t>个集合</a:t>
            </a:r>
            <a:r>
              <a:rPr lang="zh-CN" altLang="en-US" sz="2400" dirty="0"/>
              <a:t>，验证程序</a:t>
            </a:r>
            <a:r>
              <a:rPr lang="en-US" altLang="zh-CN" sz="2400" dirty="0"/>
              <a:t>B</a:t>
            </a:r>
            <a:r>
              <a:rPr lang="zh-CN" altLang="en-US" sz="2400" b="1" dirty="0"/>
              <a:t>核实这</a:t>
            </a:r>
            <a:r>
              <a:rPr lang="en-US" altLang="zh-CN" sz="2400" b="1" dirty="0"/>
              <a:t>k</a:t>
            </a:r>
            <a:r>
              <a:rPr lang="zh-CN" altLang="en-US" sz="2400" b="1" dirty="0"/>
              <a:t>个集合的并等于基础集</a:t>
            </a:r>
            <a:r>
              <a:rPr lang="en-US" altLang="zh-CN" sz="2400" b="1" dirty="0"/>
              <a:t>U</a:t>
            </a:r>
            <a:r>
              <a:rPr lang="zh-CN" altLang="en-US" sz="2400" dirty="0"/>
              <a:t>。 </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131">
                                            <p:txEl>
                                              <p:pRg st="2" end="2"/>
                                            </p:txEl>
                                          </p:spTgt>
                                        </p:tgtEl>
                                        <p:attrNameLst>
                                          <p:attrName>style.visibility</p:attrName>
                                        </p:attrNameLst>
                                      </p:cBhvr>
                                      <p:to>
                                        <p:strVal val="visible"/>
                                      </p:to>
                                    </p:set>
                                    <p:anim calcmode="lin" valueType="num">
                                      <p:cBhvr additive="base">
                                        <p:cTn id="19" dur="500" fill="hold"/>
                                        <p:tgtEl>
                                          <p:spTgt spid="481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81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8131">
                                            <p:txEl>
                                              <p:pRg st="3" end="3"/>
                                            </p:txEl>
                                          </p:spTgt>
                                        </p:tgtEl>
                                        <p:attrNameLst>
                                          <p:attrName>style.visibility</p:attrName>
                                        </p:attrNameLst>
                                      </p:cBhvr>
                                      <p:to>
                                        <p:strVal val="visible"/>
                                      </p:to>
                                    </p:set>
                                    <p:anim calcmode="lin" valueType="num">
                                      <p:cBhvr additive="base">
                                        <p:cTn id="25" dur="500" fill="hold"/>
                                        <p:tgtEl>
                                          <p:spTgt spid="481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81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a:extLst>
              <a:ext uri="{FF2B5EF4-FFF2-40B4-BE49-F238E27FC236}">
                <a16:creationId xmlns:a16="http://schemas.microsoft.com/office/drawing/2014/main" id="{AA156767-8CB3-462B-9EAD-4A4F52F9F67E}"/>
              </a:ext>
            </a:extLst>
          </p:cNvPr>
          <p:cNvSpPr>
            <a:spLocks noGrp="1" noChangeArrowheads="1"/>
          </p:cNvSpPr>
          <p:nvPr>
            <p:ph type="title" idx="4294967295"/>
          </p:nvPr>
        </p:nvSpPr>
        <p:spPr>
          <a:xfrm>
            <a:off x="451024" y="127563"/>
            <a:ext cx="7886700" cy="1325563"/>
          </a:xfrm>
        </p:spPr>
        <p:txBody>
          <a:bodyPr/>
          <a:lstStyle/>
          <a:p>
            <a:r>
              <a:rPr lang="en-US" altLang="zh-CN" dirty="0"/>
              <a:t>NP</a:t>
            </a:r>
            <a:r>
              <a:rPr lang="zh-CN" altLang="en-US" dirty="0"/>
              <a:t>的定义</a:t>
            </a:r>
          </a:p>
        </p:txBody>
      </p:sp>
      <p:sp>
        <p:nvSpPr>
          <p:cNvPr id="12" name="灯片编号占位符 5">
            <a:extLst>
              <a:ext uri="{FF2B5EF4-FFF2-40B4-BE49-F238E27FC236}">
                <a16:creationId xmlns:a16="http://schemas.microsoft.com/office/drawing/2014/main" id="{3D253189-2B6F-4059-9A8A-E16E908615A8}"/>
              </a:ext>
            </a:extLst>
          </p:cNvPr>
          <p:cNvSpPr>
            <a:spLocks noGrp="1"/>
          </p:cNvSpPr>
          <p:nvPr>
            <p:ph type="sldNum" sz="quarter" idx="4294967295"/>
          </p:nvPr>
        </p:nvSpPr>
        <p:spPr>
          <a:xfrm>
            <a:off x="7086600" y="6356350"/>
            <a:ext cx="2057400" cy="365125"/>
          </a:xfrm>
        </p:spPr>
        <p:txBody>
          <a:bodyPr/>
          <a:lstStyle/>
          <a:p>
            <a:fld id="{3CD1CAA0-E344-48E5-9AFF-4013B39E7B99}" type="slidenum">
              <a:rPr lang="zh-CN" altLang="en-US"/>
              <a:pPr/>
              <a:t>49</a:t>
            </a:fld>
            <a:endParaRPr lang="en-US" altLang="zh-CN"/>
          </a:p>
        </p:txBody>
      </p:sp>
      <p:sp>
        <p:nvSpPr>
          <p:cNvPr id="54275" name="Rectangle 1027">
            <a:extLst>
              <a:ext uri="{FF2B5EF4-FFF2-40B4-BE49-F238E27FC236}">
                <a16:creationId xmlns:a16="http://schemas.microsoft.com/office/drawing/2014/main" id="{78F19D8C-0184-45DA-9F85-A629C63B844A}"/>
              </a:ext>
            </a:extLst>
          </p:cNvPr>
          <p:cNvSpPr>
            <a:spLocks noGrp="1" noChangeArrowheads="1"/>
          </p:cNvSpPr>
          <p:nvPr>
            <p:ph idx="4294967295"/>
          </p:nvPr>
        </p:nvSpPr>
        <p:spPr>
          <a:xfrm>
            <a:off x="0" y="1825625"/>
            <a:ext cx="7886700" cy="4351338"/>
          </a:xfrm>
        </p:spPr>
        <p:txBody>
          <a:bodyPr/>
          <a:lstStyle/>
          <a:p>
            <a:pPr>
              <a:buFont typeface="Wingdings" panose="05000000000000000000" pitchFamily="2" charset="2"/>
              <a:buNone/>
            </a:pPr>
            <a:r>
              <a:rPr lang="zh-CN" altLang="en-US"/>
              <a:t> </a:t>
            </a:r>
          </a:p>
        </p:txBody>
      </p:sp>
      <p:grpSp>
        <p:nvGrpSpPr>
          <p:cNvPr id="54284" name="Group 1036">
            <a:extLst>
              <a:ext uri="{FF2B5EF4-FFF2-40B4-BE49-F238E27FC236}">
                <a16:creationId xmlns:a16="http://schemas.microsoft.com/office/drawing/2014/main" id="{4AAAEB1D-840A-404D-8E44-513A348E3335}"/>
              </a:ext>
            </a:extLst>
          </p:cNvPr>
          <p:cNvGrpSpPr>
            <a:grpSpLocks/>
          </p:cNvGrpSpPr>
          <p:nvPr/>
        </p:nvGrpSpPr>
        <p:grpSpPr bwMode="auto">
          <a:xfrm>
            <a:off x="251520" y="2132856"/>
            <a:ext cx="8511480" cy="2591544"/>
            <a:chOff x="672" y="1728"/>
            <a:chExt cx="4522" cy="1079"/>
          </a:xfrm>
        </p:grpSpPr>
        <p:graphicFrame>
          <p:nvGraphicFramePr>
            <p:cNvPr id="54280" name="Object 1032">
              <a:extLst>
                <a:ext uri="{FF2B5EF4-FFF2-40B4-BE49-F238E27FC236}">
                  <a16:creationId xmlns:a16="http://schemas.microsoft.com/office/drawing/2014/main" id="{7A1BAAED-1E2A-4CEF-BB29-54B7FDB64D98}"/>
                </a:ext>
              </a:extLst>
            </p:cNvPr>
            <p:cNvGraphicFramePr>
              <a:graphicFrameLocks noChangeAspect="1"/>
            </p:cNvGraphicFramePr>
            <p:nvPr/>
          </p:nvGraphicFramePr>
          <p:xfrm>
            <a:off x="672" y="1728"/>
            <a:ext cx="4522" cy="327"/>
          </p:xfrm>
          <a:graphic>
            <a:graphicData uri="http://schemas.openxmlformats.org/presentationml/2006/ole">
              <mc:AlternateContent xmlns:mc="http://schemas.openxmlformats.org/markup-compatibility/2006">
                <mc:Choice xmlns:v="urn:schemas-microsoft-com:vml" Requires="v">
                  <p:oleObj name="Equation" r:id="rId3" imgW="7010400" imgH="355600" progId="Equation.3">
                    <p:embed/>
                  </p:oleObj>
                </mc:Choice>
                <mc:Fallback>
                  <p:oleObj name="Equation" r:id="rId3" imgW="7010400" imgH="355600" progId="Equation.3">
                    <p:embed/>
                    <p:pic>
                      <p:nvPicPr>
                        <p:cNvPr id="0" name="Object 1032"/>
                        <p:cNvPicPr>
                          <a:picLocks noChangeAspect="1" noChangeArrowheads="1"/>
                        </p:cNvPicPr>
                        <p:nvPr/>
                      </p:nvPicPr>
                      <p:blipFill>
                        <a:blip r:embed="rId4">
                          <a:extLst>
                            <a:ext uri="{28A0092B-C50C-407E-A947-70E740481C1C}">
                              <a14:useLocalDpi xmlns:a14="http://schemas.microsoft.com/office/drawing/2010/main" val="0"/>
                            </a:ext>
                          </a:extLst>
                        </a:blip>
                        <a:srcRect l="-3133" t="-25310" r="-3133" b="-25310"/>
                        <a:stretch>
                          <a:fillRect/>
                        </a:stretch>
                      </p:blipFill>
                      <p:spPr bwMode="auto">
                        <a:xfrm>
                          <a:off x="672" y="1728"/>
                          <a:ext cx="4522" cy="327"/>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81" name="Object 1033">
              <a:extLst>
                <a:ext uri="{FF2B5EF4-FFF2-40B4-BE49-F238E27FC236}">
                  <a16:creationId xmlns:a16="http://schemas.microsoft.com/office/drawing/2014/main" id="{BFE356E5-ADDC-4D48-BAC3-567C6783BCC6}"/>
                </a:ext>
              </a:extLst>
            </p:cNvPr>
            <p:cNvGraphicFramePr>
              <a:graphicFrameLocks noChangeAspect="1"/>
            </p:cNvGraphicFramePr>
            <p:nvPr/>
          </p:nvGraphicFramePr>
          <p:xfrm>
            <a:off x="2064" y="2400"/>
            <a:ext cx="1763" cy="273"/>
          </p:xfrm>
          <a:graphic>
            <a:graphicData uri="http://schemas.openxmlformats.org/presentationml/2006/ole">
              <mc:AlternateContent xmlns:mc="http://schemas.openxmlformats.org/markup-compatibility/2006">
                <mc:Choice xmlns:v="urn:schemas-microsoft-com:vml" Requires="v">
                  <p:oleObj name="Equation" r:id="rId5" imgW="2540000" imgH="266700" progId="Equation.3">
                    <p:embed/>
                  </p:oleObj>
                </mc:Choice>
                <mc:Fallback>
                  <p:oleObj name="Equation" r:id="rId5" imgW="2540000" imgH="266700" progId="Equation.3">
                    <p:embed/>
                    <p:pic>
                      <p:nvPicPr>
                        <p:cNvPr id="0" name="Object 1033"/>
                        <p:cNvPicPr>
                          <a:picLocks noChangeAspect="1" noChangeArrowheads="1"/>
                        </p:cNvPicPr>
                        <p:nvPr/>
                      </p:nvPicPr>
                      <p:blipFill>
                        <a:blip r:embed="rId6">
                          <a:extLst>
                            <a:ext uri="{28A0092B-C50C-407E-A947-70E740481C1C}">
                              <a14:useLocalDpi xmlns:a14="http://schemas.microsoft.com/office/drawing/2010/main" val="0"/>
                            </a:ext>
                          </a:extLst>
                        </a:blip>
                        <a:srcRect l="-7228" t="-33746" r="-7228" b="-33746"/>
                        <a:stretch>
                          <a:fillRect/>
                        </a:stretch>
                      </p:blipFill>
                      <p:spPr bwMode="auto">
                        <a:xfrm>
                          <a:off x="2064" y="2400"/>
                          <a:ext cx="1763" cy="27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2" name="Rectangle 1034">
              <a:extLst>
                <a:ext uri="{FF2B5EF4-FFF2-40B4-BE49-F238E27FC236}">
                  <a16:creationId xmlns:a16="http://schemas.microsoft.com/office/drawing/2014/main" id="{05660C3B-3B25-4664-868F-51D19E1366C3}"/>
                </a:ext>
              </a:extLst>
            </p:cNvPr>
            <p:cNvSpPr>
              <a:spLocks noChangeArrowheads="1"/>
            </p:cNvSpPr>
            <p:nvPr/>
          </p:nvSpPr>
          <p:spPr bwMode="auto">
            <a:xfrm>
              <a:off x="2677" y="2089"/>
              <a:ext cx="351" cy="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Lst>
          </p:spPr>
          <p:txBody>
            <a:bodyPr wrap="none">
              <a:spAutoFit/>
            </a:bodyPr>
            <a:lstStyle/>
            <a:p>
              <a:pPr eaLnBrk="0" hangingPunct="0">
                <a:spcBef>
                  <a:spcPct val="0"/>
                </a:spcBef>
                <a:buClrTx/>
                <a:buSzTx/>
                <a:buFontTx/>
                <a:buNone/>
              </a:pPr>
              <a:r>
                <a:rPr kumimoji="0" lang="zh-CN" altLang="en-US" sz="1200">
                  <a:latin typeface="Comic Sans MS" panose="030F0702030302020204" pitchFamily="66" charset="0"/>
                </a:rPr>
                <a:t>实例</a:t>
              </a:r>
              <a:r>
                <a:rPr kumimoji="0" lang="zh-CN" altLang="en-US" sz="1200">
                  <a:latin typeface="Comic Sans MS" panose="030F0702030302020204" pitchFamily="66" charset="0"/>
                  <a:ea typeface="MS PGothic" panose="020B0600070205080204" pitchFamily="34" charset="-128"/>
                </a:rPr>
                <a:t> </a:t>
              </a:r>
              <a:r>
                <a:rPr kumimoji="0" lang="en-US" altLang="zh-CN" sz="1200">
                  <a:latin typeface="Comic Sans MS" panose="030F0702030302020204" pitchFamily="66" charset="0"/>
                  <a:ea typeface="MS PGothic" panose="020B0600070205080204" pitchFamily="34" charset="-128"/>
                </a:rPr>
                <a:t>s</a:t>
              </a:r>
            </a:p>
          </p:txBody>
        </p:sp>
        <p:sp>
          <p:nvSpPr>
            <p:cNvPr id="54283" name="Rectangle 1035">
              <a:extLst>
                <a:ext uri="{FF2B5EF4-FFF2-40B4-BE49-F238E27FC236}">
                  <a16:creationId xmlns:a16="http://schemas.microsoft.com/office/drawing/2014/main" id="{EB8AE61E-7348-4AA4-9ED0-42BD6DAC11EE}"/>
                </a:ext>
              </a:extLst>
            </p:cNvPr>
            <p:cNvSpPr>
              <a:spLocks noChangeArrowheads="1"/>
            </p:cNvSpPr>
            <p:nvPr/>
          </p:nvSpPr>
          <p:spPr bwMode="auto">
            <a:xfrm>
              <a:off x="2585" y="2687"/>
              <a:ext cx="350" cy="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sm"/>
                </a14:hiddenLine>
              </a:ext>
            </a:extLst>
          </p:spPr>
          <p:txBody>
            <a:bodyPr wrap="none">
              <a:spAutoFit/>
            </a:bodyPr>
            <a:lstStyle/>
            <a:p>
              <a:pPr eaLnBrk="0" hangingPunct="0">
                <a:spcBef>
                  <a:spcPct val="0"/>
                </a:spcBef>
                <a:buClrTx/>
                <a:buSzTx/>
                <a:buFontTx/>
                <a:buNone/>
              </a:pPr>
              <a:r>
                <a:rPr kumimoji="0" lang="zh-CN" altLang="en-US" sz="1200">
                  <a:latin typeface="Comic Sans MS" panose="030F0702030302020204" pitchFamily="66" charset="0"/>
                </a:rPr>
                <a:t>证书</a:t>
              </a:r>
              <a:r>
                <a:rPr kumimoji="0" lang="zh-CN" altLang="en-US" sz="1200">
                  <a:latin typeface="Comic Sans MS" panose="030F0702030302020204" pitchFamily="66" charset="0"/>
                  <a:ea typeface="MS PGothic" panose="020B0600070205080204" pitchFamily="34" charset="-128"/>
                </a:rPr>
                <a:t> </a:t>
              </a:r>
              <a:r>
                <a:rPr kumimoji="0" lang="en-US" altLang="zh-CN" sz="1200">
                  <a:latin typeface="Comic Sans MS" panose="030F0702030302020204" pitchFamily="66" charset="0"/>
                  <a:ea typeface="MS PGothic" panose="020B0600070205080204" pitchFamily="34" charset="-128"/>
                </a:rPr>
                <a:t>t</a:t>
              </a:r>
            </a:p>
          </p:txBody>
        </p:sp>
      </p:grpSp>
      <p:sp>
        <p:nvSpPr>
          <p:cNvPr id="54285" name="Rectangle 1037">
            <a:extLst>
              <a:ext uri="{FF2B5EF4-FFF2-40B4-BE49-F238E27FC236}">
                <a16:creationId xmlns:a16="http://schemas.microsoft.com/office/drawing/2014/main" id="{6EFDB99C-2F7F-4DD9-B7D8-A6A233010E40}"/>
              </a:ext>
            </a:extLst>
          </p:cNvPr>
          <p:cNvSpPr>
            <a:spLocks noChangeArrowheads="1"/>
          </p:cNvSpPr>
          <p:nvPr/>
        </p:nvSpPr>
        <p:spPr bwMode="auto">
          <a:xfrm>
            <a:off x="2514600" y="5395913"/>
            <a:ext cx="29321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ClrTx/>
              <a:buSzTx/>
              <a:buFontTx/>
              <a:buNone/>
            </a:pPr>
            <a:r>
              <a:rPr lang="en-US" altLang="zh-CN" sz="2800">
                <a:latin typeface="Comic Sans MS" panose="030F0702030302020204" pitchFamily="66" charset="0"/>
              </a:rPr>
              <a:t>SAT, 3SAT</a:t>
            </a:r>
            <a:r>
              <a:rPr lang="en-US" altLang="zh-CN" sz="2800">
                <a:sym typeface="Symbol" panose="05050102010706020507" pitchFamily="18" charset="2"/>
              </a:rPr>
              <a:t></a:t>
            </a:r>
            <a:r>
              <a:rPr lang="en-US" altLang="zh-CN" sz="2800">
                <a:latin typeface="Comic Sans MS" panose="030F0702030302020204" pitchFamily="66" charset="0"/>
              </a:rPr>
              <a:t> NP</a:t>
            </a:r>
            <a:endParaRPr lang="zh-CN" altLang="en-US" sz="2800">
              <a:latin typeface="Comic Sans MS" panose="030F0702030302020204" pitchFamily="66"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081CD4F-AF29-4F12-B81D-FF3D76D73309}"/>
              </a:ext>
            </a:extLst>
          </p:cNvPr>
          <p:cNvSpPr>
            <a:spLocks noGrp="1" noChangeArrowheads="1"/>
          </p:cNvSpPr>
          <p:nvPr>
            <p:ph type="title" idx="4294967295"/>
          </p:nvPr>
        </p:nvSpPr>
        <p:spPr>
          <a:xfrm>
            <a:off x="467544" y="105883"/>
            <a:ext cx="7886700" cy="1325563"/>
          </a:xfrm>
        </p:spPr>
        <p:txBody>
          <a:bodyPr/>
          <a:lstStyle/>
          <a:p>
            <a:r>
              <a:rPr lang="en-US" altLang="zh-CN" dirty="0"/>
              <a:t>NP</a:t>
            </a:r>
            <a:r>
              <a:rPr lang="zh-CN" altLang="en-US" dirty="0"/>
              <a:t>的定义</a:t>
            </a:r>
          </a:p>
        </p:txBody>
      </p:sp>
      <p:sp>
        <p:nvSpPr>
          <p:cNvPr id="8" name="灯片编号占位符 5">
            <a:extLst>
              <a:ext uri="{FF2B5EF4-FFF2-40B4-BE49-F238E27FC236}">
                <a16:creationId xmlns:a16="http://schemas.microsoft.com/office/drawing/2014/main" id="{7AB9D774-637C-481D-9737-951353B968CC}"/>
              </a:ext>
            </a:extLst>
          </p:cNvPr>
          <p:cNvSpPr>
            <a:spLocks noGrp="1"/>
          </p:cNvSpPr>
          <p:nvPr>
            <p:ph type="sldNum" sz="quarter" idx="4294967295"/>
          </p:nvPr>
        </p:nvSpPr>
        <p:spPr>
          <a:xfrm>
            <a:off x="7086600" y="6356350"/>
            <a:ext cx="2057400" cy="365125"/>
          </a:xfrm>
        </p:spPr>
        <p:txBody>
          <a:bodyPr/>
          <a:lstStyle/>
          <a:p>
            <a:fld id="{E6331DFF-3F51-4DAD-9C7D-8FCFD074415F}" type="slidenum">
              <a:rPr lang="zh-CN" altLang="en-US"/>
              <a:pPr/>
              <a:t>50</a:t>
            </a:fld>
            <a:endParaRPr lang="en-US" altLang="zh-CN"/>
          </a:p>
        </p:txBody>
      </p:sp>
      <p:sp>
        <p:nvSpPr>
          <p:cNvPr id="51203" name="Rectangle 3">
            <a:extLst>
              <a:ext uri="{FF2B5EF4-FFF2-40B4-BE49-F238E27FC236}">
                <a16:creationId xmlns:a16="http://schemas.microsoft.com/office/drawing/2014/main" id="{3B6DE177-D8D8-4BE0-BC79-94D4134471F0}"/>
              </a:ext>
            </a:extLst>
          </p:cNvPr>
          <p:cNvSpPr>
            <a:spLocks noGrp="1" noChangeArrowheads="1"/>
          </p:cNvSpPr>
          <p:nvPr>
            <p:ph idx="4294967295"/>
          </p:nvPr>
        </p:nvSpPr>
        <p:spPr>
          <a:xfrm>
            <a:off x="685800" y="1226344"/>
            <a:ext cx="7772400" cy="4114800"/>
          </a:xfrm>
        </p:spPr>
        <p:txBody>
          <a:bodyPr/>
          <a:lstStyle/>
          <a:p>
            <a:r>
              <a:rPr lang="zh-CN" altLang="en-US" sz="2800" dirty="0"/>
              <a:t>例子：合数问题</a:t>
            </a:r>
            <a:r>
              <a:rPr lang="en-US" altLang="zh-CN" sz="2800" dirty="0"/>
              <a:t>,</a:t>
            </a:r>
            <a:r>
              <a:rPr lang="zh-CN" altLang="en-US" sz="2800" dirty="0"/>
              <a:t>给定一个整数 </a:t>
            </a:r>
            <a:r>
              <a:rPr lang="en-US" altLang="zh-CN" sz="2800" dirty="0"/>
              <a:t>s, s </a:t>
            </a:r>
            <a:r>
              <a:rPr lang="zh-CN" altLang="en-US" sz="2800" dirty="0"/>
              <a:t>是合数吗?</a:t>
            </a:r>
          </a:p>
          <a:p>
            <a:r>
              <a:rPr lang="zh-CN" altLang="en-US" sz="2800" dirty="0"/>
              <a:t>证书：</a:t>
            </a:r>
          </a:p>
          <a:p>
            <a:r>
              <a:rPr lang="en-US" altLang="zh-CN" sz="2800" dirty="0"/>
              <a:t>s</a:t>
            </a:r>
            <a:r>
              <a:rPr lang="zh-CN" altLang="en-US" sz="2800" dirty="0"/>
              <a:t>的一个非平凡因子。注意到这样一个证书存在当且仅当</a:t>
            </a:r>
            <a:r>
              <a:rPr lang="en-US" altLang="zh-CN" sz="2800" b="1" dirty="0"/>
              <a:t>s</a:t>
            </a:r>
            <a:r>
              <a:rPr lang="zh-CN" altLang="en-US" sz="2800" b="1" dirty="0"/>
              <a:t>是一个合数</a:t>
            </a:r>
            <a:r>
              <a:rPr lang="zh-CN" altLang="en-US" sz="2800" dirty="0"/>
              <a:t>，此外</a:t>
            </a:r>
            <a:r>
              <a:rPr lang="en-US" altLang="zh-CN" sz="2800" dirty="0"/>
              <a:t>|t| </a:t>
            </a:r>
            <a:r>
              <a:rPr lang="en-US" altLang="zh-CN" sz="2800" dirty="0">
                <a:sym typeface="Symbol" panose="05050102010706020507" pitchFamily="18" charset="2"/>
              </a:rPr>
              <a:t> |s|.</a:t>
            </a:r>
          </a:p>
          <a:p>
            <a:r>
              <a:rPr lang="zh-CN" altLang="en-US" sz="2800" dirty="0">
                <a:sym typeface="Symbol" panose="05050102010706020507" pitchFamily="18" charset="2"/>
              </a:rPr>
              <a:t>验证程序：</a:t>
            </a:r>
            <a:endParaRPr lang="zh-CN" altLang="en-US" sz="2800" dirty="0"/>
          </a:p>
          <a:p>
            <a:endParaRPr lang="zh-CN" altLang="en-US" sz="2800" dirty="0"/>
          </a:p>
          <a:p>
            <a:endParaRPr lang="en-US" altLang="zh-CN" dirty="0"/>
          </a:p>
          <a:p>
            <a:endParaRPr lang="en-US" altLang="zh-CN" dirty="0"/>
          </a:p>
        </p:txBody>
      </p:sp>
      <p:sp>
        <p:nvSpPr>
          <p:cNvPr id="51204" name="Text Box 4">
            <a:extLst>
              <a:ext uri="{FF2B5EF4-FFF2-40B4-BE49-F238E27FC236}">
                <a16:creationId xmlns:a16="http://schemas.microsoft.com/office/drawing/2014/main" id="{FEA113EA-5188-428B-BC4F-455E49774A46}"/>
              </a:ext>
            </a:extLst>
          </p:cNvPr>
          <p:cNvSpPr txBox="1">
            <a:spLocks noChangeArrowheads="1"/>
          </p:cNvSpPr>
          <p:nvPr/>
        </p:nvSpPr>
        <p:spPr bwMode="auto">
          <a:xfrm>
            <a:off x="1403648" y="3584257"/>
            <a:ext cx="4680520" cy="2954655"/>
          </a:xfrm>
          <a:prstGeom prst="rect">
            <a:avLst/>
          </a:prstGeom>
          <a:solidFill>
            <a:srgbClr val="C0C0C0"/>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182880" tIns="91440" rIns="137160" bIns="91440">
            <a:spAutoFit/>
          </a:bodyPr>
          <a:lstStyle/>
          <a:p>
            <a:pPr eaLnBrk="0" hangingPunct="0">
              <a:spcBef>
                <a:spcPct val="0"/>
              </a:spcBef>
              <a:buClrTx/>
              <a:buSzTx/>
              <a:buFontTx/>
              <a:buNone/>
            </a:pPr>
            <a:r>
              <a:rPr kumimoji="0" lang="en-US" altLang="zh-CN" sz="2000" b="1" dirty="0" err="1">
                <a:solidFill>
                  <a:srgbClr val="003399"/>
                </a:solidFill>
                <a:latin typeface="Courier New" panose="02070309020205020404" pitchFamily="49" charset="0"/>
                <a:cs typeface="Courier New" panose="02070309020205020404" pitchFamily="49" charset="0"/>
              </a:rPr>
              <a:t>boolean</a:t>
            </a:r>
            <a:r>
              <a:rPr kumimoji="0" lang="en-US" altLang="zh-CN" sz="2000" b="1" dirty="0">
                <a:solidFill>
                  <a:srgbClr val="003399"/>
                </a:solidFill>
                <a:latin typeface="Courier New" panose="02070309020205020404" pitchFamily="49" charset="0"/>
                <a:cs typeface="Courier New" panose="02070309020205020404" pitchFamily="49" charset="0"/>
              </a:rPr>
              <a:t> </a:t>
            </a:r>
            <a:r>
              <a:rPr kumimoji="0" lang="en-US" altLang="zh-CN" sz="2000" b="1" dirty="0">
                <a:solidFill>
                  <a:schemeClr val="bg2"/>
                </a:solidFill>
                <a:latin typeface="Courier New" panose="02070309020205020404" pitchFamily="49" charset="0"/>
                <a:cs typeface="Courier New" panose="02070309020205020404" pitchFamily="49" charset="0"/>
              </a:rPr>
              <a:t>C(s, t) {</a:t>
            </a:r>
          </a:p>
          <a:p>
            <a:pPr eaLnBrk="0" hangingPunct="0">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r>
              <a:rPr kumimoji="0" lang="en-US" altLang="zh-CN" sz="2000" b="1" dirty="0">
                <a:solidFill>
                  <a:srgbClr val="003399"/>
                </a:solidFill>
                <a:latin typeface="Courier New" panose="02070309020205020404" pitchFamily="49" charset="0"/>
                <a:cs typeface="Courier New" panose="02070309020205020404" pitchFamily="49" charset="0"/>
              </a:rPr>
              <a:t>if</a:t>
            </a:r>
            <a:r>
              <a:rPr kumimoji="0" lang="en-US" altLang="zh-CN" sz="2000" b="1" dirty="0">
                <a:solidFill>
                  <a:schemeClr val="bg2"/>
                </a:solidFill>
                <a:latin typeface="Courier New" panose="02070309020205020404" pitchFamily="49" charset="0"/>
                <a:cs typeface="Courier New" panose="02070309020205020404" pitchFamily="49" charset="0"/>
              </a:rPr>
              <a:t> (t </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a:t>
            </a:r>
            <a:r>
              <a:rPr kumimoji="0" lang="en-US" altLang="zh-CN" sz="2000" b="1" dirty="0">
                <a:solidFill>
                  <a:schemeClr val="bg2"/>
                </a:solidFill>
                <a:latin typeface="Courier New" panose="02070309020205020404" pitchFamily="49" charset="0"/>
                <a:cs typeface="Courier New" panose="02070309020205020404" pitchFamily="49" charset="0"/>
              </a:rPr>
              <a:t> 1 or t </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 s)</a:t>
            </a:r>
          </a:p>
          <a:p>
            <a:pPr eaLnBrk="0" hangingPunct="0">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      </a:t>
            </a:r>
            <a:r>
              <a:rPr kumimoji="0" lang="en-US" altLang="zh-CN" sz="2000" b="1" dirty="0">
                <a:solidFill>
                  <a:srgbClr val="003399"/>
                </a:solidFill>
                <a:latin typeface="Courier New" panose="02070309020205020404" pitchFamily="49" charset="0"/>
                <a:cs typeface="Courier New" panose="02070309020205020404" pitchFamily="49" charset="0"/>
                <a:sym typeface="Symbol" panose="05050102010706020507" pitchFamily="18" charset="2"/>
              </a:rPr>
              <a:t>return</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 false</a:t>
            </a:r>
          </a:p>
          <a:p>
            <a:pPr eaLnBrk="0" hangingPunct="0">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r>
              <a:rPr kumimoji="0" lang="en-US" altLang="zh-CN" sz="2000" b="1" dirty="0">
                <a:solidFill>
                  <a:srgbClr val="003399"/>
                </a:solidFill>
                <a:latin typeface="Courier New" panose="02070309020205020404" pitchFamily="49" charset="0"/>
                <a:cs typeface="Courier New" panose="02070309020205020404" pitchFamily="49" charset="0"/>
              </a:rPr>
              <a:t>else if</a:t>
            </a:r>
            <a:r>
              <a:rPr kumimoji="0" lang="en-US" altLang="zh-CN" sz="2000" b="1" dirty="0">
                <a:solidFill>
                  <a:schemeClr val="bg2"/>
                </a:solidFill>
                <a:latin typeface="Courier New" panose="02070309020205020404" pitchFamily="49" charset="0"/>
                <a:cs typeface="Courier New" panose="02070309020205020404" pitchFamily="49" charset="0"/>
              </a:rPr>
              <a:t> (s is a multiple of t</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a:t>
            </a:r>
          </a:p>
          <a:p>
            <a:pPr eaLnBrk="0" hangingPunct="0">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      </a:t>
            </a:r>
            <a:r>
              <a:rPr kumimoji="0" lang="en-US" altLang="zh-CN" sz="2000" b="1" dirty="0">
                <a:solidFill>
                  <a:srgbClr val="003399"/>
                </a:solidFill>
                <a:latin typeface="Courier New" panose="02070309020205020404" pitchFamily="49" charset="0"/>
                <a:cs typeface="Courier New" panose="02070309020205020404" pitchFamily="49" charset="0"/>
                <a:sym typeface="Symbol" panose="05050102010706020507" pitchFamily="18" charset="2"/>
              </a:rPr>
              <a:t>return</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 true</a:t>
            </a:r>
          </a:p>
          <a:p>
            <a:pPr eaLnBrk="0" hangingPunct="0">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rPr>
              <a:t>   </a:t>
            </a:r>
            <a:r>
              <a:rPr kumimoji="0" lang="en-US" altLang="zh-CN" sz="2000" b="1" dirty="0">
                <a:solidFill>
                  <a:srgbClr val="003399"/>
                </a:solidFill>
                <a:latin typeface="Courier New" panose="02070309020205020404" pitchFamily="49" charset="0"/>
                <a:cs typeface="Courier New" panose="02070309020205020404" pitchFamily="49" charset="0"/>
              </a:rPr>
              <a:t>else </a:t>
            </a:r>
          </a:p>
          <a:p>
            <a:pPr eaLnBrk="0" hangingPunct="0">
              <a:spcBef>
                <a:spcPct val="0"/>
              </a:spcBef>
              <a:buClrTx/>
              <a:buSzTx/>
              <a:buFontTx/>
              <a:buNone/>
            </a:pPr>
            <a:r>
              <a:rPr kumimoji="0" lang="en-US" altLang="zh-CN" sz="2000" b="1" dirty="0">
                <a:solidFill>
                  <a:srgbClr val="003399"/>
                </a:solidFill>
                <a:latin typeface="Courier New" panose="02070309020205020404" pitchFamily="49" charset="0"/>
                <a:cs typeface="Courier New" panose="02070309020205020404" pitchFamily="49" charset="0"/>
              </a:rPr>
              <a:t>      </a:t>
            </a:r>
            <a:r>
              <a:rPr kumimoji="0" lang="en-US" altLang="zh-CN" sz="2000" b="1" dirty="0">
                <a:solidFill>
                  <a:srgbClr val="003399"/>
                </a:solidFill>
                <a:latin typeface="Courier New" panose="02070309020205020404" pitchFamily="49" charset="0"/>
                <a:cs typeface="Courier New" panose="02070309020205020404" pitchFamily="49" charset="0"/>
                <a:sym typeface="Symbol" panose="05050102010706020507" pitchFamily="18" charset="2"/>
              </a:rPr>
              <a:t>return</a:t>
            </a: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 false</a:t>
            </a:r>
          </a:p>
          <a:p>
            <a:pPr eaLnBrk="0" hangingPunct="0">
              <a:spcBef>
                <a:spcPct val="0"/>
              </a:spcBef>
              <a:buClrTx/>
              <a:buSzTx/>
              <a:buFontTx/>
              <a:buNone/>
            </a:pPr>
            <a:r>
              <a:rPr kumimoji="0" lang="en-US" altLang="zh-CN" sz="2000" b="1" dirty="0">
                <a:solidFill>
                  <a:schemeClr val="bg2"/>
                </a:solidFill>
                <a:latin typeface="Courier New" panose="02070309020205020404" pitchFamily="49" charset="0"/>
                <a:cs typeface="Courier New" panose="02070309020205020404" pitchFamily="49" charset="0"/>
                <a:sym typeface="Symbol" panose="05050102010706020507" pitchFamily="18" charset="2"/>
              </a:rPr>
              <a:t>}</a:t>
            </a:r>
          </a:p>
        </p:txBody>
      </p:sp>
      <p:sp>
        <p:nvSpPr>
          <p:cNvPr id="51205" name="Text Box 5">
            <a:extLst>
              <a:ext uri="{FF2B5EF4-FFF2-40B4-BE49-F238E27FC236}">
                <a16:creationId xmlns:a16="http://schemas.microsoft.com/office/drawing/2014/main" id="{4CF8CF88-8907-42DB-A28B-7894B7C143F3}"/>
              </a:ext>
            </a:extLst>
          </p:cNvPr>
          <p:cNvSpPr txBox="1">
            <a:spLocks noChangeArrowheads="1"/>
          </p:cNvSpPr>
          <p:nvPr/>
        </p:nvSpPr>
        <p:spPr bwMode="auto">
          <a:xfrm>
            <a:off x="6324600" y="5486400"/>
            <a:ext cx="2590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en-US" altLang="zh-CN" sz="1600">
                <a:latin typeface="Comic Sans MS" panose="030F0702030302020204" pitchFamily="66" charset="0"/>
              </a:rPr>
              <a:t>COMPOSITES </a:t>
            </a:r>
            <a:r>
              <a:rPr lang="en-US" altLang="zh-CN">
                <a:sym typeface="Symbol" panose="05050102010706020507" pitchFamily="18" charset="2"/>
              </a:rPr>
              <a:t></a:t>
            </a:r>
            <a:r>
              <a:rPr lang="en-US" altLang="zh-CN" sz="1800">
                <a:latin typeface="Comic Sans MS" panose="030F0702030302020204" pitchFamily="66" charset="0"/>
              </a:rPr>
              <a:t> NP</a:t>
            </a:r>
            <a:endParaRPr lang="zh-CN" altLang="en-US" sz="180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 calcmode="lin" valueType="num">
                                      <p:cBhvr additive="base">
                                        <p:cTn id="13" dur="500" fill="hold"/>
                                        <p:tgtEl>
                                          <p:spTgt spid="512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12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03">
                                            <p:txEl>
                                              <p:pRg st="2" end="2"/>
                                            </p:txEl>
                                          </p:spTgt>
                                        </p:tgtEl>
                                        <p:attrNameLst>
                                          <p:attrName>style.visibility</p:attrName>
                                        </p:attrNameLst>
                                      </p:cBhvr>
                                      <p:to>
                                        <p:strVal val="visible"/>
                                      </p:to>
                                    </p:set>
                                    <p:anim calcmode="lin" valueType="num">
                                      <p:cBhvr additive="base">
                                        <p:cTn id="19" dur="500" fill="hold"/>
                                        <p:tgtEl>
                                          <p:spTgt spid="512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12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1203">
                                            <p:txEl>
                                              <p:pRg st="3" end="3"/>
                                            </p:txEl>
                                          </p:spTgt>
                                        </p:tgtEl>
                                        <p:attrNameLst>
                                          <p:attrName>style.visibility</p:attrName>
                                        </p:attrNameLst>
                                      </p:cBhvr>
                                      <p:to>
                                        <p:strVal val="visible"/>
                                      </p:to>
                                    </p:set>
                                    <p:anim calcmode="lin" valueType="num">
                                      <p:cBhvr additive="base">
                                        <p:cTn id="25" dur="500" fill="hold"/>
                                        <p:tgtEl>
                                          <p:spTgt spid="512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12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1204"/>
                                        </p:tgtEl>
                                        <p:attrNameLst>
                                          <p:attrName>style.visibility</p:attrName>
                                        </p:attrNameLst>
                                      </p:cBhvr>
                                      <p:to>
                                        <p:strVal val="visible"/>
                                      </p:to>
                                    </p:set>
                                    <p:anim calcmode="lin" valueType="num">
                                      <p:cBhvr additive="base">
                                        <p:cTn id="31" dur="500" fill="hold"/>
                                        <p:tgtEl>
                                          <p:spTgt spid="51204"/>
                                        </p:tgtEl>
                                        <p:attrNameLst>
                                          <p:attrName>ppt_x</p:attrName>
                                        </p:attrNameLst>
                                      </p:cBhvr>
                                      <p:tavLst>
                                        <p:tav tm="0">
                                          <p:val>
                                            <p:strVal val="0-#ppt_w/2"/>
                                          </p:val>
                                        </p:tav>
                                        <p:tav tm="100000">
                                          <p:val>
                                            <p:strVal val="#ppt_x"/>
                                          </p:val>
                                        </p:tav>
                                      </p:tavLst>
                                    </p:anim>
                                    <p:anim calcmode="lin" valueType="num">
                                      <p:cBhvr additive="base">
                                        <p:cTn id="32" dur="500" fill="hold"/>
                                        <p:tgtEl>
                                          <p:spTgt spid="5120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1205"/>
                                        </p:tgtEl>
                                        <p:attrNameLst>
                                          <p:attrName>style.visibility</p:attrName>
                                        </p:attrNameLst>
                                      </p:cBhvr>
                                      <p:to>
                                        <p:strVal val="visible"/>
                                      </p:to>
                                    </p:set>
                                    <p:anim calcmode="lin" valueType="num">
                                      <p:cBhvr additive="base">
                                        <p:cTn id="37" dur="500" fill="hold"/>
                                        <p:tgtEl>
                                          <p:spTgt spid="51205"/>
                                        </p:tgtEl>
                                        <p:attrNameLst>
                                          <p:attrName>ppt_x</p:attrName>
                                        </p:attrNameLst>
                                      </p:cBhvr>
                                      <p:tavLst>
                                        <p:tav tm="0">
                                          <p:val>
                                            <p:strVal val="1+#ppt_w/2"/>
                                          </p:val>
                                        </p:tav>
                                        <p:tav tm="100000">
                                          <p:val>
                                            <p:strVal val="#ppt_x"/>
                                          </p:val>
                                        </p:tav>
                                      </p:tavLst>
                                    </p:anim>
                                    <p:anim calcmode="lin" valueType="num">
                                      <p:cBhvr additive="base">
                                        <p:cTn id="38" dur="500" fill="hold"/>
                                        <p:tgtEl>
                                          <p:spTgt spid="512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utoUpdateAnimBg="0"/>
      <p:bldP spid="51204" grpId="0" animBg="1" autoUpdateAnimBg="0"/>
      <p:bldP spid="51205"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47EE9725-E0AD-4ED4-8B6F-6BC9F60D501F}"/>
              </a:ext>
            </a:extLst>
          </p:cNvPr>
          <p:cNvSpPr>
            <a:spLocks noGrp="1" noChangeArrowheads="1"/>
          </p:cNvSpPr>
          <p:nvPr>
            <p:ph type="title" idx="4294967295"/>
          </p:nvPr>
        </p:nvSpPr>
        <p:spPr>
          <a:xfrm>
            <a:off x="576262" y="136525"/>
            <a:ext cx="7886700" cy="1325563"/>
          </a:xfrm>
        </p:spPr>
        <p:txBody>
          <a:bodyPr/>
          <a:lstStyle/>
          <a:p>
            <a:r>
              <a:rPr lang="en-US" altLang="zh-CN" dirty="0"/>
              <a:t>NP</a:t>
            </a:r>
            <a:r>
              <a:rPr lang="zh-CN" altLang="en-US" dirty="0"/>
              <a:t>的定义</a:t>
            </a:r>
          </a:p>
        </p:txBody>
      </p:sp>
      <p:sp>
        <p:nvSpPr>
          <p:cNvPr id="7" name="灯片编号占位符 5">
            <a:extLst>
              <a:ext uri="{FF2B5EF4-FFF2-40B4-BE49-F238E27FC236}">
                <a16:creationId xmlns:a16="http://schemas.microsoft.com/office/drawing/2014/main" id="{DDF7AB26-D0C3-469C-9B5A-F6B258072EBB}"/>
              </a:ext>
            </a:extLst>
          </p:cNvPr>
          <p:cNvSpPr>
            <a:spLocks noGrp="1"/>
          </p:cNvSpPr>
          <p:nvPr>
            <p:ph type="sldNum" sz="quarter" idx="4294967295"/>
          </p:nvPr>
        </p:nvSpPr>
        <p:spPr>
          <a:xfrm>
            <a:off x="7086600" y="6356350"/>
            <a:ext cx="2057400" cy="365125"/>
          </a:xfrm>
        </p:spPr>
        <p:txBody>
          <a:bodyPr/>
          <a:lstStyle/>
          <a:p>
            <a:fld id="{749ED99D-F5F9-4865-AA50-D3F6000E2937}" type="slidenum">
              <a:rPr lang="zh-CN" altLang="en-US"/>
              <a:pPr/>
              <a:t>51</a:t>
            </a:fld>
            <a:endParaRPr lang="en-US" altLang="zh-CN"/>
          </a:p>
        </p:txBody>
      </p:sp>
      <p:sp>
        <p:nvSpPr>
          <p:cNvPr id="52227" name="Rectangle 3">
            <a:extLst>
              <a:ext uri="{FF2B5EF4-FFF2-40B4-BE49-F238E27FC236}">
                <a16:creationId xmlns:a16="http://schemas.microsoft.com/office/drawing/2014/main" id="{5A542256-3886-4E31-9EE4-E14E6A033894}"/>
              </a:ext>
            </a:extLst>
          </p:cNvPr>
          <p:cNvSpPr>
            <a:spLocks noGrp="1" noChangeArrowheads="1"/>
          </p:cNvSpPr>
          <p:nvPr>
            <p:ph idx="4294967295"/>
          </p:nvPr>
        </p:nvSpPr>
        <p:spPr>
          <a:xfrm>
            <a:off x="777102" y="1117600"/>
            <a:ext cx="7772400" cy="4114800"/>
          </a:xfrm>
        </p:spPr>
        <p:txBody>
          <a:bodyPr>
            <a:normAutofit lnSpcReduction="10000"/>
          </a:bodyPr>
          <a:lstStyle/>
          <a:p>
            <a:pPr>
              <a:lnSpc>
                <a:spcPct val="150000"/>
              </a:lnSpc>
              <a:buClrTx/>
              <a:buSzTx/>
              <a:buFontTx/>
              <a:buChar char="•"/>
            </a:pPr>
            <a:r>
              <a:rPr lang="zh-CN" altLang="en-US" sz="2800" b="1" dirty="0"/>
              <a:t>哈密尔顿回路</a:t>
            </a:r>
            <a:r>
              <a:rPr lang="zh-CN" altLang="en-US" sz="2800" dirty="0"/>
              <a:t>.  给定无向图 </a:t>
            </a:r>
            <a:r>
              <a:rPr lang="en-US" altLang="zh-CN" sz="2800" dirty="0"/>
              <a:t>G = (V, E), </a:t>
            </a:r>
            <a:r>
              <a:rPr lang="zh-CN" altLang="en-US" sz="2800" dirty="0"/>
              <a:t>是否存在一个简单回路</a:t>
            </a:r>
            <a:r>
              <a:rPr lang="en-US" altLang="zh-CN" sz="2800" dirty="0"/>
              <a:t>C</a:t>
            </a:r>
            <a:r>
              <a:rPr lang="zh-CN" altLang="en-US" sz="2800" dirty="0"/>
              <a:t>访问到每一个结点</a:t>
            </a:r>
            <a:r>
              <a:rPr lang="en-US" altLang="zh-CN" sz="2800" dirty="0"/>
              <a:t>?</a:t>
            </a:r>
          </a:p>
          <a:p>
            <a:pPr>
              <a:lnSpc>
                <a:spcPct val="150000"/>
              </a:lnSpc>
              <a:buClrTx/>
              <a:buSzTx/>
              <a:buFontTx/>
              <a:buChar char="•"/>
            </a:pPr>
            <a:r>
              <a:rPr lang="zh-CN" altLang="en-US" sz="2800" dirty="0"/>
              <a:t>证书：  </a:t>
            </a:r>
            <a:r>
              <a:rPr lang="en-US" altLang="zh-CN" sz="2800" dirty="0"/>
              <a:t>n</a:t>
            </a:r>
            <a:r>
              <a:rPr lang="zh-CN" altLang="en-US" sz="2800" dirty="0"/>
              <a:t>个结点的一个有序排列</a:t>
            </a:r>
            <a:endParaRPr lang="en-US" altLang="zh-CN" sz="2800" dirty="0"/>
          </a:p>
          <a:p>
            <a:pPr>
              <a:lnSpc>
                <a:spcPct val="150000"/>
              </a:lnSpc>
            </a:pPr>
            <a:r>
              <a:rPr lang="zh-CN" altLang="en-US" sz="2800" dirty="0"/>
              <a:t>验证程序.  检查排列中包含每一个结点；排列中相邻结点有边相连。</a:t>
            </a:r>
          </a:p>
          <a:p>
            <a:pPr>
              <a:lnSpc>
                <a:spcPct val="150000"/>
              </a:lnSpc>
            </a:pPr>
            <a:r>
              <a:rPr lang="en-US" altLang="zh-CN" sz="2800" dirty="0"/>
              <a:t>HAM-CYCLE </a:t>
            </a:r>
            <a:r>
              <a:rPr lang="en-US" altLang="zh-CN" sz="2800" dirty="0">
                <a:sym typeface="Symbol" panose="05050102010706020507" pitchFamily="18" charset="2"/>
              </a:rPr>
              <a:t></a:t>
            </a:r>
            <a:r>
              <a:rPr lang="en-US" altLang="zh-CN" sz="2800" dirty="0"/>
              <a:t> NP.</a:t>
            </a:r>
          </a:p>
          <a:p>
            <a:pPr>
              <a:lnSpc>
                <a:spcPct val="150000"/>
              </a:lnSpc>
            </a:pPr>
            <a:endParaRPr lang="en-US" altLang="zh-CN" sz="2800" dirty="0"/>
          </a:p>
          <a:p>
            <a:pPr>
              <a:lnSpc>
                <a:spcPct val="150000"/>
              </a:lnSpc>
            </a:pPr>
            <a:endParaRPr lang="zh-CN" altLang="en-US" sz="2400" dirty="0"/>
          </a:p>
        </p:txBody>
      </p:sp>
      <p:pic>
        <p:nvPicPr>
          <p:cNvPr id="52228" name="Picture 4">
            <a:extLst>
              <a:ext uri="{FF2B5EF4-FFF2-40B4-BE49-F238E27FC236}">
                <a16:creationId xmlns:a16="http://schemas.microsoft.com/office/drawing/2014/main" id="{70166700-1BD1-4AB9-AB63-84EB8033A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24" y="4474653"/>
            <a:ext cx="7419975" cy="2078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B4EF0D7C-6056-9959-D3DB-95C631D2A058}"/>
              </a:ext>
            </a:extLst>
          </p:cNvPr>
          <p:cNvSpPr txBox="1"/>
          <p:nvPr/>
        </p:nvSpPr>
        <p:spPr>
          <a:xfrm>
            <a:off x="2627784" y="347430"/>
            <a:ext cx="4621160" cy="646331"/>
          </a:xfrm>
          <a:prstGeom prst="rect">
            <a:avLst/>
          </a:prstGeom>
          <a:noFill/>
        </p:spPr>
        <p:txBody>
          <a:bodyPr wrap="square">
            <a:spAutoFit/>
          </a:bodyPr>
          <a:lstStyle/>
          <a:p>
            <a:r>
              <a:rPr lang="en-US" altLang="zh-CN" dirty="0">
                <a:hlinkClick r:id="rId3"/>
              </a:rPr>
              <a:t>【Ted-ED】</a:t>
            </a:r>
            <a:r>
              <a:rPr lang="zh-CN" altLang="en-US" dirty="0">
                <a:hlinkClick r:id="rId3"/>
              </a:rPr>
              <a:t>病毒谜题：汉密尔顿路径</a:t>
            </a:r>
            <a:r>
              <a:rPr lang="en-US" altLang="zh-CN" dirty="0">
                <a:hlinkClick r:id="rId3"/>
              </a:rPr>
              <a:t>/NP</a:t>
            </a:r>
            <a:r>
              <a:rPr lang="zh-CN" altLang="en-US" dirty="0">
                <a:hlinkClick r:id="rId3"/>
              </a:rPr>
              <a:t>完全问题 </a:t>
            </a:r>
            <a:r>
              <a:rPr lang="en-US" altLang="zh-CN" dirty="0">
                <a:hlinkClick r:id="rId3"/>
              </a:rPr>
              <a:t>The Virus Riddle_</a:t>
            </a:r>
            <a:r>
              <a:rPr lang="zh-CN" altLang="en-US" dirty="0">
                <a:hlinkClick r:id="rId3"/>
              </a:rPr>
              <a:t>哔哩哔哩</a:t>
            </a:r>
            <a:r>
              <a:rPr lang="en-US" altLang="zh-CN" dirty="0">
                <a:hlinkClick r:id="rId3"/>
              </a:rPr>
              <a:t>_</a:t>
            </a:r>
            <a:r>
              <a:rPr lang="en-US" altLang="zh-CN" dirty="0" err="1">
                <a:hlinkClick r:id="rId3"/>
              </a:rPr>
              <a:t>bilibili</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ABC3443-DFDF-437D-9336-95238B593B6E}"/>
              </a:ext>
            </a:extLst>
          </p:cNvPr>
          <p:cNvSpPr>
            <a:spLocks noGrp="1" noChangeArrowheads="1"/>
          </p:cNvSpPr>
          <p:nvPr>
            <p:ph type="title" idx="4294967295"/>
          </p:nvPr>
        </p:nvSpPr>
        <p:spPr>
          <a:xfrm>
            <a:off x="628650" y="18255"/>
            <a:ext cx="7886700" cy="1325563"/>
          </a:xfrm>
        </p:spPr>
        <p:txBody>
          <a:bodyPr/>
          <a:lstStyle/>
          <a:p>
            <a:r>
              <a:rPr lang="en-US" altLang="zh-CN" dirty="0"/>
              <a:t>NP</a:t>
            </a:r>
            <a:r>
              <a:rPr lang="zh-CN" altLang="en-US" dirty="0"/>
              <a:t>的定义</a:t>
            </a:r>
          </a:p>
        </p:txBody>
      </p:sp>
      <p:sp>
        <p:nvSpPr>
          <p:cNvPr id="6" name="灯片编号占位符 5">
            <a:extLst>
              <a:ext uri="{FF2B5EF4-FFF2-40B4-BE49-F238E27FC236}">
                <a16:creationId xmlns:a16="http://schemas.microsoft.com/office/drawing/2014/main" id="{D3892E80-AB4D-47D2-914A-FC41E1C6DF4A}"/>
              </a:ext>
            </a:extLst>
          </p:cNvPr>
          <p:cNvSpPr>
            <a:spLocks noGrp="1"/>
          </p:cNvSpPr>
          <p:nvPr>
            <p:ph type="sldNum" sz="quarter" idx="4294967295"/>
          </p:nvPr>
        </p:nvSpPr>
        <p:spPr>
          <a:xfrm>
            <a:off x="7086600" y="6356350"/>
            <a:ext cx="2057400" cy="365125"/>
          </a:xfrm>
        </p:spPr>
        <p:txBody>
          <a:bodyPr/>
          <a:lstStyle/>
          <a:p>
            <a:fld id="{BDE55EB3-D724-4D42-B811-E34C482FD627}" type="slidenum">
              <a:rPr lang="zh-CN" altLang="en-US"/>
              <a:pPr/>
              <a:t>52</a:t>
            </a:fld>
            <a:endParaRPr lang="en-US" altLang="zh-CN"/>
          </a:p>
        </p:txBody>
      </p:sp>
      <p:sp>
        <p:nvSpPr>
          <p:cNvPr id="56323" name="Rectangle 3">
            <a:extLst>
              <a:ext uri="{FF2B5EF4-FFF2-40B4-BE49-F238E27FC236}">
                <a16:creationId xmlns:a16="http://schemas.microsoft.com/office/drawing/2014/main" id="{119B3771-1104-4BF6-BDB7-8AB4F479F023}"/>
              </a:ext>
            </a:extLst>
          </p:cNvPr>
          <p:cNvSpPr>
            <a:spLocks noGrp="1" noChangeArrowheads="1"/>
          </p:cNvSpPr>
          <p:nvPr>
            <p:ph idx="4294967295"/>
          </p:nvPr>
        </p:nvSpPr>
        <p:spPr>
          <a:xfrm>
            <a:off x="539552" y="1484784"/>
            <a:ext cx="8136904" cy="4968552"/>
          </a:xfrm>
        </p:spPr>
        <p:txBody>
          <a:bodyPr>
            <a:normAutofit/>
          </a:bodyPr>
          <a:lstStyle/>
          <a:p>
            <a:pPr>
              <a:lnSpc>
                <a:spcPct val="120000"/>
              </a:lnSpc>
            </a:pPr>
            <a:r>
              <a:rPr lang="zh-CN" altLang="en-US" sz="2400" dirty="0"/>
              <a:t>问题</a:t>
            </a:r>
            <a:r>
              <a:rPr lang="en-US" altLang="zh-CN" sz="2400" dirty="0"/>
              <a:t>8.11</a:t>
            </a:r>
            <a:r>
              <a:rPr lang="zh-CN" altLang="en-US" sz="2400" dirty="0"/>
              <a:t>：在</a:t>
            </a:r>
            <a:r>
              <a:rPr lang="en-US" altLang="zh-CN" sz="2400" dirty="0"/>
              <a:t>NP</a:t>
            </a:r>
            <a:r>
              <a:rPr lang="zh-CN" altLang="en-US" sz="2400" dirty="0"/>
              <a:t>中有不属于</a:t>
            </a:r>
            <a:r>
              <a:rPr lang="en-US" altLang="zh-CN" sz="2400" dirty="0"/>
              <a:t>P</a:t>
            </a:r>
            <a:r>
              <a:rPr lang="zh-CN" altLang="en-US" sz="2400" dirty="0"/>
              <a:t>的问题吗</a:t>
            </a:r>
            <a:r>
              <a:rPr lang="en-US" altLang="zh-CN" sz="2400" dirty="0"/>
              <a:t>? P = NP</a:t>
            </a:r>
            <a:r>
              <a:rPr lang="zh-CN" altLang="en-US" sz="2400" dirty="0"/>
              <a:t>吗</a:t>
            </a:r>
            <a:r>
              <a:rPr lang="en-US" altLang="zh-CN" sz="2400" dirty="0"/>
              <a:t>?</a:t>
            </a:r>
          </a:p>
          <a:p>
            <a:pPr>
              <a:lnSpc>
                <a:spcPct val="120000"/>
              </a:lnSpc>
            </a:pPr>
            <a:r>
              <a:rPr lang="zh-CN" altLang="en-US" sz="2400" b="0" i="0" dirty="0">
                <a:effectLst/>
                <a:latin typeface="Inter"/>
              </a:rPr>
              <a:t>由 </a:t>
            </a:r>
            <a:r>
              <a:rPr lang="en-US" altLang="zh-CN" sz="2400" b="0" i="0" dirty="0">
                <a:effectLst/>
                <a:latin typeface="Inter"/>
              </a:rPr>
              <a:t>Cook </a:t>
            </a:r>
            <a:r>
              <a:rPr lang="zh-CN" altLang="en-US" sz="2400" b="0" i="0" dirty="0">
                <a:effectLst/>
                <a:latin typeface="Inter"/>
              </a:rPr>
              <a:t>在 </a:t>
            </a:r>
            <a:r>
              <a:rPr lang="en-US" altLang="zh-CN" sz="2400" b="0" i="0" dirty="0">
                <a:effectLst/>
                <a:latin typeface="Inter"/>
              </a:rPr>
              <a:t>1971 </a:t>
            </a:r>
            <a:r>
              <a:rPr lang="zh-CN" altLang="en-US" sz="2400" b="0" i="0" dirty="0">
                <a:effectLst/>
                <a:latin typeface="Inter"/>
              </a:rPr>
              <a:t>年提出，它探讨计算问题的求解复杂度与验证复杂度是否存在本质鸿沟</a:t>
            </a:r>
            <a:endParaRPr lang="en-US" altLang="zh-CN" sz="2400" b="0" i="0" dirty="0">
              <a:effectLst/>
              <a:latin typeface="Inter"/>
            </a:endParaRPr>
          </a:p>
          <a:p>
            <a:pPr>
              <a:lnSpc>
                <a:spcPct val="120000"/>
              </a:lnSpc>
            </a:pPr>
            <a:r>
              <a:rPr lang="zh-CN" altLang="en-US" sz="2400" b="0" i="0" dirty="0">
                <a:effectLst/>
                <a:latin typeface="Inter"/>
              </a:rPr>
              <a:t>是千禧年大奖难题之一，若能解决，可获 </a:t>
            </a:r>
            <a:r>
              <a:rPr lang="en-US" altLang="zh-CN" sz="2400" b="0" i="0" dirty="0">
                <a:effectLst/>
                <a:latin typeface="Inter"/>
              </a:rPr>
              <a:t>100 </a:t>
            </a:r>
            <a:r>
              <a:rPr lang="zh-CN" altLang="en-US" sz="2400" b="0" i="0" dirty="0">
                <a:effectLst/>
                <a:latin typeface="Inter"/>
              </a:rPr>
              <a:t>万美元奖金 。</a:t>
            </a:r>
            <a:endParaRPr lang="en-US" altLang="zh-CN" sz="2400" dirty="0">
              <a:latin typeface="Inter"/>
            </a:endParaRPr>
          </a:p>
          <a:p>
            <a:pPr>
              <a:lnSpc>
                <a:spcPct val="120000"/>
              </a:lnSpc>
            </a:pPr>
            <a:r>
              <a:rPr lang="zh-CN" altLang="en-US" sz="2400" dirty="0"/>
              <a:t>若</a:t>
            </a:r>
            <a:r>
              <a:rPr lang="en-US" altLang="zh-CN" sz="2400" dirty="0"/>
              <a:t>P = NP </a:t>
            </a:r>
            <a:r>
              <a:rPr lang="zh-CN" altLang="en-US" sz="2400" dirty="0"/>
              <a:t>：意味着像图的 </a:t>
            </a:r>
            <a:r>
              <a:rPr lang="en-US" altLang="zh-CN" sz="2400" dirty="0"/>
              <a:t>3  </a:t>
            </a:r>
            <a:r>
              <a:rPr lang="zh-CN" altLang="en-US" sz="2400" dirty="0"/>
              <a:t>着色问题、旅行商问题、整数分解问题、布尔可满足性问题等众多 </a:t>
            </a:r>
            <a:r>
              <a:rPr lang="en-US" altLang="zh-CN" sz="2400" dirty="0"/>
              <a:t>NP - </a:t>
            </a:r>
            <a:r>
              <a:rPr lang="zh-CN" altLang="en-US" sz="2400" dirty="0"/>
              <a:t>难问题，都能找到高效（多项式时间）算法 。</a:t>
            </a:r>
            <a:endParaRPr lang="en-US" altLang="zh-CN" sz="2400" dirty="0"/>
          </a:p>
          <a:p>
            <a:pPr>
              <a:lnSpc>
                <a:spcPct val="120000"/>
              </a:lnSpc>
            </a:pPr>
            <a:r>
              <a:rPr lang="zh-CN" altLang="en-US" sz="2400" dirty="0"/>
              <a:t>若</a:t>
            </a:r>
            <a:r>
              <a:rPr lang="en-US" altLang="zh-CN" sz="2400" dirty="0"/>
              <a:t>P </a:t>
            </a:r>
            <a:r>
              <a:rPr lang="zh-CN" altLang="en-US" sz="2400" dirty="0"/>
              <a:t>≠</a:t>
            </a:r>
            <a:r>
              <a:rPr lang="en-US" altLang="zh-CN" sz="2400" dirty="0"/>
              <a:t>NP </a:t>
            </a:r>
            <a:r>
              <a:rPr lang="zh-CN" altLang="en-US" sz="2400" dirty="0"/>
              <a:t>：则表示这些 </a:t>
            </a:r>
            <a:r>
              <a:rPr lang="en-US" altLang="zh-CN" sz="2400" dirty="0"/>
              <a:t>NP - </a:t>
            </a:r>
            <a:r>
              <a:rPr lang="zh-CN" altLang="en-US" sz="2400" dirty="0"/>
              <a:t>难问题无法找到高效算法 。</a:t>
            </a:r>
            <a:endParaRPr lang="en-US" altLang="zh-CN" sz="2400" dirty="0"/>
          </a:p>
          <a:p>
            <a:pPr>
              <a:lnSpc>
                <a:spcPct val="120000"/>
              </a:lnSpc>
            </a:pPr>
            <a:r>
              <a:rPr lang="zh-CN" altLang="en-US" sz="2400" dirty="0"/>
              <a:t>目前大家普遍倾向于认为</a:t>
            </a:r>
            <a:r>
              <a:rPr lang="en-US" altLang="zh-CN" sz="2400" dirty="0"/>
              <a:t>P </a:t>
            </a:r>
            <a:r>
              <a:rPr lang="zh-CN" altLang="en-US" sz="2400" dirty="0"/>
              <a:t>≠</a:t>
            </a:r>
            <a:r>
              <a:rPr lang="en-US" altLang="zh-CN" sz="2400" dirty="0"/>
              <a:t>NP </a:t>
            </a:r>
            <a:r>
              <a:rPr lang="zh-CN" altLang="en-US" sz="2400" dirty="0"/>
              <a:t>，但尚未得到严格证明。</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CC96A31-FB16-4283-A1EC-6317054B7A02}"/>
              </a:ext>
            </a:extLst>
          </p:cNvPr>
          <p:cNvSpPr>
            <a:spLocks noGrp="1" noChangeArrowheads="1"/>
          </p:cNvSpPr>
          <p:nvPr>
            <p:ph type="title" idx="4294967295"/>
          </p:nvPr>
        </p:nvSpPr>
        <p:spPr>
          <a:xfrm>
            <a:off x="467544" y="136525"/>
            <a:ext cx="7886700" cy="1325563"/>
          </a:xfrm>
        </p:spPr>
        <p:txBody>
          <a:bodyPr/>
          <a:lstStyle/>
          <a:p>
            <a:r>
              <a:rPr lang="en-US" altLang="zh-CN" dirty="0"/>
              <a:t>8.4 NP</a:t>
            </a:r>
            <a:r>
              <a:rPr lang="zh-CN" altLang="en-US" dirty="0"/>
              <a:t>完全问题</a:t>
            </a:r>
          </a:p>
        </p:txBody>
      </p:sp>
      <p:sp>
        <p:nvSpPr>
          <p:cNvPr id="6" name="灯片编号占位符 5">
            <a:extLst>
              <a:ext uri="{FF2B5EF4-FFF2-40B4-BE49-F238E27FC236}">
                <a16:creationId xmlns:a16="http://schemas.microsoft.com/office/drawing/2014/main" id="{9DA9E13F-254F-4618-8C4A-7933775CF7A6}"/>
              </a:ext>
            </a:extLst>
          </p:cNvPr>
          <p:cNvSpPr>
            <a:spLocks noGrp="1"/>
          </p:cNvSpPr>
          <p:nvPr>
            <p:ph type="sldNum" sz="quarter" idx="4294967295"/>
          </p:nvPr>
        </p:nvSpPr>
        <p:spPr>
          <a:xfrm>
            <a:off x="7086600" y="6356350"/>
            <a:ext cx="2057400" cy="365125"/>
          </a:xfrm>
        </p:spPr>
        <p:txBody>
          <a:bodyPr/>
          <a:lstStyle/>
          <a:p>
            <a:fld id="{3CBECBC1-522F-43B0-868D-ED210613058B}" type="slidenum">
              <a:rPr lang="zh-CN" altLang="en-US"/>
              <a:pPr/>
              <a:t>53</a:t>
            </a:fld>
            <a:endParaRPr lang="en-US" altLang="zh-CN"/>
          </a:p>
        </p:txBody>
      </p:sp>
      <p:sp>
        <p:nvSpPr>
          <p:cNvPr id="55299" name="Rectangle 3">
            <a:extLst>
              <a:ext uri="{FF2B5EF4-FFF2-40B4-BE49-F238E27FC236}">
                <a16:creationId xmlns:a16="http://schemas.microsoft.com/office/drawing/2014/main" id="{DABA3043-B0D4-4532-B762-6F7A786CF29F}"/>
              </a:ext>
            </a:extLst>
          </p:cNvPr>
          <p:cNvSpPr>
            <a:spLocks noGrp="1" noChangeArrowheads="1"/>
          </p:cNvSpPr>
          <p:nvPr>
            <p:ph idx="4294967295"/>
          </p:nvPr>
        </p:nvSpPr>
        <p:spPr>
          <a:xfrm>
            <a:off x="467544" y="1253331"/>
            <a:ext cx="7886700" cy="4351338"/>
          </a:xfrm>
        </p:spPr>
        <p:txBody>
          <a:bodyPr>
            <a:noAutofit/>
          </a:bodyPr>
          <a:lstStyle/>
          <a:p>
            <a:pPr>
              <a:lnSpc>
                <a:spcPct val="150000"/>
              </a:lnSpc>
            </a:pPr>
            <a:r>
              <a:rPr lang="en-US" altLang="zh-CN" sz="2800" dirty="0"/>
              <a:t>P=NP</a:t>
            </a:r>
            <a:r>
              <a:rPr lang="zh-CN" altLang="en-US" sz="2800" dirty="0"/>
              <a:t>这个问题没有太多进展，转向另外一个问题，哪些是</a:t>
            </a:r>
            <a:r>
              <a:rPr lang="en-US" altLang="zh-CN" sz="2800" dirty="0"/>
              <a:t>NP</a:t>
            </a:r>
            <a:r>
              <a:rPr lang="zh-CN" altLang="en-US" sz="2800" dirty="0"/>
              <a:t>中</a:t>
            </a:r>
            <a:r>
              <a:rPr lang="zh-CN" altLang="en-US" sz="2800" b="1" dirty="0"/>
              <a:t>最难</a:t>
            </a:r>
            <a:r>
              <a:rPr lang="zh-CN" altLang="en-US" sz="2800" dirty="0"/>
              <a:t>的问题？</a:t>
            </a:r>
            <a:endParaRPr lang="en-US" altLang="zh-CN" sz="2800" dirty="0"/>
          </a:p>
          <a:p>
            <a:pPr>
              <a:lnSpc>
                <a:spcPct val="150000"/>
              </a:lnSpc>
            </a:pPr>
            <a:r>
              <a:rPr lang="zh-CN" altLang="en-US" sz="2800" dirty="0"/>
              <a:t>要求</a:t>
            </a:r>
            <a:r>
              <a:rPr lang="en-US" altLang="zh-CN" sz="2800" dirty="0"/>
              <a:t>NP</a:t>
            </a:r>
            <a:r>
              <a:rPr lang="zh-CN" altLang="en-US" sz="2800" dirty="0"/>
              <a:t>中的每一个问题都能够归约到</a:t>
            </a:r>
            <a:r>
              <a:rPr lang="en-US" altLang="zh-CN" sz="2800" dirty="0"/>
              <a:t>X</a:t>
            </a:r>
            <a:r>
              <a:rPr lang="zh-CN" altLang="en-US" sz="2800" dirty="0"/>
              <a:t>，这样的</a:t>
            </a:r>
            <a:r>
              <a:rPr lang="en-US" altLang="zh-CN" sz="2800" dirty="0"/>
              <a:t>X</a:t>
            </a:r>
            <a:r>
              <a:rPr lang="zh-CN" altLang="en-US" sz="2800" dirty="0"/>
              <a:t>称为</a:t>
            </a:r>
            <a:r>
              <a:rPr lang="en-US" altLang="zh-CN" sz="2800" dirty="0">
                <a:solidFill>
                  <a:schemeClr val="hlink"/>
                </a:solidFill>
              </a:rPr>
              <a:t>NP</a:t>
            </a:r>
            <a:r>
              <a:rPr lang="zh-CN" altLang="en-US" sz="2800" dirty="0">
                <a:solidFill>
                  <a:schemeClr val="hlink"/>
                </a:solidFill>
              </a:rPr>
              <a:t>完全问题</a:t>
            </a:r>
            <a:r>
              <a:rPr lang="zh-CN" altLang="en-US" sz="2800" dirty="0"/>
              <a:t>：</a:t>
            </a:r>
            <a:endParaRPr lang="en-US" altLang="zh-CN" sz="2800" dirty="0"/>
          </a:p>
          <a:p>
            <a:pPr marL="571500" indent="-571500">
              <a:lnSpc>
                <a:spcPct val="150000"/>
              </a:lnSpc>
              <a:buFont typeface="+mj-lt"/>
              <a:buAutoNum type="romanUcPeriod"/>
            </a:pPr>
            <a:r>
              <a:rPr lang="en-US" altLang="zh-CN" sz="2800" dirty="0"/>
              <a:t>X </a:t>
            </a:r>
            <a:r>
              <a:rPr lang="en-US" altLang="zh-CN" sz="2800" dirty="0">
                <a:sym typeface="Symbol" panose="05050102010706020507" pitchFamily="18" charset="2"/>
              </a:rPr>
              <a:t></a:t>
            </a:r>
            <a:r>
              <a:rPr lang="en-US" altLang="zh-CN" sz="2800" dirty="0"/>
              <a:t> NP</a:t>
            </a:r>
          </a:p>
          <a:p>
            <a:pPr marL="571500" indent="-571500">
              <a:lnSpc>
                <a:spcPct val="150000"/>
              </a:lnSpc>
              <a:buFont typeface="+mj-lt"/>
              <a:buAutoNum type="romanUcPeriod"/>
            </a:pPr>
            <a:r>
              <a:rPr lang="zh-CN" altLang="en-US" sz="2800" dirty="0"/>
              <a:t>对于</a:t>
            </a:r>
            <a:r>
              <a:rPr lang="zh-CN" altLang="en-US" sz="2800" b="1" dirty="0"/>
              <a:t>所有的</a:t>
            </a:r>
            <a:r>
              <a:rPr lang="en-US" altLang="zh-CN" sz="2800" dirty="0"/>
              <a:t>Y</a:t>
            </a:r>
            <a:r>
              <a:rPr lang="en-US" altLang="zh-CN" sz="2800" dirty="0">
                <a:sym typeface="Symbol" panose="05050102010706020507" pitchFamily="18" charset="2"/>
              </a:rPr>
              <a:t></a:t>
            </a:r>
            <a:r>
              <a:rPr lang="en-US" altLang="zh-CN" sz="2800" dirty="0"/>
              <a:t> NP, Y </a:t>
            </a:r>
            <a:r>
              <a:rPr lang="en-US" altLang="zh-CN" sz="2800" dirty="0">
                <a:sym typeface="Symbol" panose="05050102010706020507" pitchFamily="18" charset="2"/>
              </a:rPr>
              <a:t></a:t>
            </a:r>
            <a:r>
              <a:rPr lang="en-US" altLang="zh-CN" sz="2800" baseline="-25000" dirty="0">
                <a:sym typeface="Symbol" panose="05050102010706020507" pitchFamily="18" charset="2"/>
              </a:rPr>
              <a:t> p</a:t>
            </a:r>
            <a:r>
              <a:rPr lang="en-US" altLang="zh-CN" sz="2800" dirty="0"/>
              <a:t> 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299">
                                            <p:txEl>
                                              <p:pRg st="2" end="2"/>
                                            </p:txEl>
                                          </p:spTgt>
                                        </p:tgtEl>
                                        <p:attrNameLst>
                                          <p:attrName>style.visibility</p:attrName>
                                        </p:attrNameLst>
                                      </p:cBhvr>
                                      <p:to>
                                        <p:strVal val="visible"/>
                                      </p:to>
                                    </p:set>
                                    <p:anim calcmode="lin" valueType="num">
                                      <p:cBhvr additive="base">
                                        <p:cTn id="19" dur="500" fill="hold"/>
                                        <p:tgtEl>
                                          <p:spTgt spid="552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52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5299">
                                            <p:txEl>
                                              <p:pRg st="3" end="3"/>
                                            </p:txEl>
                                          </p:spTgt>
                                        </p:tgtEl>
                                        <p:attrNameLst>
                                          <p:attrName>style.visibility</p:attrName>
                                        </p:attrNameLst>
                                      </p:cBhvr>
                                      <p:to>
                                        <p:strVal val="visible"/>
                                      </p:to>
                                    </p:set>
                                    <p:anim calcmode="lin" valueType="num">
                                      <p:cBhvr additive="base">
                                        <p:cTn id="25" dur="500" fill="hold"/>
                                        <p:tgtEl>
                                          <p:spTgt spid="552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529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9C60436-6943-46FC-905A-9755ACA66122}"/>
              </a:ext>
            </a:extLst>
          </p:cNvPr>
          <p:cNvSpPr>
            <a:spLocks noGrp="1" noChangeArrowheads="1"/>
          </p:cNvSpPr>
          <p:nvPr>
            <p:ph type="title" idx="4294967295"/>
          </p:nvPr>
        </p:nvSpPr>
        <p:spPr>
          <a:xfrm>
            <a:off x="628650" y="136525"/>
            <a:ext cx="7886700" cy="1325563"/>
          </a:xfrm>
        </p:spPr>
        <p:txBody>
          <a:bodyPr/>
          <a:lstStyle/>
          <a:p>
            <a:r>
              <a:rPr lang="en-US" altLang="zh-CN" dirty="0"/>
              <a:t>NP</a:t>
            </a:r>
            <a:r>
              <a:rPr lang="zh-CN" altLang="en-US" dirty="0"/>
              <a:t>完全问题</a:t>
            </a:r>
          </a:p>
        </p:txBody>
      </p:sp>
      <p:sp>
        <p:nvSpPr>
          <p:cNvPr id="6" name="灯片编号占位符 5">
            <a:extLst>
              <a:ext uri="{FF2B5EF4-FFF2-40B4-BE49-F238E27FC236}">
                <a16:creationId xmlns:a16="http://schemas.microsoft.com/office/drawing/2014/main" id="{F1E0CBF0-A2B2-4B8E-89DB-F3932CD518ED}"/>
              </a:ext>
            </a:extLst>
          </p:cNvPr>
          <p:cNvSpPr>
            <a:spLocks noGrp="1"/>
          </p:cNvSpPr>
          <p:nvPr>
            <p:ph type="sldNum" sz="quarter" idx="4294967295"/>
          </p:nvPr>
        </p:nvSpPr>
        <p:spPr>
          <a:xfrm>
            <a:off x="7086600" y="6356350"/>
            <a:ext cx="2057400" cy="365125"/>
          </a:xfrm>
        </p:spPr>
        <p:txBody>
          <a:bodyPr/>
          <a:lstStyle/>
          <a:p>
            <a:fld id="{EEFB0F98-4C8C-4B67-AC38-FE3E2B6119FF}" type="slidenum">
              <a:rPr lang="zh-CN" altLang="en-US"/>
              <a:pPr/>
              <a:t>54</a:t>
            </a:fld>
            <a:endParaRPr lang="en-US" altLang="zh-CN"/>
          </a:p>
        </p:txBody>
      </p:sp>
      <p:sp>
        <p:nvSpPr>
          <p:cNvPr id="57347" name="Rectangle 3">
            <a:extLst>
              <a:ext uri="{FF2B5EF4-FFF2-40B4-BE49-F238E27FC236}">
                <a16:creationId xmlns:a16="http://schemas.microsoft.com/office/drawing/2014/main" id="{6E99AB58-B23C-4624-9989-5FED6A7CE5A8}"/>
              </a:ext>
            </a:extLst>
          </p:cNvPr>
          <p:cNvSpPr>
            <a:spLocks noGrp="1" noChangeArrowheads="1"/>
          </p:cNvSpPr>
          <p:nvPr>
            <p:ph idx="4294967295"/>
          </p:nvPr>
        </p:nvSpPr>
        <p:spPr>
          <a:xfrm>
            <a:off x="323528" y="1462088"/>
            <a:ext cx="7886700" cy="4606145"/>
          </a:xfrm>
        </p:spPr>
        <p:txBody>
          <a:bodyPr>
            <a:normAutofit fontScale="85000" lnSpcReduction="20000"/>
          </a:bodyPr>
          <a:lstStyle/>
          <a:p>
            <a:pPr>
              <a:lnSpc>
                <a:spcPct val="150000"/>
              </a:lnSpc>
            </a:pPr>
            <a:r>
              <a:rPr lang="zh-CN" altLang="en-US" sz="3200"/>
              <a:t>定理8.12.  设</a:t>
            </a:r>
            <a:r>
              <a:rPr lang="en-US" altLang="zh-CN" sz="3200"/>
              <a:t>X</a:t>
            </a:r>
            <a:r>
              <a:rPr lang="zh-CN" altLang="en-US" sz="3200"/>
              <a:t>是一个</a:t>
            </a:r>
            <a:r>
              <a:rPr lang="en-US" altLang="zh-CN" sz="3200"/>
              <a:t>NP</a:t>
            </a:r>
            <a:r>
              <a:rPr lang="zh-CN" altLang="en-US" sz="3200"/>
              <a:t>完全问题，那么</a:t>
            </a:r>
            <a:r>
              <a:rPr lang="en-US" altLang="zh-CN" sz="3200"/>
              <a:t>X</a:t>
            </a:r>
            <a:r>
              <a:rPr lang="zh-CN" altLang="en-US" sz="3200"/>
              <a:t>是在多项式时间内可解的当且仅当</a:t>
            </a:r>
            <a:r>
              <a:rPr lang="en-US" altLang="zh-CN" sz="3200"/>
              <a:t>P = NP.</a:t>
            </a:r>
          </a:p>
          <a:p>
            <a:pPr>
              <a:lnSpc>
                <a:spcPct val="150000"/>
              </a:lnSpc>
            </a:pPr>
            <a:r>
              <a:rPr lang="en-US" altLang="zh-CN" sz="3200"/>
              <a:t>Pf.  </a:t>
            </a:r>
            <a:r>
              <a:rPr lang="en-US" altLang="zh-CN" sz="3200">
                <a:sym typeface="Symbol" panose="05050102010706020507" pitchFamily="18" charset="2"/>
              </a:rPr>
              <a:t>  </a:t>
            </a:r>
            <a:r>
              <a:rPr lang="zh-CN" altLang="en-US" sz="3200">
                <a:sym typeface="Symbol" panose="05050102010706020507" pitchFamily="18" charset="2"/>
              </a:rPr>
              <a:t>如果 </a:t>
            </a:r>
            <a:r>
              <a:rPr lang="en-US" altLang="zh-CN" sz="3200">
                <a:sym typeface="Symbol" panose="05050102010706020507" pitchFamily="18" charset="2"/>
              </a:rPr>
              <a:t>P = NP，</a:t>
            </a:r>
            <a:r>
              <a:rPr lang="zh-CN" altLang="en-US" sz="3200">
                <a:sym typeface="Symbol" panose="05050102010706020507" pitchFamily="18" charset="2"/>
              </a:rPr>
              <a:t>那么自然的</a:t>
            </a:r>
            <a:r>
              <a:rPr lang="en-US" altLang="zh-CN" sz="3200">
                <a:sym typeface="Symbol" panose="05050102010706020507" pitchFamily="18" charset="2"/>
              </a:rPr>
              <a:t>X</a:t>
            </a:r>
            <a:r>
              <a:rPr lang="zh-CN" altLang="en-US" sz="3200">
                <a:sym typeface="Symbol" panose="05050102010706020507" pitchFamily="18" charset="2"/>
              </a:rPr>
              <a:t>在多项式时间内可解因为 </a:t>
            </a:r>
            <a:r>
              <a:rPr lang="en-US" altLang="zh-CN" sz="3200">
                <a:sym typeface="Symbol" panose="05050102010706020507" pitchFamily="18" charset="2"/>
              </a:rPr>
              <a:t>X </a:t>
            </a:r>
            <a:r>
              <a:rPr lang="zh-CN" altLang="en-US" sz="3200">
                <a:sym typeface="Symbol" panose="05050102010706020507" pitchFamily="18" charset="2"/>
              </a:rPr>
              <a:t>属于 </a:t>
            </a:r>
            <a:r>
              <a:rPr lang="en-US" altLang="zh-CN" sz="3200">
                <a:sym typeface="Symbol" panose="05050102010706020507" pitchFamily="18" charset="2"/>
              </a:rPr>
              <a:t>NP.</a:t>
            </a:r>
          </a:p>
          <a:p>
            <a:pPr>
              <a:lnSpc>
                <a:spcPct val="150000"/>
              </a:lnSpc>
              <a:buFont typeface="Wingdings" panose="05000000000000000000" pitchFamily="2" charset="2"/>
              <a:buNone/>
            </a:pPr>
            <a:r>
              <a:rPr lang="en-US" altLang="zh-CN" sz="3200"/>
              <a:t>   Pf.  </a:t>
            </a:r>
            <a:r>
              <a:rPr lang="en-US" altLang="zh-CN" sz="3200">
                <a:sym typeface="Symbol" panose="05050102010706020507" pitchFamily="18" charset="2"/>
              </a:rPr>
              <a:t> </a:t>
            </a:r>
            <a:r>
              <a:rPr lang="zh-CN" altLang="en-US" sz="3200">
                <a:sym typeface="Symbol" panose="05050102010706020507" pitchFamily="18" charset="2"/>
              </a:rPr>
              <a:t>设</a:t>
            </a:r>
            <a:r>
              <a:rPr lang="en-US" altLang="zh-CN" sz="3200">
                <a:sym typeface="Symbol" panose="05050102010706020507" pitchFamily="18" charset="2"/>
              </a:rPr>
              <a:t>X</a:t>
            </a:r>
            <a:r>
              <a:rPr lang="zh-CN" altLang="en-US" sz="3200">
                <a:sym typeface="Symbol" panose="05050102010706020507" pitchFamily="18" charset="2"/>
              </a:rPr>
              <a:t>在多项式时间内可解</a:t>
            </a:r>
            <a:r>
              <a:rPr lang="en-US" altLang="zh-CN" sz="3200">
                <a:sym typeface="Symbol" panose="05050102010706020507" pitchFamily="18" charset="2"/>
              </a:rPr>
              <a:t>.</a:t>
            </a:r>
          </a:p>
          <a:p>
            <a:pPr lvl="1">
              <a:lnSpc>
                <a:spcPct val="150000"/>
              </a:lnSpc>
            </a:pPr>
            <a:r>
              <a:rPr lang="zh-CN" altLang="en-US" sz="2800">
                <a:sym typeface="Symbol" panose="05050102010706020507" pitchFamily="18" charset="2"/>
              </a:rPr>
              <a:t>设</a:t>
            </a:r>
            <a:r>
              <a:rPr lang="en-US" altLang="zh-CN" sz="2800">
                <a:sym typeface="Symbol" panose="05050102010706020507" pitchFamily="18" charset="2"/>
              </a:rPr>
              <a:t>Y </a:t>
            </a:r>
            <a:r>
              <a:rPr lang="zh-CN" altLang="en-US" sz="2800">
                <a:sym typeface="Symbol" panose="05050102010706020507" pitchFamily="18" charset="2"/>
              </a:rPr>
              <a:t>是 </a:t>
            </a:r>
            <a:r>
              <a:rPr lang="en-US" altLang="zh-CN" sz="2800">
                <a:sym typeface="Symbol" panose="05050102010706020507" pitchFamily="18" charset="2"/>
              </a:rPr>
              <a:t>NP</a:t>
            </a:r>
            <a:r>
              <a:rPr lang="zh-CN" altLang="en-US" sz="2800">
                <a:sym typeface="Symbol" panose="05050102010706020507" pitchFamily="18" charset="2"/>
              </a:rPr>
              <a:t>中的任意一个问题，因为 </a:t>
            </a:r>
            <a:r>
              <a:rPr lang="en-US" altLang="zh-CN" sz="2800">
                <a:sym typeface="Symbol" panose="05050102010706020507" pitchFamily="18" charset="2"/>
              </a:rPr>
              <a:t>Y</a:t>
            </a:r>
            <a:r>
              <a:rPr lang="en-US" altLang="zh-CN" sz="2800"/>
              <a:t> </a:t>
            </a:r>
            <a:r>
              <a:rPr lang="en-US" altLang="zh-CN" sz="2800">
                <a:sym typeface="Symbol" panose="05050102010706020507" pitchFamily="18" charset="2"/>
              </a:rPr>
              <a:t></a:t>
            </a:r>
            <a:r>
              <a:rPr lang="en-US" altLang="zh-CN" sz="2800" baseline="-25000">
                <a:sym typeface="Symbol" panose="05050102010706020507" pitchFamily="18" charset="2"/>
              </a:rPr>
              <a:t> p</a:t>
            </a:r>
            <a:r>
              <a:rPr lang="en-US" altLang="zh-CN" sz="2800"/>
              <a:t> X, </a:t>
            </a:r>
            <a:r>
              <a:rPr lang="zh-CN" altLang="en-US" sz="2800"/>
              <a:t>所以 </a:t>
            </a:r>
            <a:r>
              <a:rPr lang="en-US" altLang="zh-CN" sz="2800"/>
              <a:t>Y </a:t>
            </a:r>
            <a:r>
              <a:rPr lang="zh-CN" altLang="en-US" sz="2800"/>
              <a:t>在多项式时间内可解， 这就推出 </a:t>
            </a:r>
            <a:r>
              <a:rPr lang="en-US" altLang="zh-CN" sz="2800"/>
              <a:t>NP  </a:t>
            </a:r>
            <a:r>
              <a:rPr lang="en-US" altLang="zh-CN" sz="2800">
                <a:sym typeface="Symbol" panose="05050102010706020507" pitchFamily="18" charset="2"/>
              </a:rPr>
              <a:t>  P</a:t>
            </a:r>
            <a:r>
              <a:rPr lang="en-US" altLang="zh-CN" sz="2800"/>
              <a:t>.</a:t>
            </a:r>
          </a:p>
          <a:p>
            <a:pPr lvl="1">
              <a:lnSpc>
                <a:spcPct val="150000"/>
              </a:lnSpc>
            </a:pPr>
            <a:r>
              <a:rPr lang="zh-CN" altLang="en-US" sz="2800"/>
              <a:t>显然我们知道 </a:t>
            </a:r>
            <a:r>
              <a:rPr lang="en-US" altLang="zh-CN" sz="2800"/>
              <a:t>P  </a:t>
            </a:r>
            <a:r>
              <a:rPr lang="en-US" altLang="zh-CN" sz="2800">
                <a:sym typeface="Symbol" panose="05050102010706020507" pitchFamily="18" charset="2"/>
              </a:rPr>
              <a:t>  NP， </a:t>
            </a:r>
            <a:r>
              <a:rPr lang="zh-CN" altLang="en-US" sz="2800">
                <a:sym typeface="Symbol" panose="05050102010706020507" pitchFamily="18" charset="2"/>
              </a:rPr>
              <a:t>这样</a:t>
            </a:r>
            <a:r>
              <a:rPr lang="en-US" altLang="zh-CN" sz="2800">
                <a:sym typeface="Symbol" panose="05050102010706020507" pitchFamily="18" charset="2"/>
              </a:rPr>
              <a:t>P = NP. </a:t>
            </a:r>
            <a:r>
              <a:rPr lang="en-US" altLang="zh-CN" sz="2800"/>
              <a:t> ▪</a:t>
            </a:r>
            <a:endParaRPr lang="en-US" altLang="zh-CN" sz="2800">
              <a:sym typeface="Symbol" panose="05050102010706020507" pitchFamily="18" charset="2"/>
            </a:endParaRPr>
          </a:p>
          <a:p>
            <a:pPr>
              <a:lnSpc>
                <a:spcPct val="150000"/>
              </a:lnSpc>
            </a:pPr>
            <a:endParaRPr lang="zh-CN" altLang="en-US" sz="32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45B79E6-DAA5-4620-AF77-04AE82494CC6}"/>
              </a:ext>
            </a:extLst>
          </p:cNvPr>
          <p:cNvSpPr>
            <a:spLocks noGrp="1" noChangeArrowheads="1"/>
          </p:cNvSpPr>
          <p:nvPr>
            <p:ph type="title" idx="4294967295"/>
          </p:nvPr>
        </p:nvSpPr>
        <p:spPr>
          <a:xfrm>
            <a:off x="539552" y="119856"/>
            <a:ext cx="7886700" cy="1325563"/>
          </a:xfrm>
        </p:spPr>
        <p:txBody>
          <a:bodyPr/>
          <a:lstStyle/>
          <a:p>
            <a:r>
              <a:rPr lang="en-US" altLang="zh-CN" dirty="0"/>
              <a:t>NP</a:t>
            </a:r>
            <a:r>
              <a:rPr lang="zh-CN" altLang="en-US" dirty="0"/>
              <a:t>完全问题</a:t>
            </a:r>
          </a:p>
        </p:txBody>
      </p:sp>
      <p:sp>
        <p:nvSpPr>
          <p:cNvPr id="7" name="灯片编号占位符 5">
            <a:extLst>
              <a:ext uri="{FF2B5EF4-FFF2-40B4-BE49-F238E27FC236}">
                <a16:creationId xmlns:a16="http://schemas.microsoft.com/office/drawing/2014/main" id="{BD81301A-0001-46FD-8C93-82BEAD6F6058}"/>
              </a:ext>
            </a:extLst>
          </p:cNvPr>
          <p:cNvSpPr>
            <a:spLocks noGrp="1"/>
          </p:cNvSpPr>
          <p:nvPr>
            <p:ph type="sldNum" sz="quarter" idx="4294967295"/>
          </p:nvPr>
        </p:nvSpPr>
        <p:spPr>
          <a:xfrm>
            <a:off x="7086600" y="6356350"/>
            <a:ext cx="2057400" cy="365125"/>
          </a:xfrm>
        </p:spPr>
        <p:txBody>
          <a:bodyPr/>
          <a:lstStyle/>
          <a:p>
            <a:fld id="{D6DA3F3E-A331-4809-B5DF-6A8A7726C971}" type="slidenum">
              <a:rPr lang="zh-CN" altLang="en-US"/>
              <a:pPr/>
              <a:t>55</a:t>
            </a:fld>
            <a:endParaRPr lang="en-US" altLang="zh-CN"/>
          </a:p>
        </p:txBody>
      </p:sp>
      <p:sp>
        <p:nvSpPr>
          <p:cNvPr id="58371" name="Rectangle 3">
            <a:extLst>
              <a:ext uri="{FF2B5EF4-FFF2-40B4-BE49-F238E27FC236}">
                <a16:creationId xmlns:a16="http://schemas.microsoft.com/office/drawing/2014/main" id="{1778456F-3619-4321-9C76-688DFB332AFE}"/>
              </a:ext>
            </a:extLst>
          </p:cNvPr>
          <p:cNvSpPr>
            <a:spLocks noGrp="1" noChangeArrowheads="1"/>
          </p:cNvSpPr>
          <p:nvPr>
            <p:ph idx="4294967295"/>
          </p:nvPr>
        </p:nvSpPr>
        <p:spPr>
          <a:xfrm>
            <a:off x="395536" y="980728"/>
            <a:ext cx="7886700" cy="4351338"/>
          </a:xfrm>
        </p:spPr>
        <p:txBody>
          <a:bodyPr/>
          <a:lstStyle/>
          <a:p>
            <a:pPr>
              <a:lnSpc>
                <a:spcPct val="150000"/>
              </a:lnSpc>
            </a:pPr>
            <a:r>
              <a:rPr lang="zh-CN" altLang="en-US" sz="2800" dirty="0"/>
              <a:t>是否存在一个天然的</a:t>
            </a:r>
            <a:r>
              <a:rPr lang="en-US" altLang="zh-CN" sz="2800" dirty="0"/>
              <a:t>NP</a:t>
            </a:r>
            <a:r>
              <a:rPr lang="zh-CN" altLang="en-US" sz="2800" dirty="0"/>
              <a:t>完全问题？</a:t>
            </a:r>
          </a:p>
          <a:p>
            <a:pPr>
              <a:lnSpc>
                <a:spcPct val="150000"/>
              </a:lnSpc>
            </a:pPr>
            <a:r>
              <a:rPr lang="zh-CN" altLang="en-US" sz="2800" dirty="0">
                <a:solidFill>
                  <a:schemeClr val="hlink"/>
                </a:solidFill>
              </a:rPr>
              <a:t>电路可满足性</a:t>
            </a:r>
            <a:r>
              <a:rPr lang="zh-CN" altLang="en-US" sz="2800" dirty="0"/>
              <a:t>问题：给定一个由</a:t>
            </a:r>
            <a:r>
              <a:rPr lang="en-US" altLang="zh-CN" sz="2800" dirty="0"/>
              <a:t>AND, OR, NOT</a:t>
            </a:r>
            <a:r>
              <a:rPr lang="zh-CN" altLang="en-US" sz="2800" dirty="0"/>
              <a:t>电路门组成的电路，需要确定是否存在对输入的赋值使得输出值为1。</a:t>
            </a:r>
            <a:r>
              <a:rPr lang="zh-CN" altLang="en-US" b="0" i="0" dirty="0">
                <a:effectLst/>
                <a:latin typeface="Inter"/>
              </a:rPr>
              <a:t> （如果有这样的的赋值，则称这个电路是可满足的，这个赋值是一个满足的赋值）</a:t>
            </a:r>
            <a:endParaRPr lang="zh-CN" altLang="en-US" dirty="0"/>
          </a:p>
        </p:txBody>
      </p:sp>
      <p:pic>
        <p:nvPicPr>
          <p:cNvPr id="58372" name="Picture 4">
            <a:extLst>
              <a:ext uri="{FF2B5EF4-FFF2-40B4-BE49-F238E27FC236}">
                <a16:creationId xmlns:a16="http://schemas.microsoft.com/office/drawing/2014/main" id="{2CB2E1F4-EBA7-4597-8723-FBBB13CED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4225805"/>
            <a:ext cx="3547664" cy="2212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CE6C6D33-58AB-473C-A517-CA4A57932913}"/>
              </a:ext>
            </a:extLst>
          </p:cNvPr>
          <p:cNvSpPr>
            <a:spLocks noGrp="1" noChangeArrowheads="1"/>
          </p:cNvSpPr>
          <p:nvPr>
            <p:ph type="title" idx="4294967295"/>
          </p:nvPr>
        </p:nvSpPr>
        <p:spPr>
          <a:xfrm>
            <a:off x="395536" y="18255"/>
            <a:ext cx="7886700" cy="1325563"/>
          </a:xfrm>
        </p:spPr>
        <p:txBody>
          <a:bodyPr/>
          <a:lstStyle/>
          <a:p>
            <a:r>
              <a:rPr lang="en-US" altLang="zh-CN" dirty="0"/>
              <a:t>NP</a:t>
            </a:r>
            <a:r>
              <a:rPr lang="zh-CN" altLang="en-US" dirty="0"/>
              <a:t>完全问题</a:t>
            </a:r>
            <a:r>
              <a:rPr lang="en-US" altLang="zh-CN" dirty="0"/>
              <a:t>(</a:t>
            </a:r>
            <a:r>
              <a:rPr lang="zh-CN" altLang="en-US" dirty="0"/>
              <a:t>电路可满足性</a:t>
            </a:r>
            <a:r>
              <a:rPr lang="en-US" altLang="zh-CN" dirty="0"/>
              <a:t>)</a:t>
            </a:r>
          </a:p>
        </p:txBody>
      </p:sp>
      <p:sp>
        <p:nvSpPr>
          <p:cNvPr id="6" name="灯片编号占位符 5">
            <a:extLst>
              <a:ext uri="{FF2B5EF4-FFF2-40B4-BE49-F238E27FC236}">
                <a16:creationId xmlns:a16="http://schemas.microsoft.com/office/drawing/2014/main" id="{AF2390EE-527F-4AF2-BD14-8F0A7E0B7A0A}"/>
              </a:ext>
            </a:extLst>
          </p:cNvPr>
          <p:cNvSpPr>
            <a:spLocks noGrp="1"/>
          </p:cNvSpPr>
          <p:nvPr>
            <p:ph type="sldNum" sz="quarter" idx="4294967295"/>
          </p:nvPr>
        </p:nvSpPr>
        <p:spPr>
          <a:xfrm>
            <a:off x="7086600" y="6356350"/>
            <a:ext cx="2057400" cy="365125"/>
          </a:xfrm>
        </p:spPr>
        <p:txBody>
          <a:bodyPr/>
          <a:lstStyle/>
          <a:p>
            <a:fld id="{6D260DF4-83DA-4F12-AFB6-4B5009758BA3}" type="slidenum">
              <a:rPr lang="zh-CN" altLang="en-US"/>
              <a:pPr/>
              <a:t>56</a:t>
            </a:fld>
            <a:endParaRPr lang="en-US" altLang="zh-CN"/>
          </a:p>
        </p:txBody>
      </p:sp>
      <p:sp>
        <p:nvSpPr>
          <p:cNvPr id="59395" name="Rectangle 3">
            <a:extLst>
              <a:ext uri="{FF2B5EF4-FFF2-40B4-BE49-F238E27FC236}">
                <a16:creationId xmlns:a16="http://schemas.microsoft.com/office/drawing/2014/main" id="{5C2621C1-4287-414E-AFF3-A9253FCDDDB4}"/>
              </a:ext>
            </a:extLst>
          </p:cNvPr>
          <p:cNvSpPr>
            <a:spLocks noGrp="1" noChangeArrowheads="1"/>
          </p:cNvSpPr>
          <p:nvPr>
            <p:ph idx="4294967295"/>
          </p:nvPr>
        </p:nvSpPr>
        <p:spPr>
          <a:xfrm>
            <a:off x="395536" y="1343818"/>
            <a:ext cx="8496944" cy="4351338"/>
          </a:xfrm>
        </p:spPr>
        <p:txBody>
          <a:bodyPr>
            <a:normAutofit/>
          </a:bodyPr>
          <a:lstStyle/>
          <a:p>
            <a:pPr>
              <a:lnSpc>
                <a:spcPct val="80000"/>
              </a:lnSpc>
              <a:buFont typeface="Wingdings" panose="05000000000000000000" pitchFamily="2" charset="2"/>
              <a:buNone/>
            </a:pPr>
            <a:r>
              <a:rPr lang="zh-CN" altLang="en-US" sz="2400" dirty="0"/>
              <a:t>定理8.13(</a:t>
            </a:r>
            <a:r>
              <a:rPr lang="en-US" altLang="zh-CN" sz="2400" dirty="0">
                <a:solidFill>
                  <a:schemeClr val="hlink"/>
                </a:solidFill>
              </a:rPr>
              <a:t>[Cook 1971, Levin 1973]</a:t>
            </a:r>
            <a:r>
              <a:rPr lang="en-US" altLang="zh-CN" sz="2400" dirty="0"/>
              <a:t>) </a:t>
            </a:r>
            <a:r>
              <a:rPr lang="zh-CN" altLang="en-US" sz="2400" b="1" dirty="0"/>
              <a:t>电路可满足性是</a:t>
            </a:r>
            <a:r>
              <a:rPr lang="en-US" altLang="zh-CN" sz="2400" b="1" dirty="0"/>
              <a:t>NP</a:t>
            </a:r>
            <a:r>
              <a:rPr lang="zh-CN" altLang="en-US" sz="2400" b="1" dirty="0"/>
              <a:t>完全的</a:t>
            </a:r>
          </a:p>
          <a:p>
            <a:pPr>
              <a:lnSpc>
                <a:spcPct val="80000"/>
              </a:lnSpc>
            </a:pPr>
            <a:endParaRPr lang="en-US" altLang="zh-CN" sz="2400" dirty="0"/>
          </a:p>
          <a:p>
            <a:pPr lvl="1">
              <a:lnSpc>
                <a:spcPct val="80000"/>
              </a:lnSpc>
            </a:pPr>
            <a:endParaRPr lang="en-US" altLang="zh-CN" sz="2000" dirty="0"/>
          </a:p>
          <a:p>
            <a:pPr>
              <a:lnSpc>
                <a:spcPct val="80000"/>
              </a:lnSpc>
            </a:pPr>
            <a:endParaRPr lang="zh-CN" altLang="en-US" sz="1800" dirty="0"/>
          </a:p>
        </p:txBody>
      </p:sp>
      <p:pic>
        <p:nvPicPr>
          <p:cNvPr id="3" name="图片 2">
            <a:extLst>
              <a:ext uri="{FF2B5EF4-FFF2-40B4-BE49-F238E27FC236}">
                <a16:creationId xmlns:a16="http://schemas.microsoft.com/office/drawing/2014/main" id="{553FA2B2-6526-1E45-BF6E-426709C150AE}"/>
              </a:ext>
            </a:extLst>
          </p:cNvPr>
          <p:cNvPicPr>
            <a:picLocks noChangeAspect="1"/>
          </p:cNvPicPr>
          <p:nvPr/>
        </p:nvPicPr>
        <p:blipFill>
          <a:blip r:embed="rId3"/>
          <a:stretch>
            <a:fillRect/>
          </a:stretch>
        </p:blipFill>
        <p:spPr>
          <a:xfrm>
            <a:off x="827584" y="1772816"/>
            <a:ext cx="7211018" cy="4607039"/>
          </a:xfrm>
          <a:prstGeom prst="rect">
            <a:avLst/>
          </a:prstGeom>
        </p:spPr>
      </p:pic>
      <p:sp>
        <p:nvSpPr>
          <p:cNvPr id="5" name="文本框 4">
            <a:extLst>
              <a:ext uri="{FF2B5EF4-FFF2-40B4-BE49-F238E27FC236}">
                <a16:creationId xmlns:a16="http://schemas.microsoft.com/office/drawing/2014/main" id="{8E3D06E9-8CBC-F75B-AD39-2CA1C89D8C9B}"/>
              </a:ext>
            </a:extLst>
          </p:cNvPr>
          <p:cNvSpPr txBox="1"/>
          <p:nvPr/>
        </p:nvSpPr>
        <p:spPr>
          <a:xfrm>
            <a:off x="3851920" y="5949280"/>
            <a:ext cx="720080" cy="369332"/>
          </a:xfrm>
          <a:prstGeom prst="rect">
            <a:avLst/>
          </a:prstGeom>
          <a:solidFill>
            <a:schemeClr val="bg1"/>
          </a:solidFill>
        </p:spPr>
        <p:txBody>
          <a:bodyPr wrap="square">
            <a:spAutoFit/>
          </a:bodyPr>
          <a:lstStyle/>
          <a:p>
            <a:r>
              <a:rPr lang="zh-CN" altLang="en-US" dirty="0"/>
              <a:t>证书</a:t>
            </a:r>
            <a:r>
              <a:rPr lang="en-US" altLang="zh-CN" dirty="0"/>
              <a:t>t</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D489E-7335-CA90-B944-641F14DAE1F6}"/>
            </a:ext>
          </a:extLst>
        </p:cNvPr>
        <p:cNvGrpSpPr/>
        <p:nvPr/>
      </p:nvGrpSpPr>
      <p:grpSpPr>
        <a:xfrm>
          <a:off x="0" y="0"/>
          <a:ext cx="0" cy="0"/>
          <a:chOff x="0" y="0"/>
          <a:chExt cx="0" cy="0"/>
        </a:xfrm>
      </p:grpSpPr>
      <p:sp>
        <p:nvSpPr>
          <p:cNvPr id="59394" name="Rectangle 2">
            <a:extLst>
              <a:ext uri="{FF2B5EF4-FFF2-40B4-BE49-F238E27FC236}">
                <a16:creationId xmlns:a16="http://schemas.microsoft.com/office/drawing/2014/main" id="{156D55F7-2557-8AF3-2BD6-F2502E4FF896}"/>
              </a:ext>
            </a:extLst>
          </p:cNvPr>
          <p:cNvSpPr>
            <a:spLocks noGrp="1" noChangeArrowheads="1"/>
          </p:cNvSpPr>
          <p:nvPr>
            <p:ph type="title" idx="4294967295"/>
          </p:nvPr>
        </p:nvSpPr>
        <p:spPr>
          <a:xfrm>
            <a:off x="395536" y="18255"/>
            <a:ext cx="7886700" cy="1325563"/>
          </a:xfrm>
        </p:spPr>
        <p:txBody>
          <a:bodyPr/>
          <a:lstStyle/>
          <a:p>
            <a:r>
              <a:rPr lang="en-US" altLang="zh-CN" dirty="0"/>
              <a:t>NP</a:t>
            </a:r>
            <a:r>
              <a:rPr lang="zh-CN" altLang="en-US" dirty="0"/>
              <a:t>完全问题</a:t>
            </a:r>
            <a:r>
              <a:rPr lang="en-US" altLang="zh-CN" dirty="0"/>
              <a:t>(</a:t>
            </a:r>
            <a:r>
              <a:rPr lang="zh-CN" altLang="en-US" dirty="0"/>
              <a:t>电路可满足性</a:t>
            </a:r>
            <a:r>
              <a:rPr lang="en-US" altLang="zh-CN" dirty="0"/>
              <a:t>)</a:t>
            </a:r>
          </a:p>
        </p:txBody>
      </p:sp>
      <p:sp>
        <p:nvSpPr>
          <p:cNvPr id="6" name="灯片编号占位符 5">
            <a:extLst>
              <a:ext uri="{FF2B5EF4-FFF2-40B4-BE49-F238E27FC236}">
                <a16:creationId xmlns:a16="http://schemas.microsoft.com/office/drawing/2014/main" id="{457A6EE6-F7AB-1868-8B20-711C82053E6F}"/>
              </a:ext>
            </a:extLst>
          </p:cNvPr>
          <p:cNvSpPr>
            <a:spLocks noGrp="1"/>
          </p:cNvSpPr>
          <p:nvPr>
            <p:ph type="sldNum" sz="quarter" idx="4294967295"/>
          </p:nvPr>
        </p:nvSpPr>
        <p:spPr>
          <a:xfrm>
            <a:off x="7086600" y="6356350"/>
            <a:ext cx="2057400" cy="365125"/>
          </a:xfrm>
        </p:spPr>
        <p:txBody>
          <a:bodyPr/>
          <a:lstStyle/>
          <a:p>
            <a:fld id="{6D260DF4-83DA-4F12-AFB6-4B5009758BA3}" type="slidenum">
              <a:rPr lang="zh-CN" altLang="en-US"/>
              <a:pPr/>
              <a:t>57</a:t>
            </a:fld>
            <a:endParaRPr lang="en-US" altLang="zh-CN"/>
          </a:p>
        </p:txBody>
      </p:sp>
      <p:pic>
        <p:nvPicPr>
          <p:cNvPr id="3" name="图片 2">
            <a:extLst>
              <a:ext uri="{FF2B5EF4-FFF2-40B4-BE49-F238E27FC236}">
                <a16:creationId xmlns:a16="http://schemas.microsoft.com/office/drawing/2014/main" id="{E232141A-2F1C-4A26-2D91-58D8680579DE}"/>
              </a:ext>
            </a:extLst>
          </p:cNvPr>
          <p:cNvPicPr>
            <a:picLocks noChangeAspect="1"/>
          </p:cNvPicPr>
          <p:nvPr/>
        </p:nvPicPr>
        <p:blipFill>
          <a:blip r:embed="rId2"/>
          <a:stretch>
            <a:fillRect/>
          </a:stretch>
        </p:blipFill>
        <p:spPr>
          <a:xfrm>
            <a:off x="517477" y="1573189"/>
            <a:ext cx="8109045" cy="4785413"/>
          </a:xfrm>
          <a:prstGeom prst="rect">
            <a:avLst/>
          </a:prstGeom>
        </p:spPr>
      </p:pic>
      <p:pic>
        <p:nvPicPr>
          <p:cNvPr id="8" name="图片 7">
            <a:extLst>
              <a:ext uri="{FF2B5EF4-FFF2-40B4-BE49-F238E27FC236}">
                <a16:creationId xmlns:a16="http://schemas.microsoft.com/office/drawing/2014/main" id="{9D8DB070-1DE6-672B-2849-280EFC2448B1}"/>
              </a:ext>
            </a:extLst>
          </p:cNvPr>
          <p:cNvPicPr>
            <a:picLocks noChangeAspect="1"/>
          </p:cNvPicPr>
          <p:nvPr/>
        </p:nvPicPr>
        <p:blipFill>
          <a:blip r:embed="rId3"/>
          <a:stretch>
            <a:fillRect/>
          </a:stretch>
        </p:blipFill>
        <p:spPr>
          <a:xfrm>
            <a:off x="611560" y="6102214"/>
            <a:ext cx="8153112" cy="471351"/>
          </a:xfrm>
          <a:prstGeom prst="rect">
            <a:avLst/>
          </a:prstGeom>
        </p:spPr>
      </p:pic>
    </p:spTree>
    <p:extLst>
      <p:ext uri="{BB962C8B-B14F-4D97-AF65-F5344CB8AC3E}">
        <p14:creationId xmlns:p14="http://schemas.microsoft.com/office/powerpoint/2010/main" val="12023238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F16052B-63A5-464B-AF44-202DB90867FB}"/>
              </a:ext>
            </a:extLst>
          </p:cNvPr>
          <p:cNvSpPr>
            <a:spLocks noGrp="1" noChangeArrowheads="1"/>
          </p:cNvSpPr>
          <p:nvPr>
            <p:ph type="title" idx="4294967295"/>
          </p:nvPr>
        </p:nvSpPr>
        <p:spPr>
          <a:xfrm>
            <a:off x="539552" y="32506"/>
            <a:ext cx="7886700" cy="1325563"/>
          </a:xfrm>
        </p:spPr>
        <p:txBody>
          <a:bodyPr/>
          <a:lstStyle/>
          <a:p>
            <a:r>
              <a:rPr lang="en-US" altLang="zh-CN" dirty="0"/>
              <a:t>NP</a:t>
            </a:r>
            <a:r>
              <a:rPr lang="zh-CN" altLang="en-US" dirty="0"/>
              <a:t>完全问题</a:t>
            </a:r>
            <a:r>
              <a:rPr lang="en-US" altLang="zh-CN" dirty="0"/>
              <a:t>(</a:t>
            </a:r>
            <a:r>
              <a:rPr lang="zh-CN" altLang="en-US" dirty="0"/>
              <a:t>电路可满足性</a:t>
            </a:r>
            <a:r>
              <a:rPr lang="en-US" altLang="zh-CN" dirty="0"/>
              <a:t>)</a:t>
            </a:r>
            <a:endParaRPr lang="zh-CN" altLang="en-US" dirty="0"/>
          </a:p>
        </p:txBody>
      </p:sp>
      <p:sp>
        <p:nvSpPr>
          <p:cNvPr id="8" name="灯片编号占位符 5">
            <a:extLst>
              <a:ext uri="{FF2B5EF4-FFF2-40B4-BE49-F238E27FC236}">
                <a16:creationId xmlns:a16="http://schemas.microsoft.com/office/drawing/2014/main" id="{415EE4B8-D050-4597-BFCD-BE19C6A1D598}"/>
              </a:ext>
            </a:extLst>
          </p:cNvPr>
          <p:cNvSpPr>
            <a:spLocks noGrp="1"/>
          </p:cNvSpPr>
          <p:nvPr>
            <p:ph type="sldNum" sz="quarter" idx="4294967295"/>
          </p:nvPr>
        </p:nvSpPr>
        <p:spPr>
          <a:xfrm>
            <a:off x="7086600" y="6356350"/>
            <a:ext cx="2057400" cy="365125"/>
          </a:xfrm>
        </p:spPr>
        <p:txBody>
          <a:bodyPr/>
          <a:lstStyle/>
          <a:p>
            <a:fld id="{94312CCE-D165-4420-AAAF-6DC6DE4FC0E7}" type="slidenum">
              <a:rPr lang="zh-CN" altLang="en-US"/>
              <a:pPr/>
              <a:t>58</a:t>
            </a:fld>
            <a:endParaRPr lang="en-US" altLang="zh-CN"/>
          </a:p>
        </p:txBody>
      </p:sp>
      <p:sp>
        <p:nvSpPr>
          <p:cNvPr id="65539" name="Rectangle 3">
            <a:extLst>
              <a:ext uri="{FF2B5EF4-FFF2-40B4-BE49-F238E27FC236}">
                <a16:creationId xmlns:a16="http://schemas.microsoft.com/office/drawing/2014/main" id="{B967F32E-7ED2-4979-9126-039FC90CF9F4}"/>
              </a:ext>
            </a:extLst>
          </p:cNvPr>
          <p:cNvSpPr>
            <a:spLocks noGrp="1" noChangeArrowheads="1"/>
          </p:cNvSpPr>
          <p:nvPr>
            <p:ph idx="4294967295"/>
          </p:nvPr>
        </p:nvSpPr>
        <p:spPr>
          <a:xfrm>
            <a:off x="0" y="1825625"/>
            <a:ext cx="7886700" cy="4351338"/>
          </a:xfrm>
        </p:spPr>
        <p:txBody>
          <a:bodyPr/>
          <a:lstStyle/>
          <a:p>
            <a:pPr>
              <a:buFont typeface="Wingdings" panose="05000000000000000000" pitchFamily="2" charset="2"/>
              <a:buNone/>
            </a:pPr>
            <a:endParaRPr lang="zh-CN" altLang="en-US"/>
          </a:p>
          <a:p>
            <a:pPr>
              <a:buFont typeface="Wingdings" panose="05000000000000000000" pitchFamily="2" charset="2"/>
              <a:buNone/>
            </a:pPr>
            <a:endParaRPr lang="zh-CN" altLang="en-US"/>
          </a:p>
        </p:txBody>
      </p:sp>
      <p:pic>
        <p:nvPicPr>
          <p:cNvPr id="65540" name="Picture 4">
            <a:extLst>
              <a:ext uri="{FF2B5EF4-FFF2-40B4-BE49-F238E27FC236}">
                <a16:creationId xmlns:a16="http://schemas.microsoft.com/office/drawing/2014/main" id="{D01A4D5A-7EFA-4E56-BCD4-FB19E992A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621" y="2303781"/>
            <a:ext cx="7254561" cy="429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1" name="Text Box 5">
            <a:extLst>
              <a:ext uri="{FF2B5EF4-FFF2-40B4-BE49-F238E27FC236}">
                <a16:creationId xmlns:a16="http://schemas.microsoft.com/office/drawing/2014/main" id="{E86B3408-343E-4B60-8586-CE9270EF1FE4}"/>
              </a:ext>
            </a:extLst>
          </p:cNvPr>
          <p:cNvSpPr txBox="1">
            <a:spLocks noChangeArrowheads="1"/>
          </p:cNvSpPr>
          <p:nvPr/>
        </p:nvSpPr>
        <p:spPr bwMode="auto">
          <a:xfrm>
            <a:off x="539552" y="1377156"/>
            <a:ext cx="73088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Tx/>
              <a:buSzTx/>
              <a:buFontTx/>
              <a:buNone/>
            </a:pPr>
            <a:r>
              <a:rPr lang="zh-CN" altLang="en-US" sz="2400" b="1" dirty="0"/>
              <a:t>例子</a:t>
            </a:r>
            <a:r>
              <a:rPr lang="zh-CN" altLang="en-US" sz="2400" dirty="0"/>
              <a:t>：给定一个图</a:t>
            </a:r>
            <a:r>
              <a:rPr lang="en-US" altLang="zh-CN" sz="2400" dirty="0"/>
              <a:t>G,</a:t>
            </a:r>
            <a:r>
              <a:rPr lang="zh-CN" altLang="en-US" sz="2400" dirty="0"/>
              <a:t>它包含两个顶点的独立集吗？</a:t>
            </a:r>
          </a:p>
          <a:p>
            <a:pPr>
              <a:spcBef>
                <a:spcPct val="50000"/>
              </a:spcBef>
              <a:buClrTx/>
              <a:buSzTx/>
              <a:buFontTx/>
              <a:buNone/>
            </a:pPr>
            <a:r>
              <a:rPr lang="zh-CN" altLang="en-US" sz="2400" dirty="0"/>
              <a:t>构造一个等价的电路可满足实例</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67E48EC-3A5E-4C1D-8FDB-312F224861E1}"/>
              </a:ext>
            </a:extLst>
          </p:cNvPr>
          <p:cNvSpPr>
            <a:spLocks noGrp="1" noChangeArrowheads="1"/>
          </p:cNvSpPr>
          <p:nvPr>
            <p:ph type="title" idx="4294967295"/>
          </p:nvPr>
        </p:nvSpPr>
        <p:spPr>
          <a:xfrm>
            <a:off x="395536" y="91280"/>
            <a:ext cx="7886700" cy="1325563"/>
          </a:xfrm>
        </p:spPr>
        <p:txBody>
          <a:bodyPr/>
          <a:lstStyle/>
          <a:p>
            <a:r>
              <a:rPr lang="en-US" altLang="zh-CN" dirty="0"/>
              <a:t>NP</a:t>
            </a:r>
            <a:r>
              <a:rPr lang="zh-CN" altLang="en-US" dirty="0"/>
              <a:t>完全问题</a:t>
            </a:r>
          </a:p>
        </p:txBody>
      </p:sp>
      <p:sp>
        <p:nvSpPr>
          <p:cNvPr id="6" name="灯片编号占位符 5">
            <a:extLst>
              <a:ext uri="{FF2B5EF4-FFF2-40B4-BE49-F238E27FC236}">
                <a16:creationId xmlns:a16="http://schemas.microsoft.com/office/drawing/2014/main" id="{C54E01C0-28B1-4A08-860B-1B39B050DAFE}"/>
              </a:ext>
            </a:extLst>
          </p:cNvPr>
          <p:cNvSpPr>
            <a:spLocks noGrp="1"/>
          </p:cNvSpPr>
          <p:nvPr>
            <p:ph type="sldNum" sz="quarter" idx="4294967295"/>
          </p:nvPr>
        </p:nvSpPr>
        <p:spPr>
          <a:xfrm>
            <a:off x="7086600" y="6356350"/>
            <a:ext cx="2057400" cy="365125"/>
          </a:xfrm>
        </p:spPr>
        <p:txBody>
          <a:bodyPr/>
          <a:lstStyle/>
          <a:p>
            <a:fld id="{3EBFDDE8-A1F4-45CC-B15F-045BDCD36540}" type="slidenum">
              <a:rPr lang="zh-CN" altLang="en-US"/>
              <a:pPr/>
              <a:t>59</a:t>
            </a:fld>
            <a:endParaRPr lang="en-US" altLang="zh-CN"/>
          </a:p>
        </p:txBody>
      </p:sp>
      <p:sp>
        <p:nvSpPr>
          <p:cNvPr id="60419" name="Rectangle 3">
            <a:extLst>
              <a:ext uri="{FF2B5EF4-FFF2-40B4-BE49-F238E27FC236}">
                <a16:creationId xmlns:a16="http://schemas.microsoft.com/office/drawing/2014/main" id="{30F77D0B-2416-4432-88BA-6A206F6F7F91}"/>
              </a:ext>
            </a:extLst>
          </p:cNvPr>
          <p:cNvSpPr>
            <a:spLocks noGrp="1" noChangeArrowheads="1"/>
          </p:cNvSpPr>
          <p:nvPr>
            <p:ph idx="4294967295"/>
          </p:nvPr>
        </p:nvSpPr>
        <p:spPr>
          <a:xfrm>
            <a:off x="409082" y="1416842"/>
            <a:ext cx="8123358" cy="4748461"/>
          </a:xfrm>
        </p:spPr>
        <p:txBody>
          <a:bodyPr>
            <a:noAutofit/>
          </a:bodyPr>
          <a:lstStyle/>
          <a:p>
            <a:pPr>
              <a:lnSpc>
                <a:spcPct val="150000"/>
              </a:lnSpc>
            </a:pPr>
            <a:r>
              <a:rPr lang="zh-CN" altLang="en-US" sz="2800" dirty="0"/>
              <a:t>如何发现更多的</a:t>
            </a:r>
            <a:r>
              <a:rPr lang="en-US" altLang="zh-CN" sz="2800" dirty="0"/>
              <a:t>NP</a:t>
            </a:r>
            <a:r>
              <a:rPr lang="zh-CN" altLang="en-US" sz="2800" dirty="0"/>
              <a:t>完全问题？</a:t>
            </a:r>
          </a:p>
          <a:p>
            <a:pPr>
              <a:lnSpc>
                <a:spcPct val="150000"/>
              </a:lnSpc>
            </a:pPr>
            <a:r>
              <a:rPr lang="zh-CN" altLang="en-US" sz="2800" dirty="0"/>
              <a:t>定理8.14 如果</a:t>
            </a:r>
            <a:r>
              <a:rPr lang="en-US" altLang="zh-CN" sz="2800" dirty="0"/>
              <a:t>Y</a:t>
            </a:r>
            <a:r>
              <a:rPr lang="zh-CN" altLang="en-US" sz="2800" dirty="0"/>
              <a:t>是一个</a:t>
            </a:r>
            <a:r>
              <a:rPr lang="en-US" altLang="zh-CN" sz="2800" dirty="0"/>
              <a:t>NP</a:t>
            </a:r>
            <a:r>
              <a:rPr lang="zh-CN" altLang="en-US" sz="2800" dirty="0"/>
              <a:t>完全问题，</a:t>
            </a:r>
            <a:r>
              <a:rPr lang="en-US" altLang="zh-CN" sz="2800" dirty="0"/>
              <a:t>X</a:t>
            </a:r>
            <a:r>
              <a:rPr lang="zh-CN" altLang="en-US" sz="2800" dirty="0"/>
              <a:t>属于</a:t>
            </a:r>
            <a:r>
              <a:rPr lang="en-US" altLang="zh-CN" sz="2800" dirty="0"/>
              <a:t>NP</a:t>
            </a:r>
            <a:r>
              <a:rPr lang="zh-CN" altLang="en-US" sz="2800" dirty="0"/>
              <a:t>且</a:t>
            </a:r>
            <a:r>
              <a:rPr lang="en-US" altLang="zh-CN" sz="2800" dirty="0"/>
              <a:t>Y </a:t>
            </a:r>
            <a:r>
              <a:rPr lang="en-US" altLang="zh-CN" sz="2800" dirty="0">
                <a:sym typeface="Symbol" panose="05050102010706020507" pitchFamily="18" charset="2"/>
              </a:rPr>
              <a:t></a:t>
            </a:r>
            <a:r>
              <a:rPr lang="en-US" altLang="zh-CN" sz="2800" baseline="-25000" dirty="0">
                <a:sym typeface="Symbol" panose="05050102010706020507" pitchFamily="18" charset="2"/>
              </a:rPr>
              <a:t> P</a:t>
            </a:r>
            <a:r>
              <a:rPr lang="en-US" altLang="zh-CN" sz="2800" dirty="0"/>
              <a:t> X,</a:t>
            </a:r>
            <a:r>
              <a:rPr lang="zh-CN" altLang="en-US" sz="2800" dirty="0"/>
              <a:t>则</a:t>
            </a:r>
            <a:r>
              <a:rPr lang="en-US" altLang="zh-CN" sz="2800" dirty="0"/>
              <a:t>X</a:t>
            </a:r>
            <a:r>
              <a:rPr lang="zh-CN" altLang="en-US" sz="2800" dirty="0"/>
              <a:t>是</a:t>
            </a:r>
            <a:r>
              <a:rPr lang="en-US" altLang="zh-CN" sz="2800" dirty="0"/>
              <a:t>NP</a:t>
            </a:r>
            <a:r>
              <a:rPr lang="zh-CN" altLang="en-US" sz="2800" dirty="0"/>
              <a:t>完全的。</a:t>
            </a:r>
          </a:p>
          <a:p>
            <a:pPr>
              <a:lnSpc>
                <a:spcPct val="150000"/>
              </a:lnSpc>
            </a:pPr>
            <a:r>
              <a:rPr lang="zh-CN" altLang="en-US" sz="2800" dirty="0"/>
              <a:t>证明：设</a:t>
            </a:r>
            <a:r>
              <a:rPr lang="en-US" altLang="zh-CN" sz="2800" dirty="0"/>
              <a:t>Z</a:t>
            </a:r>
            <a:r>
              <a:rPr lang="zh-CN" altLang="en-US" sz="2800" dirty="0"/>
              <a:t>是</a:t>
            </a:r>
            <a:r>
              <a:rPr lang="en-US" altLang="zh-CN" sz="2800" dirty="0"/>
              <a:t>NP</a:t>
            </a:r>
            <a:r>
              <a:rPr lang="zh-CN" altLang="en-US" sz="2800" dirty="0"/>
              <a:t>中的任意一个问题，由</a:t>
            </a:r>
            <a:r>
              <a:rPr lang="en-US" altLang="zh-CN" sz="2800" dirty="0"/>
              <a:t>Y</a:t>
            </a:r>
            <a:r>
              <a:rPr lang="zh-CN" altLang="en-US" sz="2800" dirty="0"/>
              <a:t>的</a:t>
            </a:r>
            <a:r>
              <a:rPr lang="en-US" altLang="zh-CN" sz="2800" dirty="0"/>
              <a:t>NP</a:t>
            </a:r>
            <a:r>
              <a:rPr lang="zh-CN" altLang="en-US" sz="2800" dirty="0"/>
              <a:t>完全性，有</a:t>
            </a:r>
            <a:r>
              <a:rPr lang="en-US" altLang="zh-CN" sz="2800" dirty="0"/>
              <a:t>Z </a:t>
            </a:r>
            <a:r>
              <a:rPr lang="en-US" altLang="zh-CN" sz="2800" dirty="0">
                <a:sym typeface="Symbol" panose="05050102010706020507" pitchFamily="18" charset="2"/>
              </a:rPr>
              <a:t></a:t>
            </a:r>
            <a:r>
              <a:rPr lang="en-US" altLang="zh-CN" sz="2800" baseline="-25000" dirty="0">
                <a:sym typeface="Symbol" panose="05050102010706020507" pitchFamily="18" charset="2"/>
              </a:rPr>
              <a:t> P</a:t>
            </a:r>
            <a:r>
              <a:rPr lang="en-US" altLang="zh-CN" sz="2800" dirty="0"/>
              <a:t> Y. </a:t>
            </a:r>
            <a:r>
              <a:rPr lang="zh-CN" altLang="en-US" sz="2800" dirty="0"/>
              <a:t>于是，根据传递性，</a:t>
            </a:r>
            <a:r>
              <a:rPr lang="en-US" altLang="zh-CN" sz="2800" dirty="0"/>
              <a:t>Z </a:t>
            </a:r>
            <a:r>
              <a:rPr lang="en-US" altLang="zh-CN" sz="2800" dirty="0">
                <a:sym typeface="Symbol" panose="05050102010706020507" pitchFamily="18" charset="2"/>
              </a:rPr>
              <a:t></a:t>
            </a:r>
            <a:r>
              <a:rPr lang="en-US" altLang="zh-CN" sz="2800" baseline="-25000" dirty="0">
                <a:sym typeface="Symbol" panose="05050102010706020507" pitchFamily="18" charset="2"/>
              </a:rPr>
              <a:t> P</a:t>
            </a:r>
            <a:r>
              <a:rPr lang="en-US" altLang="zh-CN" sz="2800" dirty="0"/>
              <a:t> X, </a:t>
            </a:r>
            <a:r>
              <a:rPr lang="zh-CN" altLang="en-US" sz="2800" dirty="0"/>
              <a:t>根据定义知道</a:t>
            </a:r>
            <a:r>
              <a:rPr lang="en-US" altLang="zh-CN" sz="2800" dirty="0"/>
              <a:t>X</a:t>
            </a:r>
            <a:r>
              <a:rPr lang="zh-CN" altLang="en-US" sz="2800" dirty="0"/>
              <a:t>是</a:t>
            </a:r>
            <a:r>
              <a:rPr lang="en-US" altLang="zh-CN" sz="2800" dirty="0"/>
              <a:t>NP</a:t>
            </a:r>
            <a:r>
              <a:rPr lang="zh-CN" altLang="en-US" sz="2800" dirty="0"/>
              <a:t>完全的。</a:t>
            </a:r>
          </a:p>
          <a:p>
            <a:pPr>
              <a:lnSpc>
                <a:spcPct val="150000"/>
              </a:lnSpc>
            </a:pP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0419">
                                            <p:txEl>
                                              <p:pRg st="1" end="1"/>
                                            </p:txEl>
                                          </p:spTgt>
                                        </p:tgtEl>
                                        <p:attrNameLst>
                                          <p:attrName>style.visibility</p:attrName>
                                        </p:attrNameLst>
                                      </p:cBhvr>
                                      <p:to>
                                        <p:strVal val="visible"/>
                                      </p:to>
                                    </p:set>
                                    <p:anim calcmode="lin" valueType="num">
                                      <p:cBhvr additive="base">
                                        <p:cTn id="13" dur="500" fill="hold"/>
                                        <p:tgtEl>
                                          <p:spTgt spid="604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04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419">
                                            <p:txEl>
                                              <p:pRg st="2" end="2"/>
                                            </p:txEl>
                                          </p:spTgt>
                                        </p:tgtEl>
                                        <p:attrNameLst>
                                          <p:attrName>style.visibility</p:attrName>
                                        </p:attrNameLst>
                                      </p:cBhvr>
                                      <p:to>
                                        <p:strVal val="visible"/>
                                      </p:to>
                                    </p:set>
                                    <p:anim calcmode="lin" valueType="num">
                                      <p:cBhvr additive="base">
                                        <p:cTn id="19" dur="500" fill="hold"/>
                                        <p:tgtEl>
                                          <p:spTgt spid="604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04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7CEE131-0C74-47F4-819B-BF706B59153E}"/>
              </a:ext>
            </a:extLst>
          </p:cNvPr>
          <p:cNvSpPr>
            <a:spLocks noGrp="1" noChangeArrowheads="1"/>
          </p:cNvSpPr>
          <p:nvPr>
            <p:ph type="title" idx="4294967295"/>
          </p:nvPr>
        </p:nvSpPr>
        <p:spPr>
          <a:xfrm>
            <a:off x="395536" y="136525"/>
            <a:ext cx="7886700" cy="1325563"/>
          </a:xfrm>
        </p:spPr>
        <p:txBody>
          <a:bodyPr/>
          <a:lstStyle/>
          <a:p>
            <a:r>
              <a:rPr lang="en-US" altLang="zh-CN"/>
              <a:t>NP-Complete Problems</a:t>
            </a:r>
          </a:p>
        </p:txBody>
      </p:sp>
      <p:sp>
        <p:nvSpPr>
          <p:cNvPr id="6" name="灯片编号占位符 5">
            <a:extLst>
              <a:ext uri="{FF2B5EF4-FFF2-40B4-BE49-F238E27FC236}">
                <a16:creationId xmlns:a16="http://schemas.microsoft.com/office/drawing/2014/main" id="{05D8655C-9211-41E1-B31A-A3CF0594D54C}"/>
              </a:ext>
            </a:extLst>
          </p:cNvPr>
          <p:cNvSpPr>
            <a:spLocks noGrp="1"/>
          </p:cNvSpPr>
          <p:nvPr>
            <p:ph type="sldNum" sz="quarter" idx="4294967295"/>
          </p:nvPr>
        </p:nvSpPr>
        <p:spPr>
          <a:xfrm>
            <a:off x="7086600" y="6356350"/>
            <a:ext cx="2057400" cy="365125"/>
          </a:xfrm>
        </p:spPr>
        <p:txBody>
          <a:bodyPr/>
          <a:lstStyle/>
          <a:p>
            <a:fld id="{5F9D6BB8-D9FA-472A-938E-489605044E72}" type="slidenum">
              <a:rPr lang="zh-CN" altLang="en-US"/>
              <a:pPr/>
              <a:t>60</a:t>
            </a:fld>
            <a:endParaRPr lang="en-US" altLang="zh-CN"/>
          </a:p>
        </p:txBody>
      </p:sp>
      <p:sp>
        <p:nvSpPr>
          <p:cNvPr id="70659" name="Rectangle 3">
            <a:extLst>
              <a:ext uri="{FF2B5EF4-FFF2-40B4-BE49-F238E27FC236}">
                <a16:creationId xmlns:a16="http://schemas.microsoft.com/office/drawing/2014/main" id="{AF29D483-9BE1-446E-BD94-D77E427D15E9}"/>
              </a:ext>
            </a:extLst>
          </p:cNvPr>
          <p:cNvSpPr>
            <a:spLocks noGrp="1" noChangeArrowheads="1"/>
          </p:cNvSpPr>
          <p:nvPr>
            <p:ph idx="4294967295"/>
          </p:nvPr>
        </p:nvSpPr>
        <p:spPr>
          <a:xfrm>
            <a:off x="395536" y="1497777"/>
            <a:ext cx="7886700" cy="4351338"/>
          </a:xfrm>
        </p:spPr>
        <p:txBody>
          <a:bodyPr>
            <a:normAutofit/>
          </a:bodyPr>
          <a:lstStyle/>
          <a:p>
            <a:pPr marL="609600" indent="-609600">
              <a:buFont typeface="Wingdings" panose="05000000000000000000" pitchFamily="2" charset="2"/>
              <a:buNone/>
            </a:pPr>
            <a:endParaRPr lang="en-US" altLang="zh-CN" sz="2800" dirty="0"/>
          </a:p>
          <a:p>
            <a:pPr marL="609600" indent="-609600">
              <a:buFont typeface="Wingdings" panose="05000000000000000000" pitchFamily="2" charset="2"/>
              <a:buNone/>
            </a:pPr>
            <a:r>
              <a:rPr lang="en-US" altLang="zh-CN" sz="2800" dirty="0"/>
              <a:t>3-SAT</a:t>
            </a:r>
            <a:r>
              <a:rPr lang="en-US" altLang="zh-CN" sz="2800" dirty="0">
                <a:cs typeface="Tahoma" panose="020B0604030504040204" pitchFamily="34" charset="0"/>
              </a:rPr>
              <a:t>≤</a:t>
            </a:r>
            <a:r>
              <a:rPr lang="en-US" altLang="zh-CN" sz="2000" dirty="0">
                <a:cs typeface="Tahoma" panose="020B0604030504040204" pitchFamily="34" charset="0"/>
              </a:rPr>
              <a:t>p</a:t>
            </a:r>
            <a:r>
              <a:rPr lang="zh-CN" altLang="en-US" sz="2800" dirty="0">
                <a:cs typeface="Tahoma" panose="020B0604030504040204" pitchFamily="34" charset="0"/>
              </a:rPr>
              <a:t>独立集</a:t>
            </a:r>
            <a:r>
              <a:rPr lang="en-US" altLang="zh-CN" sz="2800" dirty="0">
                <a:cs typeface="Tahoma" panose="020B0604030504040204" pitchFamily="34" charset="0"/>
              </a:rPr>
              <a:t>≤</a:t>
            </a:r>
            <a:r>
              <a:rPr lang="en-US" altLang="zh-CN" sz="2000" dirty="0">
                <a:cs typeface="Tahoma" panose="020B0604030504040204" pitchFamily="34" charset="0"/>
              </a:rPr>
              <a:t>p</a:t>
            </a:r>
            <a:r>
              <a:rPr lang="zh-CN" altLang="en-US" sz="2800" dirty="0">
                <a:cs typeface="Tahoma" panose="020B0604030504040204" pitchFamily="34" charset="0"/>
              </a:rPr>
              <a:t>顶点覆盖≤</a:t>
            </a:r>
            <a:r>
              <a:rPr lang="en-US" altLang="zh-CN" sz="2000" dirty="0">
                <a:cs typeface="Tahoma" panose="020B0604030504040204" pitchFamily="34" charset="0"/>
              </a:rPr>
              <a:t>p</a:t>
            </a:r>
            <a:r>
              <a:rPr lang="zh-CN" altLang="en-US" sz="2800" dirty="0">
                <a:cs typeface="Tahoma" panose="020B0604030504040204" pitchFamily="34" charset="0"/>
              </a:rPr>
              <a:t>集合覆盖</a:t>
            </a:r>
          </a:p>
          <a:p>
            <a:pPr marL="609600" indent="-609600">
              <a:buFont typeface="Wingdings" panose="05000000000000000000" pitchFamily="2" charset="2"/>
              <a:buNone/>
            </a:pPr>
            <a:endParaRPr lang="zh-CN" altLang="en-US" sz="2800" dirty="0">
              <a:cs typeface="Tahoma" panose="020B0604030504040204" pitchFamily="34" charset="0"/>
            </a:endParaRPr>
          </a:p>
          <a:p>
            <a:pPr marL="609600" indent="-609600">
              <a:buFont typeface="Wingdings" panose="05000000000000000000" pitchFamily="2" charset="2"/>
              <a:buNone/>
            </a:pPr>
            <a:r>
              <a:rPr lang="zh-CN" altLang="en-US" sz="2800" dirty="0">
                <a:cs typeface="Tahoma" panose="020B0604030504040204" pitchFamily="34" charset="0"/>
              </a:rPr>
              <a:t>因此他们都是</a:t>
            </a:r>
            <a:r>
              <a:rPr lang="en-US" altLang="zh-CN" sz="2800" dirty="0">
                <a:cs typeface="Tahoma" panose="020B0604030504040204" pitchFamily="34" charset="0"/>
              </a:rPr>
              <a:t>NP</a:t>
            </a:r>
            <a:r>
              <a:rPr lang="zh-CN" altLang="en-US" sz="2800" dirty="0">
                <a:cs typeface="Tahoma" panose="020B0604030504040204" pitchFamily="34" charset="0"/>
              </a:rPr>
              <a:t>完全问题</a:t>
            </a:r>
          </a:p>
          <a:p>
            <a:pPr marL="609600" indent="-609600">
              <a:buClr>
                <a:schemeClr val="hlink"/>
              </a:buClr>
              <a:buFont typeface="Wingdings" panose="05000000000000000000" pitchFamily="2" charset="2"/>
              <a:buNone/>
            </a:pPr>
            <a:r>
              <a:rPr lang="zh-CN" altLang="en-US" sz="2000" dirty="0"/>
              <a:t>          </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5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6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2BA1210F-F81A-4C6B-AE8A-7B5ADC2B2997}"/>
              </a:ext>
            </a:extLst>
          </p:cNvPr>
          <p:cNvSpPr>
            <a:spLocks noGrp="1" noChangeArrowheads="1"/>
          </p:cNvSpPr>
          <p:nvPr>
            <p:ph type="title" idx="4294967295"/>
          </p:nvPr>
        </p:nvSpPr>
        <p:spPr>
          <a:xfrm>
            <a:off x="467544" y="136525"/>
            <a:ext cx="7886700" cy="1325563"/>
          </a:xfrm>
        </p:spPr>
        <p:txBody>
          <a:bodyPr/>
          <a:lstStyle/>
          <a:p>
            <a:r>
              <a:rPr lang="en-US" altLang="zh-CN" dirty="0"/>
              <a:t>NP-Complete Problems</a:t>
            </a:r>
            <a:endParaRPr lang="zh-CN" altLang="en-US" dirty="0"/>
          </a:p>
        </p:txBody>
      </p:sp>
      <p:sp>
        <p:nvSpPr>
          <p:cNvPr id="6" name="灯片编号占位符 5">
            <a:extLst>
              <a:ext uri="{FF2B5EF4-FFF2-40B4-BE49-F238E27FC236}">
                <a16:creationId xmlns:a16="http://schemas.microsoft.com/office/drawing/2014/main" id="{3B062BFC-E2AD-4F9F-B8DC-D3C610E21A10}"/>
              </a:ext>
            </a:extLst>
          </p:cNvPr>
          <p:cNvSpPr>
            <a:spLocks noGrp="1"/>
          </p:cNvSpPr>
          <p:nvPr>
            <p:ph type="sldNum" sz="quarter" idx="4294967295"/>
          </p:nvPr>
        </p:nvSpPr>
        <p:spPr>
          <a:xfrm>
            <a:off x="7086600" y="6356350"/>
            <a:ext cx="2057400" cy="365125"/>
          </a:xfrm>
        </p:spPr>
        <p:txBody>
          <a:bodyPr/>
          <a:lstStyle/>
          <a:p>
            <a:fld id="{0907E753-984D-403A-A66B-9EA6B6467E6A}" type="slidenum">
              <a:rPr lang="zh-CN" altLang="en-US"/>
              <a:pPr/>
              <a:t>61</a:t>
            </a:fld>
            <a:endParaRPr lang="en-US" altLang="zh-CN"/>
          </a:p>
        </p:txBody>
      </p:sp>
      <p:sp>
        <p:nvSpPr>
          <p:cNvPr id="71683" name="Rectangle 3">
            <a:extLst>
              <a:ext uri="{FF2B5EF4-FFF2-40B4-BE49-F238E27FC236}">
                <a16:creationId xmlns:a16="http://schemas.microsoft.com/office/drawing/2014/main" id="{593FE143-F9C5-40BE-B105-46FF1009AC6A}"/>
              </a:ext>
            </a:extLst>
          </p:cNvPr>
          <p:cNvSpPr>
            <a:spLocks noGrp="1" noChangeArrowheads="1"/>
          </p:cNvSpPr>
          <p:nvPr>
            <p:ph idx="4294967295"/>
          </p:nvPr>
        </p:nvSpPr>
        <p:spPr>
          <a:xfrm>
            <a:off x="501040" y="1556792"/>
            <a:ext cx="7886700" cy="4351338"/>
          </a:xfrm>
        </p:spPr>
        <p:txBody>
          <a:bodyPr>
            <a:normAutofit/>
          </a:bodyPr>
          <a:lstStyle/>
          <a:p>
            <a:pPr>
              <a:lnSpc>
                <a:spcPct val="150000"/>
              </a:lnSpc>
              <a:buFont typeface="Wingdings" panose="05000000000000000000" pitchFamily="2" charset="2"/>
              <a:buNone/>
            </a:pPr>
            <a:r>
              <a:rPr lang="zh-CN" altLang="en-US" sz="2800" dirty="0">
                <a:cs typeface="Tahoma" panose="020B0604030504040204" pitchFamily="34" charset="0"/>
              </a:rPr>
              <a:t>证明</a:t>
            </a:r>
            <a:r>
              <a:rPr lang="en-US" altLang="zh-CN" sz="2800" dirty="0">
                <a:cs typeface="Tahoma" panose="020B0604030504040204" pitchFamily="34" charset="0"/>
              </a:rPr>
              <a:t>NP</a:t>
            </a:r>
            <a:r>
              <a:rPr lang="zh-CN" altLang="en-US" sz="2800" dirty="0">
                <a:cs typeface="Tahoma" panose="020B0604030504040204" pitchFamily="34" charset="0"/>
              </a:rPr>
              <a:t>完全性的通用思路</a:t>
            </a:r>
          </a:p>
          <a:p>
            <a:pPr>
              <a:lnSpc>
                <a:spcPct val="150000"/>
              </a:lnSpc>
              <a:buClr>
                <a:schemeClr val="hlink"/>
              </a:buClr>
              <a:buFont typeface="Wingdings" panose="05000000000000000000" pitchFamily="2" charset="2"/>
              <a:buAutoNum type="arabicPeriod"/>
            </a:pPr>
            <a:r>
              <a:rPr lang="zh-CN" altLang="en-US" sz="2800" dirty="0"/>
              <a:t>证明</a:t>
            </a:r>
            <a:r>
              <a:rPr lang="en-US" altLang="zh-CN" sz="2800" dirty="0"/>
              <a:t>X </a:t>
            </a:r>
            <a:r>
              <a:rPr lang="en-US" altLang="zh-CN" sz="2800" dirty="0">
                <a:sym typeface="Symbol" panose="05050102010706020507" pitchFamily="18" charset="2"/>
              </a:rPr>
              <a:t></a:t>
            </a:r>
            <a:r>
              <a:rPr lang="en-US" altLang="zh-CN" sz="2800" dirty="0"/>
              <a:t> NP</a:t>
            </a:r>
          </a:p>
          <a:p>
            <a:pPr>
              <a:lnSpc>
                <a:spcPct val="150000"/>
              </a:lnSpc>
              <a:buClr>
                <a:schemeClr val="hlink"/>
              </a:buClr>
              <a:buFont typeface="Wingdings" panose="05000000000000000000" pitchFamily="2" charset="2"/>
              <a:buAutoNum type="arabicPeriod"/>
            </a:pPr>
            <a:r>
              <a:rPr lang="zh-CN" altLang="en-US" sz="2800" dirty="0"/>
              <a:t>选择一个已知的</a:t>
            </a:r>
            <a:r>
              <a:rPr lang="en-US" altLang="zh-CN" sz="2800" dirty="0"/>
              <a:t>NP</a:t>
            </a:r>
            <a:r>
              <a:rPr lang="zh-CN" altLang="en-US" sz="2800" dirty="0"/>
              <a:t>完全问题</a:t>
            </a:r>
            <a:r>
              <a:rPr lang="en-US" altLang="zh-CN" sz="2800" dirty="0"/>
              <a:t>Y</a:t>
            </a:r>
          </a:p>
          <a:p>
            <a:pPr>
              <a:lnSpc>
                <a:spcPct val="150000"/>
              </a:lnSpc>
              <a:buClr>
                <a:schemeClr val="hlink"/>
              </a:buClr>
              <a:buFont typeface="Wingdings" panose="05000000000000000000" pitchFamily="2" charset="2"/>
              <a:buAutoNum type="arabicPeriod"/>
            </a:pPr>
            <a:r>
              <a:rPr lang="zh-CN" altLang="en-US" sz="2800" dirty="0"/>
              <a:t>考虑问题</a:t>
            </a:r>
            <a:r>
              <a:rPr lang="en-US" altLang="zh-CN" sz="2800" dirty="0"/>
              <a:t>Y</a:t>
            </a:r>
            <a:r>
              <a:rPr lang="zh-CN" altLang="en-US" sz="2800" dirty="0"/>
              <a:t>的</a:t>
            </a:r>
            <a:r>
              <a:rPr lang="zh-CN" altLang="en-US" sz="2800" b="1" dirty="0"/>
              <a:t>任意</a:t>
            </a:r>
            <a:r>
              <a:rPr lang="zh-CN" altLang="en-US" sz="2800" dirty="0"/>
              <a:t>一个实例</a:t>
            </a:r>
            <a:r>
              <a:rPr lang="en-US" altLang="zh-CN" sz="2800" dirty="0"/>
              <a:t>S</a:t>
            </a:r>
            <a:r>
              <a:rPr lang="en-US" altLang="zh-CN" sz="2000" dirty="0"/>
              <a:t>Y</a:t>
            </a:r>
            <a:r>
              <a:rPr lang="en-US" altLang="zh-CN" sz="2800" dirty="0"/>
              <a:t>, </a:t>
            </a:r>
            <a:r>
              <a:rPr lang="zh-CN" altLang="en-US" sz="2800" dirty="0"/>
              <a:t>说明如何在多项式时间内构造</a:t>
            </a:r>
            <a:r>
              <a:rPr lang="en-US" altLang="zh-CN" sz="2800" dirty="0"/>
              <a:t>X</a:t>
            </a:r>
            <a:r>
              <a:rPr lang="zh-CN" altLang="en-US" sz="2800" dirty="0"/>
              <a:t>的一个实例</a:t>
            </a:r>
            <a:r>
              <a:rPr lang="en-US" altLang="zh-CN" sz="2800" dirty="0"/>
              <a:t>S</a:t>
            </a:r>
            <a:r>
              <a:rPr lang="en-US" altLang="zh-CN" sz="2000" dirty="0"/>
              <a:t>X  </a:t>
            </a:r>
            <a:r>
              <a:rPr lang="en-US" altLang="zh-CN" sz="2800" dirty="0"/>
              <a:t>:</a:t>
            </a:r>
          </a:p>
          <a:p>
            <a:pPr>
              <a:lnSpc>
                <a:spcPct val="150000"/>
              </a:lnSpc>
              <a:buClr>
                <a:schemeClr val="hlink"/>
              </a:buClr>
              <a:buFont typeface="Wingdings" panose="05000000000000000000" pitchFamily="2" charset="2"/>
              <a:buNone/>
            </a:pPr>
            <a:r>
              <a:rPr lang="en-US" altLang="zh-CN" sz="2800" dirty="0"/>
              <a:t>      S</a:t>
            </a:r>
            <a:r>
              <a:rPr lang="en-US" altLang="zh-CN" sz="2000" dirty="0"/>
              <a:t>X</a:t>
            </a:r>
            <a:r>
              <a:rPr lang="zh-CN" altLang="en-US" sz="2800" dirty="0"/>
              <a:t>和</a:t>
            </a:r>
            <a:r>
              <a:rPr lang="en-US" altLang="zh-CN" sz="2800" dirty="0"/>
              <a:t>S</a:t>
            </a:r>
            <a:r>
              <a:rPr lang="en-US" altLang="zh-CN" sz="2000" dirty="0"/>
              <a:t>Y</a:t>
            </a:r>
            <a:r>
              <a:rPr lang="zh-CN" altLang="en-US" sz="2800" dirty="0"/>
              <a:t>有相同的答案。</a:t>
            </a:r>
          </a:p>
          <a:p>
            <a:pPr>
              <a:lnSpc>
                <a:spcPct val="150000"/>
              </a:lnSpc>
            </a:pP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6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68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6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266BA8D0-36A8-4E73-9ECA-86EC1E9816DC}"/>
              </a:ext>
            </a:extLst>
          </p:cNvPr>
          <p:cNvSpPr>
            <a:spLocks noGrp="1" noChangeArrowheads="1"/>
          </p:cNvSpPr>
          <p:nvPr>
            <p:ph type="title" idx="4294967295"/>
          </p:nvPr>
        </p:nvSpPr>
        <p:spPr>
          <a:xfrm>
            <a:off x="323528" y="19492"/>
            <a:ext cx="7886700" cy="1325563"/>
          </a:xfrm>
        </p:spPr>
        <p:txBody>
          <a:bodyPr/>
          <a:lstStyle/>
          <a:p>
            <a:r>
              <a:rPr lang="en-US" altLang="zh-CN" dirty="0"/>
              <a:t>NP</a:t>
            </a:r>
            <a:r>
              <a:rPr lang="zh-CN" altLang="en-US" dirty="0"/>
              <a:t>完全问题</a:t>
            </a:r>
          </a:p>
        </p:txBody>
      </p:sp>
      <p:sp>
        <p:nvSpPr>
          <p:cNvPr id="7" name="灯片编号占位符 5">
            <a:extLst>
              <a:ext uri="{FF2B5EF4-FFF2-40B4-BE49-F238E27FC236}">
                <a16:creationId xmlns:a16="http://schemas.microsoft.com/office/drawing/2014/main" id="{CC6B5C3A-D6F4-4FE4-96C0-F52FA6FA09B0}"/>
              </a:ext>
            </a:extLst>
          </p:cNvPr>
          <p:cNvSpPr>
            <a:spLocks noGrp="1"/>
          </p:cNvSpPr>
          <p:nvPr>
            <p:ph type="sldNum" sz="quarter" idx="4294967295"/>
          </p:nvPr>
        </p:nvSpPr>
        <p:spPr>
          <a:xfrm>
            <a:off x="7086600" y="6356350"/>
            <a:ext cx="2057400" cy="365125"/>
          </a:xfrm>
        </p:spPr>
        <p:txBody>
          <a:bodyPr/>
          <a:lstStyle/>
          <a:p>
            <a:fld id="{FA82E689-DC70-486E-810F-BFBEC4D08EAA}" type="slidenum">
              <a:rPr lang="zh-CN" altLang="en-US"/>
              <a:pPr/>
              <a:t>62</a:t>
            </a:fld>
            <a:endParaRPr lang="en-US" altLang="zh-CN"/>
          </a:p>
        </p:txBody>
      </p:sp>
      <p:sp>
        <p:nvSpPr>
          <p:cNvPr id="62468" name="Rectangle 4">
            <a:extLst>
              <a:ext uri="{FF2B5EF4-FFF2-40B4-BE49-F238E27FC236}">
                <a16:creationId xmlns:a16="http://schemas.microsoft.com/office/drawing/2014/main" id="{90054A98-6474-4980-B1C3-D15A0AF83FCC}"/>
              </a:ext>
            </a:extLst>
          </p:cNvPr>
          <p:cNvSpPr>
            <a:spLocks noGrp="1" noChangeArrowheads="1"/>
          </p:cNvSpPr>
          <p:nvPr>
            <p:ph idx="4294967295"/>
          </p:nvPr>
        </p:nvSpPr>
        <p:spPr>
          <a:xfrm>
            <a:off x="609600" y="1124744"/>
            <a:ext cx="7772400" cy="4114800"/>
          </a:xfrm>
        </p:spPr>
        <p:txBody>
          <a:bodyPr/>
          <a:lstStyle/>
          <a:p>
            <a:pPr>
              <a:lnSpc>
                <a:spcPct val="150000"/>
              </a:lnSpc>
            </a:pPr>
            <a:r>
              <a:rPr lang="zh-CN" altLang="en-US" sz="2800" dirty="0"/>
              <a:t>根据前面的多项式归约性质，我们可以得到更多的</a:t>
            </a:r>
            <a:r>
              <a:rPr lang="en-US" altLang="zh-CN" sz="2800" dirty="0"/>
              <a:t>NP</a:t>
            </a:r>
            <a:r>
              <a:rPr lang="zh-CN" altLang="en-US" sz="2800" dirty="0"/>
              <a:t>完全问题</a:t>
            </a:r>
            <a:endParaRPr lang="en-US" altLang="zh-CN" sz="2800" dirty="0"/>
          </a:p>
          <a:p>
            <a:pPr>
              <a:lnSpc>
                <a:spcPct val="150000"/>
              </a:lnSpc>
            </a:pPr>
            <a:endParaRPr lang="en-US" altLang="zh-CN" dirty="0"/>
          </a:p>
        </p:txBody>
      </p:sp>
      <p:pic>
        <p:nvPicPr>
          <p:cNvPr id="62469" name="Picture 5">
            <a:extLst>
              <a:ext uri="{FF2B5EF4-FFF2-40B4-BE49-F238E27FC236}">
                <a16:creationId xmlns:a16="http://schemas.microsoft.com/office/drawing/2014/main" id="{EE6E0476-ABE6-4DDE-9B35-815F134713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450307"/>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a:extLst>
              <a:ext uri="{FF2B5EF4-FFF2-40B4-BE49-F238E27FC236}">
                <a16:creationId xmlns:a16="http://schemas.microsoft.com/office/drawing/2014/main" id="{B5315646-661D-9332-831E-0B8C798BCA8B}"/>
              </a:ext>
            </a:extLst>
          </p:cNvPr>
          <p:cNvSpPr txBox="1"/>
          <p:nvPr/>
        </p:nvSpPr>
        <p:spPr>
          <a:xfrm>
            <a:off x="3604588" y="2293939"/>
            <a:ext cx="4622800" cy="338554"/>
          </a:xfrm>
          <a:prstGeom prst="rect">
            <a:avLst/>
          </a:prstGeom>
          <a:noFill/>
        </p:spPr>
        <p:txBody>
          <a:bodyPr wrap="square">
            <a:spAutoFit/>
          </a:bodyPr>
          <a:lstStyle/>
          <a:p>
            <a:r>
              <a:rPr lang="zh-CN" altLang="en-US" sz="1600" b="0" i="0" dirty="0">
                <a:effectLst/>
                <a:latin typeface="Inter"/>
              </a:rPr>
              <a:t>电路可满足性问题</a:t>
            </a:r>
            <a:endParaRPr lang="zh-CN" altLang="en-US" sz="1600" dirty="0"/>
          </a:p>
        </p:txBody>
      </p:sp>
      <p:sp>
        <p:nvSpPr>
          <p:cNvPr id="5" name="文本框 4">
            <a:extLst>
              <a:ext uri="{FF2B5EF4-FFF2-40B4-BE49-F238E27FC236}">
                <a16:creationId xmlns:a16="http://schemas.microsoft.com/office/drawing/2014/main" id="{7F106D06-37B7-801D-888C-6CED88BCB65B}"/>
              </a:ext>
            </a:extLst>
          </p:cNvPr>
          <p:cNvSpPr txBox="1"/>
          <p:nvPr/>
        </p:nvSpPr>
        <p:spPr>
          <a:xfrm>
            <a:off x="4572000" y="3212046"/>
            <a:ext cx="2564016" cy="307777"/>
          </a:xfrm>
          <a:prstGeom prst="rect">
            <a:avLst/>
          </a:prstGeom>
          <a:noFill/>
        </p:spPr>
        <p:txBody>
          <a:bodyPr wrap="square">
            <a:spAutoFit/>
          </a:bodyPr>
          <a:lstStyle/>
          <a:p>
            <a:r>
              <a:rPr lang="en-US" altLang="zh-CN" sz="1400" b="0" i="0" dirty="0">
                <a:effectLst/>
                <a:latin typeface="Inter"/>
              </a:rPr>
              <a:t>3 - </a:t>
            </a:r>
            <a:r>
              <a:rPr lang="zh-CN" altLang="en-US" sz="1400" b="0" i="0" dirty="0">
                <a:effectLst/>
                <a:latin typeface="Inter"/>
              </a:rPr>
              <a:t>合取范式可满足性问题</a:t>
            </a:r>
            <a:endParaRPr lang="zh-CN" altLang="en-US" sz="1400" dirty="0"/>
          </a:p>
        </p:txBody>
      </p:sp>
      <p:sp>
        <p:nvSpPr>
          <p:cNvPr id="8" name="文本框 7">
            <a:extLst>
              <a:ext uri="{FF2B5EF4-FFF2-40B4-BE49-F238E27FC236}">
                <a16:creationId xmlns:a16="http://schemas.microsoft.com/office/drawing/2014/main" id="{0A90E125-9EC2-DC6C-CBB2-A8189A0EE0E9}"/>
              </a:ext>
            </a:extLst>
          </p:cNvPr>
          <p:cNvSpPr txBox="1"/>
          <p:nvPr/>
        </p:nvSpPr>
        <p:spPr>
          <a:xfrm>
            <a:off x="1115616" y="4154497"/>
            <a:ext cx="1226344" cy="307777"/>
          </a:xfrm>
          <a:prstGeom prst="rect">
            <a:avLst/>
          </a:prstGeom>
          <a:noFill/>
        </p:spPr>
        <p:txBody>
          <a:bodyPr wrap="square">
            <a:spAutoFit/>
          </a:bodyPr>
          <a:lstStyle/>
          <a:p>
            <a:r>
              <a:rPr lang="zh-CN" altLang="en-US" sz="1400" b="0" i="0" dirty="0">
                <a:effectLst/>
                <a:latin typeface="Inter"/>
              </a:rPr>
              <a:t>独立集问题</a:t>
            </a:r>
            <a:endParaRPr lang="zh-CN" altLang="en-US" sz="1400" dirty="0"/>
          </a:p>
        </p:txBody>
      </p:sp>
      <p:sp>
        <p:nvSpPr>
          <p:cNvPr id="10" name="文本框 9">
            <a:extLst>
              <a:ext uri="{FF2B5EF4-FFF2-40B4-BE49-F238E27FC236}">
                <a16:creationId xmlns:a16="http://schemas.microsoft.com/office/drawing/2014/main" id="{1A89C111-DF99-4591-7AFB-9F54F166BE42}"/>
              </a:ext>
            </a:extLst>
          </p:cNvPr>
          <p:cNvSpPr txBox="1"/>
          <p:nvPr/>
        </p:nvSpPr>
        <p:spPr>
          <a:xfrm>
            <a:off x="2987824" y="4169176"/>
            <a:ext cx="2160240" cy="307777"/>
          </a:xfrm>
          <a:prstGeom prst="rect">
            <a:avLst/>
          </a:prstGeom>
          <a:noFill/>
        </p:spPr>
        <p:txBody>
          <a:bodyPr wrap="square">
            <a:spAutoFit/>
          </a:bodyPr>
          <a:lstStyle/>
          <a:p>
            <a:r>
              <a:rPr lang="zh-CN" altLang="en-US" sz="1400" b="0" i="0" dirty="0">
                <a:effectLst/>
                <a:latin typeface="Inter"/>
              </a:rPr>
              <a:t>有向哈密顿回路问题</a:t>
            </a:r>
            <a:endParaRPr lang="zh-CN" altLang="en-US" sz="1400" dirty="0"/>
          </a:p>
        </p:txBody>
      </p:sp>
      <p:sp>
        <p:nvSpPr>
          <p:cNvPr id="12" name="文本框 11">
            <a:extLst>
              <a:ext uri="{FF2B5EF4-FFF2-40B4-BE49-F238E27FC236}">
                <a16:creationId xmlns:a16="http://schemas.microsoft.com/office/drawing/2014/main" id="{4BF57261-06EB-82C6-FFF9-BA3F6BC105B8}"/>
              </a:ext>
            </a:extLst>
          </p:cNvPr>
          <p:cNvSpPr txBox="1"/>
          <p:nvPr/>
        </p:nvSpPr>
        <p:spPr>
          <a:xfrm>
            <a:off x="4775200" y="4174073"/>
            <a:ext cx="1741016" cy="307777"/>
          </a:xfrm>
          <a:prstGeom prst="rect">
            <a:avLst/>
          </a:prstGeom>
          <a:noFill/>
        </p:spPr>
        <p:txBody>
          <a:bodyPr wrap="square">
            <a:spAutoFit/>
          </a:bodyPr>
          <a:lstStyle/>
          <a:p>
            <a:r>
              <a:rPr lang="zh-CN" altLang="en-US" sz="1400" b="0" i="0" dirty="0">
                <a:effectLst/>
                <a:latin typeface="Inter"/>
              </a:rPr>
              <a:t>图的 </a:t>
            </a:r>
            <a:r>
              <a:rPr lang="en-US" altLang="zh-CN" sz="1400" b="0" i="0" dirty="0">
                <a:effectLst/>
                <a:latin typeface="Inter"/>
              </a:rPr>
              <a:t>3 - </a:t>
            </a:r>
            <a:r>
              <a:rPr lang="zh-CN" altLang="en-US" sz="1400" b="0" i="0" dirty="0">
                <a:effectLst/>
                <a:latin typeface="Inter"/>
              </a:rPr>
              <a:t>着色问题</a:t>
            </a:r>
            <a:endParaRPr lang="zh-CN" altLang="en-US" sz="1400" dirty="0"/>
          </a:p>
        </p:txBody>
      </p:sp>
      <p:sp>
        <p:nvSpPr>
          <p:cNvPr id="14" name="文本框 13">
            <a:extLst>
              <a:ext uri="{FF2B5EF4-FFF2-40B4-BE49-F238E27FC236}">
                <a16:creationId xmlns:a16="http://schemas.microsoft.com/office/drawing/2014/main" id="{5E8F3D90-015E-36A1-FC27-A03B3939362B}"/>
              </a:ext>
            </a:extLst>
          </p:cNvPr>
          <p:cNvSpPr txBox="1"/>
          <p:nvPr/>
        </p:nvSpPr>
        <p:spPr>
          <a:xfrm>
            <a:off x="6638056" y="4201343"/>
            <a:ext cx="1477164" cy="307777"/>
          </a:xfrm>
          <a:prstGeom prst="rect">
            <a:avLst/>
          </a:prstGeom>
          <a:noFill/>
        </p:spPr>
        <p:txBody>
          <a:bodyPr wrap="square">
            <a:spAutoFit/>
          </a:bodyPr>
          <a:lstStyle/>
          <a:p>
            <a:r>
              <a:rPr lang="zh-CN" altLang="en-US" sz="1400" b="0" i="0">
                <a:effectLst/>
                <a:latin typeface="Inter"/>
              </a:rPr>
              <a:t>子集和问题</a:t>
            </a:r>
            <a:endParaRPr lang="zh-CN" altLang="en-US" sz="1400" dirty="0"/>
          </a:p>
        </p:txBody>
      </p:sp>
      <p:sp>
        <p:nvSpPr>
          <p:cNvPr id="16" name="文本框 15">
            <a:extLst>
              <a:ext uri="{FF2B5EF4-FFF2-40B4-BE49-F238E27FC236}">
                <a16:creationId xmlns:a16="http://schemas.microsoft.com/office/drawing/2014/main" id="{B7226BE6-0AE5-1830-FC04-48FCDAF3E0A0}"/>
              </a:ext>
            </a:extLst>
          </p:cNvPr>
          <p:cNvSpPr txBox="1"/>
          <p:nvPr/>
        </p:nvSpPr>
        <p:spPr>
          <a:xfrm>
            <a:off x="732800" y="4989047"/>
            <a:ext cx="1609160" cy="307777"/>
          </a:xfrm>
          <a:prstGeom prst="rect">
            <a:avLst/>
          </a:prstGeom>
          <a:noFill/>
        </p:spPr>
        <p:txBody>
          <a:bodyPr wrap="square">
            <a:spAutoFit/>
          </a:bodyPr>
          <a:lstStyle/>
          <a:p>
            <a:r>
              <a:rPr lang="zh-CN" altLang="en-US" sz="1400" b="0" i="0" dirty="0">
                <a:effectLst/>
                <a:latin typeface="Inter"/>
              </a:rPr>
              <a:t>顶点覆盖问题</a:t>
            </a:r>
            <a:endParaRPr lang="zh-CN" altLang="en-US" sz="1400" dirty="0"/>
          </a:p>
        </p:txBody>
      </p:sp>
      <p:sp>
        <p:nvSpPr>
          <p:cNvPr id="18" name="文本框 17">
            <a:extLst>
              <a:ext uri="{FF2B5EF4-FFF2-40B4-BE49-F238E27FC236}">
                <a16:creationId xmlns:a16="http://schemas.microsoft.com/office/drawing/2014/main" id="{E206516A-BE4C-67A5-DD53-9927CBFC7317}"/>
              </a:ext>
            </a:extLst>
          </p:cNvPr>
          <p:cNvSpPr txBox="1"/>
          <p:nvPr/>
        </p:nvSpPr>
        <p:spPr>
          <a:xfrm>
            <a:off x="4634024" y="5004584"/>
            <a:ext cx="2023368" cy="307777"/>
          </a:xfrm>
          <a:prstGeom prst="rect">
            <a:avLst/>
          </a:prstGeom>
          <a:noFill/>
        </p:spPr>
        <p:txBody>
          <a:bodyPr wrap="square">
            <a:spAutoFit/>
          </a:bodyPr>
          <a:lstStyle/>
          <a:p>
            <a:r>
              <a:rPr lang="zh-CN" altLang="en-US" sz="1400" b="0" i="0">
                <a:effectLst/>
                <a:latin typeface="Inter"/>
              </a:rPr>
              <a:t>平面图的 </a:t>
            </a:r>
            <a:r>
              <a:rPr lang="en-US" altLang="zh-CN" sz="1400" b="0" i="0">
                <a:effectLst/>
                <a:latin typeface="Inter"/>
              </a:rPr>
              <a:t>3 - </a:t>
            </a:r>
            <a:r>
              <a:rPr lang="zh-CN" altLang="en-US" sz="1400" b="0" i="0">
                <a:effectLst/>
                <a:latin typeface="Inter"/>
              </a:rPr>
              <a:t>着色问题</a:t>
            </a:r>
            <a:endParaRPr lang="zh-CN" altLang="en-US" sz="1400" dirty="0"/>
          </a:p>
        </p:txBody>
      </p:sp>
      <p:sp>
        <p:nvSpPr>
          <p:cNvPr id="20" name="文本框 19">
            <a:extLst>
              <a:ext uri="{FF2B5EF4-FFF2-40B4-BE49-F238E27FC236}">
                <a16:creationId xmlns:a16="http://schemas.microsoft.com/office/drawing/2014/main" id="{4519173D-7802-6721-A3E1-53DEA356FD18}"/>
              </a:ext>
            </a:extLst>
          </p:cNvPr>
          <p:cNvSpPr txBox="1"/>
          <p:nvPr/>
        </p:nvSpPr>
        <p:spPr>
          <a:xfrm>
            <a:off x="2956848" y="4971093"/>
            <a:ext cx="1553129" cy="307777"/>
          </a:xfrm>
          <a:prstGeom prst="rect">
            <a:avLst/>
          </a:prstGeom>
          <a:noFill/>
        </p:spPr>
        <p:txBody>
          <a:bodyPr wrap="square">
            <a:spAutoFit/>
          </a:bodyPr>
          <a:lstStyle/>
          <a:p>
            <a:r>
              <a:rPr lang="zh-CN" altLang="en-US" sz="1400" b="0" i="0" dirty="0">
                <a:effectLst/>
                <a:latin typeface="Inter"/>
              </a:rPr>
              <a:t>哈密顿回路问题</a:t>
            </a:r>
            <a:endParaRPr lang="zh-CN" altLang="en-US" sz="1400" dirty="0"/>
          </a:p>
        </p:txBody>
      </p:sp>
      <p:sp>
        <p:nvSpPr>
          <p:cNvPr id="22" name="文本框 21">
            <a:extLst>
              <a:ext uri="{FF2B5EF4-FFF2-40B4-BE49-F238E27FC236}">
                <a16:creationId xmlns:a16="http://schemas.microsoft.com/office/drawing/2014/main" id="{E4ECA861-0069-CCE9-87AD-93D6A7EBE664}"/>
              </a:ext>
            </a:extLst>
          </p:cNvPr>
          <p:cNvSpPr txBox="1"/>
          <p:nvPr/>
        </p:nvSpPr>
        <p:spPr>
          <a:xfrm>
            <a:off x="6804248" y="5013176"/>
            <a:ext cx="985057" cy="307777"/>
          </a:xfrm>
          <a:prstGeom prst="rect">
            <a:avLst/>
          </a:prstGeom>
          <a:noFill/>
        </p:spPr>
        <p:txBody>
          <a:bodyPr wrap="square">
            <a:spAutoFit/>
          </a:bodyPr>
          <a:lstStyle/>
          <a:p>
            <a:r>
              <a:rPr lang="zh-CN" altLang="en-US" sz="1400" b="0" i="0" dirty="0">
                <a:effectLst/>
                <a:latin typeface="Inter"/>
              </a:rPr>
              <a:t>调度问题</a:t>
            </a:r>
            <a:endParaRPr lang="zh-CN" altLang="en-US" sz="1400" dirty="0"/>
          </a:p>
        </p:txBody>
      </p:sp>
      <p:sp>
        <p:nvSpPr>
          <p:cNvPr id="24" name="文本框 23">
            <a:extLst>
              <a:ext uri="{FF2B5EF4-FFF2-40B4-BE49-F238E27FC236}">
                <a16:creationId xmlns:a16="http://schemas.microsoft.com/office/drawing/2014/main" id="{69E4FAB4-EF74-3737-CD99-09C8B36BA951}"/>
              </a:ext>
            </a:extLst>
          </p:cNvPr>
          <p:cNvSpPr txBox="1"/>
          <p:nvPr/>
        </p:nvSpPr>
        <p:spPr>
          <a:xfrm>
            <a:off x="1282968" y="6458625"/>
            <a:ext cx="1704856" cy="307777"/>
          </a:xfrm>
          <a:prstGeom prst="rect">
            <a:avLst/>
          </a:prstGeom>
          <a:noFill/>
        </p:spPr>
        <p:txBody>
          <a:bodyPr wrap="square">
            <a:spAutoFit/>
          </a:bodyPr>
          <a:lstStyle/>
          <a:p>
            <a:r>
              <a:rPr lang="zh-CN" altLang="en-US" sz="1400" b="0" i="0" dirty="0">
                <a:effectLst/>
                <a:latin typeface="Inter"/>
              </a:rPr>
              <a:t>集合覆盖问题</a:t>
            </a:r>
            <a:endParaRPr lang="zh-CN" altLang="en-US" sz="1400" dirty="0"/>
          </a:p>
        </p:txBody>
      </p:sp>
      <p:sp>
        <p:nvSpPr>
          <p:cNvPr id="26" name="文本框 25">
            <a:extLst>
              <a:ext uri="{FF2B5EF4-FFF2-40B4-BE49-F238E27FC236}">
                <a16:creationId xmlns:a16="http://schemas.microsoft.com/office/drawing/2014/main" id="{6972C1DC-B0AB-5E0D-BC83-21FEC4C5B3D1}"/>
              </a:ext>
            </a:extLst>
          </p:cNvPr>
          <p:cNvSpPr txBox="1"/>
          <p:nvPr/>
        </p:nvSpPr>
        <p:spPr>
          <a:xfrm>
            <a:off x="3491880" y="6457142"/>
            <a:ext cx="1416824" cy="307777"/>
          </a:xfrm>
          <a:prstGeom prst="rect">
            <a:avLst/>
          </a:prstGeom>
          <a:noFill/>
        </p:spPr>
        <p:txBody>
          <a:bodyPr wrap="square">
            <a:spAutoFit/>
          </a:bodyPr>
          <a:lstStyle/>
          <a:p>
            <a:r>
              <a:rPr lang="zh-CN" altLang="en-US" sz="1400" b="0" i="0" dirty="0">
                <a:effectLst/>
                <a:latin typeface="Inter"/>
              </a:rPr>
              <a:t>旅行商问题</a:t>
            </a:r>
            <a:endParaRPr lang="zh-CN" alt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558027A3-9210-4F66-9331-86C85195258C}"/>
              </a:ext>
            </a:extLst>
          </p:cNvPr>
          <p:cNvSpPr>
            <a:spLocks noGrp="1" noChangeArrowheads="1"/>
          </p:cNvSpPr>
          <p:nvPr>
            <p:ph type="title" idx="4294967295"/>
          </p:nvPr>
        </p:nvSpPr>
        <p:spPr>
          <a:xfrm>
            <a:off x="467544" y="136352"/>
            <a:ext cx="7886700" cy="1325563"/>
          </a:xfrm>
        </p:spPr>
        <p:txBody>
          <a:bodyPr/>
          <a:lstStyle/>
          <a:p>
            <a:r>
              <a:rPr lang="en-US" altLang="zh-CN" dirty="0"/>
              <a:t>NP</a:t>
            </a:r>
            <a:r>
              <a:rPr lang="zh-CN" altLang="en-US" dirty="0"/>
              <a:t>完全问题</a:t>
            </a:r>
          </a:p>
        </p:txBody>
      </p:sp>
      <p:sp>
        <p:nvSpPr>
          <p:cNvPr id="7" name="灯片编号占位符 5">
            <a:extLst>
              <a:ext uri="{FF2B5EF4-FFF2-40B4-BE49-F238E27FC236}">
                <a16:creationId xmlns:a16="http://schemas.microsoft.com/office/drawing/2014/main" id="{E15131BC-49D2-4DA6-A2F3-3650C4F30CC5}"/>
              </a:ext>
            </a:extLst>
          </p:cNvPr>
          <p:cNvSpPr>
            <a:spLocks noGrp="1"/>
          </p:cNvSpPr>
          <p:nvPr>
            <p:ph type="sldNum" sz="quarter" idx="4294967295"/>
          </p:nvPr>
        </p:nvSpPr>
        <p:spPr>
          <a:xfrm>
            <a:off x="7086600" y="6356350"/>
            <a:ext cx="2057400" cy="365125"/>
          </a:xfrm>
        </p:spPr>
        <p:txBody>
          <a:bodyPr/>
          <a:lstStyle/>
          <a:p>
            <a:fld id="{D896C2A7-1D01-4AFE-A9B3-DC59DA2038F6}" type="slidenum">
              <a:rPr lang="zh-CN" altLang="en-US"/>
              <a:pPr/>
              <a:t>63</a:t>
            </a:fld>
            <a:endParaRPr lang="en-US" altLang="zh-CN"/>
          </a:p>
        </p:txBody>
      </p:sp>
      <p:sp>
        <p:nvSpPr>
          <p:cNvPr id="63491" name="Rectangle 3">
            <a:extLst>
              <a:ext uri="{FF2B5EF4-FFF2-40B4-BE49-F238E27FC236}">
                <a16:creationId xmlns:a16="http://schemas.microsoft.com/office/drawing/2014/main" id="{F470D76F-9EBC-4AE2-B65A-DD3951BFE124}"/>
              </a:ext>
            </a:extLst>
          </p:cNvPr>
          <p:cNvSpPr>
            <a:spLocks noGrp="1" noChangeArrowheads="1"/>
          </p:cNvSpPr>
          <p:nvPr>
            <p:ph idx="4294967295"/>
          </p:nvPr>
        </p:nvSpPr>
        <p:spPr>
          <a:xfrm>
            <a:off x="251407" y="1485900"/>
            <a:ext cx="7886700" cy="4351338"/>
          </a:xfrm>
        </p:spPr>
        <p:txBody>
          <a:bodyPr/>
          <a:lstStyle/>
          <a:p>
            <a:pPr marL="533400" indent="-533400">
              <a:lnSpc>
                <a:spcPct val="90000"/>
              </a:lnSpc>
            </a:pPr>
            <a:r>
              <a:rPr lang="zh-CN" altLang="en-US" sz="2800" dirty="0"/>
              <a:t>难问题的部分分类</a:t>
            </a:r>
          </a:p>
          <a:p>
            <a:pPr marL="533400" indent="-533400">
              <a:lnSpc>
                <a:spcPct val="90000"/>
              </a:lnSpc>
              <a:buClr>
                <a:schemeClr val="hlink"/>
              </a:buClr>
              <a:buFont typeface="Wingdings" panose="05000000000000000000" pitchFamily="2" charset="2"/>
              <a:buAutoNum type="arabicPeriod"/>
            </a:pPr>
            <a:r>
              <a:rPr lang="zh-CN" altLang="en-US" sz="2800" dirty="0"/>
              <a:t>包装问题：独立集，集合包装</a:t>
            </a:r>
          </a:p>
          <a:p>
            <a:pPr marL="533400" indent="-533400">
              <a:lnSpc>
                <a:spcPct val="90000"/>
              </a:lnSpc>
              <a:buClr>
                <a:schemeClr val="hlink"/>
              </a:buClr>
              <a:buFont typeface="Wingdings" panose="05000000000000000000" pitchFamily="2" charset="2"/>
              <a:buAutoNum type="arabicPeriod"/>
            </a:pPr>
            <a:r>
              <a:rPr lang="zh-CN" altLang="en-US" sz="2800" dirty="0"/>
              <a:t>覆盖问题：顶点覆盖，集合覆盖</a:t>
            </a:r>
          </a:p>
          <a:p>
            <a:pPr marL="533400" indent="-533400">
              <a:lnSpc>
                <a:spcPct val="90000"/>
              </a:lnSpc>
              <a:buClr>
                <a:schemeClr val="hlink"/>
              </a:buClr>
              <a:buFont typeface="Wingdings" panose="05000000000000000000" pitchFamily="2" charset="2"/>
              <a:buAutoNum type="arabicPeriod"/>
            </a:pPr>
            <a:r>
              <a:rPr lang="zh-CN" altLang="en-US" sz="2800" dirty="0"/>
              <a:t>划分问题：三维匹配，图着色</a:t>
            </a:r>
          </a:p>
          <a:p>
            <a:pPr marL="533400" indent="-533400">
              <a:lnSpc>
                <a:spcPct val="90000"/>
              </a:lnSpc>
              <a:buClr>
                <a:schemeClr val="hlink"/>
              </a:buClr>
              <a:buFont typeface="Wingdings" panose="05000000000000000000" pitchFamily="2" charset="2"/>
              <a:buAutoNum type="arabicPeriod"/>
            </a:pPr>
            <a:r>
              <a:rPr lang="zh-CN" altLang="en-US" sz="2800" b="1" dirty="0"/>
              <a:t>排序问题</a:t>
            </a:r>
            <a:r>
              <a:rPr lang="zh-CN" altLang="en-US" sz="2800" dirty="0"/>
              <a:t>：哈密尔顿圈，哈密尔顿回路，巡回售货员问题</a:t>
            </a:r>
          </a:p>
          <a:p>
            <a:pPr marL="533400" indent="-533400">
              <a:lnSpc>
                <a:spcPct val="90000"/>
              </a:lnSpc>
              <a:buClr>
                <a:schemeClr val="hlink"/>
              </a:buClr>
              <a:buFont typeface="Wingdings" panose="05000000000000000000" pitchFamily="2" charset="2"/>
              <a:buAutoNum type="arabicPeriod"/>
            </a:pPr>
            <a:r>
              <a:rPr lang="zh-CN" altLang="en-US" sz="2800" dirty="0"/>
              <a:t>数值问题：子集和，带开放时间和截止时间的调度问题</a:t>
            </a:r>
          </a:p>
          <a:p>
            <a:pPr marL="533400" indent="-533400">
              <a:lnSpc>
                <a:spcPct val="90000"/>
              </a:lnSpc>
              <a:buClr>
                <a:schemeClr val="hlink"/>
              </a:buClr>
              <a:buFont typeface="Wingdings" panose="05000000000000000000" pitchFamily="2" charset="2"/>
              <a:buAutoNum type="arabicPeriod"/>
            </a:pPr>
            <a:r>
              <a:rPr lang="zh-CN" altLang="en-US" sz="2800" dirty="0"/>
              <a:t>约束满足问题：</a:t>
            </a:r>
            <a:r>
              <a:rPr lang="en-US" altLang="zh-CN" sz="2800" dirty="0"/>
              <a:t>SAT,3SAT</a:t>
            </a:r>
          </a:p>
          <a:p>
            <a:pPr marL="533400" indent="-533400">
              <a:lnSpc>
                <a:spcPct val="90000"/>
              </a:lnSpc>
              <a:buClr>
                <a:schemeClr val="hlink"/>
              </a:buClr>
              <a:buFont typeface="Wingdings" panose="05000000000000000000" pitchFamily="2" charset="2"/>
              <a:buAutoNum type="arabicPeriod"/>
            </a:pPr>
            <a:endParaRPr lang="en-US" altLang="zh-CN" sz="2800" dirty="0"/>
          </a:p>
        </p:txBody>
      </p:sp>
      <p:sp>
        <p:nvSpPr>
          <p:cNvPr id="63492" name="Text Box 4">
            <a:extLst>
              <a:ext uri="{FF2B5EF4-FFF2-40B4-BE49-F238E27FC236}">
                <a16:creationId xmlns:a16="http://schemas.microsoft.com/office/drawing/2014/main" id="{293381CC-5C1F-40B7-B775-857AFA38B7FA}"/>
              </a:ext>
            </a:extLst>
          </p:cNvPr>
          <p:cNvSpPr txBox="1">
            <a:spLocks noChangeArrowheads="1"/>
          </p:cNvSpPr>
          <p:nvPr/>
        </p:nvSpPr>
        <p:spPr bwMode="auto">
          <a:xfrm>
            <a:off x="762000" y="6019800"/>
            <a:ext cx="868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t>一般的经验是，</a:t>
            </a:r>
            <a:r>
              <a:rPr lang="en-US" altLang="zh-CN" sz="2800"/>
              <a:t>NP</a:t>
            </a:r>
            <a:r>
              <a:rPr lang="zh-CN" altLang="en-US" sz="2800"/>
              <a:t>问题要么是</a:t>
            </a:r>
            <a:r>
              <a:rPr lang="en-US" altLang="zh-CN" sz="2800"/>
              <a:t>P,</a:t>
            </a:r>
            <a:r>
              <a:rPr lang="zh-CN" altLang="en-US" sz="2800"/>
              <a:t>要么是</a:t>
            </a:r>
            <a:r>
              <a:rPr lang="en-US" altLang="zh-CN" sz="2800"/>
              <a:t>NP</a:t>
            </a:r>
            <a:r>
              <a:rPr lang="zh-CN" altLang="en-US" sz="2800"/>
              <a:t>完全问题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3491">
                                            <p:txEl>
                                              <p:pRg st="1" end="1"/>
                                            </p:txEl>
                                          </p:spTgt>
                                        </p:tgtEl>
                                        <p:attrNameLst>
                                          <p:attrName>style.visibility</p:attrName>
                                        </p:attrNameLst>
                                      </p:cBhvr>
                                      <p:to>
                                        <p:strVal val="visible"/>
                                      </p:to>
                                    </p:set>
                                    <p:anim calcmode="lin" valueType="num">
                                      <p:cBhvr additive="base">
                                        <p:cTn id="13" dur="500" fill="hold"/>
                                        <p:tgtEl>
                                          <p:spTgt spid="634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34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3491">
                                            <p:txEl>
                                              <p:pRg st="2" end="2"/>
                                            </p:txEl>
                                          </p:spTgt>
                                        </p:tgtEl>
                                        <p:attrNameLst>
                                          <p:attrName>style.visibility</p:attrName>
                                        </p:attrNameLst>
                                      </p:cBhvr>
                                      <p:to>
                                        <p:strVal val="visible"/>
                                      </p:to>
                                    </p:set>
                                    <p:anim calcmode="lin" valueType="num">
                                      <p:cBhvr additive="base">
                                        <p:cTn id="19" dur="500" fill="hold"/>
                                        <p:tgtEl>
                                          <p:spTgt spid="634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34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3491">
                                            <p:txEl>
                                              <p:pRg st="3" end="3"/>
                                            </p:txEl>
                                          </p:spTgt>
                                        </p:tgtEl>
                                        <p:attrNameLst>
                                          <p:attrName>style.visibility</p:attrName>
                                        </p:attrNameLst>
                                      </p:cBhvr>
                                      <p:to>
                                        <p:strVal val="visible"/>
                                      </p:to>
                                    </p:set>
                                    <p:anim calcmode="lin" valueType="num">
                                      <p:cBhvr additive="base">
                                        <p:cTn id="25" dur="500" fill="hold"/>
                                        <p:tgtEl>
                                          <p:spTgt spid="634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34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3491">
                                            <p:txEl>
                                              <p:pRg st="4" end="4"/>
                                            </p:txEl>
                                          </p:spTgt>
                                        </p:tgtEl>
                                        <p:attrNameLst>
                                          <p:attrName>style.visibility</p:attrName>
                                        </p:attrNameLst>
                                      </p:cBhvr>
                                      <p:to>
                                        <p:strVal val="visible"/>
                                      </p:to>
                                    </p:set>
                                    <p:anim calcmode="lin" valueType="num">
                                      <p:cBhvr additive="base">
                                        <p:cTn id="31" dur="500" fill="hold"/>
                                        <p:tgtEl>
                                          <p:spTgt spid="6349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34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3491">
                                            <p:txEl>
                                              <p:pRg st="5" end="5"/>
                                            </p:txEl>
                                          </p:spTgt>
                                        </p:tgtEl>
                                        <p:attrNameLst>
                                          <p:attrName>style.visibility</p:attrName>
                                        </p:attrNameLst>
                                      </p:cBhvr>
                                      <p:to>
                                        <p:strVal val="visible"/>
                                      </p:to>
                                    </p:set>
                                    <p:anim calcmode="lin" valueType="num">
                                      <p:cBhvr additive="base">
                                        <p:cTn id="37" dur="500" fill="hold"/>
                                        <p:tgtEl>
                                          <p:spTgt spid="6349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349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3491">
                                            <p:txEl>
                                              <p:pRg st="6" end="6"/>
                                            </p:txEl>
                                          </p:spTgt>
                                        </p:tgtEl>
                                        <p:attrNameLst>
                                          <p:attrName>style.visibility</p:attrName>
                                        </p:attrNameLst>
                                      </p:cBhvr>
                                      <p:to>
                                        <p:strVal val="visible"/>
                                      </p:to>
                                    </p:set>
                                    <p:anim calcmode="lin" valueType="num">
                                      <p:cBhvr additive="base">
                                        <p:cTn id="43" dur="500" fill="hold"/>
                                        <p:tgtEl>
                                          <p:spTgt spid="6349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349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3492"/>
                                        </p:tgtEl>
                                        <p:attrNameLst>
                                          <p:attrName>style.visibility</p:attrName>
                                        </p:attrNameLst>
                                      </p:cBhvr>
                                      <p:to>
                                        <p:strVal val="visible"/>
                                      </p:to>
                                    </p:set>
                                    <p:anim calcmode="lin" valueType="num">
                                      <p:cBhvr additive="base">
                                        <p:cTn id="49" dur="500" fill="hold"/>
                                        <p:tgtEl>
                                          <p:spTgt spid="63492"/>
                                        </p:tgtEl>
                                        <p:attrNameLst>
                                          <p:attrName>ppt_x</p:attrName>
                                        </p:attrNameLst>
                                      </p:cBhvr>
                                      <p:tavLst>
                                        <p:tav tm="0">
                                          <p:val>
                                            <p:strVal val="0-#ppt_w/2"/>
                                          </p:val>
                                        </p:tav>
                                        <p:tav tm="100000">
                                          <p:val>
                                            <p:strVal val="#ppt_x"/>
                                          </p:val>
                                        </p:tav>
                                      </p:tavLst>
                                    </p:anim>
                                    <p:anim calcmode="lin" valueType="num">
                                      <p:cBhvr additive="base">
                                        <p:cTn id="50" dur="500" fill="hold"/>
                                        <p:tgtEl>
                                          <p:spTgt spid="634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P spid="63492" grpId="0" autoUpdateAnimBg="0"/>
    </p:bldLst>
  </p:timing>
</p:sld>
</file>

<file path=ppt/theme/theme1.xml><?xml version="1.0" encoding="utf-8"?>
<a:theme xmlns:a="http://schemas.openxmlformats.org/drawingml/2006/main" name="主题1">
  <a:themeElements>
    <a:clrScheme name="自定义 1">
      <a:dk1>
        <a:sysClr val="windowText" lastClr="000000"/>
      </a:dk1>
      <a:lt1>
        <a:sysClr val="window" lastClr="FFFFFF"/>
      </a:lt1>
      <a:dk2>
        <a:srgbClr val="44546A"/>
      </a:dk2>
      <a:lt2>
        <a:srgbClr val="E7E6E6"/>
      </a:lt2>
      <a:accent1>
        <a:srgbClr val="7E0C6E"/>
      </a:accent1>
      <a:accent2>
        <a:srgbClr val="983D8B"/>
      </a:accent2>
      <a:accent3>
        <a:srgbClr val="B26DA8"/>
      </a:accent3>
      <a:accent4>
        <a:srgbClr val="A00072"/>
      </a:accent4>
      <a:accent5>
        <a:srgbClr val="AD1798"/>
      </a:accent5>
      <a:accent6>
        <a:srgbClr val="D84D91"/>
      </a:accent6>
      <a:hlink>
        <a:srgbClr val="B26DA8"/>
      </a:hlink>
      <a:folHlink>
        <a:srgbClr val="CB9EC5"/>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915C5BE5-B032-485A-84D1-D8260B13304C}" vid="{BFC930FF-91FA-4820-A818-0387AAC554F1}"/>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5008</TotalTime>
  <Words>5284</Words>
  <Application>Microsoft Office PowerPoint</Application>
  <PresentationFormat>全屏显示(4:3)</PresentationFormat>
  <Paragraphs>501</Paragraphs>
  <Slides>63</Slides>
  <Notes>28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63</vt:i4>
      </vt:variant>
    </vt:vector>
  </HeadingPairs>
  <TitlesOfParts>
    <vt:vector size="80" baseType="lpstr">
      <vt:lpstr>Inter</vt:lpstr>
      <vt:lpstr>Monotype Sorts</vt:lpstr>
      <vt:lpstr>等线</vt:lpstr>
      <vt:lpstr>华文隶书</vt:lpstr>
      <vt:lpstr>宋体</vt:lpstr>
      <vt:lpstr>Abadi</vt:lpstr>
      <vt:lpstr>Arial</vt:lpstr>
      <vt:lpstr>Calibri</vt:lpstr>
      <vt:lpstr>Comic Sans MS</vt:lpstr>
      <vt:lpstr>Courier New</vt:lpstr>
      <vt:lpstr>Symbol</vt:lpstr>
      <vt:lpstr>Tahoma</vt:lpstr>
      <vt:lpstr>Times New Roman</vt:lpstr>
      <vt:lpstr>Wingdings</vt:lpstr>
      <vt:lpstr>主题1</vt:lpstr>
      <vt:lpstr>BMP 图像</vt:lpstr>
      <vt:lpstr>Equation</vt:lpstr>
      <vt:lpstr>第八章 NP与计算的难解性</vt:lpstr>
      <vt:lpstr>内容</vt:lpstr>
      <vt:lpstr>NP与计算的难解性</vt:lpstr>
      <vt:lpstr>8.1 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多项式时间归约</vt:lpstr>
      <vt:lpstr>使用“零件”归约</vt:lpstr>
      <vt:lpstr>使用“零件”归约</vt:lpstr>
      <vt:lpstr>使用“零件”归约</vt:lpstr>
      <vt:lpstr>使用“零件”归约</vt:lpstr>
      <vt:lpstr>使用“零件”归约</vt:lpstr>
      <vt:lpstr>使用“零件”归约</vt:lpstr>
      <vt:lpstr>使用“零件”归约</vt:lpstr>
      <vt:lpstr>使用“零件”归约</vt:lpstr>
      <vt:lpstr>使用“零件”归约</vt:lpstr>
      <vt:lpstr>使用“零件”归约</vt:lpstr>
      <vt:lpstr>使用“零件”归约</vt:lpstr>
      <vt:lpstr>使用“零件”归约</vt:lpstr>
      <vt:lpstr>使用“零件”归约</vt:lpstr>
      <vt:lpstr>使用“零件”归约</vt:lpstr>
      <vt:lpstr>归约—问题描述</vt:lpstr>
      <vt:lpstr>8.3 有效证书和NP的定义</vt:lpstr>
      <vt:lpstr>NP的定义</vt:lpstr>
      <vt:lpstr>NP的定义</vt:lpstr>
      <vt:lpstr>NP的定义</vt:lpstr>
      <vt:lpstr>NP的定义</vt:lpstr>
      <vt:lpstr>NP的定义</vt:lpstr>
      <vt:lpstr>NP的定义</vt:lpstr>
      <vt:lpstr>NP的定义</vt:lpstr>
      <vt:lpstr>NP的定义</vt:lpstr>
      <vt:lpstr>NP的定义</vt:lpstr>
      <vt:lpstr>NP的定义</vt:lpstr>
      <vt:lpstr>NP的定义</vt:lpstr>
      <vt:lpstr>NP的定义</vt:lpstr>
      <vt:lpstr>8.4 NP完全问题</vt:lpstr>
      <vt:lpstr>NP完全问题</vt:lpstr>
      <vt:lpstr>NP完全问题</vt:lpstr>
      <vt:lpstr>NP完全问题(电路可满足性)</vt:lpstr>
      <vt:lpstr>NP完全问题(电路可满足性)</vt:lpstr>
      <vt:lpstr>NP完全问题(电路可满足性)</vt:lpstr>
      <vt:lpstr>NP完全问题</vt:lpstr>
      <vt:lpstr>NP-Complete Problems</vt:lpstr>
      <vt:lpstr>NP-Complete Problems</vt:lpstr>
      <vt:lpstr>NP完全问题</vt:lpstr>
      <vt:lpstr>NP完全问题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Ming Su</dc:creator>
  <cp:lastModifiedBy>David Ma</cp:lastModifiedBy>
  <cp:revision>274</cp:revision>
  <dcterms:created xsi:type="dcterms:W3CDTF">2008-12-21T03:55:22Z</dcterms:created>
  <dcterms:modified xsi:type="dcterms:W3CDTF">2025-05-27T13:26:01Z</dcterms:modified>
</cp:coreProperties>
</file>