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5"/>
  </p:notesMasterIdLst>
  <p:sldIdLst>
    <p:sldId id="256" r:id="rId2"/>
    <p:sldId id="339" r:id="rId3"/>
    <p:sldId id="340" r:id="rId4"/>
    <p:sldId id="322" r:id="rId5"/>
    <p:sldId id="341" r:id="rId6"/>
    <p:sldId id="342" r:id="rId7"/>
    <p:sldId id="343" r:id="rId8"/>
    <p:sldId id="344" r:id="rId9"/>
    <p:sldId id="347" r:id="rId10"/>
    <p:sldId id="345" r:id="rId11"/>
    <p:sldId id="346" r:id="rId12"/>
    <p:sldId id="257" r:id="rId13"/>
    <p:sldId id="260" r:id="rId14"/>
    <p:sldId id="261" r:id="rId15"/>
    <p:sldId id="259" r:id="rId16"/>
    <p:sldId id="258" r:id="rId17"/>
    <p:sldId id="359" r:id="rId18"/>
    <p:sldId id="360" r:id="rId19"/>
    <p:sldId id="361"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324" r:id="rId34"/>
    <p:sldId id="279" r:id="rId35"/>
    <p:sldId id="280" r:id="rId36"/>
    <p:sldId id="278" r:id="rId37"/>
    <p:sldId id="334" r:id="rId38"/>
    <p:sldId id="356" r:id="rId39"/>
    <p:sldId id="333" r:id="rId40"/>
    <p:sldId id="282" r:id="rId41"/>
    <p:sldId id="283" r:id="rId42"/>
    <p:sldId id="281" r:id="rId43"/>
    <p:sldId id="331" r:id="rId44"/>
    <p:sldId id="348" r:id="rId45"/>
    <p:sldId id="332" r:id="rId46"/>
    <p:sldId id="286" r:id="rId47"/>
    <p:sldId id="287" r:id="rId48"/>
    <p:sldId id="288" r:id="rId49"/>
    <p:sldId id="289" r:id="rId50"/>
    <p:sldId id="290" r:id="rId51"/>
    <p:sldId id="291" r:id="rId52"/>
    <p:sldId id="292" r:id="rId53"/>
    <p:sldId id="349" r:id="rId54"/>
    <p:sldId id="350" r:id="rId55"/>
    <p:sldId id="351" r:id="rId56"/>
    <p:sldId id="352" r:id="rId57"/>
    <p:sldId id="293" r:id="rId58"/>
    <p:sldId id="294" r:id="rId59"/>
    <p:sldId id="353" r:id="rId60"/>
    <p:sldId id="355" r:id="rId61"/>
    <p:sldId id="295" r:id="rId62"/>
    <p:sldId id="329" r:id="rId63"/>
    <p:sldId id="330" r:id="rId64"/>
    <p:sldId id="296" r:id="rId65"/>
    <p:sldId id="297" r:id="rId66"/>
    <p:sldId id="298" r:id="rId67"/>
    <p:sldId id="357" r:id="rId68"/>
    <p:sldId id="301" r:id="rId69"/>
    <p:sldId id="300" r:id="rId70"/>
    <p:sldId id="302" r:id="rId71"/>
    <p:sldId id="303" r:id="rId72"/>
    <p:sldId id="262" r:id="rId73"/>
    <p:sldId id="304" r:id="rId74"/>
    <p:sldId id="337" r:id="rId75"/>
    <p:sldId id="305" r:id="rId76"/>
    <p:sldId id="310" r:id="rId77"/>
    <p:sldId id="307" r:id="rId78"/>
    <p:sldId id="309" r:id="rId79"/>
    <p:sldId id="311" r:id="rId80"/>
    <p:sldId id="312" r:id="rId81"/>
    <p:sldId id="313" r:id="rId82"/>
    <p:sldId id="325" r:id="rId83"/>
    <p:sldId id="314" r:id="rId84"/>
    <p:sldId id="315" r:id="rId85"/>
    <p:sldId id="316" r:id="rId86"/>
    <p:sldId id="358" r:id="rId87"/>
    <p:sldId id="317" r:id="rId88"/>
    <p:sldId id="318" r:id="rId89"/>
    <p:sldId id="319" r:id="rId90"/>
    <p:sldId id="320" r:id="rId91"/>
    <p:sldId id="321" r:id="rId92"/>
    <p:sldId id="328" r:id="rId93"/>
    <p:sldId id="323" r:id="rId94"/>
  </p:sldIdLst>
  <p:sldSz cx="9144000" cy="6858000" type="screen4x3"/>
  <p:notesSz cx="6858000" cy="9144000"/>
  <p:defaultTextStyle>
    <a:defPPr>
      <a:defRPr lang="en-US"/>
    </a:defPPr>
    <a:lvl1pPr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1pPr>
    <a:lvl2pPr marL="4572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2pPr>
    <a:lvl3pPr marL="9144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3pPr>
    <a:lvl4pPr marL="13716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4pPr>
    <a:lvl5pPr marL="18288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5pPr>
    <a:lvl6pPr marL="22860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6pPr>
    <a:lvl7pPr marL="27432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7pPr>
    <a:lvl8pPr marL="32004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8pPr>
    <a:lvl9pPr marL="36576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3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82" autoAdjust="0"/>
    <p:restoredTop sz="76185" autoAdjust="0"/>
  </p:normalViewPr>
  <p:slideViewPr>
    <p:cSldViewPr>
      <p:cViewPr varScale="1">
        <p:scale>
          <a:sx n="67" d="100"/>
          <a:sy n="67" d="100"/>
        </p:scale>
        <p:origin x="109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FD5C34F-016E-47D0-B298-24987135435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latin typeface="Tahoma" panose="020B0604030504040204" pitchFamily="34" charset="0"/>
              </a:defRPr>
            </a:lvl1pPr>
          </a:lstStyle>
          <a:p>
            <a:pPr>
              <a:defRPr/>
            </a:pPr>
            <a:endParaRPr lang="zh-CN" altLang="en-US"/>
          </a:p>
        </p:txBody>
      </p:sp>
      <p:sp>
        <p:nvSpPr>
          <p:cNvPr id="13315" name="Rectangle 3">
            <a:extLst>
              <a:ext uri="{FF2B5EF4-FFF2-40B4-BE49-F238E27FC236}">
                <a16:creationId xmlns:a16="http://schemas.microsoft.com/office/drawing/2014/main" id="{FFBA7B00-058A-4F86-AF26-CC68257B760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ahoma" panose="020B0604030504040204" pitchFamily="34" charset="0"/>
              </a:defRPr>
            </a:lvl1pPr>
          </a:lstStyle>
          <a:p>
            <a:pPr>
              <a:defRPr/>
            </a:pPr>
            <a:endParaRPr lang="en-US" altLang="zh-CN"/>
          </a:p>
        </p:txBody>
      </p:sp>
      <p:sp>
        <p:nvSpPr>
          <p:cNvPr id="3076" name="Rectangle 4">
            <a:extLst>
              <a:ext uri="{FF2B5EF4-FFF2-40B4-BE49-F238E27FC236}">
                <a16:creationId xmlns:a16="http://schemas.microsoft.com/office/drawing/2014/main" id="{6CCF7731-4F33-4E7C-86FE-0926E18B08D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a:extLst>
              <a:ext uri="{FF2B5EF4-FFF2-40B4-BE49-F238E27FC236}">
                <a16:creationId xmlns:a16="http://schemas.microsoft.com/office/drawing/2014/main" id="{46D42F8A-BDDD-489F-A214-5B188DB13720}"/>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3318" name="Rectangle 6">
            <a:extLst>
              <a:ext uri="{FF2B5EF4-FFF2-40B4-BE49-F238E27FC236}">
                <a16:creationId xmlns:a16="http://schemas.microsoft.com/office/drawing/2014/main" id="{666761D7-0C12-4B53-81F0-37D58BD7D17B}"/>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latin typeface="Tahoma" panose="020B0604030504040204" pitchFamily="34" charset="0"/>
              </a:defRPr>
            </a:lvl1pPr>
          </a:lstStyle>
          <a:p>
            <a:pPr>
              <a:defRPr/>
            </a:pPr>
            <a:endParaRPr lang="en-US" altLang="zh-CN"/>
          </a:p>
        </p:txBody>
      </p:sp>
      <p:sp>
        <p:nvSpPr>
          <p:cNvPr id="13319" name="Rectangle 7">
            <a:extLst>
              <a:ext uri="{FF2B5EF4-FFF2-40B4-BE49-F238E27FC236}">
                <a16:creationId xmlns:a16="http://schemas.microsoft.com/office/drawing/2014/main" id="{ACEE7BB8-14E0-488F-BBCF-7D68D99E3F13}"/>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Tahoma" panose="020B0604030504040204" pitchFamily="34" charset="0"/>
              </a:defRPr>
            </a:lvl1pPr>
          </a:lstStyle>
          <a:p>
            <a:pPr>
              <a:defRPr/>
            </a:pPr>
            <a:fld id="{65DDC9EC-DAE2-4D20-BCD0-186AA8ADCCC2}"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pPr/>
              <a:t>2</a:t>
            </a:fld>
            <a:endParaRPr lang="en-US" altLang="zh-CN"/>
          </a:p>
        </p:txBody>
      </p:sp>
    </p:spTree>
    <p:extLst>
      <p:ext uri="{BB962C8B-B14F-4D97-AF65-F5344CB8AC3E}">
        <p14:creationId xmlns:p14="http://schemas.microsoft.com/office/powerpoint/2010/main" val="4261796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AA40F-94D5-94F8-DB0E-F4FFA153B7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564D8B-5546-E0AE-7D32-8391F87FC7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B3F3A3-B6E4-BFEA-022C-C1A0A80384D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39058A-0273-510F-AB1B-112F252B81A2}"/>
              </a:ext>
            </a:extLst>
          </p:cNvPr>
          <p:cNvSpPr>
            <a:spLocks noGrp="1"/>
          </p:cNvSpPr>
          <p:nvPr>
            <p:ph type="sldNum" sz="quarter" idx="5"/>
          </p:nvPr>
        </p:nvSpPr>
        <p:spPr/>
        <p:txBody>
          <a:bodyPr/>
          <a:lstStyle/>
          <a:p>
            <a:fld id="{DE2B3010-6487-4927-8CC3-CEFA02E35B32}" type="slidenum">
              <a:rPr lang="en-US" altLang="zh-CN" smtClean="0"/>
              <a:pPr/>
              <a:t>3</a:t>
            </a:fld>
            <a:endParaRPr lang="en-US" altLang="zh-CN"/>
          </a:p>
        </p:txBody>
      </p:sp>
    </p:spTree>
    <p:extLst>
      <p:ext uri="{BB962C8B-B14F-4D97-AF65-F5344CB8AC3E}">
        <p14:creationId xmlns:p14="http://schemas.microsoft.com/office/powerpoint/2010/main" val="1907514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pPr/>
              <a:t>6</a:t>
            </a:fld>
            <a:endParaRPr lang="en-US" altLang="zh-CN"/>
          </a:p>
        </p:txBody>
      </p:sp>
    </p:spTree>
    <p:extLst>
      <p:ext uri="{BB962C8B-B14F-4D97-AF65-F5344CB8AC3E}">
        <p14:creationId xmlns:p14="http://schemas.microsoft.com/office/powerpoint/2010/main" val="3255294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656565"/>
                </a:solidFill>
                <a:effectLst/>
                <a:latin typeface="Hiragino Sans GB"/>
              </a:rPr>
              <a:t>是</a:t>
            </a:r>
            <a:r>
              <a:rPr lang="en-US" altLang="zh-CN" b="0" i="0" dirty="0">
                <a:solidFill>
                  <a:srgbClr val="656565"/>
                </a:solidFill>
                <a:effectLst/>
                <a:latin typeface="Hiragino Sans GB"/>
              </a:rPr>
              <a:t>"</a:t>
            </a:r>
            <a:r>
              <a:rPr lang="zh-CN" altLang="en-US" b="0" i="0" dirty="0">
                <a:solidFill>
                  <a:srgbClr val="656565"/>
                </a:solidFill>
                <a:effectLst/>
                <a:latin typeface="Hiragino Sans GB"/>
              </a:rPr>
              <a:t>十一五”规划教材和国家精品课程教材。</a:t>
            </a:r>
            <a:endParaRPr lang="en-US" altLang="zh-CN" b="0" i="0" dirty="0">
              <a:solidFill>
                <a:srgbClr val="656565"/>
              </a:solidFill>
              <a:effectLst/>
              <a:latin typeface="Hiragino Sans GB"/>
            </a:endParaRPr>
          </a:p>
          <a:p>
            <a:r>
              <a:rPr lang="zh-CN" altLang="en-US" b="0" i="0" dirty="0">
                <a:solidFill>
                  <a:srgbClr val="656565"/>
                </a:solidFill>
                <a:effectLst/>
                <a:latin typeface="Hiragino Sans GB"/>
              </a:rPr>
              <a:t>全书以算法设计策略为知识单元，系统介绍计算机算法的设计方法与分析技巧。主要内容包括：算法概述、递归与分治策略、动态规划、贪心算法、回溯法、分支限界法、随机化算法、线性规划与网络流等。书中既涉及经典与实用算法及实例分析，又包括算法热点领域追踪。 </a:t>
            </a:r>
            <a:endParaRPr lang="en-US" altLang="zh-CN" b="0" i="0" dirty="0">
              <a:solidFill>
                <a:srgbClr val="656565"/>
              </a:solidFill>
              <a:effectLst/>
              <a:latin typeface="Hiragino Sans GB"/>
            </a:endParaRPr>
          </a:p>
          <a:p>
            <a:endParaRPr lang="en-US" altLang="zh-CN" b="0" i="0" dirty="0">
              <a:solidFill>
                <a:srgbClr val="656565"/>
              </a:solidFill>
              <a:effectLst/>
              <a:latin typeface="Hiragino Sans GB"/>
            </a:endParaRPr>
          </a:p>
        </p:txBody>
      </p:sp>
      <p:sp>
        <p:nvSpPr>
          <p:cNvPr id="4" name="灯片编号占位符 3"/>
          <p:cNvSpPr>
            <a:spLocks noGrp="1"/>
          </p:cNvSpPr>
          <p:nvPr>
            <p:ph type="sldNum" sz="quarter" idx="5"/>
          </p:nvPr>
        </p:nvSpPr>
        <p:spPr/>
        <p:txBody>
          <a:bodyPr/>
          <a:lstStyle/>
          <a:p>
            <a:fld id="{DE2B3010-6487-4927-8CC3-CEFA02E35B32}" type="slidenum">
              <a:rPr lang="en-US" altLang="zh-CN" smtClean="0"/>
              <a:pPr/>
              <a:t>7</a:t>
            </a:fld>
            <a:endParaRPr lang="en-US" altLang="zh-CN"/>
          </a:p>
        </p:txBody>
      </p:sp>
    </p:spTree>
    <p:extLst>
      <p:ext uri="{BB962C8B-B14F-4D97-AF65-F5344CB8AC3E}">
        <p14:creationId xmlns:p14="http://schemas.microsoft.com/office/powerpoint/2010/main" val="2937587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Helvetica Neue"/>
              </a:rPr>
              <a:t>全书共分为</a:t>
            </a:r>
            <a:r>
              <a:rPr lang="en-US" altLang="zh-CN" b="0" i="0" dirty="0">
                <a:solidFill>
                  <a:srgbClr val="333333"/>
                </a:solidFill>
                <a:effectLst/>
                <a:latin typeface="Helvetica Neue"/>
              </a:rPr>
              <a:t>9</a:t>
            </a:r>
            <a:r>
              <a:rPr lang="zh-CN" altLang="en-US" b="0" i="0" dirty="0">
                <a:solidFill>
                  <a:srgbClr val="333333"/>
                </a:solidFill>
                <a:effectLst/>
                <a:latin typeface="Helvetica Neue"/>
              </a:rPr>
              <a:t>章，我们重点学习前</a:t>
            </a:r>
            <a:r>
              <a:rPr lang="en-US" altLang="zh-CN" b="0" i="0" dirty="0">
                <a:solidFill>
                  <a:srgbClr val="333333"/>
                </a:solidFill>
                <a:effectLst/>
                <a:latin typeface="Helvetica Neue"/>
              </a:rPr>
              <a:t>6</a:t>
            </a:r>
            <a:r>
              <a:rPr lang="zh-CN" altLang="en-US" b="0" i="0" dirty="0">
                <a:solidFill>
                  <a:srgbClr val="333333"/>
                </a:solidFill>
                <a:effectLst/>
                <a:latin typeface="Helvetica Neue"/>
              </a:rPr>
              <a:t>章和第</a:t>
            </a:r>
            <a:r>
              <a:rPr lang="en-US" altLang="zh-CN" b="0" i="0" dirty="0">
                <a:solidFill>
                  <a:srgbClr val="333333"/>
                </a:solidFill>
                <a:effectLst/>
                <a:latin typeface="Helvetica Neue"/>
              </a:rPr>
              <a:t>9</a:t>
            </a:r>
            <a:r>
              <a:rPr lang="zh-CN" altLang="en-US" b="0" i="0" dirty="0">
                <a:solidFill>
                  <a:srgbClr val="333333"/>
                </a:solidFill>
                <a:effectLst/>
                <a:latin typeface="Helvetica Neue"/>
              </a:rPr>
              <a:t>章的内容。其中，</a:t>
            </a:r>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在第</a:t>
            </a:r>
            <a:r>
              <a:rPr lang="en-US" altLang="zh-CN" b="0" i="0" dirty="0">
                <a:solidFill>
                  <a:srgbClr val="333333"/>
                </a:solidFill>
                <a:effectLst/>
                <a:latin typeface="Helvetica Neue"/>
              </a:rPr>
              <a:t>1</a:t>
            </a:r>
            <a:r>
              <a:rPr lang="zh-CN" altLang="en-US" b="0" i="0" dirty="0">
                <a:solidFill>
                  <a:srgbClr val="333333"/>
                </a:solidFill>
                <a:effectLst/>
                <a:latin typeface="Helvetica Neue"/>
              </a:rPr>
              <a:t>章中介绍算法的基本概念，算法的计算复杂性和算法的描述。</a:t>
            </a:r>
            <a:endParaRPr lang="en-US" altLang="zh-CN" b="0" i="0" dirty="0">
              <a:solidFill>
                <a:srgbClr val="333333"/>
              </a:solidFill>
              <a:effectLst/>
              <a:latin typeface="Helvetica Neue"/>
            </a:endParaRPr>
          </a:p>
          <a:p>
            <a:pPr algn="l"/>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第</a:t>
            </a:r>
            <a:r>
              <a:rPr lang="en-US" altLang="zh-CN" b="0" i="0" dirty="0">
                <a:solidFill>
                  <a:srgbClr val="333333"/>
                </a:solidFill>
                <a:effectLst/>
                <a:latin typeface="Helvetica Neue"/>
              </a:rPr>
              <a:t>2</a:t>
            </a:r>
            <a:r>
              <a:rPr lang="zh-CN" altLang="en-US" b="0" i="0" dirty="0">
                <a:solidFill>
                  <a:srgbClr val="333333"/>
                </a:solidFill>
                <a:effectLst/>
                <a:latin typeface="Helvetica Neue"/>
              </a:rPr>
              <a:t>章介绍设计有效算法最常用的策略：递归与分治策略。</a:t>
            </a:r>
            <a:endParaRPr lang="en-US" altLang="zh-CN" b="0" i="0" dirty="0">
              <a:solidFill>
                <a:srgbClr val="333333"/>
              </a:solidFill>
              <a:effectLst/>
              <a:latin typeface="Helvetica Neue"/>
            </a:endParaRPr>
          </a:p>
          <a:p>
            <a:pPr algn="l"/>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第</a:t>
            </a:r>
            <a:r>
              <a:rPr lang="en-US" altLang="zh-CN" b="0" i="0" dirty="0">
                <a:solidFill>
                  <a:srgbClr val="333333"/>
                </a:solidFill>
                <a:effectLst/>
                <a:latin typeface="Helvetica Neue"/>
              </a:rPr>
              <a:t>3</a:t>
            </a:r>
            <a:r>
              <a:rPr lang="zh-CN" altLang="en-US" b="0" i="0" dirty="0">
                <a:solidFill>
                  <a:srgbClr val="333333"/>
                </a:solidFill>
                <a:effectLst/>
                <a:latin typeface="Helvetica Neue"/>
              </a:rPr>
              <a:t>章是以具体实例详述动态规划算法的设计思想、适用性以及算法的设计要点。</a:t>
            </a:r>
            <a:endParaRPr lang="en-US" altLang="zh-CN" b="0" i="0" dirty="0">
              <a:solidFill>
                <a:srgbClr val="333333"/>
              </a:solidFill>
              <a:effectLst/>
              <a:latin typeface="Helvetica Neue"/>
            </a:endParaRPr>
          </a:p>
          <a:p>
            <a:pPr algn="l"/>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第</a:t>
            </a:r>
            <a:r>
              <a:rPr lang="en-US" altLang="zh-CN" b="0" i="0" dirty="0">
                <a:solidFill>
                  <a:srgbClr val="333333"/>
                </a:solidFill>
                <a:effectLst/>
                <a:latin typeface="Helvetica Neue"/>
              </a:rPr>
              <a:t>4</a:t>
            </a:r>
            <a:r>
              <a:rPr lang="zh-CN" altLang="en-US" b="0" i="0" dirty="0">
                <a:solidFill>
                  <a:srgbClr val="333333"/>
                </a:solidFill>
                <a:effectLst/>
                <a:latin typeface="Helvetica Neue"/>
              </a:rPr>
              <a:t>章介绍另外一种重要的算法设计策略：贪心算法。贪心算法与动态规划算法的设计思想有一定的联系，但其效率更高。按贪心算法设计出的许多算法能导致最优解。其中有许多典型问题和典型算法可供学习和使用。</a:t>
            </a:r>
            <a:endParaRPr lang="en-US" altLang="zh-CN" b="0" i="0" dirty="0">
              <a:solidFill>
                <a:srgbClr val="333333"/>
              </a:solidFill>
              <a:effectLst/>
              <a:latin typeface="Helvetica Neue"/>
            </a:endParaRPr>
          </a:p>
          <a:p>
            <a:pPr algn="l"/>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第</a:t>
            </a:r>
            <a:r>
              <a:rPr lang="en-US" altLang="zh-CN" b="0" i="0" dirty="0">
                <a:solidFill>
                  <a:srgbClr val="333333"/>
                </a:solidFill>
                <a:effectLst/>
                <a:latin typeface="Helvetica Neue"/>
              </a:rPr>
              <a:t>5</a:t>
            </a:r>
            <a:r>
              <a:rPr lang="zh-CN" altLang="en-US" b="0" i="0" dirty="0">
                <a:solidFill>
                  <a:srgbClr val="333333"/>
                </a:solidFill>
                <a:effectLst/>
                <a:latin typeface="Helvetica Neue"/>
              </a:rPr>
              <a:t>章和第</a:t>
            </a:r>
            <a:r>
              <a:rPr lang="en-US" altLang="zh-CN" b="0" i="0" dirty="0">
                <a:solidFill>
                  <a:srgbClr val="333333"/>
                </a:solidFill>
                <a:effectLst/>
                <a:latin typeface="Helvetica Neue"/>
              </a:rPr>
              <a:t>6</a:t>
            </a:r>
            <a:r>
              <a:rPr lang="zh-CN" altLang="en-US" b="0" i="0" dirty="0">
                <a:solidFill>
                  <a:srgbClr val="333333"/>
                </a:solidFill>
                <a:effectLst/>
                <a:latin typeface="Helvetica Neue"/>
              </a:rPr>
              <a:t>章分别介绍回溯法和分支限界法。这两章所介绍的算法适合于处理难解问题。其解题思想各具特征，值得大家学习和掌握。</a:t>
            </a:r>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由于第</a:t>
            </a:r>
            <a:r>
              <a:rPr lang="en-US" altLang="zh-CN" b="0" i="0" dirty="0">
                <a:solidFill>
                  <a:srgbClr val="333333"/>
                </a:solidFill>
                <a:effectLst/>
                <a:latin typeface="Helvetica Neue"/>
              </a:rPr>
              <a:t>9</a:t>
            </a:r>
            <a:r>
              <a:rPr lang="zh-CN" altLang="en-US" b="0" i="0" dirty="0">
                <a:solidFill>
                  <a:srgbClr val="333333"/>
                </a:solidFill>
                <a:effectLst/>
                <a:latin typeface="Helvetica Neue"/>
              </a:rPr>
              <a:t>章的内容，在实际工作和科研中有较多应用，我们在第</a:t>
            </a:r>
            <a:r>
              <a:rPr lang="en-US" altLang="zh-CN" b="0" i="0" dirty="0">
                <a:solidFill>
                  <a:srgbClr val="333333"/>
                </a:solidFill>
                <a:effectLst/>
                <a:latin typeface="Helvetica Neue"/>
              </a:rPr>
              <a:t>9</a:t>
            </a:r>
            <a:r>
              <a:rPr lang="zh-CN" altLang="en-US" b="0" i="0" dirty="0">
                <a:solidFill>
                  <a:srgbClr val="333333"/>
                </a:solidFill>
                <a:effectLst/>
                <a:latin typeface="Helvetica Neue"/>
              </a:rPr>
              <a:t>章介绍在大数据和人工智能中有重要应用的算法。</a:t>
            </a:r>
          </a:p>
          <a:p>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pPr/>
              <a:t>8</a:t>
            </a:fld>
            <a:endParaRPr lang="en-US" altLang="zh-CN"/>
          </a:p>
        </p:txBody>
      </p:sp>
    </p:spTree>
    <p:extLst>
      <p:ext uri="{BB962C8B-B14F-4D97-AF65-F5344CB8AC3E}">
        <p14:creationId xmlns:p14="http://schemas.microsoft.com/office/powerpoint/2010/main" val="2819289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A8F66-4ACF-2C49-BAFB-06A31B0BED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0E4509-3F6E-B736-5180-70F1A38885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C7907A-5710-631E-1D11-0C82964704A0}"/>
              </a:ext>
            </a:extLst>
          </p:cNvPr>
          <p:cNvSpPr>
            <a:spLocks noGrp="1"/>
          </p:cNvSpPr>
          <p:nvPr>
            <p:ph type="body" idx="1"/>
          </p:nvPr>
        </p:nvSpPr>
        <p:spPr/>
        <p:txBody>
          <a:bodyPr/>
          <a:lstStyle/>
          <a:p>
            <a:r>
              <a:rPr lang="zh-CN" altLang="en-US" b="0" i="0" dirty="0">
                <a:solidFill>
                  <a:srgbClr val="1F2329"/>
                </a:solidFill>
                <a:effectLst/>
                <a:latin typeface="Inter"/>
              </a:rPr>
              <a:t>稳定匹配问题（</a:t>
            </a:r>
            <a:r>
              <a:rPr lang="en-US" altLang="zh-CN" b="0" i="0" dirty="0">
                <a:solidFill>
                  <a:srgbClr val="1F2329"/>
                </a:solidFill>
                <a:effectLst/>
                <a:latin typeface="Inter"/>
              </a:rPr>
              <a:t>Stable Matching Problem</a:t>
            </a:r>
            <a:r>
              <a:rPr lang="zh-CN" altLang="en-US" b="0" i="0" dirty="0">
                <a:solidFill>
                  <a:srgbClr val="1F2329"/>
                </a:solidFill>
                <a:effectLst/>
                <a:latin typeface="Inter"/>
              </a:rPr>
              <a:t>）来源于对现实中多种配对场景的抽象和研究，以下是其主要来源</a:t>
            </a:r>
            <a:endParaRPr lang="zh-CN" altLang="en-US" dirty="0"/>
          </a:p>
        </p:txBody>
      </p:sp>
      <p:sp>
        <p:nvSpPr>
          <p:cNvPr id="4" name="灯片编号占位符 3">
            <a:extLst>
              <a:ext uri="{FF2B5EF4-FFF2-40B4-BE49-F238E27FC236}">
                <a16:creationId xmlns:a16="http://schemas.microsoft.com/office/drawing/2014/main" id="{C9151E43-4F76-813B-6B30-8B1531B97AD4}"/>
              </a:ext>
            </a:extLst>
          </p:cNvPr>
          <p:cNvSpPr>
            <a:spLocks noGrp="1"/>
          </p:cNvSpPr>
          <p:nvPr>
            <p:ph type="sldNum" sz="quarter" idx="5"/>
          </p:nvPr>
        </p:nvSpPr>
        <p:spPr/>
        <p:txBody>
          <a:bodyPr/>
          <a:lstStyle/>
          <a:p>
            <a:pPr>
              <a:defRPr/>
            </a:pPr>
            <a:fld id="{65DDC9EC-DAE2-4D20-BCD0-186AA8ADCCC2}" type="slidenum">
              <a:rPr lang="zh-CN" altLang="en-US" smtClean="0"/>
              <a:pPr>
                <a:defRPr/>
              </a:pPr>
              <a:t>9</a:t>
            </a:fld>
            <a:endParaRPr lang="en-US" altLang="zh-CN"/>
          </a:p>
        </p:txBody>
      </p:sp>
    </p:spTree>
    <p:extLst>
      <p:ext uri="{BB962C8B-B14F-4D97-AF65-F5344CB8AC3E}">
        <p14:creationId xmlns:p14="http://schemas.microsoft.com/office/powerpoint/2010/main" val="3302763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B9030-93F8-46E2-0339-285ADBCE0B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3C911A-418C-D35E-7D45-E315DD250B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EF0AC1-CFDB-DD50-B071-1436AFFD5B32}"/>
              </a:ext>
            </a:extLst>
          </p:cNvPr>
          <p:cNvSpPr>
            <a:spLocks noGrp="1"/>
          </p:cNvSpPr>
          <p:nvPr>
            <p:ph type="body" idx="1"/>
          </p:nvPr>
        </p:nvSpPr>
        <p:spPr/>
        <p:txBody>
          <a:bodyPr/>
          <a:lstStyle/>
          <a:p>
            <a:pPr algn="l" rtl="0" eaLnBrk="0" fontAlgn="base" hangingPunct="0">
              <a:spcBef>
                <a:spcPts val="432"/>
              </a:spcBef>
            </a:pPr>
            <a:endParaRPr lang="zh-CN" altLang="zh-CN" dirty="0">
              <a:effectLst/>
            </a:endParaRPr>
          </a:p>
        </p:txBody>
      </p:sp>
      <p:sp>
        <p:nvSpPr>
          <p:cNvPr id="4" name="灯片编号占位符 3">
            <a:extLst>
              <a:ext uri="{FF2B5EF4-FFF2-40B4-BE49-F238E27FC236}">
                <a16:creationId xmlns:a16="http://schemas.microsoft.com/office/drawing/2014/main" id="{6B62E5C2-9C69-7BA7-74E3-B9392E35CF58}"/>
              </a:ext>
            </a:extLst>
          </p:cNvPr>
          <p:cNvSpPr>
            <a:spLocks noGrp="1"/>
          </p:cNvSpPr>
          <p:nvPr>
            <p:ph type="sldNum" sz="quarter" idx="5"/>
          </p:nvPr>
        </p:nvSpPr>
        <p:spPr/>
        <p:txBody>
          <a:bodyPr/>
          <a:lstStyle/>
          <a:p>
            <a:pPr>
              <a:defRPr/>
            </a:pPr>
            <a:fld id="{65DDC9EC-DAE2-4D20-BCD0-186AA8ADCCC2}" type="slidenum">
              <a:rPr lang="zh-CN" altLang="en-US" smtClean="0"/>
              <a:pPr>
                <a:defRPr/>
              </a:pPr>
              <a:t>10</a:t>
            </a:fld>
            <a:endParaRPr lang="en-US" altLang="zh-CN"/>
          </a:p>
        </p:txBody>
      </p:sp>
    </p:spTree>
    <p:extLst>
      <p:ext uri="{BB962C8B-B14F-4D97-AF65-F5344CB8AC3E}">
        <p14:creationId xmlns:p14="http://schemas.microsoft.com/office/powerpoint/2010/main" val="1796043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E28A-B155-29DE-04ED-8838850C4F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88DA9C-DD99-7878-2034-0FE35A9B86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281B9C-F57B-8C66-A3FF-6BEE6816614F}"/>
              </a:ext>
            </a:extLst>
          </p:cNvPr>
          <p:cNvSpPr>
            <a:spLocks noGrp="1"/>
          </p:cNvSpPr>
          <p:nvPr>
            <p:ph type="body" idx="1"/>
          </p:nvPr>
        </p:nvSpPr>
        <p:spPr/>
        <p:txBody>
          <a:bodyPr/>
          <a:lstStyle/>
          <a:p>
            <a:pPr algn="l" rtl="0" eaLnBrk="0" fontAlgn="base" hangingPunct="0">
              <a:spcBef>
                <a:spcPts val="432"/>
              </a:spcBef>
            </a:pPr>
            <a:r>
              <a:rPr kumimoji="0" lang="zh-CN" altLang="en-US" sz="1200" b="0" i="0" u="none" strike="noStrike" cap="none" normalizeH="0" baseline="0" dirty="0">
                <a:ln>
                  <a:noFill/>
                </a:ln>
                <a:solidFill>
                  <a:srgbClr val="1F2329"/>
                </a:solidFill>
                <a:effectLst/>
                <a:latin typeface="Arial" panose="020B0604020202020204" pitchFamily="34" charset="0"/>
                <a:ea typeface="Inter"/>
              </a:rPr>
              <a:t>稳定匹配问题在这些实际场景的基础上逐渐形成和发展，成为了组合数学、计算机科学等领域中的一个重要研究问题，并且为解决许多实际的资源分配和匹配问题提供了理论基础和算法支持。 </a:t>
            </a:r>
            <a:endParaRPr lang="zh-CN" altLang="en-US" dirty="0"/>
          </a:p>
        </p:txBody>
      </p:sp>
      <p:sp>
        <p:nvSpPr>
          <p:cNvPr id="4" name="灯片编号占位符 3">
            <a:extLst>
              <a:ext uri="{FF2B5EF4-FFF2-40B4-BE49-F238E27FC236}">
                <a16:creationId xmlns:a16="http://schemas.microsoft.com/office/drawing/2014/main" id="{6ACEB5F2-8FB5-99B8-CDD5-23D36E580498}"/>
              </a:ext>
            </a:extLst>
          </p:cNvPr>
          <p:cNvSpPr>
            <a:spLocks noGrp="1"/>
          </p:cNvSpPr>
          <p:nvPr>
            <p:ph type="sldNum" sz="quarter" idx="5"/>
          </p:nvPr>
        </p:nvSpPr>
        <p:spPr/>
        <p:txBody>
          <a:bodyPr/>
          <a:lstStyle/>
          <a:p>
            <a:pPr>
              <a:defRPr/>
            </a:pPr>
            <a:fld id="{65DDC9EC-DAE2-4D20-BCD0-186AA8ADCCC2}" type="slidenum">
              <a:rPr lang="zh-CN" altLang="en-US" smtClean="0"/>
              <a:pPr>
                <a:defRPr/>
              </a:pPr>
              <a:t>11</a:t>
            </a:fld>
            <a:endParaRPr lang="en-US" altLang="zh-CN"/>
          </a:p>
        </p:txBody>
      </p:sp>
    </p:spTree>
    <p:extLst>
      <p:ext uri="{BB962C8B-B14F-4D97-AF65-F5344CB8AC3E}">
        <p14:creationId xmlns:p14="http://schemas.microsoft.com/office/powerpoint/2010/main" val="3488507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EFECF-1DD4-47E1-E23C-E7144A5711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403E53-C77A-C1A5-AE5F-13CA5C4B77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F06425-5190-09F5-3A42-99B0EB2A0F96}"/>
              </a:ext>
            </a:extLst>
          </p:cNvPr>
          <p:cNvSpPr>
            <a:spLocks noGrp="1"/>
          </p:cNvSpPr>
          <p:nvPr>
            <p:ph type="body" idx="1"/>
          </p:nvPr>
        </p:nvSpPr>
        <p:spPr/>
        <p:txBody>
          <a:bodyPr/>
          <a:lstStyle/>
          <a:p>
            <a:r>
              <a:rPr lang="zh-CN" altLang="en-US" b="0" i="0" dirty="0">
                <a:solidFill>
                  <a:srgbClr val="1F2329"/>
                </a:solidFill>
                <a:effectLst/>
                <a:latin typeface="Inter"/>
              </a:rPr>
              <a:t>稳定匹配问题（</a:t>
            </a:r>
            <a:r>
              <a:rPr lang="en-US" altLang="zh-CN" b="0" i="0" dirty="0">
                <a:solidFill>
                  <a:srgbClr val="1F2329"/>
                </a:solidFill>
                <a:effectLst/>
                <a:latin typeface="Inter"/>
              </a:rPr>
              <a:t>Stable Matching Problem</a:t>
            </a:r>
            <a:r>
              <a:rPr lang="zh-CN" altLang="en-US" b="0" i="0" dirty="0">
                <a:solidFill>
                  <a:srgbClr val="1F2329"/>
                </a:solidFill>
                <a:effectLst/>
                <a:latin typeface="Inter"/>
              </a:rPr>
              <a:t>）来源于对现实中多种配对场景的抽象和研究，以下是其主要来源</a:t>
            </a:r>
            <a:endParaRPr lang="zh-CN" altLang="en-US" dirty="0"/>
          </a:p>
        </p:txBody>
      </p:sp>
      <p:sp>
        <p:nvSpPr>
          <p:cNvPr id="4" name="灯片编号占位符 3">
            <a:extLst>
              <a:ext uri="{FF2B5EF4-FFF2-40B4-BE49-F238E27FC236}">
                <a16:creationId xmlns:a16="http://schemas.microsoft.com/office/drawing/2014/main" id="{D5032585-DEAF-1AD2-9FB2-C70280056190}"/>
              </a:ext>
            </a:extLst>
          </p:cNvPr>
          <p:cNvSpPr>
            <a:spLocks noGrp="1"/>
          </p:cNvSpPr>
          <p:nvPr>
            <p:ph type="sldNum" sz="quarter" idx="5"/>
          </p:nvPr>
        </p:nvSpPr>
        <p:spPr/>
        <p:txBody>
          <a:bodyPr/>
          <a:lstStyle/>
          <a:p>
            <a:pPr>
              <a:defRPr/>
            </a:pPr>
            <a:fld id="{65DDC9EC-DAE2-4D20-BCD0-186AA8ADCCC2}" type="slidenum">
              <a:rPr lang="zh-CN" altLang="en-US" smtClean="0"/>
              <a:pPr>
                <a:defRPr/>
              </a:pPr>
              <a:t>17</a:t>
            </a:fld>
            <a:endParaRPr lang="en-US" altLang="zh-CN"/>
          </a:p>
        </p:txBody>
      </p:sp>
    </p:spTree>
    <p:extLst>
      <p:ext uri="{BB962C8B-B14F-4D97-AF65-F5344CB8AC3E}">
        <p14:creationId xmlns:p14="http://schemas.microsoft.com/office/powerpoint/2010/main" val="2507532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5CD6-BF9E-C087-E04E-DBEDC61BA9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C91158-8C4B-2613-8B00-572676915D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C6C2B2-0D2F-31BD-6C68-FCE7CE762848}"/>
              </a:ext>
            </a:extLst>
          </p:cNvPr>
          <p:cNvSpPr>
            <a:spLocks noGrp="1"/>
          </p:cNvSpPr>
          <p:nvPr>
            <p:ph type="body" idx="1"/>
          </p:nvPr>
        </p:nvSpPr>
        <p:spPr/>
        <p:txBody>
          <a:bodyPr/>
          <a:lstStyle/>
          <a:p>
            <a:pPr algn="l" rtl="0" eaLnBrk="0" fontAlgn="base" hangingPunct="0">
              <a:spcBef>
                <a:spcPts val="432"/>
              </a:spcBef>
            </a:pPr>
            <a:endParaRPr lang="zh-CN" altLang="zh-CN" dirty="0">
              <a:effectLst/>
            </a:endParaRPr>
          </a:p>
        </p:txBody>
      </p:sp>
      <p:sp>
        <p:nvSpPr>
          <p:cNvPr id="4" name="灯片编号占位符 3">
            <a:extLst>
              <a:ext uri="{FF2B5EF4-FFF2-40B4-BE49-F238E27FC236}">
                <a16:creationId xmlns:a16="http://schemas.microsoft.com/office/drawing/2014/main" id="{81366322-4B90-EDD5-61B5-C1FE1D952E7B}"/>
              </a:ext>
            </a:extLst>
          </p:cNvPr>
          <p:cNvSpPr>
            <a:spLocks noGrp="1"/>
          </p:cNvSpPr>
          <p:nvPr>
            <p:ph type="sldNum" sz="quarter" idx="5"/>
          </p:nvPr>
        </p:nvSpPr>
        <p:spPr/>
        <p:txBody>
          <a:bodyPr/>
          <a:lstStyle/>
          <a:p>
            <a:pPr>
              <a:defRPr/>
            </a:pPr>
            <a:fld id="{65DDC9EC-DAE2-4D20-BCD0-186AA8ADCCC2}" type="slidenum">
              <a:rPr lang="zh-CN" altLang="en-US" smtClean="0"/>
              <a:pPr>
                <a:defRPr/>
              </a:pPr>
              <a:t>18</a:t>
            </a:fld>
            <a:endParaRPr lang="en-US" altLang="zh-CN"/>
          </a:p>
        </p:txBody>
      </p:sp>
    </p:spTree>
    <p:extLst>
      <p:ext uri="{BB962C8B-B14F-4D97-AF65-F5344CB8AC3E}">
        <p14:creationId xmlns:p14="http://schemas.microsoft.com/office/powerpoint/2010/main" val="3846789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0B209-8722-24DA-2066-E6470C1D71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1E5E37-2E6A-12E1-53B2-3009260290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CA45DD-8A02-96FD-75D7-0E4318E1240E}"/>
              </a:ext>
            </a:extLst>
          </p:cNvPr>
          <p:cNvSpPr>
            <a:spLocks noGrp="1"/>
          </p:cNvSpPr>
          <p:nvPr>
            <p:ph type="body" idx="1"/>
          </p:nvPr>
        </p:nvSpPr>
        <p:spPr/>
        <p:txBody>
          <a:bodyPr/>
          <a:lstStyle/>
          <a:p>
            <a:pPr algn="l" rtl="0" eaLnBrk="0" fontAlgn="base" hangingPunct="0">
              <a:spcBef>
                <a:spcPts val="432"/>
              </a:spcBef>
            </a:pPr>
            <a:r>
              <a:rPr kumimoji="0" lang="zh-CN" altLang="en-US" sz="1200" b="0" i="0" u="none" strike="noStrike" cap="none" normalizeH="0" baseline="0" dirty="0">
                <a:ln>
                  <a:noFill/>
                </a:ln>
                <a:solidFill>
                  <a:srgbClr val="1F2329"/>
                </a:solidFill>
                <a:effectLst/>
                <a:latin typeface="Arial" panose="020B0604020202020204" pitchFamily="34" charset="0"/>
                <a:ea typeface="Inter"/>
              </a:rPr>
              <a:t>稳定匹配问题在这些实际场景的基础上逐渐形成和发展，成为了组合数学、计算机科学等领域中的一个重要研究问题，并且为解决许多实际的资源分配和匹配问题提供了理论基础和算法支持。 </a:t>
            </a:r>
            <a:endParaRPr lang="zh-CN" altLang="en-US" dirty="0"/>
          </a:p>
        </p:txBody>
      </p:sp>
      <p:sp>
        <p:nvSpPr>
          <p:cNvPr id="4" name="灯片编号占位符 3">
            <a:extLst>
              <a:ext uri="{FF2B5EF4-FFF2-40B4-BE49-F238E27FC236}">
                <a16:creationId xmlns:a16="http://schemas.microsoft.com/office/drawing/2014/main" id="{F4060907-3026-C888-1751-434D3BF996A0}"/>
              </a:ext>
            </a:extLst>
          </p:cNvPr>
          <p:cNvSpPr>
            <a:spLocks noGrp="1"/>
          </p:cNvSpPr>
          <p:nvPr>
            <p:ph type="sldNum" sz="quarter" idx="5"/>
          </p:nvPr>
        </p:nvSpPr>
        <p:spPr/>
        <p:txBody>
          <a:bodyPr/>
          <a:lstStyle/>
          <a:p>
            <a:pPr>
              <a:defRPr/>
            </a:pPr>
            <a:fld id="{65DDC9EC-DAE2-4D20-BCD0-186AA8ADCCC2}" type="slidenum">
              <a:rPr lang="zh-CN" altLang="en-US" smtClean="0"/>
              <a:pPr>
                <a:defRPr/>
              </a:pPr>
              <a:t>19</a:t>
            </a:fld>
            <a:endParaRPr lang="en-US" altLang="zh-CN"/>
          </a:p>
        </p:txBody>
      </p:sp>
    </p:spTree>
    <p:extLst>
      <p:ext uri="{BB962C8B-B14F-4D97-AF65-F5344CB8AC3E}">
        <p14:creationId xmlns:p14="http://schemas.microsoft.com/office/powerpoint/2010/main" val="877895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34</a:t>
            </a:fld>
            <a:endParaRPr lang="en-US" altLang="zh-CN"/>
          </a:p>
        </p:txBody>
      </p:sp>
    </p:spTree>
    <p:extLst>
      <p:ext uri="{BB962C8B-B14F-4D97-AF65-F5344CB8AC3E}">
        <p14:creationId xmlns:p14="http://schemas.microsoft.com/office/powerpoint/2010/main" val="31565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原始的 </a:t>
            </a:r>
            <a:r>
              <a:rPr lang="en-US" altLang="zh-CN" dirty="0" err="1"/>
              <a:t>women_preferences</a:t>
            </a:r>
            <a:r>
              <a:rPr lang="en-US" altLang="zh-CN" b="0" i="0" dirty="0">
                <a:effectLst/>
                <a:latin typeface="Inter"/>
              </a:rPr>
              <a:t> </a:t>
            </a:r>
            <a:r>
              <a:rPr lang="zh-CN" altLang="en-US" b="0" i="0" dirty="0">
                <a:effectLst/>
                <a:latin typeface="Inter"/>
              </a:rPr>
              <a:t>是一个二维列表，其中 </a:t>
            </a:r>
            <a:r>
              <a:rPr lang="en-US" altLang="zh-CN" dirty="0" err="1"/>
              <a:t>women_preferences</a:t>
            </a:r>
            <a:r>
              <a:rPr lang="en-US" altLang="zh-CN" dirty="0"/>
              <a:t>[</a:t>
            </a:r>
            <a:r>
              <a:rPr lang="en-US" altLang="zh-CN" dirty="0" err="1"/>
              <a:t>i</a:t>
            </a:r>
            <a:r>
              <a:rPr lang="en-US" altLang="zh-CN" dirty="0"/>
              <a:t>]</a:t>
            </a:r>
            <a:r>
              <a:rPr lang="en-US" altLang="zh-CN" b="0" i="0" dirty="0">
                <a:effectLst/>
                <a:latin typeface="Inter"/>
              </a:rPr>
              <a:t> </a:t>
            </a:r>
            <a:r>
              <a:rPr lang="zh-CN" altLang="en-US" b="0" i="0" dirty="0">
                <a:effectLst/>
                <a:latin typeface="Inter"/>
              </a:rPr>
              <a:t>表示第 </a:t>
            </a:r>
            <a:r>
              <a:rPr lang="en-US" altLang="zh-CN" dirty="0" err="1"/>
              <a:t>i</a:t>
            </a:r>
            <a:r>
              <a:rPr lang="en-US" altLang="zh-CN" b="0" i="0" dirty="0">
                <a:effectLst/>
                <a:latin typeface="Inter"/>
              </a:rPr>
              <a:t> </a:t>
            </a:r>
            <a:r>
              <a:rPr lang="zh-CN" altLang="en-US" b="0" i="0" dirty="0">
                <a:effectLst/>
                <a:latin typeface="Inter"/>
              </a:rPr>
              <a:t>个女人对所有男人的优先排序，列表中的元素是男人的编号，位置越靠前表示优先级越高。反向变换的目标是创建一个新的二维列表 </a:t>
            </a:r>
            <a:r>
              <a:rPr lang="en-US" altLang="zh-CN" dirty="0" err="1"/>
              <a:t>women_ranks</a:t>
            </a:r>
            <a:r>
              <a:rPr lang="zh-CN" altLang="en-US" b="0" i="0" dirty="0">
                <a:effectLst/>
                <a:latin typeface="Inter"/>
              </a:rPr>
              <a:t>，其中 </a:t>
            </a:r>
            <a:r>
              <a:rPr lang="en-US" altLang="zh-CN" dirty="0" err="1"/>
              <a:t>women_ranks</a:t>
            </a:r>
            <a:r>
              <a:rPr lang="en-US" altLang="zh-CN" dirty="0"/>
              <a:t>[</a:t>
            </a:r>
            <a:r>
              <a:rPr lang="en-US" altLang="zh-CN" dirty="0" err="1"/>
              <a:t>i</a:t>
            </a:r>
            <a:r>
              <a:rPr lang="en-US" altLang="zh-CN" dirty="0"/>
              <a:t>][j]</a:t>
            </a:r>
            <a:r>
              <a:rPr lang="en-US" altLang="zh-CN" b="0" i="0" dirty="0">
                <a:effectLst/>
                <a:latin typeface="Inter"/>
              </a:rPr>
              <a:t> </a:t>
            </a:r>
            <a:r>
              <a:rPr lang="zh-CN" altLang="en-US" b="0" i="0" dirty="0">
                <a:effectLst/>
                <a:latin typeface="Inter"/>
              </a:rPr>
              <a:t>表示第 </a:t>
            </a:r>
            <a:r>
              <a:rPr lang="en-US" altLang="zh-CN" dirty="0" err="1"/>
              <a:t>i</a:t>
            </a:r>
            <a:r>
              <a:rPr lang="en-US" altLang="zh-CN" b="0" i="0" dirty="0">
                <a:effectLst/>
                <a:latin typeface="Inter"/>
              </a:rPr>
              <a:t> </a:t>
            </a:r>
            <a:r>
              <a:rPr lang="zh-CN" altLang="en-US" b="0" i="0" dirty="0">
                <a:effectLst/>
                <a:latin typeface="Inter"/>
              </a:rPr>
              <a:t>个女人对第 </a:t>
            </a:r>
            <a:r>
              <a:rPr lang="en-US" altLang="zh-CN" dirty="0"/>
              <a:t>j</a:t>
            </a:r>
            <a:r>
              <a:rPr lang="en-US" altLang="zh-CN" b="0" i="0" dirty="0">
                <a:effectLst/>
                <a:latin typeface="Inter"/>
              </a:rPr>
              <a:t> </a:t>
            </a:r>
            <a:r>
              <a:rPr lang="zh-CN" altLang="en-US" b="0" i="0" dirty="0">
                <a:effectLst/>
                <a:latin typeface="Inter"/>
              </a:rPr>
              <a:t>个男人的优先级排名，排名越小表示优先级越高。</a:t>
            </a:r>
            <a:endParaRPr lang="en-US" altLang="zh-CN" b="0" i="0" dirty="0">
              <a:effectLst/>
              <a:latin typeface="Inter"/>
            </a:endParaRPr>
          </a:p>
          <a:p>
            <a:endParaRPr lang="en-US" altLang="zh-CN" b="0" i="0" dirty="0">
              <a:effectLst/>
              <a:latin typeface="Inter"/>
            </a:endParaRPr>
          </a:p>
          <a:p>
            <a:r>
              <a:rPr lang="en-US" altLang="zh-CN" b="0" i="0" dirty="0" err="1">
                <a:solidFill>
                  <a:srgbClr val="1F2329"/>
                </a:solidFill>
                <a:effectLst/>
                <a:latin typeface="Inter"/>
              </a:rPr>
              <a:t>women_preferences</a:t>
            </a:r>
            <a:r>
              <a:rPr lang="en-US" altLang="zh-CN" b="0" i="0" dirty="0">
                <a:solidFill>
                  <a:srgbClr val="1F2329"/>
                </a:solidFill>
                <a:effectLst/>
                <a:latin typeface="Inter"/>
              </a:rPr>
              <a:t> = [ [0, 1, 2], [1, 0, 2], [2, 0, 1] ]</a:t>
            </a:r>
          </a:p>
          <a:p>
            <a:r>
              <a:rPr lang="zh-CN" altLang="en-US" b="0" i="0" dirty="0">
                <a:effectLst/>
                <a:latin typeface="Inter"/>
              </a:rPr>
              <a:t> </a:t>
            </a:r>
            <a:r>
              <a:rPr lang="en-US" altLang="zh-CN" dirty="0" err="1"/>
              <a:t>women_ranks</a:t>
            </a:r>
            <a:r>
              <a:rPr lang="en-US" altLang="zh-CN" dirty="0"/>
              <a:t> = </a:t>
            </a:r>
            <a:r>
              <a:rPr lang="en-US" altLang="zh-CN" b="0" i="0" dirty="0">
                <a:solidFill>
                  <a:srgbClr val="1F2329"/>
                </a:solidFill>
                <a:effectLst/>
                <a:latin typeface="Inter"/>
              </a:rPr>
              <a:t>[ [0, 1, 2], [1, 0, 2], [1, 2, 0] ]</a:t>
            </a:r>
          </a:p>
          <a:p>
            <a:endParaRPr lang="en-US" altLang="zh-CN" b="0" i="0" dirty="0">
              <a:solidFill>
                <a:srgbClr val="1F2329"/>
              </a:solidFill>
              <a:effectLst/>
              <a:latin typeface="Inter"/>
            </a:endParaRPr>
          </a:p>
          <a:p>
            <a:pPr algn="l">
              <a:spcAft>
                <a:spcPts val="300"/>
              </a:spcAft>
            </a:pPr>
            <a:r>
              <a:rPr lang="zh-CN" altLang="en-US" b="1" i="0" dirty="0">
                <a:effectLst/>
                <a:latin typeface="Inter"/>
              </a:rPr>
              <a:t>作用</a:t>
            </a:r>
            <a:br>
              <a:rPr lang="zh-CN" altLang="en-US" dirty="0"/>
            </a:br>
            <a:r>
              <a:rPr lang="zh-CN" altLang="en-US" b="0" i="0" dirty="0">
                <a:effectLst/>
                <a:latin typeface="Inter"/>
              </a:rPr>
              <a:t>通过反向变换，在判断女人是否接受新追求者时，可以直接通过 </a:t>
            </a:r>
            <a:r>
              <a:rPr lang="en-US" altLang="zh-CN" b="0" i="0" dirty="0" err="1">
                <a:effectLst/>
                <a:latin typeface="Inter"/>
              </a:rPr>
              <a:t>women_ranks</a:t>
            </a:r>
            <a:r>
              <a:rPr lang="en-US" altLang="zh-CN" b="0" i="0" dirty="0">
                <a:effectLst/>
                <a:latin typeface="Inter"/>
              </a:rPr>
              <a:t>[woman][</a:t>
            </a:r>
            <a:r>
              <a:rPr lang="en-US" altLang="zh-CN" b="0" i="0" dirty="0" err="1">
                <a:effectLst/>
                <a:latin typeface="Inter"/>
              </a:rPr>
              <a:t>new_man</a:t>
            </a:r>
            <a:r>
              <a:rPr lang="en-US" altLang="zh-CN" b="0" i="0" dirty="0">
                <a:effectLst/>
                <a:latin typeface="Inter"/>
              </a:rPr>
              <a:t>] </a:t>
            </a:r>
            <a:r>
              <a:rPr lang="zh-CN" altLang="en-US" b="0" i="0" dirty="0">
                <a:effectLst/>
                <a:latin typeface="Inter"/>
              </a:rPr>
              <a:t>和 </a:t>
            </a:r>
            <a:r>
              <a:rPr lang="en-US" altLang="zh-CN" b="0" i="0" dirty="0" err="1">
                <a:effectLst/>
                <a:latin typeface="Inter"/>
              </a:rPr>
              <a:t>women_ranks</a:t>
            </a:r>
            <a:r>
              <a:rPr lang="en-US" altLang="zh-CN" b="0" i="0" dirty="0">
                <a:effectLst/>
                <a:latin typeface="Inter"/>
              </a:rPr>
              <a:t>[woman][</a:t>
            </a:r>
            <a:r>
              <a:rPr lang="en-US" altLang="zh-CN" b="0" i="0" dirty="0" err="1">
                <a:effectLst/>
                <a:latin typeface="Inter"/>
              </a:rPr>
              <a:t>current_man</a:t>
            </a:r>
            <a:r>
              <a:rPr lang="en-US" altLang="zh-CN" b="0" i="0" dirty="0">
                <a:effectLst/>
                <a:latin typeface="Inter"/>
              </a:rPr>
              <a:t>] </a:t>
            </a:r>
            <a:r>
              <a:rPr lang="zh-CN" altLang="en-US" b="0" i="0" dirty="0">
                <a:effectLst/>
                <a:latin typeface="Inter"/>
              </a:rPr>
              <a:t>的大小比较来确定新追求者和当前伴侣的优先级，时间复杂度为 ，避免了在原始优先表中查找元素的  时间复杂度。</a:t>
            </a:r>
          </a:p>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48</a:t>
            </a:fld>
            <a:endParaRPr lang="en-US" altLang="zh-CN"/>
          </a:p>
        </p:txBody>
      </p:sp>
    </p:spTree>
    <p:extLst>
      <p:ext uri="{BB962C8B-B14F-4D97-AF65-F5344CB8AC3E}">
        <p14:creationId xmlns:p14="http://schemas.microsoft.com/office/powerpoint/2010/main" val="3943429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49</a:t>
            </a:fld>
            <a:endParaRPr lang="en-US" altLang="zh-CN"/>
          </a:p>
        </p:txBody>
      </p:sp>
    </p:spTree>
    <p:extLst>
      <p:ext uri="{BB962C8B-B14F-4D97-AF65-F5344CB8AC3E}">
        <p14:creationId xmlns:p14="http://schemas.microsoft.com/office/powerpoint/2010/main" val="490483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男的伴侣越来越差</a:t>
            </a:r>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51</a:t>
            </a:fld>
            <a:endParaRPr lang="en-US" altLang="zh-CN"/>
          </a:p>
        </p:txBody>
      </p:sp>
    </p:spTree>
    <p:extLst>
      <p:ext uri="{BB962C8B-B14F-4D97-AF65-F5344CB8AC3E}">
        <p14:creationId xmlns:p14="http://schemas.microsoft.com/office/powerpoint/2010/main" val="991517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使用反证法</a:t>
            </a:r>
            <a:r>
              <a:rPr lang="en-US" altLang="zh-CN" dirty="0"/>
              <a:t>.</a:t>
            </a:r>
            <a:r>
              <a:rPr lang="zh-CN" altLang="en-US" dirty="0"/>
              <a:t> 我们假设</a:t>
            </a:r>
            <a:r>
              <a:rPr lang="en-US" altLang="zh-CN" dirty="0"/>
              <a:t>G-S</a:t>
            </a:r>
            <a:r>
              <a:rPr lang="zh-CN" altLang="en-US" dirty="0"/>
              <a:t>算法的某次执行</a:t>
            </a:r>
            <a:r>
              <a:rPr lang="en-US" altLang="zh-CN" dirty="0"/>
              <a:t>e</a:t>
            </a:r>
            <a:r>
              <a:rPr lang="zh-CN" altLang="en-US" dirty="0"/>
              <a:t>得到了匹配</a:t>
            </a:r>
            <a:r>
              <a:rPr lang="en-US" altLang="zh-CN" dirty="0"/>
              <a:t>S,</a:t>
            </a:r>
            <a:r>
              <a:rPr lang="zh-CN" altLang="en-US" dirty="0"/>
              <a:t>其中某个男人与一近</a:t>
            </a:r>
            <a:r>
              <a:rPr lang="en-US" altLang="zh-CN" dirty="0"/>
              <a:t>E</a:t>
            </a:r>
            <a:r>
              <a:rPr lang="zh-CN" altLang="en-US" dirty="0"/>
              <a:t>个不是他最佳有效伴侣的女人配对</a:t>
            </a:r>
            <a:r>
              <a:rPr lang="en-US" altLang="zh-CN" dirty="0"/>
              <a:t>.</a:t>
            </a:r>
            <a:r>
              <a:rPr lang="zh-CN" altLang="en-US" dirty="0"/>
              <a:t>因为男人求婚依照优先的递减次序</a:t>
            </a:r>
            <a:r>
              <a:rPr lang="en-US" altLang="zh-CN" dirty="0"/>
              <a:t>,</a:t>
            </a:r>
            <a:r>
              <a:rPr lang="zh-CN" altLang="en-US" dirty="0"/>
              <a:t>这就意味着在算法的</a:t>
            </a:r>
            <a:r>
              <a:rPr lang="en-US" altLang="zh-CN" dirty="0"/>
              <a:t>e</a:t>
            </a:r>
            <a:r>
              <a:rPr lang="zh-CN" altLang="en-US" dirty="0"/>
              <a:t>执行期间</a:t>
            </a:r>
            <a:r>
              <a:rPr lang="en-US" altLang="zh-CN" dirty="0"/>
              <a:t>,</a:t>
            </a:r>
            <a:r>
              <a:rPr lang="zh-CN" altLang="en-US" dirty="0"/>
              <a:t>某个男人被一个有效伴侣拒绝过</a:t>
            </a:r>
            <a:r>
              <a:rPr lang="en-US" altLang="zh-CN" dirty="0"/>
              <a:t>,</a:t>
            </a:r>
            <a:r>
              <a:rPr lang="zh-CN" altLang="en-US" dirty="0"/>
              <a:t>于是考虑算法的</a:t>
            </a:r>
            <a:r>
              <a:rPr lang="en-US" altLang="zh-CN" dirty="0"/>
              <a:t>e</a:t>
            </a:r>
            <a:r>
              <a:rPr lang="zh-CN" altLang="en-US" dirty="0"/>
              <a:t>执行期间某个男人</a:t>
            </a:r>
            <a:r>
              <a:rPr lang="en-US" altLang="zh-CN" dirty="0"/>
              <a:t>,</a:t>
            </a:r>
            <a:r>
              <a:rPr lang="zh-CN" altLang="en-US" dirty="0"/>
              <a:t>比如说</a:t>
            </a:r>
            <a:r>
              <a:rPr lang="en-US" altLang="zh-CN" dirty="0"/>
              <a:t>m,</a:t>
            </a:r>
            <a:r>
              <a:rPr lang="zh-CN" altLang="en-US" dirty="0"/>
              <a:t>被一个有效伴侣</a:t>
            </a:r>
            <a:r>
              <a:rPr lang="en-US" altLang="zh-CN" dirty="0"/>
              <a:t>w</a:t>
            </a:r>
            <a:r>
              <a:rPr lang="zh-CN" altLang="en-US" dirty="0"/>
              <a:t>拒绝的第一个时刻</a:t>
            </a:r>
            <a:r>
              <a:rPr lang="en-US" altLang="zh-CN" dirty="0"/>
              <a:t>,</a:t>
            </a:r>
            <a:r>
              <a:rPr lang="zh-CN" altLang="en-US" dirty="0"/>
              <a:t>此外</a:t>
            </a:r>
            <a:r>
              <a:rPr lang="en-US" altLang="zh-CN" dirty="0"/>
              <a:t>,</a:t>
            </a:r>
            <a:r>
              <a:rPr lang="zh-CN" altLang="en-US" dirty="0"/>
              <a:t>因为男人求婚依照优先的递减次序这是第一次发生这样的拒绝</a:t>
            </a:r>
            <a:r>
              <a:rPr lang="en-US" altLang="zh-CN" dirty="0"/>
              <a:t>,w</a:t>
            </a:r>
            <a:r>
              <a:rPr lang="zh-CN" altLang="en-US" dirty="0"/>
              <a:t>一定是</a:t>
            </a:r>
            <a:r>
              <a:rPr lang="en-US" altLang="zh-CN" dirty="0"/>
              <a:t>m</a:t>
            </a:r>
            <a:r>
              <a:rPr lang="zh-CN" altLang="en-US" dirty="0"/>
              <a:t>的最佳有效伴侣</a:t>
            </a:r>
            <a:r>
              <a:rPr lang="en-US" altLang="zh-CN" dirty="0"/>
              <a:t>best(m).</a:t>
            </a:r>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52</a:t>
            </a:fld>
            <a:endParaRPr lang="en-US" altLang="zh-CN"/>
          </a:p>
        </p:txBody>
      </p:sp>
    </p:spTree>
    <p:extLst>
      <p:ext uri="{BB962C8B-B14F-4D97-AF65-F5344CB8AC3E}">
        <p14:creationId xmlns:p14="http://schemas.microsoft.com/office/powerpoint/2010/main" val="1094824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0BAAA-E972-3DBC-4230-E0F25EE490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381808-6DEA-47F0-EE8F-25677CDFFB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6889F0-FC7B-087D-8CBB-5F29770E673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D00697E-2D92-182B-C159-2B855C02A939}"/>
              </a:ext>
            </a:extLst>
          </p:cNvPr>
          <p:cNvSpPr>
            <a:spLocks noGrp="1"/>
          </p:cNvSpPr>
          <p:nvPr>
            <p:ph type="sldNum" sz="quarter" idx="5"/>
          </p:nvPr>
        </p:nvSpPr>
        <p:spPr/>
        <p:txBody>
          <a:bodyPr/>
          <a:lstStyle/>
          <a:p>
            <a:pPr>
              <a:defRPr/>
            </a:pPr>
            <a:fld id="{65DDC9EC-DAE2-4D20-BCD0-186AA8ADCCC2}" type="slidenum">
              <a:rPr lang="zh-CN" altLang="en-US" smtClean="0"/>
              <a:pPr>
                <a:defRPr/>
              </a:pPr>
              <a:t>53</a:t>
            </a:fld>
            <a:endParaRPr lang="en-US" altLang="zh-CN"/>
          </a:p>
        </p:txBody>
      </p:sp>
    </p:spTree>
    <p:extLst>
      <p:ext uri="{BB962C8B-B14F-4D97-AF65-F5344CB8AC3E}">
        <p14:creationId xmlns:p14="http://schemas.microsoft.com/office/powerpoint/2010/main" val="2754426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58000-8FFD-CE79-074D-94D844CBFA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CAD709-F050-C097-62A6-8219D130F7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E098EF-C0BB-5DF9-C812-00EF8C19640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935D951-4FD3-3B3B-7F92-E9F447331C18}"/>
              </a:ext>
            </a:extLst>
          </p:cNvPr>
          <p:cNvSpPr>
            <a:spLocks noGrp="1"/>
          </p:cNvSpPr>
          <p:nvPr>
            <p:ph type="sldNum" sz="quarter" idx="5"/>
          </p:nvPr>
        </p:nvSpPr>
        <p:spPr/>
        <p:txBody>
          <a:bodyPr/>
          <a:lstStyle/>
          <a:p>
            <a:pPr>
              <a:defRPr/>
            </a:pPr>
            <a:fld id="{65DDC9EC-DAE2-4D20-BCD0-186AA8ADCCC2}" type="slidenum">
              <a:rPr lang="zh-CN" altLang="en-US" smtClean="0"/>
              <a:pPr>
                <a:defRPr/>
              </a:pPr>
              <a:t>54</a:t>
            </a:fld>
            <a:endParaRPr lang="en-US" altLang="zh-CN"/>
          </a:p>
        </p:txBody>
      </p:sp>
    </p:spTree>
    <p:extLst>
      <p:ext uri="{BB962C8B-B14F-4D97-AF65-F5344CB8AC3E}">
        <p14:creationId xmlns:p14="http://schemas.microsoft.com/office/powerpoint/2010/main" val="75572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3686F-5237-26EA-79F1-48079F58AD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FA6A3E-F17D-08FE-B31A-36F59215BE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E6FD20-7B38-86DE-A210-88E9F78EAF19}"/>
              </a:ext>
            </a:extLst>
          </p:cNvPr>
          <p:cNvSpPr>
            <a:spLocks noGrp="1"/>
          </p:cNvSpPr>
          <p:nvPr>
            <p:ph type="body" idx="1"/>
          </p:nvPr>
        </p:nvSpPr>
        <p:spPr/>
        <p:txBody>
          <a:bodyPr/>
          <a:lstStyle/>
          <a:p>
            <a:r>
              <a:rPr lang="en-US" altLang="zh-CN" b="0" i="0" dirty="0">
                <a:effectLst/>
                <a:latin typeface="Inter"/>
              </a:rPr>
              <a:t>m’</a:t>
            </a:r>
            <a:r>
              <a:rPr lang="zh-CN" altLang="en-US" b="0" i="0" dirty="0">
                <a:effectLst/>
                <a:latin typeface="Inter"/>
              </a:rPr>
              <a:t>开始与 </a:t>
            </a:r>
            <a:r>
              <a:rPr lang="en-US" altLang="zh-CN" b="0" i="0" dirty="0">
                <a:effectLst/>
                <a:latin typeface="Inter"/>
              </a:rPr>
              <a:t>w </a:t>
            </a:r>
            <a:r>
              <a:rPr lang="zh-CN" altLang="en-US" b="0" i="0" dirty="0">
                <a:effectLst/>
                <a:latin typeface="Inter"/>
              </a:rPr>
              <a:t>约会，意味着在 </a:t>
            </a:r>
            <a:r>
              <a:rPr lang="en-US" altLang="zh-CN" b="0" i="0" dirty="0">
                <a:effectLst/>
                <a:latin typeface="Inter"/>
              </a:rPr>
              <a:t>w </a:t>
            </a:r>
            <a:r>
              <a:rPr lang="zh-CN" altLang="en-US" b="0" i="0" dirty="0">
                <a:effectLst/>
                <a:latin typeface="Inter"/>
              </a:rPr>
              <a:t>所收到的表白中，</a:t>
            </a:r>
            <a:r>
              <a:rPr lang="en-US" altLang="zh-CN" b="0" i="0" dirty="0">
                <a:effectLst/>
                <a:latin typeface="Inter"/>
              </a:rPr>
              <a:t>m’</a:t>
            </a:r>
            <a:r>
              <a:rPr lang="zh-CN" altLang="en-US" b="0" i="0" dirty="0">
                <a:effectLst/>
                <a:latin typeface="Inter"/>
              </a:rPr>
              <a:t>是当前她认为最好的。按照算法规则，如果 </a:t>
            </a:r>
            <a:r>
              <a:rPr lang="en-US" altLang="zh-CN" b="0" i="0" dirty="0">
                <a:effectLst/>
                <a:latin typeface="Inter"/>
              </a:rPr>
              <a:t>m’</a:t>
            </a:r>
            <a:r>
              <a:rPr lang="zh-CN" altLang="en-US" b="0" i="0" dirty="0">
                <a:effectLst/>
                <a:latin typeface="Inter"/>
              </a:rPr>
              <a:t>曾经被其他有效伴侣拒绝过，那么他应该已经在追求他偏好列表中更靠后的女士了，而不会在此时与 </a:t>
            </a:r>
            <a:r>
              <a:rPr lang="en-US" altLang="zh-CN" b="0" i="0" dirty="0">
                <a:effectLst/>
                <a:latin typeface="Inter"/>
              </a:rPr>
              <a:t>w </a:t>
            </a:r>
            <a:r>
              <a:rPr lang="zh-CN" altLang="en-US" b="0" i="0" dirty="0">
                <a:effectLst/>
                <a:latin typeface="Inter"/>
              </a:rPr>
              <a:t>开始约会。因为在算法中，男士是按照自己的偏好顺序依次追求女士的，只有当他还没有被前面的有效伴侣拒绝时，才会与当前的女士开始约会。</a:t>
            </a:r>
            <a:endParaRPr lang="zh-CN" altLang="en-US" dirty="0"/>
          </a:p>
        </p:txBody>
      </p:sp>
      <p:sp>
        <p:nvSpPr>
          <p:cNvPr id="4" name="灯片编号占位符 3">
            <a:extLst>
              <a:ext uri="{FF2B5EF4-FFF2-40B4-BE49-F238E27FC236}">
                <a16:creationId xmlns:a16="http://schemas.microsoft.com/office/drawing/2014/main" id="{31ED4906-7D99-84EF-F9B6-FEC677C77F0C}"/>
              </a:ext>
            </a:extLst>
          </p:cNvPr>
          <p:cNvSpPr>
            <a:spLocks noGrp="1"/>
          </p:cNvSpPr>
          <p:nvPr>
            <p:ph type="sldNum" sz="quarter" idx="5"/>
          </p:nvPr>
        </p:nvSpPr>
        <p:spPr/>
        <p:txBody>
          <a:bodyPr/>
          <a:lstStyle/>
          <a:p>
            <a:pPr>
              <a:defRPr/>
            </a:pPr>
            <a:fld id="{65DDC9EC-DAE2-4D20-BCD0-186AA8ADCCC2}" type="slidenum">
              <a:rPr lang="zh-CN" altLang="en-US" smtClean="0"/>
              <a:pPr>
                <a:defRPr/>
              </a:pPr>
              <a:t>55</a:t>
            </a:fld>
            <a:endParaRPr lang="en-US" altLang="zh-CN"/>
          </a:p>
        </p:txBody>
      </p:sp>
    </p:spTree>
    <p:extLst>
      <p:ext uri="{BB962C8B-B14F-4D97-AF65-F5344CB8AC3E}">
        <p14:creationId xmlns:p14="http://schemas.microsoft.com/office/powerpoint/2010/main" val="2779495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5E9D9-343C-DB9D-22BE-62A3824A93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D4EC89-FDCD-3480-8C3B-CD97C4E632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43FE72-1686-74B0-75AE-5884A9F548E3}"/>
              </a:ext>
            </a:extLst>
          </p:cNvPr>
          <p:cNvSpPr>
            <a:spLocks noGrp="1"/>
          </p:cNvSpPr>
          <p:nvPr>
            <p:ph type="body" idx="1"/>
          </p:nvPr>
        </p:nvSpPr>
        <p:spPr/>
        <p:txBody>
          <a:bodyPr/>
          <a:lstStyle/>
          <a:p>
            <a:r>
              <a:rPr lang="zh-CN" altLang="en-US" dirty="0"/>
              <a:t>使用反证法</a:t>
            </a:r>
            <a:r>
              <a:rPr lang="en-US" altLang="zh-CN" dirty="0"/>
              <a:t>.</a:t>
            </a:r>
            <a:r>
              <a:rPr lang="zh-CN" altLang="en-US" dirty="0"/>
              <a:t>让我们假设</a:t>
            </a:r>
            <a:r>
              <a:rPr lang="en-US" altLang="zh-CN" dirty="0"/>
              <a:t>G-S</a:t>
            </a:r>
            <a:r>
              <a:rPr lang="zh-CN" altLang="en-US" dirty="0"/>
              <a:t>算法的某次执行</a:t>
            </a:r>
            <a:r>
              <a:rPr lang="en-US" altLang="zh-CN" dirty="0"/>
              <a:t>e</a:t>
            </a:r>
            <a:r>
              <a:rPr lang="zh-CN" altLang="en-US" dirty="0"/>
              <a:t>得到了匹配</a:t>
            </a:r>
            <a:r>
              <a:rPr lang="en-US" altLang="zh-CN" dirty="0"/>
              <a:t>S,</a:t>
            </a:r>
            <a:r>
              <a:rPr lang="zh-CN" altLang="en-US" dirty="0"/>
              <a:t>其中某个男人与一近</a:t>
            </a:r>
            <a:r>
              <a:rPr lang="en-US" altLang="zh-CN" dirty="0"/>
              <a:t>E</a:t>
            </a:r>
            <a:r>
              <a:rPr lang="zh-CN" altLang="en-US" dirty="0"/>
              <a:t>个不是他最佳有效伴侣的女人配对</a:t>
            </a:r>
            <a:r>
              <a:rPr lang="en-US" altLang="zh-CN" dirty="0"/>
              <a:t>.</a:t>
            </a:r>
            <a:r>
              <a:rPr lang="zh-CN" altLang="en-US" dirty="0"/>
              <a:t>因为男人求婚依照优先的递减次序</a:t>
            </a:r>
            <a:r>
              <a:rPr lang="en-US" altLang="zh-CN" dirty="0"/>
              <a:t>,</a:t>
            </a:r>
            <a:r>
              <a:rPr lang="zh-CN" altLang="en-US" dirty="0"/>
              <a:t>这就意味着在算法的</a:t>
            </a:r>
            <a:r>
              <a:rPr lang="en-US" altLang="zh-CN" dirty="0"/>
              <a:t>e</a:t>
            </a:r>
            <a:r>
              <a:rPr lang="zh-CN" altLang="en-US" dirty="0"/>
              <a:t>执行期间</a:t>
            </a:r>
            <a:r>
              <a:rPr lang="en-US" altLang="zh-CN" dirty="0"/>
              <a:t>,</a:t>
            </a:r>
            <a:r>
              <a:rPr lang="zh-CN" altLang="en-US" dirty="0"/>
              <a:t>某个男人被一个有效伴侣拒绝过</a:t>
            </a:r>
            <a:r>
              <a:rPr lang="en-US" altLang="zh-CN" dirty="0"/>
              <a:t>,</a:t>
            </a:r>
            <a:r>
              <a:rPr lang="zh-CN" altLang="en-US" dirty="0"/>
              <a:t>于是考虑算法的</a:t>
            </a:r>
            <a:r>
              <a:rPr lang="en-US" altLang="zh-CN" dirty="0"/>
              <a:t>e</a:t>
            </a:r>
            <a:r>
              <a:rPr lang="zh-CN" altLang="en-US" dirty="0"/>
              <a:t>执行期间某个男人</a:t>
            </a:r>
            <a:r>
              <a:rPr lang="en-US" altLang="zh-CN" dirty="0"/>
              <a:t>,</a:t>
            </a:r>
            <a:r>
              <a:rPr lang="zh-CN" altLang="en-US" dirty="0"/>
              <a:t>比如说</a:t>
            </a:r>
            <a:r>
              <a:rPr lang="en-US" altLang="zh-CN" dirty="0"/>
              <a:t>m,</a:t>
            </a:r>
            <a:r>
              <a:rPr lang="zh-CN" altLang="en-US" dirty="0"/>
              <a:t>被一个有效伴侣</a:t>
            </a:r>
            <a:r>
              <a:rPr lang="en-US" altLang="zh-CN" dirty="0"/>
              <a:t>w</a:t>
            </a:r>
            <a:r>
              <a:rPr lang="zh-CN" altLang="en-US" dirty="0"/>
              <a:t>拒绝的第一个时刻</a:t>
            </a:r>
            <a:r>
              <a:rPr lang="en-US" altLang="zh-CN" dirty="0"/>
              <a:t>,</a:t>
            </a:r>
            <a:r>
              <a:rPr lang="zh-CN" altLang="en-US" dirty="0"/>
              <a:t>此外</a:t>
            </a:r>
            <a:r>
              <a:rPr lang="en-US" altLang="zh-CN" dirty="0"/>
              <a:t>,</a:t>
            </a:r>
            <a:r>
              <a:rPr lang="zh-CN" altLang="en-US" dirty="0"/>
              <a:t>因为男人求婚依照优先的递减次序这是第一次发生这样的拒绝</a:t>
            </a:r>
            <a:r>
              <a:rPr lang="en-US" altLang="zh-CN" dirty="0"/>
              <a:t>,w</a:t>
            </a:r>
            <a:r>
              <a:rPr lang="zh-CN" altLang="en-US" dirty="0"/>
              <a:t>一定是</a:t>
            </a:r>
            <a:r>
              <a:rPr lang="en-US" altLang="zh-CN" dirty="0"/>
              <a:t>m</a:t>
            </a:r>
            <a:r>
              <a:rPr lang="zh-CN" altLang="en-US" dirty="0"/>
              <a:t>的最佳有效伴侣</a:t>
            </a:r>
            <a:r>
              <a:rPr lang="en-US" altLang="zh-CN" dirty="0"/>
              <a:t>best(m).</a:t>
            </a:r>
            <a:endParaRPr lang="zh-CN" altLang="en-US" dirty="0"/>
          </a:p>
        </p:txBody>
      </p:sp>
      <p:sp>
        <p:nvSpPr>
          <p:cNvPr id="4" name="灯片编号占位符 3">
            <a:extLst>
              <a:ext uri="{FF2B5EF4-FFF2-40B4-BE49-F238E27FC236}">
                <a16:creationId xmlns:a16="http://schemas.microsoft.com/office/drawing/2014/main" id="{10BE8B03-3420-1A40-F14F-1C9F659765F7}"/>
              </a:ext>
            </a:extLst>
          </p:cNvPr>
          <p:cNvSpPr>
            <a:spLocks noGrp="1"/>
          </p:cNvSpPr>
          <p:nvPr>
            <p:ph type="sldNum" sz="quarter" idx="5"/>
          </p:nvPr>
        </p:nvSpPr>
        <p:spPr/>
        <p:txBody>
          <a:bodyPr/>
          <a:lstStyle/>
          <a:p>
            <a:pPr>
              <a:defRPr/>
            </a:pPr>
            <a:fld id="{65DDC9EC-DAE2-4D20-BCD0-186AA8ADCCC2}" type="slidenum">
              <a:rPr lang="zh-CN" altLang="en-US" smtClean="0"/>
              <a:pPr>
                <a:defRPr/>
              </a:pPr>
              <a:t>56</a:t>
            </a:fld>
            <a:endParaRPr lang="en-US" altLang="zh-CN"/>
          </a:p>
        </p:txBody>
      </p:sp>
    </p:spTree>
    <p:extLst>
      <p:ext uri="{BB962C8B-B14F-4D97-AF65-F5344CB8AC3E}">
        <p14:creationId xmlns:p14="http://schemas.microsoft.com/office/powerpoint/2010/main" val="2675887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女的伴侣越来越好</a:t>
            </a:r>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57</a:t>
            </a:fld>
            <a:endParaRPr lang="en-US" altLang="zh-CN"/>
          </a:p>
        </p:txBody>
      </p:sp>
    </p:spTree>
    <p:extLst>
      <p:ext uri="{BB962C8B-B14F-4D97-AF65-F5344CB8AC3E}">
        <p14:creationId xmlns:p14="http://schemas.microsoft.com/office/powerpoint/2010/main" val="361006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如果</a:t>
            </a:r>
            <a:r>
              <a:rPr lang="en-US" altLang="zh-CN" sz="1200" dirty="0"/>
              <a:t>w</a:t>
            </a:r>
            <a:r>
              <a:rPr lang="zh-CN" altLang="en-US" sz="1200" dirty="0"/>
              <a:t>是</a:t>
            </a:r>
            <a:r>
              <a:rPr lang="en-US" altLang="zh-CN" sz="1200" dirty="0"/>
              <a:t>m</a:t>
            </a:r>
            <a:r>
              <a:rPr lang="zh-CN" altLang="en-US" sz="1200" dirty="0"/>
              <a:t>的有效伴侣，且没有别的在</a:t>
            </a:r>
            <a:r>
              <a:rPr lang="en-US" altLang="zh-CN" sz="1200" dirty="0"/>
              <a:t>w</a:t>
            </a:r>
            <a:r>
              <a:rPr lang="zh-CN" altLang="en-US" sz="1200" dirty="0"/>
              <a:t>排名中比</a:t>
            </a:r>
            <a:r>
              <a:rPr lang="en-US" altLang="zh-CN" sz="1200" dirty="0"/>
              <a:t>m</a:t>
            </a:r>
            <a:r>
              <a:rPr lang="zh-CN" altLang="en-US" sz="1200" dirty="0"/>
              <a:t>更低的男人是她的有效伴侣，那么</a:t>
            </a:r>
            <a:r>
              <a:rPr lang="en-US" altLang="zh-CN" sz="1200" dirty="0"/>
              <a:t>m</a:t>
            </a:r>
            <a:r>
              <a:rPr lang="zh-CN" altLang="en-US" sz="1200" dirty="0"/>
              <a:t>就是</a:t>
            </a:r>
            <a:r>
              <a:rPr lang="en-US" altLang="zh-CN" sz="1200" dirty="0"/>
              <a:t>w</a:t>
            </a:r>
            <a:r>
              <a:rPr lang="zh-CN" altLang="en-US" sz="1200" dirty="0"/>
              <a:t>的</a:t>
            </a:r>
            <a:r>
              <a:rPr lang="zh-CN" altLang="en-US" sz="1200" dirty="0">
                <a:solidFill>
                  <a:schemeClr val="hlink"/>
                </a:solidFill>
              </a:rPr>
              <a:t>最差有效伴侣</a:t>
            </a:r>
            <a:endParaRPr lang="en-US" altLang="zh-CN" sz="1200" dirty="0">
              <a:solidFill>
                <a:schemeClr val="hlink"/>
              </a:solidFill>
            </a:endParaRPr>
          </a:p>
          <a:p>
            <a:endParaRPr lang="en-US" altLang="zh-CN" sz="1200" dirty="0">
              <a:solidFill>
                <a:schemeClr val="hlink"/>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58</a:t>
            </a:fld>
            <a:endParaRPr lang="en-US" altLang="zh-CN"/>
          </a:p>
        </p:txBody>
      </p:sp>
    </p:spTree>
    <p:extLst>
      <p:ext uri="{BB962C8B-B14F-4D97-AF65-F5344CB8AC3E}">
        <p14:creationId xmlns:p14="http://schemas.microsoft.com/office/powerpoint/2010/main" val="1121188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96CD9-A5D1-7EC7-C557-F87F08F03F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C70C04-474C-0EEF-6A55-5E0E64DF27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D35902-ED61-20EE-B86F-49785FA50EBB}"/>
              </a:ext>
            </a:extLst>
          </p:cNvPr>
          <p:cNvSpPr>
            <a:spLocks noGrp="1"/>
          </p:cNvSpPr>
          <p:nvPr>
            <p:ph type="body" idx="1"/>
          </p:nvPr>
        </p:nvSpPr>
        <p:spPr/>
        <p:txBody>
          <a:bodyPr/>
          <a:lstStyle/>
          <a:p>
            <a:r>
              <a:rPr lang="zh-CN" altLang="en-US" sz="1200" dirty="0"/>
              <a:t>如果</a:t>
            </a:r>
            <a:r>
              <a:rPr lang="en-US" altLang="zh-CN" sz="1200" dirty="0"/>
              <a:t>w</a:t>
            </a:r>
            <a:r>
              <a:rPr lang="zh-CN" altLang="en-US" sz="1200" dirty="0"/>
              <a:t>是</a:t>
            </a:r>
            <a:r>
              <a:rPr lang="en-US" altLang="zh-CN" sz="1200" dirty="0"/>
              <a:t>m</a:t>
            </a:r>
            <a:r>
              <a:rPr lang="zh-CN" altLang="en-US" sz="1200" dirty="0"/>
              <a:t>的有效伴侣，且没有别的在</a:t>
            </a:r>
            <a:r>
              <a:rPr lang="en-US" altLang="zh-CN" sz="1200" dirty="0"/>
              <a:t>w</a:t>
            </a:r>
            <a:r>
              <a:rPr lang="zh-CN" altLang="en-US" sz="1200" dirty="0"/>
              <a:t>排名中比</a:t>
            </a:r>
            <a:r>
              <a:rPr lang="en-US" altLang="zh-CN" sz="1200" dirty="0"/>
              <a:t>m</a:t>
            </a:r>
            <a:r>
              <a:rPr lang="zh-CN" altLang="en-US" sz="1200" dirty="0"/>
              <a:t>更低的男人是她的有效伴侣，那么</a:t>
            </a:r>
            <a:r>
              <a:rPr lang="en-US" altLang="zh-CN" sz="1200" dirty="0"/>
              <a:t>m</a:t>
            </a:r>
            <a:r>
              <a:rPr lang="zh-CN" altLang="en-US" sz="1200" dirty="0"/>
              <a:t>就是</a:t>
            </a:r>
            <a:r>
              <a:rPr lang="en-US" altLang="zh-CN" sz="1200" dirty="0"/>
              <a:t>w</a:t>
            </a:r>
            <a:r>
              <a:rPr lang="zh-CN" altLang="en-US" sz="1200" dirty="0"/>
              <a:t>的</a:t>
            </a:r>
            <a:r>
              <a:rPr lang="zh-CN" altLang="en-US" sz="1200" dirty="0">
                <a:solidFill>
                  <a:schemeClr val="hlink"/>
                </a:solidFill>
              </a:rPr>
              <a:t>最差有效伴侣</a:t>
            </a:r>
            <a:endParaRPr lang="en-US" altLang="zh-CN" sz="1200" dirty="0">
              <a:solidFill>
                <a:schemeClr val="hlink"/>
              </a:solidFill>
            </a:endParaRPr>
          </a:p>
          <a:p>
            <a:endParaRPr lang="en-US" altLang="zh-CN" sz="1200" dirty="0">
              <a:solidFill>
                <a:schemeClr val="hlink"/>
              </a:solidFill>
            </a:endParaRPr>
          </a:p>
          <a:p>
            <a:endParaRPr lang="zh-CN" altLang="en-US" dirty="0"/>
          </a:p>
        </p:txBody>
      </p:sp>
      <p:sp>
        <p:nvSpPr>
          <p:cNvPr id="4" name="灯片编号占位符 3">
            <a:extLst>
              <a:ext uri="{FF2B5EF4-FFF2-40B4-BE49-F238E27FC236}">
                <a16:creationId xmlns:a16="http://schemas.microsoft.com/office/drawing/2014/main" id="{21B96F81-20AB-FBDA-2994-9A2FCD305BCC}"/>
              </a:ext>
            </a:extLst>
          </p:cNvPr>
          <p:cNvSpPr>
            <a:spLocks noGrp="1"/>
          </p:cNvSpPr>
          <p:nvPr>
            <p:ph type="sldNum" sz="quarter" idx="5"/>
          </p:nvPr>
        </p:nvSpPr>
        <p:spPr/>
        <p:txBody>
          <a:bodyPr/>
          <a:lstStyle/>
          <a:p>
            <a:pPr>
              <a:defRPr/>
            </a:pPr>
            <a:fld id="{65DDC9EC-DAE2-4D20-BCD0-186AA8ADCCC2}" type="slidenum">
              <a:rPr lang="zh-CN" altLang="en-US" smtClean="0"/>
              <a:pPr>
                <a:defRPr/>
              </a:pPr>
              <a:t>59</a:t>
            </a:fld>
            <a:endParaRPr lang="en-US" altLang="zh-CN"/>
          </a:p>
        </p:txBody>
      </p:sp>
    </p:spTree>
    <p:extLst>
      <p:ext uri="{BB962C8B-B14F-4D97-AF65-F5344CB8AC3E}">
        <p14:creationId xmlns:p14="http://schemas.microsoft.com/office/powerpoint/2010/main" val="4172142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7FAD6-325A-F694-6FD6-D65AB5593E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3EC801-914C-24D7-2A98-55E91FC790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22B298-19BC-A826-ABD2-774E4BAFCFEB}"/>
              </a:ext>
            </a:extLst>
          </p:cNvPr>
          <p:cNvSpPr>
            <a:spLocks noGrp="1"/>
          </p:cNvSpPr>
          <p:nvPr>
            <p:ph type="body" idx="1"/>
          </p:nvPr>
        </p:nvSpPr>
        <p:spPr/>
        <p:txBody>
          <a:bodyPr/>
          <a:lstStyle/>
          <a:p>
            <a:r>
              <a:rPr lang="zh-CN" altLang="en-US" sz="1200" dirty="0"/>
              <a:t>如果</a:t>
            </a:r>
            <a:r>
              <a:rPr lang="en-US" altLang="zh-CN" sz="1200" dirty="0"/>
              <a:t>w</a:t>
            </a:r>
            <a:r>
              <a:rPr lang="zh-CN" altLang="en-US" sz="1200" dirty="0"/>
              <a:t>是</a:t>
            </a:r>
            <a:r>
              <a:rPr lang="en-US" altLang="zh-CN" sz="1200" dirty="0"/>
              <a:t>m</a:t>
            </a:r>
            <a:r>
              <a:rPr lang="zh-CN" altLang="en-US" sz="1200" dirty="0"/>
              <a:t>的有效伴侣，且没有别的在</a:t>
            </a:r>
            <a:r>
              <a:rPr lang="en-US" altLang="zh-CN" sz="1200" dirty="0"/>
              <a:t>w</a:t>
            </a:r>
            <a:r>
              <a:rPr lang="zh-CN" altLang="en-US" sz="1200" dirty="0"/>
              <a:t>排名中比</a:t>
            </a:r>
            <a:r>
              <a:rPr lang="en-US" altLang="zh-CN" sz="1200" dirty="0"/>
              <a:t>m</a:t>
            </a:r>
            <a:r>
              <a:rPr lang="zh-CN" altLang="en-US" sz="1200" dirty="0"/>
              <a:t>更低的男人是她的有效伴侣，那么</a:t>
            </a:r>
            <a:r>
              <a:rPr lang="en-US" altLang="zh-CN" sz="1200" dirty="0"/>
              <a:t>m</a:t>
            </a:r>
            <a:r>
              <a:rPr lang="zh-CN" altLang="en-US" sz="1200" dirty="0"/>
              <a:t>就是</a:t>
            </a:r>
            <a:r>
              <a:rPr lang="en-US" altLang="zh-CN" sz="1200" dirty="0"/>
              <a:t>w</a:t>
            </a:r>
            <a:r>
              <a:rPr lang="zh-CN" altLang="en-US" sz="1200" dirty="0"/>
              <a:t>的</a:t>
            </a:r>
            <a:r>
              <a:rPr lang="zh-CN" altLang="en-US" sz="1200" dirty="0">
                <a:solidFill>
                  <a:schemeClr val="hlink"/>
                </a:solidFill>
              </a:rPr>
              <a:t>最差有效伴侣</a:t>
            </a:r>
            <a:endParaRPr lang="en-US" altLang="zh-CN" sz="1200" dirty="0">
              <a:solidFill>
                <a:schemeClr val="hlink"/>
              </a:solidFill>
            </a:endParaRPr>
          </a:p>
          <a:p>
            <a:endParaRPr lang="en-US" altLang="zh-CN" sz="1200" dirty="0">
              <a:solidFill>
                <a:schemeClr val="hlink"/>
              </a:solidFill>
            </a:endParaRPr>
          </a:p>
          <a:p>
            <a:endParaRPr lang="zh-CN" altLang="en-US" dirty="0"/>
          </a:p>
        </p:txBody>
      </p:sp>
      <p:sp>
        <p:nvSpPr>
          <p:cNvPr id="4" name="灯片编号占位符 3">
            <a:extLst>
              <a:ext uri="{FF2B5EF4-FFF2-40B4-BE49-F238E27FC236}">
                <a16:creationId xmlns:a16="http://schemas.microsoft.com/office/drawing/2014/main" id="{A1B47F27-0FEC-772F-10AE-E1BC5F7954A7}"/>
              </a:ext>
            </a:extLst>
          </p:cNvPr>
          <p:cNvSpPr>
            <a:spLocks noGrp="1"/>
          </p:cNvSpPr>
          <p:nvPr>
            <p:ph type="sldNum" sz="quarter" idx="5"/>
          </p:nvPr>
        </p:nvSpPr>
        <p:spPr/>
        <p:txBody>
          <a:bodyPr/>
          <a:lstStyle/>
          <a:p>
            <a:pPr>
              <a:defRPr/>
            </a:pPr>
            <a:fld id="{65DDC9EC-DAE2-4D20-BCD0-186AA8ADCCC2}" type="slidenum">
              <a:rPr lang="zh-CN" altLang="en-US" smtClean="0"/>
              <a:pPr>
                <a:defRPr/>
              </a:pPr>
              <a:t>60</a:t>
            </a:fld>
            <a:endParaRPr lang="en-US" altLang="zh-CN"/>
          </a:p>
        </p:txBody>
      </p:sp>
    </p:spTree>
    <p:extLst>
      <p:ext uri="{BB962C8B-B14F-4D97-AF65-F5344CB8AC3E}">
        <p14:creationId xmlns:p14="http://schemas.microsoft.com/office/powerpoint/2010/main" val="9923217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66</a:t>
            </a:fld>
            <a:endParaRPr lang="en-US" altLang="zh-CN"/>
          </a:p>
        </p:txBody>
      </p:sp>
    </p:spTree>
    <p:extLst>
      <p:ext uri="{BB962C8B-B14F-4D97-AF65-F5344CB8AC3E}">
        <p14:creationId xmlns:p14="http://schemas.microsoft.com/office/powerpoint/2010/main" val="2356525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7507E-D9BF-7E5B-C9CA-E86B1651DD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973B1D-E046-BA1C-1245-DB95DA3DF0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0D58B0-5DEE-E39D-4FC2-B98464A7A95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3460FF-7808-2AF2-B346-94A464D6996B}"/>
              </a:ext>
            </a:extLst>
          </p:cNvPr>
          <p:cNvSpPr>
            <a:spLocks noGrp="1"/>
          </p:cNvSpPr>
          <p:nvPr>
            <p:ph type="sldNum" sz="quarter" idx="5"/>
          </p:nvPr>
        </p:nvSpPr>
        <p:spPr/>
        <p:txBody>
          <a:bodyPr/>
          <a:lstStyle/>
          <a:p>
            <a:pPr>
              <a:defRPr/>
            </a:pPr>
            <a:fld id="{65DDC9EC-DAE2-4D20-BCD0-186AA8ADCCC2}" type="slidenum">
              <a:rPr lang="zh-CN" altLang="en-US" smtClean="0"/>
              <a:pPr>
                <a:defRPr/>
              </a:pPr>
              <a:t>67</a:t>
            </a:fld>
            <a:endParaRPr lang="en-US" altLang="zh-CN"/>
          </a:p>
        </p:txBody>
      </p:sp>
    </p:spTree>
    <p:extLst>
      <p:ext uri="{BB962C8B-B14F-4D97-AF65-F5344CB8AC3E}">
        <p14:creationId xmlns:p14="http://schemas.microsoft.com/office/powerpoint/2010/main" val="3005664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贪心算法，就是一步一步的做选择，每一步做出在当前看来是最好的选择，也就是局部最优，不从整体最优考虑。</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71</a:t>
            </a:fld>
            <a:endParaRPr lang="en-US" altLang="zh-CN"/>
          </a:p>
        </p:txBody>
      </p:sp>
    </p:spTree>
    <p:extLst>
      <p:ext uri="{BB962C8B-B14F-4D97-AF65-F5344CB8AC3E}">
        <p14:creationId xmlns:p14="http://schemas.microsoft.com/office/powerpoint/2010/main" val="33015154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72</a:t>
            </a:fld>
            <a:endParaRPr lang="en-US" altLang="zh-CN"/>
          </a:p>
        </p:txBody>
      </p:sp>
    </p:spTree>
    <p:extLst>
      <p:ext uri="{BB962C8B-B14F-4D97-AF65-F5344CB8AC3E}">
        <p14:creationId xmlns:p14="http://schemas.microsoft.com/office/powerpoint/2010/main" val="825345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知道你有没有过这样一段经历。如果你们寝室里本来有四个同学。现在有一个同学出去了，但是你突然要找他有急事。现在有三名同学在寝室里面。那你是会三个同学一起先到图书馆找一下，再到球场找一下，再到食堂去找一下？还是会三个人分别一个人到食堂去找，一个人到图书馆去找，一个人到球场去找，然后通过电话联系。看这个同学在哪里呢？我想你一定偏向于选择后面那种方法。因为这种方法更加省时。这就是动态规划的思想。</a:t>
            </a:r>
            <a:endParaRPr lang="en-US" altLang="zh-CN" dirty="0"/>
          </a:p>
          <a:p>
            <a:endParaRPr lang="en-US" altLang="zh-CN" dirty="0"/>
          </a:p>
          <a:p>
            <a:r>
              <a:rPr lang="zh-CN" altLang="en-US" dirty="0"/>
              <a:t>那么，动态规划的思想也是：</a:t>
            </a:r>
            <a:endParaRPr lang="en-US" altLang="zh-CN" dirty="0"/>
          </a:p>
          <a:p>
            <a:endParaRPr lang="en-US" altLang="zh-CN" dirty="0"/>
          </a:p>
          <a:p>
            <a:r>
              <a:rPr lang="zh-CN" altLang="en-US" dirty="0"/>
              <a:t>将原问题分解为若干的子问题。先求子问题的解，然后从这些子问题的解种得到原问题的解。</a:t>
            </a:r>
            <a:endParaRPr lang="en-US" altLang="zh-CN" dirty="0"/>
          </a:p>
          <a:p>
            <a:endParaRPr lang="en-US" altLang="zh-CN" dirty="0"/>
          </a:p>
          <a:p>
            <a:r>
              <a:rPr lang="zh-CN" altLang="en-US" dirty="0"/>
              <a:t>但是这些子问题的解，往往并不是相互独立的。在求解的过程中，许多子问题的解被反复的使用。为了避免重复计算，那么动态规划就采用填表法来保存子问题的解。也就是说你们在寻找该同学的过程中。不用每条路径三个人都走一遍，而是每个人分别去找他。</a:t>
            </a:r>
            <a:endParaRPr lang="en-US" altLang="zh-CN" dirty="0"/>
          </a:p>
          <a:p>
            <a:endParaRPr lang="en-US" altLang="zh-CN" dirty="0"/>
          </a:p>
          <a:p>
            <a:r>
              <a:rPr lang="zh-CN" altLang="en-US" dirty="0"/>
              <a:t>然后将你得到的结果反馈出来，或者说存放在一个表里面。最终我查表就能知道，比如：他在图书馆没有找到，在球场没有找到等等这样的方式。那么，在算法中用表格来保存已经求解的子问题的解。无论他是否被使用到，当以后遇到该子问题的时候，直接取出它的解。就避免了大量的重复计算。</a:t>
            </a:r>
          </a:p>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75</a:t>
            </a:fld>
            <a:endParaRPr lang="en-US" altLang="zh-CN"/>
          </a:p>
        </p:txBody>
      </p:sp>
    </p:spTree>
    <p:extLst>
      <p:ext uri="{BB962C8B-B14F-4D97-AF65-F5344CB8AC3E}">
        <p14:creationId xmlns:p14="http://schemas.microsoft.com/office/powerpoint/2010/main" val="693988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匈牙利算法基于增广路径的思想。增广路径是指在当前匹配中，一条起点和终点都是未匹配点，且匹配边和非匹配边交替出现的路径。通过不断寻找增广路径并对匹配进行调整，可以逐步增加匹配的边数，直到找不到增广路径为止，此时得到的匹配就是最大匹配</a:t>
            </a:r>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81</a:t>
            </a:fld>
            <a:endParaRPr lang="en-US" altLang="zh-CN"/>
          </a:p>
        </p:txBody>
      </p:sp>
    </p:spTree>
    <p:extLst>
      <p:ext uri="{BB962C8B-B14F-4D97-AF65-F5344CB8AC3E}">
        <p14:creationId xmlns:p14="http://schemas.microsoft.com/office/powerpoint/2010/main" val="24509278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effectLst/>
                <a:latin typeface="Inter"/>
              </a:rPr>
              <a:t>NP </a:t>
            </a:r>
            <a:r>
              <a:rPr lang="zh-CN" altLang="en-US" b="0" i="0" dirty="0">
                <a:effectLst/>
                <a:latin typeface="Inter"/>
              </a:rPr>
              <a:t>完全问题是计算复杂性理论里的重要概念，以下为你介绍：</a:t>
            </a:r>
          </a:p>
          <a:p>
            <a:pPr algn="l">
              <a:spcAft>
                <a:spcPts val="300"/>
              </a:spcAft>
            </a:pPr>
            <a:r>
              <a:rPr lang="zh-CN" altLang="en-US" b="1" i="0" dirty="0">
                <a:effectLst/>
                <a:latin typeface="Inter"/>
              </a:rPr>
              <a:t>定义</a:t>
            </a:r>
          </a:p>
          <a:p>
            <a:pPr algn="l">
              <a:spcAft>
                <a:spcPts val="600"/>
              </a:spcAft>
              <a:buFont typeface="Arial" panose="020B0604020202020204" pitchFamily="34" charset="0"/>
              <a:buChar char="•"/>
            </a:pPr>
            <a:br>
              <a:rPr lang="zh-CN" altLang="en-US" dirty="0"/>
            </a:br>
            <a:r>
              <a:rPr lang="en-US" altLang="zh-CN" b="1" i="0" dirty="0">
                <a:solidFill>
                  <a:srgbClr val="222222"/>
                </a:solidFill>
                <a:effectLst/>
                <a:latin typeface="Inter"/>
              </a:rPr>
              <a:t>NP </a:t>
            </a:r>
            <a:r>
              <a:rPr lang="zh-CN" altLang="en-US" b="1" i="0" dirty="0">
                <a:solidFill>
                  <a:srgbClr val="222222"/>
                </a:solidFill>
                <a:effectLst/>
                <a:latin typeface="Inter"/>
              </a:rPr>
              <a:t>类问题</a:t>
            </a:r>
            <a:r>
              <a:rPr lang="zh-CN" altLang="en-US" b="0" i="0" dirty="0">
                <a:solidFill>
                  <a:srgbClr val="222222"/>
                </a:solidFill>
                <a:effectLst/>
                <a:latin typeface="Inter"/>
              </a:rPr>
              <a:t>：</a:t>
            </a:r>
            <a:r>
              <a:rPr lang="en-US" altLang="zh-CN" b="0" i="0" dirty="0">
                <a:solidFill>
                  <a:srgbClr val="222222"/>
                </a:solidFill>
                <a:effectLst/>
                <a:latin typeface="Inter"/>
              </a:rPr>
              <a:t>NP</a:t>
            </a:r>
            <a:r>
              <a:rPr lang="zh-CN" altLang="en-US" b="0" i="0" dirty="0">
                <a:solidFill>
                  <a:srgbClr val="222222"/>
                </a:solidFill>
                <a:effectLst/>
                <a:latin typeface="Inter"/>
              </a:rPr>
              <a:t>（</a:t>
            </a:r>
            <a:r>
              <a:rPr lang="en-US" altLang="zh-CN" b="0" i="0" dirty="0">
                <a:solidFill>
                  <a:srgbClr val="222222"/>
                </a:solidFill>
                <a:effectLst/>
                <a:latin typeface="Inter"/>
              </a:rPr>
              <a:t>Non - deterministic Polynomial</a:t>
            </a:r>
            <a:r>
              <a:rPr lang="zh-CN" altLang="en-US" b="0" i="0" dirty="0">
                <a:solidFill>
                  <a:srgbClr val="222222"/>
                </a:solidFill>
                <a:effectLst/>
                <a:latin typeface="Inter"/>
              </a:rPr>
              <a:t>）即非确定性多项式时间，</a:t>
            </a:r>
            <a:r>
              <a:rPr lang="en-US" altLang="zh-CN" b="0" i="0" dirty="0">
                <a:solidFill>
                  <a:srgbClr val="222222"/>
                </a:solidFill>
                <a:effectLst/>
                <a:latin typeface="Inter"/>
              </a:rPr>
              <a:t>NP </a:t>
            </a:r>
            <a:r>
              <a:rPr lang="zh-CN" altLang="en-US" b="0" i="0" dirty="0">
                <a:solidFill>
                  <a:srgbClr val="222222"/>
                </a:solidFill>
                <a:effectLst/>
                <a:latin typeface="Inter"/>
              </a:rPr>
              <a:t>类问题是指</a:t>
            </a:r>
            <a:r>
              <a:rPr lang="zh-CN" altLang="en-US" b="1" i="0" dirty="0">
                <a:solidFill>
                  <a:srgbClr val="222222"/>
                </a:solidFill>
                <a:effectLst/>
                <a:latin typeface="Inter"/>
              </a:rPr>
              <a:t>那些在非确定性图灵机上可以在多项式时间内验证一个解是否正确的判定问题。简单来说，对于这类问题的一个可能解，能在多项式时间内检查它是不是真的是解。</a:t>
            </a:r>
          </a:p>
          <a:p>
            <a:pPr algn="l">
              <a:spcBef>
                <a:spcPts val="600"/>
              </a:spcBef>
              <a:spcAft>
                <a:spcPts val="600"/>
              </a:spcAft>
              <a:buFont typeface="Arial" panose="020B0604020202020204" pitchFamily="34" charset="0"/>
              <a:buChar char="•"/>
            </a:pPr>
            <a:r>
              <a:rPr lang="en-US" altLang="zh-CN" b="1" i="0" dirty="0">
                <a:solidFill>
                  <a:srgbClr val="222222"/>
                </a:solidFill>
                <a:effectLst/>
                <a:latin typeface="Inter"/>
              </a:rPr>
              <a:t>NP </a:t>
            </a:r>
            <a:r>
              <a:rPr lang="zh-CN" altLang="en-US" b="1" i="0" dirty="0">
                <a:solidFill>
                  <a:srgbClr val="222222"/>
                </a:solidFill>
                <a:effectLst/>
                <a:latin typeface="Inter"/>
              </a:rPr>
              <a:t>完全问题</a:t>
            </a:r>
            <a:r>
              <a:rPr lang="zh-CN" altLang="en-US" b="0" i="0" dirty="0">
                <a:solidFill>
                  <a:srgbClr val="222222"/>
                </a:solidFill>
                <a:effectLst/>
                <a:latin typeface="Inter"/>
              </a:rPr>
              <a:t>：它是 </a:t>
            </a:r>
            <a:r>
              <a:rPr lang="en-US" altLang="zh-CN" b="0" i="0" dirty="0">
                <a:solidFill>
                  <a:srgbClr val="222222"/>
                </a:solidFill>
                <a:effectLst/>
                <a:latin typeface="Inter"/>
              </a:rPr>
              <a:t>NP </a:t>
            </a:r>
            <a:r>
              <a:rPr lang="zh-CN" altLang="en-US" b="0" i="0" dirty="0">
                <a:solidFill>
                  <a:srgbClr val="222222"/>
                </a:solidFill>
                <a:effectLst/>
                <a:latin typeface="Inter"/>
              </a:rPr>
              <a:t>类问题中 “最难” 的一类问题。具体指满足两个条件的问题，一是该问题属于 </a:t>
            </a:r>
            <a:r>
              <a:rPr lang="en-US" altLang="zh-CN" b="0" i="0" dirty="0">
                <a:solidFill>
                  <a:srgbClr val="222222"/>
                </a:solidFill>
                <a:effectLst/>
                <a:latin typeface="Inter"/>
              </a:rPr>
              <a:t>NP </a:t>
            </a:r>
            <a:r>
              <a:rPr lang="zh-CN" altLang="en-US" b="0" i="0" dirty="0">
                <a:solidFill>
                  <a:srgbClr val="222222"/>
                </a:solidFill>
                <a:effectLst/>
                <a:latin typeface="Inter"/>
              </a:rPr>
              <a:t>类；二是 </a:t>
            </a:r>
            <a:r>
              <a:rPr lang="en-US" altLang="zh-CN" b="0" i="0" dirty="0">
                <a:solidFill>
                  <a:srgbClr val="222222"/>
                </a:solidFill>
                <a:effectLst/>
                <a:latin typeface="Inter"/>
              </a:rPr>
              <a:t>NP </a:t>
            </a:r>
            <a:r>
              <a:rPr lang="zh-CN" altLang="en-US" b="0" i="0" dirty="0">
                <a:solidFill>
                  <a:srgbClr val="222222"/>
                </a:solidFill>
                <a:effectLst/>
                <a:latin typeface="Inter"/>
              </a:rPr>
              <a:t>中的所有其他问题都能在多项式时间内归约到该问题。这意味着如果能找到一个 </a:t>
            </a:r>
            <a:r>
              <a:rPr lang="en-US" altLang="zh-CN" b="0" i="0" dirty="0">
                <a:solidFill>
                  <a:srgbClr val="222222"/>
                </a:solidFill>
                <a:effectLst/>
                <a:latin typeface="Inter"/>
              </a:rPr>
              <a:t>NP </a:t>
            </a:r>
            <a:r>
              <a:rPr lang="zh-CN" altLang="en-US" b="0" i="0" dirty="0">
                <a:solidFill>
                  <a:srgbClr val="222222"/>
                </a:solidFill>
                <a:effectLst/>
                <a:latin typeface="Inter"/>
              </a:rPr>
              <a:t>完全问题的多项式时间算法，那么 </a:t>
            </a:r>
            <a:r>
              <a:rPr lang="en-US" altLang="zh-CN" b="0" i="0" dirty="0">
                <a:solidFill>
                  <a:srgbClr val="222222"/>
                </a:solidFill>
                <a:effectLst/>
                <a:latin typeface="Inter"/>
              </a:rPr>
              <a:t>NP </a:t>
            </a:r>
            <a:r>
              <a:rPr lang="zh-CN" altLang="en-US" b="0" i="0" dirty="0">
                <a:solidFill>
                  <a:srgbClr val="222222"/>
                </a:solidFill>
                <a:effectLst/>
                <a:latin typeface="Inter"/>
              </a:rPr>
              <a:t>类中的所有问题都能在多项式时间内解决。</a:t>
            </a:r>
          </a:p>
          <a:p>
            <a:pPr algn="l">
              <a:spcAft>
                <a:spcPts val="300"/>
              </a:spcAft>
            </a:pPr>
            <a:r>
              <a:rPr lang="zh-CN" altLang="en-US" b="1" i="0" dirty="0">
                <a:effectLst/>
                <a:latin typeface="Inter"/>
              </a:rPr>
              <a:t>特点</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验证容易求解难</a:t>
            </a:r>
            <a:r>
              <a:rPr lang="zh-CN" altLang="en-US" b="0" i="0" dirty="0">
                <a:solidFill>
                  <a:srgbClr val="222222"/>
                </a:solidFill>
                <a:effectLst/>
                <a:latin typeface="Inter"/>
              </a:rPr>
              <a:t>：可以快速验证一个解的正确性，但目前很多 </a:t>
            </a:r>
            <a:r>
              <a:rPr lang="en-US" altLang="zh-CN" b="0" i="0" dirty="0">
                <a:solidFill>
                  <a:srgbClr val="222222"/>
                </a:solidFill>
                <a:effectLst/>
                <a:latin typeface="Inter"/>
              </a:rPr>
              <a:t>NP </a:t>
            </a:r>
            <a:r>
              <a:rPr lang="zh-CN" altLang="en-US" b="0" i="0" dirty="0">
                <a:solidFill>
                  <a:srgbClr val="222222"/>
                </a:solidFill>
                <a:effectLst/>
                <a:latin typeface="Inter"/>
              </a:rPr>
              <a:t>完全问题没有已知的多项式时间求解算法，比如旅行商问题，要找到访问多个城市且总路程最短的路线，随着城市数量增加，求解时间可能指数级增长，但验证一个给定路线是否为最短相对容易。</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相互关联性</a:t>
            </a:r>
            <a:r>
              <a:rPr lang="zh-CN" altLang="en-US" b="0" i="0" dirty="0">
                <a:solidFill>
                  <a:srgbClr val="222222"/>
                </a:solidFill>
                <a:effectLst/>
                <a:latin typeface="Inter"/>
              </a:rPr>
              <a:t>：由于 </a:t>
            </a:r>
            <a:r>
              <a:rPr lang="en-US" altLang="zh-CN" b="0" i="0" dirty="0">
                <a:solidFill>
                  <a:srgbClr val="222222"/>
                </a:solidFill>
                <a:effectLst/>
                <a:latin typeface="Inter"/>
              </a:rPr>
              <a:t>NP </a:t>
            </a:r>
            <a:r>
              <a:rPr lang="zh-CN" altLang="en-US" b="0" i="0" dirty="0">
                <a:solidFill>
                  <a:srgbClr val="222222"/>
                </a:solidFill>
                <a:effectLst/>
                <a:latin typeface="Inter"/>
              </a:rPr>
              <a:t>完全问题之间可以多项式时间归约，所以它们在计算复杂性上是等价的，解决其中一个就解决了所有。</a:t>
            </a:r>
          </a:p>
          <a:p>
            <a:pPr algn="l">
              <a:spcAft>
                <a:spcPts val="300"/>
              </a:spcAft>
            </a:pPr>
            <a:r>
              <a:rPr lang="zh-CN" altLang="en-US" b="1" i="0" dirty="0">
                <a:effectLst/>
                <a:latin typeface="Inter"/>
              </a:rPr>
              <a:t>常见例子</a:t>
            </a:r>
          </a:p>
          <a:p>
            <a:pPr algn="l">
              <a:buFont typeface="Arial" panose="020B0604020202020204" pitchFamily="34" charset="0"/>
              <a:buChar char="•"/>
            </a:pPr>
            <a:br>
              <a:rPr lang="zh-CN" altLang="en-US" dirty="0"/>
            </a:br>
            <a:r>
              <a:rPr lang="zh-CN" altLang="en-US" b="1" i="0" dirty="0">
                <a:solidFill>
                  <a:srgbClr val="222222"/>
                </a:solidFill>
                <a:effectLst/>
                <a:latin typeface="Inter"/>
              </a:rPr>
              <a:t>背包问题</a:t>
            </a:r>
            <a:r>
              <a:rPr lang="zh-CN" altLang="en-US" b="0" i="0" dirty="0">
                <a:solidFill>
                  <a:srgbClr val="222222"/>
                </a:solidFill>
                <a:effectLst/>
                <a:latin typeface="Inter"/>
              </a:rPr>
              <a:t>：给定一组物品，每个物品有重量和价值，在背包容量有限的情况下，选择哪些物品放入背包能使总价值最大。判定能否达到一定价值的问题是 </a:t>
            </a:r>
            <a:r>
              <a:rPr lang="en-US" altLang="zh-CN" b="0" i="0" dirty="0">
                <a:solidFill>
                  <a:srgbClr val="222222"/>
                </a:solidFill>
                <a:effectLst/>
                <a:latin typeface="Inter"/>
              </a:rPr>
              <a:t>NP </a:t>
            </a:r>
            <a:r>
              <a:rPr lang="zh-CN" altLang="en-US" b="0" i="0" dirty="0">
                <a:solidFill>
                  <a:srgbClr val="222222"/>
                </a:solidFill>
                <a:effectLst/>
                <a:latin typeface="Inter"/>
              </a:rPr>
              <a:t>完全问题。</a:t>
            </a:r>
          </a:p>
          <a:p>
            <a:pPr algn="l">
              <a:spcBef>
                <a:spcPts val="600"/>
              </a:spcBef>
              <a:buFont typeface="Arial" panose="020B0604020202020204" pitchFamily="34" charset="0"/>
              <a:buChar char="•"/>
            </a:pPr>
            <a:r>
              <a:rPr lang="zh-CN" altLang="en-US" b="1" i="0" dirty="0">
                <a:solidFill>
                  <a:srgbClr val="222222"/>
                </a:solidFill>
                <a:effectLst/>
                <a:latin typeface="Inter"/>
              </a:rPr>
              <a:t>顶点覆盖问题</a:t>
            </a:r>
            <a:r>
              <a:rPr lang="zh-CN" altLang="en-US" b="0" i="0" dirty="0">
                <a:solidFill>
                  <a:srgbClr val="222222"/>
                </a:solidFill>
                <a:effectLst/>
                <a:latin typeface="Inter"/>
              </a:rPr>
              <a:t>：在给定图中，找出最小的顶点集合，使得图中每条边至少有一个端点在这个集合中，判定给定大小的顶点覆盖是否存在是 </a:t>
            </a:r>
            <a:r>
              <a:rPr lang="en-US" altLang="zh-CN" b="0" i="0" dirty="0">
                <a:solidFill>
                  <a:srgbClr val="222222"/>
                </a:solidFill>
                <a:effectLst/>
                <a:latin typeface="Inter"/>
              </a:rPr>
              <a:t>NP </a:t>
            </a:r>
            <a:r>
              <a:rPr lang="zh-CN" altLang="en-US" b="0" i="0" dirty="0">
                <a:solidFill>
                  <a:srgbClr val="222222"/>
                </a:solidFill>
                <a:effectLst/>
                <a:latin typeface="Inter"/>
              </a:rPr>
              <a:t>完全问题</a:t>
            </a:r>
            <a:endParaRPr lang="en-US" altLang="zh-CN" b="0" i="0" dirty="0">
              <a:solidFill>
                <a:srgbClr val="222222"/>
              </a:solidFill>
              <a:effectLst/>
              <a:latin typeface="Inter"/>
            </a:endParaRPr>
          </a:p>
          <a:p>
            <a:pPr algn="l">
              <a:spcAft>
                <a:spcPts val="600"/>
              </a:spcAft>
              <a:buFont typeface="Arial" panose="020B0604020202020204" pitchFamily="34" charset="0"/>
              <a:buNone/>
            </a:pPr>
            <a:endParaRPr lang="en-US" altLang="zh-CN" dirty="0"/>
          </a:p>
          <a:p>
            <a:pPr algn="l">
              <a:spcAft>
                <a:spcPts val="600"/>
              </a:spcAft>
              <a:buFont typeface="Arial" panose="020B0604020202020204" pitchFamily="34" charset="0"/>
              <a:buNone/>
            </a:pPr>
            <a:r>
              <a:rPr lang="en-US" altLang="zh-CN" dirty="0"/>
              <a:t>------------------------------</a:t>
            </a:r>
            <a:br>
              <a:rPr lang="zh-CN" altLang="en-US" dirty="0"/>
            </a:br>
            <a:r>
              <a:rPr lang="zh-CN" altLang="en-US" b="1" i="0" dirty="0">
                <a:solidFill>
                  <a:srgbClr val="222222"/>
                </a:solidFill>
                <a:effectLst/>
                <a:latin typeface="Inter"/>
              </a:rPr>
              <a:t>定义</a:t>
            </a:r>
            <a:r>
              <a:rPr lang="zh-CN" altLang="en-US" b="0" i="0" dirty="0">
                <a:solidFill>
                  <a:srgbClr val="222222"/>
                </a:solidFill>
                <a:effectLst/>
                <a:latin typeface="Inter"/>
              </a:rPr>
              <a:t>：非确定性图灵机是一种抽象的计算模型，它在计算过程中可以有多个可能的下一状态。与确定性图灵机在每个状态和输入符号下只有唯一的转移动作不同，非确定性图灵机在给定的状态和输入符号下，可以有多个可能的动作选择，这些选择构成一个集合。</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工作原理</a:t>
            </a:r>
            <a:r>
              <a:rPr lang="zh-CN" altLang="en-US" b="0" i="0" dirty="0">
                <a:solidFill>
                  <a:srgbClr val="222222"/>
                </a:solidFill>
                <a:effectLst/>
                <a:latin typeface="Inter"/>
              </a:rPr>
              <a:t>：非确定性图灵机在计算时，从初始状态开始，根据当前的状态和读写头所读到的符号，它会 “猜测” 一个可能的转移动作来执行，这个猜测的过程是不确定的。如果存在至少一条计算路径能够使得图灵机最终进入接受状态，那么就认为该非确定性图灵机接受给定的输入；如果所有可能的计算路径都不能使图灵机进入接受状态，则认为它拒绝该输入。</a:t>
            </a:r>
          </a:p>
          <a:p>
            <a:pPr algn="l">
              <a:spcAft>
                <a:spcPts val="300"/>
              </a:spcAft>
            </a:pPr>
            <a:r>
              <a:rPr lang="zh-CN" altLang="en-US" b="1" i="0" dirty="0">
                <a:effectLst/>
                <a:latin typeface="Inter"/>
              </a:rPr>
              <a:t>与确定性图灵机的区别</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转移函数</a:t>
            </a:r>
            <a:r>
              <a:rPr lang="zh-CN" altLang="en-US" b="0" i="0" dirty="0">
                <a:solidFill>
                  <a:srgbClr val="222222"/>
                </a:solidFill>
                <a:effectLst/>
                <a:latin typeface="Inter"/>
              </a:rPr>
              <a:t>：确定性图灵机的转移函数是一个从当前状态和输入符号到下一个状态、读写头移动方向和写入符号的映射，是唯一确定的。而非确定性图灵机的转移函数返回的是一个可能的转移动作集合，其中每个转移动作都包含下一个状态、读写头移动方向和写入符号等信息。</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计算路径</a:t>
            </a:r>
            <a:r>
              <a:rPr lang="zh-CN" altLang="en-US" b="0" i="0" dirty="0">
                <a:solidFill>
                  <a:srgbClr val="222222"/>
                </a:solidFill>
                <a:effectLst/>
                <a:latin typeface="Inter"/>
              </a:rPr>
              <a:t>：确定性图灵机对于给定的输入，其计算过程是唯一确定的，只有一条计算路径。非确定性图灵机对于给定的输入，可能有多个不同的计算路径，取决于每次 “猜测” 的转移动作。</a:t>
            </a:r>
          </a:p>
          <a:p>
            <a:pPr algn="l">
              <a:spcAft>
                <a:spcPts val="300"/>
              </a:spcAft>
            </a:pPr>
            <a:r>
              <a:rPr lang="zh-CN" altLang="en-US" b="1" i="0" dirty="0">
                <a:effectLst/>
                <a:latin typeface="Inter"/>
              </a:rPr>
              <a:t>在计算复杂性理论中的作用</a:t>
            </a:r>
          </a:p>
          <a:p>
            <a:pPr algn="l">
              <a:buFont typeface="Arial" panose="020B0604020202020204" pitchFamily="34" charset="0"/>
              <a:buChar char="•"/>
            </a:pPr>
            <a:br>
              <a:rPr lang="zh-CN" altLang="en-US" dirty="0"/>
            </a:br>
            <a:r>
              <a:rPr lang="zh-CN" altLang="en-US" b="1" i="0" dirty="0">
                <a:solidFill>
                  <a:srgbClr val="222222"/>
                </a:solidFill>
                <a:effectLst/>
                <a:latin typeface="Inter"/>
              </a:rPr>
              <a:t>定义复杂度类 </a:t>
            </a:r>
            <a:r>
              <a:rPr lang="en-US" altLang="zh-CN" b="1" i="0" dirty="0">
                <a:solidFill>
                  <a:srgbClr val="222222"/>
                </a:solidFill>
                <a:effectLst/>
                <a:latin typeface="Inter"/>
              </a:rPr>
              <a:t>NP</a:t>
            </a:r>
            <a:r>
              <a:rPr lang="zh-CN" altLang="en-US" b="0" i="0" dirty="0">
                <a:solidFill>
                  <a:srgbClr val="222222"/>
                </a:solidFill>
                <a:effectLst/>
                <a:latin typeface="Inter"/>
              </a:rPr>
              <a:t>：非确定性图灵机在计算复杂性理论中有着重要的地位，它主要用于定义 </a:t>
            </a:r>
            <a:r>
              <a:rPr lang="en-US" altLang="zh-CN" b="0" i="0" dirty="0">
                <a:solidFill>
                  <a:srgbClr val="222222"/>
                </a:solidFill>
                <a:effectLst/>
                <a:latin typeface="Inter"/>
              </a:rPr>
              <a:t>NP</a:t>
            </a:r>
            <a:r>
              <a:rPr lang="zh-CN" altLang="en-US" b="0" i="0" dirty="0">
                <a:solidFill>
                  <a:srgbClr val="222222"/>
                </a:solidFill>
                <a:effectLst/>
                <a:latin typeface="Inter"/>
              </a:rPr>
              <a:t>（</a:t>
            </a:r>
            <a:r>
              <a:rPr lang="en-US" altLang="zh-CN" b="0" i="0" dirty="0">
                <a:solidFill>
                  <a:srgbClr val="222222"/>
                </a:solidFill>
                <a:effectLst/>
                <a:latin typeface="Inter"/>
              </a:rPr>
              <a:t>Non-deterministic Polynomial time</a:t>
            </a:r>
            <a:r>
              <a:rPr lang="zh-CN" altLang="en-US" b="0" i="0" dirty="0">
                <a:solidFill>
                  <a:srgbClr val="222222"/>
                </a:solidFill>
                <a:effectLst/>
                <a:latin typeface="Inter"/>
              </a:rPr>
              <a:t>）复杂度类。</a:t>
            </a:r>
            <a:r>
              <a:rPr lang="en-US" altLang="zh-CN" b="0" i="0" dirty="0">
                <a:solidFill>
                  <a:srgbClr val="222222"/>
                </a:solidFill>
                <a:effectLst/>
                <a:latin typeface="Inter"/>
              </a:rPr>
              <a:t>NP </a:t>
            </a:r>
            <a:r>
              <a:rPr lang="zh-CN" altLang="en-US" b="0" i="0" dirty="0">
                <a:solidFill>
                  <a:srgbClr val="222222"/>
                </a:solidFill>
                <a:effectLst/>
                <a:latin typeface="Inter"/>
              </a:rPr>
              <a:t>类问题就是指那些可以在非确定性图灵机上在多项式时间内解决的判定问题。具体来说，如果一个判定问题的解可以在非确定性图灵机上以多项式时间验证其正确性，那么这个问题就属于 </a:t>
            </a:r>
            <a:r>
              <a:rPr lang="en-US" altLang="zh-CN" b="0" i="0" dirty="0">
                <a:solidFill>
                  <a:srgbClr val="222222"/>
                </a:solidFill>
                <a:effectLst/>
                <a:latin typeface="Inter"/>
              </a:rPr>
              <a:t>NP </a:t>
            </a:r>
            <a:r>
              <a:rPr lang="zh-CN" altLang="en-US" b="0" i="0" dirty="0">
                <a:solidFill>
                  <a:srgbClr val="222222"/>
                </a:solidFill>
                <a:effectLst/>
                <a:latin typeface="Inter"/>
              </a:rPr>
              <a:t>类。例如，对于一个给定的图是否存在哈密顿回路的问题，在非确定性图灵机上可以通过 “猜测” 一个路径，然后在多项式时间内验证这个路径是否是哈密顿回路，所以该问题属于 </a:t>
            </a:r>
            <a:r>
              <a:rPr lang="en-US" altLang="zh-CN" b="0" i="0" dirty="0">
                <a:solidFill>
                  <a:srgbClr val="222222"/>
                </a:solidFill>
                <a:effectLst/>
                <a:latin typeface="Inter"/>
              </a:rPr>
              <a:t>NP </a:t>
            </a:r>
            <a:r>
              <a:rPr lang="zh-CN" altLang="en-US" b="0" i="0" dirty="0">
                <a:solidFill>
                  <a:srgbClr val="222222"/>
                </a:solidFill>
                <a:effectLst/>
                <a:latin typeface="Inter"/>
              </a:rPr>
              <a:t>类。</a:t>
            </a:r>
          </a:p>
          <a:p>
            <a:pPr algn="l">
              <a:spcBef>
                <a:spcPts val="600"/>
              </a:spcBef>
              <a:buFont typeface="Arial" panose="020B0604020202020204" pitchFamily="34" charset="0"/>
              <a:buChar char="•"/>
            </a:pPr>
            <a:r>
              <a:rPr lang="zh-CN" altLang="en-US" b="1" i="0" dirty="0">
                <a:solidFill>
                  <a:srgbClr val="222222"/>
                </a:solidFill>
                <a:effectLst/>
                <a:latin typeface="Inter"/>
              </a:rPr>
              <a:t>与其他复杂度类的关系研究</a:t>
            </a:r>
            <a:r>
              <a:rPr lang="zh-CN" altLang="en-US" b="0" i="0" dirty="0">
                <a:solidFill>
                  <a:srgbClr val="222222"/>
                </a:solidFill>
                <a:effectLst/>
                <a:latin typeface="Inter"/>
              </a:rPr>
              <a:t>：非确定性图灵机也用于研究不同复杂度类之间的关系。例如，</a:t>
            </a:r>
            <a:r>
              <a:rPr lang="en-US" altLang="zh-CN" b="0" i="0" dirty="0">
                <a:solidFill>
                  <a:srgbClr val="222222"/>
                </a:solidFill>
                <a:effectLst/>
                <a:latin typeface="Inter"/>
              </a:rPr>
              <a:t>P</a:t>
            </a:r>
            <a:r>
              <a:rPr lang="zh-CN" altLang="en-US" b="0" i="0" dirty="0">
                <a:solidFill>
                  <a:srgbClr val="222222"/>
                </a:solidFill>
                <a:effectLst/>
                <a:latin typeface="Inter"/>
              </a:rPr>
              <a:t>（确定性多项式时间）类问题是可以在确定性图灵机上在多项式时间内解决的问题类。目前一个著名的未解决问题就是 </a:t>
            </a:r>
            <a:r>
              <a:rPr lang="en-US" altLang="zh-CN" b="0" i="0" dirty="0">
                <a:solidFill>
                  <a:srgbClr val="222222"/>
                </a:solidFill>
                <a:effectLst/>
                <a:latin typeface="Inter"/>
              </a:rPr>
              <a:t>P </a:t>
            </a:r>
            <a:r>
              <a:rPr lang="zh-CN" altLang="en-US" b="0" i="0" dirty="0">
                <a:solidFill>
                  <a:srgbClr val="222222"/>
                </a:solidFill>
                <a:effectLst/>
                <a:latin typeface="Inter"/>
              </a:rPr>
              <a:t>是否等于 </a:t>
            </a:r>
            <a:r>
              <a:rPr lang="en-US" altLang="zh-CN" b="0" i="0" dirty="0">
                <a:solidFill>
                  <a:srgbClr val="222222"/>
                </a:solidFill>
                <a:effectLst/>
                <a:latin typeface="Inter"/>
              </a:rPr>
              <a:t>NP</a:t>
            </a:r>
            <a:r>
              <a:rPr lang="zh-CN" altLang="en-US" b="0" i="0" dirty="0">
                <a:solidFill>
                  <a:srgbClr val="222222"/>
                </a:solidFill>
                <a:effectLst/>
                <a:latin typeface="Inter"/>
              </a:rPr>
              <a:t>，即是否所有可以在非确定性图灵机上多项式时间解决的问题也都可以在确定性图灵机上多项式时间解决，这是计算复杂性理论中最重要的开放性问题之一。</a:t>
            </a:r>
            <a:endParaRPr lang="en-US" altLang="zh-CN" b="0" i="0" dirty="0">
              <a:solidFill>
                <a:srgbClr val="222222"/>
              </a:solidFill>
              <a:effectLst/>
              <a:latin typeface="Inter"/>
            </a:endParaRPr>
          </a:p>
          <a:p>
            <a:pPr algn="l">
              <a:spcBef>
                <a:spcPts val="600"/>
              </a:spcBef>
              <a:buFont typeface="Arial" panose="020B0604020202020204" pitchFamily="34" charset="0"/>
              <a:buChar char="•"/>
            </a:pPr>
            <a:r>
              <a:rPr lang="en-US" altLang="zh-CN" b="0" i="0" dirty="0">
                <a:solidFill>
                  <a:srgbClr val="222222"/>
                </a:solidFill>
                <a:effectLst/>
                <a:latin typeface="Inter"/>
              </a:rPr>
              <a:t>-----------------------</a:t>
            </a:r>
          </a:p>
          <a:p>
            <a:pPr algn="l"/>
            <a:r>
              <a:rPr lang="zh-CN" altLang="en-US" b="0" i="0" dirty="0">
                <a:effectLst/>
                <a:latin typeface="Inter"/>
              </a:rPr>
              <a:t>图灵机由英国数学家艾伦・图灵在 </a:t>
            </a:r>
            <a:r>
              <a:rPr lang="en-US" altLang="zh-CN" b="0" i="0" dirty="0">
                <a:effectLst/>
                <a:latin typeface="Inter"/>
              </a:rPr>
              <a:t>1936 </a:t>
            </a:r>
            <a:r>
              <a:rPr lang="zh-CN" altLang="en-US" b="0" i="0" dirty="0">
                <a:effectLst/>
                <a:latin typeface="Inter"/>
              </a:rPr>
              <a:t>年提出，是一种抽象的计算模型，被广泛用于研究计算的本质和极限，以下是关于它的详细介绍：</a:t>
            </a:r>
          </a:p>
          <a:p>
            <a:pPr algn="l">
              <a:spcAft>
                <a:spcPts val="300"/>
              </a:spcAft>
            </a:pPr>
            <a:r>
              <a:rPr lang="zh-CN" altLang="en-US" b="1" i="0" dirty="0">
                <a:effectLst/>
                <a:latin typeface="Inter"/>
              </a:rPr>
              <a:t>基本结构</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纸带</a:t>
            </a:r>
            <a:r>
              <a:rPr lang="zh-CN" altLang="en-US" b="0" i="0" dirty="0">
                <a:solidFill>
                  <a:srgbClr val="222222"/>
                </a:solidFill>
                <a:effectLst/>
                <a:latin typeface="Inter"/>
              </a:rPr>
              <a:t>：纸带被划分成一个个的小方格，每个方格可以存储一个符号，纸带在理论上是无限长的，能够向两端无限延伸，用于存储计算所需的数据和中间结果等。</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读写头</a:t>
            </a:r>
            <a:r>
              <a:rPr lang="zh-CN" altLang="en-US" b="0" i="0" dirty="0">
                <a:solidFill>
                  <a:srgbClr val="222222"/>
                </a:solidFill>
                <a:effectLst/>
                <a:latin typeface="Inter"/>
              </a:rPr>
              <a:t>：读写头位于纸带上，它可以在纸带上左右移动，能够读取当前所指方格中的符号，也可以根据指令在方格中写入新的符号，从而实现对纸带信息的修改。</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状态寄存器</a:t>
            </a:r>
            <a:r>
              <a:rPr lang="zh-CN" altLang="en-US" b="0" i="0" dirty="0">
                <a:solidFill>
                  <a:srgbClr val="222222"/>
                </a:solidFill>
                <a:effectLst/>
                <a:latin typeface="Inter"/>
              </a:rPr>
              <a:t>：用于记录图灵机当前所处的状态，图灵机有一个有限的状态集合，包括初始状态和一些特定的接受状态、拒绝状态等，通过状态的转换来控制图灵机的运行过程。</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控制单元</a:t>
            </a:r>
            <a:r>
              <a:rPr lang="zh-CN" altLang="en-US" b="0" i="0" dirty="0">
                <a:solidFill>
                  <a:srgbClr val="222222"/>
                </a:solidFill>
                <a:effectLst/>
                <a:latin typeface="Inter"/>
              </a:rPr>
              <a:t>：控制单元根据图灵机当前的状态以及读写头读取到的纸带符号，按照预先定义的规则（转移函数）来决定图灵机的下一步动作，如改变状态、移动读写头、在纸带上写入符号等。</a:t>
            </a:r>
          </a:p>
          <a:p>
            <a:pPr algn="l">
              <a:spcAft>
                <a:spcPts val="300"/>
              </a:spcAft>
            </a:pPr>
            <a:r>
              <a:rPr lang="zh-CN" altLang="en-US" b="1" i="0" dirty="0">
                <a:effectLst/>
                <a:latin typeface="Inter"/>
              </a:rPr>
              <a:t>工作原理</a:t>
            </a:r>
          </a:p>
          <a:p>
            <a:pPr algn="l">
              <a:spcAft>
                <a:spcPts val="600"/>
              </a:spcAft>
              <a:buFont typeface="Arial" panose="020B0604020202020204" pitchFamily="34" charset="0"/>
              <a:buChar char="•"/>
            </a:pPr>
            <a:br>
              <a:rPr lang="zh-CN" altLang="en-US" dirty="0"/>
            </a:br>
            <a:r>
              <a:rPr lang="zh-CN" altLang="en-US" b="0" i="0" dirty="0">
                <a:solidFill>
                  <a:srgbClr val="222222"/>
                </a:solidFill>
                <a:effectLst/>
                <a:latin typeface="Inter"/>
              </a:rPr>
              <a:t>图灵机从初始状态开始，读写头位于纸带的某个初始位置，此时图灵机根据当前状态和读写头所读取到的纸带符号，依据转移函数来确定下一步的操作。转移函数通常是一个事先定义好的规则集合，它规定了在每种状态和输入符号组合下，图灵机要执行的动作，可能包括将读写头向左或向右移动一格、在当前方格写入一个新符号、改变状态寄存器中的状态等。图灵机按照转移函数不断地执行这些操作，直到达到一个特定的接受状态或拒绝状态，或者进入一个无限循环无法停止。如果图灵机最终进入了接受状态，就认为它接受了给定的输入；如果进入拒绝状态或一直循环下去，则认为它拒绝了该输入或无法得出结果。</a:t>
            </a:r>
          </a:p>
          <a:p>
            <a:pPr algn="l">
              <a:spcAft>
                <a:spcPts val="300"/>
              </a:spcAft>
            </a:pPr>
            <a:r>
              <a:rPr lang="zh-CN" altLang="en-US" b="1" i="0" dirty="0">
                <a:effectLst/>
                <a:latin typeface="Inter"/>
              </a:rPr>
              <a:t>主要类型</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确定性图灵机</a:t>
            </a:r>
            <a:r>
              <a:rPr lang="zh-CN" altLang="en-US" b="0" i="0" dirty="0">
                <a:solidFill>
                  <a:srgbClr val="222222"/>
                </a:solidFill>
                <a:effectLst/>
                <a:latin typeface="Inter"/>
              </a:rPr>
              <a:t>：在每个状态和输入符号下，转移函数都唯一地确定了下一个状态、读写头的移动方向和要写入的符号，计算过程是完全确定的，对于给定的输入，其计算路径和结果都是唯一的。</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非确定性图灵机</a:t>
            </a:r>
            <a:r>
              <a:rPr lang="zh-CN" altLang="en-US" b="0" i="0" dirty="0">
                <a:solidFill>
                  <a:srgbClr val="222222"/>
                </a:solidFill>
                <a:effectLst/>
                <a:latin typeface="Inter"/>
              </a:rPr>
              <a:t>：在给定的状态和输入符号下，转移函数返回的是一个可能的转移动作集合，图灵机在计算时可以 “猜测” 其中一个动作来执行，存在多个可能的计算路径，只要有一条路径能使图灵机进入接受状态，就认为它接受给定的输入。</a:t>
            </a:r>
          </a:p>
          <a:p>
            <a:pPr algn="l">
              <a:spcAft>
                <a:spcPts val="300"/>
              </a:spcAft>
            </a:pPr>
            <a:r>
              <a:rPr lang="zh-CN" altLang="en-US" b="1" i="0" dirty="0">
                <a:effectLst/>
                <a:latin typeface="Inter"/>
              </a:rPr>
              <a:t>意义与应用</a:t>
            </a:r>
          </a:p>
          <a:p>
            <a:pPr algn="l">
              <a:buFont typeface="Arial" panose="020B0604020202020204" pitchFamily="34" charset="0"/>
              <a:buChar char="•"/>
            </a:pPr>
            <a:br>
              <a:rPr lang="zh-CN" altLang="en-US" dirty="0"/>
            </a:br>
            <a:r>
              <a:rPr lang="zh-CN" altLang="en-US" b="1" i="0" dirty="0">
                <a:solidFill>
                  <a:srgbClr val="222222"/>
                </a:solidFill>
                <a:effectLst/>
                <a:latin typeface="Inter"/>
              </a:rPr>
              <a:t>理论意义</a:t>
            </a:r>
            <a:r>
              <a:rPr lang="zh-CN" altLang="en-US" b="0" i="0" dirty="0">
                <a:solidFill>
                  <a:srgbClr val="222222"/>
                </a:solidFill>
                <a:effectLst/>
                <a:latin typeface="Inter"/>
              </a:rPr>
              <a:t>：图灵机为计算理论提供了一个严格的数学模型，使得人们能够精确地研究计算的本质、可计算性等问题，为现代计算机科学奠定了理论基础，是研究计算复杂性理论、可计算函数等领域的重要工具。例如，通过图灵机可以定义和研究不同的复杂度类，如 </a:t>
            </a:r>
            <a:r>
              <a:rPr lang="en-US" altLang="zh-CN" b="0" i="0" dirty="0">
                <a:solidFill>
                  <a:srgbClr val="222222"/>
                </a:solidFill>
                <a:effectLst/>
                <a:latin typeface="Inter"/>
              </a:rPr>
              <a:t>P </a:t>
            </a:r>
            <a:r>
              <a:rPr lang="zh-CN" altLang="en-US" b="0" i="0" dirty="0">
                <a:solidFill>
                  <a:srgbClr val="222222"/>
                </a:solidFill>
                <a:effectLst/>
                <a:latin typeface="Inter"/>
              </a:rPr>
              <a:t>类、</a:t>
            </a:r>
            <a:r>
              <a:rPr lang="en-US" altLang="zh-CN" b="0" i="0" dirty="0">
                <a:solidFill>
                  <a:srgbClr val="222222"/>
                </a:solidFill>
                <a:effectLst/>
                <a:latin typeface="Inter"/>
              </a:rPr>
              <a:t>NP </a:t>
            </a:r>
            <a:r>
              <a:rPr lang="zh-CN" altLang="en-US" b="0" i="0" dirty="0">
                <a:solidFill>
                  <a:srgbClr val="222222"/>
                </a:solidFill>
                <a:effectLst/>
                <a:latin typeface="Inter"/>
              </a:rPr>
              <a:t>类等，从而深入探讨计算问题的难度层次。</a:t>
            </a:r>
          </a:p>
          <a:p>
            <a:pPr algn="l">
              <a:spcBef>
                <a:spcPts val="600"/>
              </a:spcBef>
              <a:buFont typeface="Arial" panose="020B0604020202020204" pitchFamily="34" charset="0"/>
              <a:buChar char="•"/>
            </a:pPr>
            <a:r>
              <a:rPr lang="zh-CN" altLang="en-US" b="1" i="0" dirty="0">
                <a:solidFill>
                  <a:srgbClr val="222222"/>
                </a:solidFill>
                <a:effectLst/>
                <a:latin typeface="Inter"/>
              </a:rPr>
              <a:t>实际应用</a:t>
            </a:r>
            <a:r>
              <a:rPr lang="zh-CN" altLang="en-US" b="0" i="0" dirty="0">
                <a:solidFill>
                  <a:srgbClr val="222222"/>
                </a:solidFill>
                <a:effectLst/>
                <a:latin typeface="Inter"/>
              </a:rPr>
              <a:t>：虽然图灵机是一种抽象的理论模型，但它对实际计算机的设计和发展有着深远的影响，现代计算机的基本架构和工作原理在很大程度上借鉴了图灵机的思想，如存储程序和程序控制的概念等。在编译器设计、自动机理论、形式语言与自动机等领域，图灵机的相关理论和方法被广泛应用于语法分析、词法分析等方面。</a:t>
            </a:r>
          </a:p>
          <a:p>
            <a:pPr algn="l">
              <a:spcBef>
                <a:spcPts val="600"/>
              </a:spcBef>
              <a:buFont typeface="Arial" panose="020B0604020202020204" pitchFamily="34" charset="0"/>
              <a:buChar char="•"/>
            </a:pPr>
            <a:endParaRPr lang="zh-CN" altLang="en-US" b="0" i="0" dirty="0">
              <a:solidFill>
                <a:srgbClr val="222222"/>
              </a:solidFill>
              <a:effectLst/>
              <a:latin typeface="Inter"/>
            </a:endParaRPr>
          </a:p>
          <a:p>
            <a:pPr algn="l">
              <a:spcBef>
                <a:spcPts val="600"/>
              </a:spcBef>
              <a:buFont typeface="Arial" panose="020B0604020202020204" pitchFamily="34" charset="0"/>
              <a:buChar char="•"/>
            </a:pPr>
            <a:endParaRPr lang="zh-CN" altLang="en-US" b="0" i="0" dirty="0">
              <a:solidFill>
                <a:srgbClr val="222222"/>
              </a:solidFill>
              <a:effectLst/>
              <a:latin typeface="Inter"/>
            </a:endParaRPr>
          </a:p>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86</a:t>
            </a:fld>
            <a:endParaRPr lang="en-US" altLang="zh-CN"/>
          </a:p>
        </p:txBody>
      </p:sp>
    </p:spTree>
    <p:extLst>
      <p:ext uri="{BB962C8B-B14F-4D97-AF65-F5344CB8AC3E}">
        <p14:creationId xmlns:p14="http://schemas.microsoft.com/office/powerpoint/2010/main" val="1428107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90</a:t>
            </a:fld>
            <a:endParaRPr lang="en-US" altLang="zh-CN"/>
          </a:p>
        </p:txBody>
      </p:sp>
    </p:spTree>
    <p:extLst>
      <p:ext uri="{BB962C8B-B14F-4D97-AF65-F5344CB8AC3E}">
        <p14:creationId xmlns:p14="http://schemas.microsoft.com/office/powerpoint/2010/main" val="17317122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Aft>
                <a:spcPts val="300"/>
              </a:spcAft>
            </a:pPr>
            <a:r>
              <a:rPr lang="zh-CN" altLang="en-US" b="1" i="0" dirty="0">
                <a:effectLst/>
                <a:latin typeface="Inter"/>
              </a:rPr>
              <a:t>博弈过程的复杂性</a:t>
            </a:r>
          </a:p>
          <a:p>
            <a:pPr algn="l"/>
            <a:br>
              <a:rPr lang="zh-CN" altLang="en-US" dirty="0"/>
            </a:br>
            <a:r>
              <a:rPr lang="zh-CN" altLang="en-US" b="0" i="0" dirty="0">
                <a:effectLst/>
                <a:latin typeface="Inter"/>
              </a:rPr>
              <a:t>在竞争便利店选址的博弈中，</a:t>
            </a:r>
            <a:r>
              <a:rPr lang="en-US" altLang="zh-CN" b="0" i="0" dirty="0">
                <a:effectLst/>
                <a:latin typeface="Inter"/>
              </a:rPr>
              <a:t>P1 </a:t>
            </a:r>
            <a:r>
              <a:rPr lang="zh-CN" altLang="en-US" b="0" i="0" dirty="0">
                <a:effectLst/>
                <a:latin typeface="Inter"/>
              </a:rPr>
              <a:t>和 </a:t>
            </a:r>
            <a:r>
              <a:rPr lang="en-US" altLang="zh-CN" b="0" i="0" dirty="0">
                <a:effectLst/>
                <a:latin typeface="Inter"/>
              </a:rPr>
              <a:t>P2 </a:t>
            </a:r>
            <a:r>
              <a:rPr lang="zh-CN" altLang="en-US" b="0" i="0" dirty="0">
                <a:effectLst/>
                <a:latin typeface="Inter"/>
              </a:rPr>
              <a:t>交替选择结点。</a:t>
            </a:r>
            <a:r>
              <a:rPr lang="en-US" altLang="zh-CN" b="0" i="0" dirty="0">
                <a:effectLst/>
                <a:latin typeface="Inter"/>
              </a:rPr>
              <a:t>P1 </a:t>
            </a:r>
            <a:r>
              <a:rPr lang="zh-CN" altLang="en-US" b="0" i="0" dirty="0">
                <a:effectLst/>
                <a:latin typeface="Inter"/>
              </a:rPr>
              <a:t>的每一步选择都会影响 </a:t>
            </a:r>
            <a:r>
              <a:rPr lang="en-US" altLang="zh-CN" b="0" i="0" dirty="0">
                <a:effectLst/>
                <a:latin typeface="Inter"/>
              </a:rPr>
              <a:t>P2 </a:t>
            </a:r>
            <a:r>
              <a:rPr lang="zh-CN" altLang="en-US" b="0" i="0" dirty="0">
                <a:effectLst/>
                <a:latin typeface="Inter"/>
              </a:rPr>
              <a:t>后续的可选择范围和最优策略。</a:t>
            </a:r>
            <a:r>
              <a:rPr lang="en-US" altLang="zh-CN" b="0" i="0" dirty="0">
                <a:effectLst/>
                <a:latin typeface="Inter"/>
              </a:rPr>
              <a:t>P2 </a:t>
            </a:r>
            <a:r>
              <a:rPr lang="zh-CN" altLang="en-US" b="0" i="0" dirty="0">
                <a:effectLst/>
                <a:latin typeface="Inter"/>
              </a:rPr>
              <a:t>需要根据 </a:t>
            </a:r>
            <a:r>
              <a:rPr lang="en-US" altLang="zh-CN" b="0" i="0" dirty="0">
                <a:effectLst/>
                <a:latin typeface="Inter"/>
              </a:rPr>
              <a:t>P1 </a:t>
            </a:r>
            <a:r>
              <a:rPr lang="zh-CN" altLang="en-US" b="0" i="0" dirty="0">
                <a:effectLst/>
                <a:latin typeface="Inter"/>
              </a:rPr>
              <a:t>的选择不断调整自己的决策，这使得整个博弈过程具有动态性和不确定性。例如，</a:t>
            </a:r>
            <a:r>
              <a:rPr lang="en-US" altLang="zh-CN" b="0" i="0" dirty="0">
                <a:effectLst/>
                <a:latin typeface="Inter"/>
              </a:rPr>
              <a:t>P1 </a:t>
            </a:r>
            <a:r>
              <a:rPr lang="zh-CN" altLang="en-US" b="0" i="0" dirty="0">
                <a:effectLst/>
                <a:latin typeface="Inter"/>
              </a:rPr>
              <a:t>可能会采取一些策略性的选择来干扰 </a:t>
            </a:r>
            <a:r>
              <a:rPr lang="en-US" altLang="zh-CN" b="0" i="0" dirty="0">
                <a:effectLst/>
                <a:latin typeface="Inter"/>
              </a:rPr>
              <a:t>P2 </a:t>
            </a:r>
            <a:r>
              <a:rPr lang="zh-CN" altLang="en-US" b="0" i="0" dirty="0">
                <a:effectLst/>
                <a:latin typeface="Inter"/>
              </a:rPr>
              <a:t>达到目标，</a:t>
            </a:r>
            <a:r>
              <a:rPr lang="en-US" altLang="zh-CN" b="0" i="0" dirty="0">
                <a:effectLst/>
                <a:latin typeface="Inter"/>
              </a:rPr>
              <a:t>P2 </a:t>
            </a:r>
            <a:r>
              <a:rPr lang="zh-CN" altLang="en-US" b="0" i="0" dirty="0">
                <a:effectLst/>
                <a:latin typeface="Inter"/>
              </a:rPr>
              <a:t>则需要在复杂的局面下做出最优应对，这增加了确定 </a:t>
            </a:r>
            <a:r>
              <a:rPr lang="en-US" altLang="zh-CN" b="0" i="0" dirty="0">
                <a:effectLst/>
                <a:latin typeface="Inter"/>
              </a:rPr>
              <a:t>P2 </a:t>
            </a:r>
            <a:r>
              <a:rPr lang="zh-CN" altLang="en-US" b="0" i="0" dirty="0">
                <a:effectLst/>
                <a:latin typeface="Inter"/>
              </a:rPr>
              <a:t>是否有赢的策略的难度。</a:t>
            </a:r>
          </a:p>
          <a:p>
            <a:pPr algn="l">
              <a:spcAft>
                <a:spcPts val="300"/>
              </a:spcAft>
            </a:pPr>
            <a:r>
              <a:rPr lang="zh-CN" altLang="en-US" b="1" i="0" dirty="0">
                <a:effectLst/>
                <a:latin typeface="Inter"/>
              </a:rPr>
              <a:t>目标界的敏感性</a:t>
            </a:r>
          </a:p>
          <a:p>
            <a:pPr algn="l"/>
            <a:br>
              <a:rPr lang="zh-CN" altLang="en-US" dirty="0"/>
            </a:br>
            <a:r>
              <a:rPr lang="zh-CN" altLang="en-US" b="0" i="0" dirty="0">
                <a:effectLst/>
                <a:latin typeface="Inter"/>
              </a:rPr>
              <a:t>不同的目标界 </a:t>
            </a:r>
            <a:r>
              <a:rPr lang="en-US" altLang="zh-CN" b="0" i="0" dirty="0">
                <a:effectLst/>
                <a:latin typeface="Inter"/>
              </a:rPr>
              <a:t>B</a:t>
            </a:r>
            <a:r>
              <a:rPr lang="zh-CN" altLang="en-US" b="0" i="0" dirty="0">
                <a:effectLst/>
                <a:latin typeface="Inter"/>
              </a:rPr>
              <a:t>（如例子中的 </a:t>
            </a:r>
            <a:r>
              <a:rPr lang="en-US" altLang="zh-CN" b="0" i="0" dirty="0">
                <a:effectLst/>
                <a:latin typeface="Inter"/>
              </a:rPr>
              <a:t>20 </a:t>
            </a:r>
            <a:r>
              <a:rPr lang="zh-CN" altLang="en-US" b="0" i="0" dirty="0">
                <a:effectLst/>
                <a:latin typeface="Inter"/>
              </a:rPr>
              <a:t>和 </a:t>
            </a:r>
            <a:r>
              <a:rPr lang="en-US" altLang="zh-CN" b="0" i="0" dirty="0">
                <a:effectLst/>
                <a:latin typeface="Inter"/>
              </a:rPr>
              <a:t>25 </a:t>
            </a:r>
            <a:r>
              <a:rPr lang="zh-CN" altLang="en-US" b="0" i="0" dirty="0">
                <a:effectLst/>
                <a:latin typeface="Inter"/>
              </a:rPr>
              <a:t>）对 </a:t>
            </a:r>
            <a:r>
              <a:rPr lang="en-US" altLang="zh-CN" b="0" i="0" dirty="0">
                <a:effectLst/>
                <a:latin typeface="Inter"/>
              </a:rPr>
              <a:t>P2 </a:t>
            </a:r>
            <a:r>
              <a:rPr lang="zh-CN" altLang="en-US" b="0" i="0" dirty="0">
                <a:effectLst/>
                <a:latin typeface="Inter"/>
              </a:rPr>
              <a:t>是否有赢的策略产生了截然不同的结果。即使是在同一个图中，随着目标界 </a:t>
            </a:r>
            <a:r>
              <a:rPr lang="en-US" altLang="zh-CN" b="0" i="0" dirty="0">
                <a:effectLst/>
                <a:latin typeface="Inter"/>
              </a:rPr>
              <a:t>B </a:t>
            </a:r>
            <a:r>
              <a:rPr lang="zh-CN" altLang="en-US" b="0" i="0" dirty="0">
                <a:effectLst/>
                <a:latin typeface="Inter"/>
              </a:rPr>
              <a:t>的微小变化，</a:t>
            </a:r>
            <a:r>
              <a:rPr lang="en-US" altLang="zh-CN" b="0" i="0" dirty="0">
                <a:effectLst/>
                <a:latin typeface="Inter"/>
              </a:rPr>
              <a:t>P2 </a:t>
            </a:r>
            <a:r>
              <a:rPr lang="zh-CN" altLang="en-US" b="0" i="0" dirty="0">
                <a:effectLst/>
                <a:latin typeface="Inter"/>
              </a:rPr>
              <a:t>的策略可行性也会发生改变。这意味着要确定在某个大小适当的图中 </a:t>
            </a:r>
            <a:r>
              <a:rPr lang="en-US" altLang="zh-CN" b="0" i="0" dirty="0">
                <a:effectLst/>
                <a:latin typeface="Inter"/>
              </a:rPr>
              <a:t>P2 </a:t>
            </a:r>
            <a:r>
              <a:rPr lang="zh-CN" altLang="en-US" b="0" i="0" dirty="0">
                <a:effectLst/>
                <a:latin typeface="Inter"/>
              </a:rPr>
              <a:t>有赢的策略，需要精确地分析不同目标界下 </a:t>
            </a:r>
            <a:r>
              <a:rPr lang="en-US" altLang="zh-CN" b="0" i="0" dirty="0">
                <a:effectLst/>
                <a:latin typeface="Inter"/>
              </a:rPr>
              <a:t>P2 </a:t>
            </a:r>
            <a:r>
              <a:rPr lang="zh-CN" altLang="en-US" b="0" i="0" dirty="0">
                <a:effectLst/>
                <a:latin typeface="Inter"/>
              </a:rPr>
              <a:t>的各种可能选择和应对方式，这无疑是一项复杂的任务。</a:t>
            </a:r>
          </a:p>
          <a:p>
            <a:pPr algn="l">
              <a:spcAft>
                <a:spcPts val="300"/>
              </a:spcAft>
            </a:pPr>
            <a:r>
              <a:rPr lang="zh-CN" altLang="en-US" b="1" i="0" dirty="0">
                <a:effectLst/>
                <a:latin typeface="Inter"/>
              </a:rPr>
              <a:t>图结构和结点价值的多样性</a:t>
            </a:r>
          </a:p>
          <a:p>
            <a:pPr algn="l"/>
            <a:br>
              <a:rPr lang="zh-CN" altLang="en-US" dirty="0"/>
            </a:br>
            <a:r>
              <a:rPr lang="zh-CN" altLang="en-US" b="0" i="0" dirty="0">
                <a:effectLst/>
                <a:latin typeface="Inter"/>
              </a:rPr>
              <a:t>图中结点的价值分布是多样的，每个结点的价值不同且相互关联。</a:t>
            </a:r>
            <a:r>
              <a:rPr lang="en-US" altLang="zh-CN" b="0" i="0" dirty="0">
                <a:effectLst/>
                <a:latin typeface="Inter"/>
              </a:rPr>
              <a:t>P2 </a:t>
            </a:r>
            <a:r>
              <a:rPr lang="zh-CN" altLang="en-US" b="0" i="0" dirty="0">
                <a:effectLst/>
                <a:latin typeface="Inter"/>
              </a:rPr>
              <a:t>需要综合考虑众多结点的价值以及它们之间的关系，来制定策略以达到目标界 </a:t>
            </a:r>
            <a:r>
              <a:rPr lang="en-US" altLang="zh-CN" b="0" i="0" dirty="0">
                <a:effectLst/>
                <a:latin typeface="Inter"/>
              </a:rPr>
              <a:t>B</a:t>
            </a:r>
            <a:r>
              <a:rPr lang="zh-CN" altLang="en-US" b="0" i="0" dirty="0">
                <a:effectLst/>
                <a:latin typeface="Inter"/>
              </a:rPr>
              <a:t>。在一个大小适当的图中，结点数量和关系的复杂性进一步增加了分析的难度，很难简单地确定 </a:t>
            </a:r>
            <a:r>
              <a:rPr lang="en-US" altLang="zh-CN" b="0" i="0" dirty="0">
                <a:effectLst/>
                <a:latin typeface="Inter"/>
              </a:rPr>
              <a:t>P2 </a:t>
            </a:r>
            <a:r>
              <a:rPr lang="zh-CN" altLang="en-US" b="0" i="0" dirty="0">
                <a:effectLst/>
                <a:latin typeface="Inter"/>
              </a:rPr>
              <a:t>是否一定能找到一种策略保证获胜。</a:t>
            </a:r>
          </a:p>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91</a:t>
            </a:fld>
            <a:endParaRPr lang="en-US" altLang="zh-CN"/>
          </a:p>
        </p:txBody>
      </p:sp>
    </p:spTree>
    <p:extLst>
      <p:ext uri="{BB962C8B-B14F-4D97-AF65-F5344CB8AC3E}">
        <p14:creationId xmlns:p14="http://schemas.microsoft.com/office/powerpoint/2010/main" val="25871335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effectLst/>
                <a:latin typeface="Inter"/>
              </a:rPr>
              <a:t>很多 </a:t>
            </a:r>
            <a:r>
              <a:rPr lang="en-US" altLang="zh-CN" b="0" i="0" dirty="0">
                <a:effectLst/>
                <a:latin typeface="Inter"/>
              </a:rPr>
              <a:t>PSPACE </a:t>
            </a:r>
            <a:r>
              <a:rPr lang="zh-CN" altLang="en-US" b="0" i="0" dirty="0">
                <a:effectLst/>
                <a:latin typeface="Inter"/>
              </a:rPr>
              <a:t>完全问题目前还没有已知的多项式时间算法，解决它们在实际应用中仍然具有挑战性。</a:t>
            </a:r>
            <a:endParaRPr lang="en-US" altLang="zh-CN" b="0" i="0" dirty="0">
              <a:effectLst/>
              <a:latin typeface="Inter"/>
            </a:endParaRPr>
          </a:p>
          <a:p>
            <a:pPr algn="l"/>
            <a:r>
              <a:rPr lang="en-US" altLang="zh-CN" b="0" i="0" dirty="0">
                <a:effectLst/>
                <a:latin typeface="Inter"/>
              </a:rPr>
              <a:t>PSPACE </a:t>
            </a:r>
            <a:r>
              <a:rPr lang="zh-CN" altLang="en-US" b="0" i="0" dirty="0">
                <a:effectLst/>
                <a:latin typeface="Inter"/>
              </a:rPr>
              <a:t>完全问题是计算复杂性理论中的一类问题，以下为你详细介绍：</a:t>
            </a:r>
          </a:p>
          <a:p>
            <a:pPr algn="l">
              <a:spcAft>
                <a:spcPts val="300"/>
              </a:spcAft>
            </a:pPr>
            <a:r>
              <a:rPr lang="zh-CN" altLang="en-US" b="1" i="0" dirty="0">
                <a:effectLst/>
                <a:latin typeface="Inter"/>
              </a:rPr>
              <a:t>定义</a:t>
            </a:r>
          </a:p>
          <a:p>
            <a:pPr algn="l"/>
            <a:br>
              <a:rPr lang="zh-CN" altLang="en-US" dirty="0"/>
            </a:br>
            <a:r>
              <a:rPr lang="en-US" altLang="zh-CN" b="0" i="0" dirty="0">
                <a:effectLst/>
                <a:latin typeface="Inter"/>
              </a:rPr>
              <a:t>PSPACE </a:t>
            </a:r>
            <a:r>
              <a:rPr lang="zh-CN" altLang="en-US" b="0" i="0" dirty="0">
                <a:effectLst/>
                <a:latin typeface="Inter"/>
              </a:rPr>
              <a:t>是计算复杂性理论中用来衡量算法所需空间的一个复杂度类，指的是</a:t>
            </a:r>
            <a:r>
              <a:rPr lang="zh-CN" altLang="en-US" b="1" i="0" dirty="0">
                <a:effectLst/>
                <a:latin typeface="Inter"/>
              </a:rPr>
              <a:t>在确定型图灵机上能用多项式空间解决的判定问题的集合</a:t>
            </a:r>
            <a:r>
              <a:rPr lang="zh-CN" altLang="en-US" b="0" i="0" dirty="0">
                <a:effectLst/>
                <a:latin typeface="Inter"/>
              </a:rPr>
              <a:t>。</a:t>
            </a:r>
            <a:r>
              <a:rPr lang="en-US" altLang="zh-CN" b="0" i="0" dirty="0">
                <a:effectLst/>
                <a:latin typeface="Inter"/>
              </a:rPr>
              <a:t>PSPACE </a:t>
            </a:r>
            <a:r>
              <a:rPr lang="zh-CN" altLang="en-US" b="0" i="0" dirty="0">
                <a:effectLst/>
                <a:latin typeface="Inter"/>
              </a:rPr>
              <a:t>完全问题是 </a:t>
            </a:r>
            <a:r>
              <a:rPr lang="en-US" altLang="zh-CN" b="0" i="0" dirty="0">
                <a:effectLst/>
                <a:latin typeface="Inter"/>
              </a:rPr>
              <a:t>PSPACE </a:t>
            </a:r>
            <a:r>
              <a:rPr lang="zh-CN" altLang="en-US" b="0" i="0" dirty="0">
                <a:effectLst/>
                <a:latin typeface="Inter"/>
              </a:rPr>
              <a:t>类中 “最难” 的问题，即 </a:t>
            </a:r>
            <a:r>
              <a:rPr lang="en-US" altLang="zh-CN" b="0" i="0" dirty="0">
                <a:effectLst/>
                <a:latin typeface="Inter"/>
              </a:rPr>
              <a:t>PSPACE </a:t>
            </a:r>
            <a:r>
              <a:rPr lang="zh-CN" altLang="en-US" b="0" i="0" dirty="0">
                <a:effectLst/>
                <a:latin typeface="Inter"/>
              </a:rPr>
              <a:t>中的任何问题都可以在多项式时间内规约到一个 </a:t>
            </a:r>
            <a:r>
              <a:rPr lang="en-US" altLang="zh-CN" b="0" i="0" dirty="0">
                <a:effectLst/>
                <a:latin typeface="Inter"/>
              </a:rPr>
              <a:t>PSPACE </a:t>
            </a:r>
            <a:r>
              <a:rPr lang="zh-CN" altLang="en-US" b="0" i="0" dirty="0">
                <a:effectLst/>
                <a:latin typeface="Inter"/>
              </a:rPr>
              <a:t>完全问题。也就是说，如果能够找到解决某个 </a:t>
            </a:r>
            <a:r>
              <a:rPr lang="en-US" altLang="zh-CN" b="0" i="0" dirty="0">
                <a:effectLst/>
                <a:latin typeface="Inter"/>
              </a:rPr>
              <a:t>PSPACE </a:t>
            </a:r>
            <a:r>
              <a:rPr lang="zh-CN" altLang="en-US" b="0" i="0" dirty="0">
                <a:effectLst/>
                <a:latin typeface="Inter"/>
              </a:rPr>
              <a:t>完全问题的多项式时间算法，那么 </a:t>
            </a:r>
            <a:r>
              <a:rPr lang="en-US" altLang="zh-CN" b="0" i="0" dirty="0">
                <a:effectLst/>
                <a:latin typeface="Inter"/>
              </a:rPr>
              <a:t>PSPACE </a:t>
            </a:r>
            <a:r>
              <a:rPr lang="zh-CN" altLang="en-US" b="0" i="0" dirty="0">
                <a:effectLst/>
                <a:latin typeface="Inter"/>
              </a:rPr>
              <a:t>中的所有问题都可以在多项式时间内解决。</a:t>
            </a:r>
          </a:p>
          <a:p>
            <a:pPr algn="l">
              <a:spcAft>
                <a:spcPts val="300"/>
              </a:spcAft>
            </a:pPr>
            <a:r>
              <a:rPr lang="zh-CN" altLang="en-US" b="1" i="0" dirty="0">
                <a:effectLst/>
                <a:latin typeface="Inter"/>
              </a:rPr>
              <a:t>特点</a:t>
            </a:r>
            <a:br>
              <a:rPr lang="zh-CN" altLang="en-US" dirty="0"/>
            </a:br>
            <a:r>
              <a:rPr lang="zh-CN" altLang="en-US" b="1" i="0" dirty="0">
                <a:solidFill>
                  <a:srgbClr val="222222"/>
                </a:solidFill>
                <a:effectLst/>
                <a:latin typeface="Inter"/>
              </a:rPr>
              <a:t>空间需求</a:t>
            </a:r>
            <a:r>
              <a:rPr lang="zh-CN" altLang="en-US" b="0" i="0" dirty="0">
                <a:solidFill>
                  <a:srgbClr val="222222"/>
                </a:solidFill>
                <a:effectLst/>
                <a:latin typeface="Inter"/>
              </a:rPr>
              <a:t>：这类问题通常需要大量的内存空间来存储计算过程中的中间状态和数据。例如，在一些博弈类问题（如象棋、围棋等广义博弈的理论模型）中，随着局面的变化，可能的状态数量呈指数级增长，需要较大的空间来记录和处理这些状态。</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计算难度</a:t>
            </a:r>
            <a:r>
              <a:rPr lang="zh-CN" altLang="en-US" b="0" i="0" dirty="0">
                <a:solidFill>
                  <a:srgbClr val="222222"/>
                </a:solidFill>
                <a:effectLst/>
                <a:latin typeface="Inter"/>
              </a:rPr>
              <a:t>：虽然 </a:t>
            </a:r>
            <a:r>
              <a:rPr lang="en-US" altLang="zh-CN" b="0" i="0" dirty="0">
                <a:solidFill>
                  <a:srgbClr val="222222"/>
                </a:solidFill>
                <a:effectLst/>
                <a:latin typeface="Inter"/>
              </a:rPr>
              <a:t>PSPACE </a:t>
            </a:r>
            <a:r>
              <a:rPr lang="zh-CN" altLang="en-US" b="0" i="0" dirty="0">
                <a:solidFill>
                  <a:srgbClr val="222222"/>
                </a:solidFill>
                <a:effectLst/>
                <a:latin typeface="Inter"/>
              </a:rPr>
              <a:t>类问题不一定需要指数时间来解决，但很多 </a:t>
            </a:r>
            <a:r>
              <a:rPr lang="en-US" altLang="zh-CN" b="0" i="0" dirty="0">
                <a:solidFill>
                  <a:srgbClr val="222222"/>
                </a:solidFill>
                <a:effectLst/>
                <a:latin typeface="Inter"/>
              </a:rPr>
              <a:t>PSPACE </a:t>
            </a:r>
            <a:r>
              <a:rPr lang="zh-CN" altLang="en-US" b="0" i="0" dirty="0">
                <a:solidFill>
                  <a:srgbClr val="222222"/>
                </a:solidFill>
                <a:effectLst/>
                <a:latin typeface="Inter"/>
              </a:rPr>
              <a:t>完全问题目前还没有已知的多项式时间算法，解决它们在实际应用中仍然具有挑战性。</a:t>
            </a:r>
          </a:p>
          <a:p>
            <a:pPr algn="l">
              <a:spcAft>
                <a:spcPts val="300"/>
              </a:spcAft>
            </a:pPr>
            <a:r>
              <a:rPr lang="zh-CN" altLang="en-US" b="1" i="0" dirty="0">
                <a:effectLst/>
                <a:latin typeface="Inter"/>
              </a:rPr>
              <a:t>常见例子</a:t>
            </a:r>
            <a:br>
              <a:rPr lang="zh-CN" altLang="en-US" dirty="0"/>
            </a:br>
            <a:r>
              <a:rPr lang="zh-CN" altLang="en-US" b="1" i="0" dirty="0">
                <a:solidFill>
                  <a:srgbClr val="222222"/>
                </a:solidFill>
                <a:effectLst/>
                <a:latin typeface="Inter"/>
              </a:rPr>
              <a:t>博弈类问题</a:t>
            </a:r>
            <a:r>
              <a:rPr lang="zh-CN" altLang="en-US" b="0" i="0" dirty="0">
                <a:solidFill>
                  <a:srgbClr val="222222"/>
                </a:solidFill>
                <a:effectLst/>
                <a:latin typeface="Inter"/>
              </a:rPr>
              <a:t>：许多二人博弈的决策问题属于 </a:t>
            </a:r>
            <a:r>
              <a:rPr lang="en-US" altLang="zh-CN" b="0" i="0" dirty="0">
                <a:solidFill>
                  <a:srgbClr val="222222"/>
                </a:solidFill>
                <a:effectLst/>
                <a:latin typeface="Inter"/>
              </a:rPr>
              <a:t>PSPACE </a:t>
            </a:r>
            <a:r>
              <a:rPr lang="zh-CN" altLang="en-US" b="0" i="0" dirty="0">
                <a:solidFill>
                  <a:srgbClr val="222222"/>
                </a:solidFill>
                <a:effectLst/>
                <a:latin typeface="Inter"/>
              </a:rPr>
              <a:t>完全问题，比如广义地理学问题。在这个问题中，给定一个图和一个起始顶点，两个玩家轮流沿着图中的边移动，不能重复访问已经经过的顶点，目标是让对方无法移动。判断在给定的图和起始顶点下，先手玩家是否有必胜策略就是一个 </a:t>
            </a:r>
            <a:r>
              <a:rPr lang="en-US" altLang="zh-CN" b="0" i="0" dirty="0">
                <a:solidFill>
                  <a:srgbClr val="222222"/>
                </a:solidFill>
                <a:effectLst/>
                <a:latin typeface="Inter"/>
              </a:rPr>
              <a:t>PSPACE </a:t>
            </a:r>
            <a:r>
              <a:rPr lang="zh-CN" altLang="en-US" b="0" i="0" dirty="0">
                <a:solidFill>
                  <a:srgbClr val="222222"/>
                </a:solidFill>
                <a:effectLst/>
                <a:latin typeface="Inter"/>
              </a:rPr>
              <a:t>完全问题。</a:t>
            </a:r>
          </a:p>
          <a:p>
            <a:pPr algn="l">
              <a:spcBef>
                <a:spcPts val="600"/>
              </a:spcBef>
              <a:buFont typeface="Arial" panose="020B0604020202020204" pitchFamily="34" charset="0"/>
              <a:buChar char="•"/>
            </a:pPr>
            <a:r>
              <a:rPr lang="zh-CN" altLang="en-US" b="1" i="0" dirty="0">
                <a:solidFill>
                  <a:srgbClr val="222222"/>
                </a:solidFill>
                <a:effectLst/>
                <a:latin typeface="Inter"/>
              </a:rPr>
              <a:t>逻辑推理问题</a:t>
            </a:r>
            <a:r>
              <a:rPr lang="zh-CN" altLang="en-US" b="0" i="0" dirty="0">
                <a:solidFill>
                  <a:srgbClr val="222222"/>
                </a:solidFill>
                <a:effectLst/>
                <a:latin typeface="Inter"/>
              </a:rPr>
              <a:t>：例如量化布尔公式（</a:t>
            </a:r>
            <a:r>
              <a:rPr lang="en-US" altLang="zh-CN" b="0" i="0" dirty="0">
                <a:solidFill>
                  <a:srgbClr val="222222"/>
                </a:solidFill>
                <a:effectLst/>
                <a:latin typeface="Inter"/>
              </a:rPr>
              <a:t>QBF</a:t>
            </a:r>
            <a:r>
              <a:rPr lang="zh-CN" altLang="en-US" b="0" i="0" dirty="0">
                <a:solidFill>
                  <a:srgbClr val="222222"/>
                </a:solidFill>
                <a:effectLst/>
                <a:latin typeface="Inter"/>
              </a:rPr>
              <a:t>）的可满足性问题。给定一个包含全称量词和存在量词的布尔公式，判断其是否为真就是 </a:t>
            </a:r>
            <a:r>
              <a:rPr lang="en-US" altLang="zh-CN" b="0" i="0" dirty="0">
                <a:solidFill>
                  <a:srgbClr val="222222"/>
                </a:solidFill>
                <a:effectLst/>
                <a:latin typeface="Inter"/>
              </a:rPr>
              <a:t>PSPACE </a:t>
            </a:r>
            <a:r>
              <a:rPr lang="zh-CN" altLang="en-US" b="0" i="0" dirty="0">
                <a:solidFill>
                  <a:srgbClr val="222222"/>
                </a:solidFill>
                <a:effectLst/>
                <a:latin typeface="Inter"/>
              </a:rPr>
              <a:t>完全的。 这在人工智能的自动推理和规划等领域有重要的理论意义。</a:t>
            </a:r>
            <a:endParaRPr lang="en-US" altLang="zh-CN" b="0" i="0" dirty="0">
              <a:solidFill>
                <a:srgbClr val="222222"/>
              </a:solidFill>
              <a:effectLst/>
              <a:latin typeface="Inter"/>
            </a:endParaRPr>
          </a:p>
          <a:p>
            <a:pPr algn="l">
              <a:spcBef>
                <a:spcPts val="600"/>
              </a:spcBef>
              <a:buFont typeface="Arial" panose="020B0604020202020204" pitchFamily="34" charset="0"/>
              <a:buChar char="•"/>
            </a:pPr>
            <a:endParaRPr lang="en-US" altLang="zh-CN" b="0" i="0" dirty="0">
              <a:solidFill>
                <a:srgbClr val="222222"/>
              </a:solidFill>
              <a:effectLst/>
              <a:latin typeface="Inter"/>
            </a:endParaRPr>
          </a:p>
          <a:p>
            <a:pPr algn="l"/>
            <a:r>
              <a:rPr lang="zh-CN" altLang="en-US" b="0" i="0" dirty="0">
                <a:effectLst/>
                <a:latin typeface="Inter"/>
              </a:rPr>
              <a:t>目前并没有被严格证明 </a:t>
            </a:r>
            <a:r>
              <a:rPr lang="en-US" altLang="zh-CN" b="0" i="0" dirty="0">
                <a:effectLst/>
                <a:latin typeface="Inter"/>
              </a:rPr>
              <a:t>PSPACE </a:t>
            </a:r>
            <a:r>
              <a:rPr lang="zh-CN" altLang="en-US" b="0" i="0" dirty="0">
                <a:effectLst/>
                <a:latin typeface="Inter"/>
              </a:rPr>
              <a:t>完全问题</a:t>
            </a:r>
            <a:r>
              <a:rPr lang="zh-CN" altLang="en-US" b="1" i="0" dirty="0">
                <a:effectLst/>
                <a:latin typeface="Inter"/>
              </a:rPr>
              <a:t>一定</a:t>
            </a:r>
            <a:r>
              <a:rPr lang="zh-CN" altLang="en-US" b="0" i="0" dirty="0">
                <a:effectLst/>
                <a:latin typeface="Inter"/>
              </a:rPr>
              <a:t>严格难于 </a:t>
            </a:r>
            <a:r>
              <a:rPr lang="en-US" altLang="zh-CN" b="0" i="0" dirty="0">
                <a:effectLst/>
                <a:latin typeface="Inter"/>
              </a:rPr>
              <a:t>NP </a:t>
            </a:r>
            <a:r>
              <a:rPr lang="zh-CN" altLang="en-US" b="0" i="0" dirty="0">
                <a:effectLst/>
                <a:latin typeface="Inter"/>
              </a:rPr>
              <a:t>完全问题，不过基于现有的计算复杂性理论认知，通常认为 </a:t>
            </a:r>
            <a:r>
              <a:rPr lang="en-US" altLang="zh-CN" b="0" i="0" dirty="0">
                <a:effectLst/>
                <a:latin typeface="Inter"/>
              </a:rPr>
              <a:t>PSPACE </a:t>
            </a:r>
            <a:r>
              <a:rPr lang="zh-CN" altLang="en-US" b="0" i="0" dirty="0">
                <a:effectLst/>
                <a:latin typeface="Inter"/>
              </a:rPr>
              <a:t>完全问题更难，原因如下：</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从复杂度类包含关系看</a:t>
            </a:r>
            <a:r>
              <a:rPr lang="zh-CN" altLang="en-US" b="0" i="0" dirty="0">
                <a:solidFill>
                  <a:srgbClr val="222222"/>
                </a:solidFill>
                <a:effectLst/>
                <a:latin typeface="Inter"/>
              </a:rPr>
              <a:t>：已知 </a:t>
            </a:r>
            <a:r>
              <a:rPr lang="en-US" altLang="zh-CN" b="1" i="0" dirty="0">
                <a:solidFill>
                  <a:srgbClr val="222222"/>
                </a:solidFill>
                <a:effectLst/>
                <a:latin typeface="Inter"/>
              </a:rPr>
              <a:t>NP </a:t>
            </a:r>
            <a:r>
              <a:rPr lang="zh-CN" altLang="en-US" b="1" i="0" dirty="0">
                <a:solidFill>
                  <a:srgbClr val="222222"/>
                </a:solidFill>
                <a:effectLst/>
                <a:latin typeface="Inter"/>
              </a:rPr>
              <a:t>类问题是指在非确定性图灵机上可以在多项式时间内验证一个解是否正确的判定问题；而 </a:t>
            </a:r>
            <a:r>
              <a:rPr lang="en-US" altLang="zh-CN" b="1" i="0" dirty="0">
                <a:solidFill>
                  <a:srgbClr val="222222"/>
                </a:solidFill>
                <a:effectLst/>
                <a:latin typeface="Inter"/>
              </a:rPr>
              <a:t>PSPACE </a:t>
            </a:r>
            <a:r>
              <a:rPr lang="zh-CN" altLang="en-US" b="1" i="0" dirty="0">
                <a:solidFill>
                  <a:srgbClr val="222222"/>
                </a:solidFill>
                <a:effectLst/>
                <a:latin typeface="Inter"/>
              </a:rPr>
              <a:t>类是在确定型图灵机上能用多项式空间解决的判定问题。</a:t>
            </a:r>
            <a:r>
              <a:rPr lang="zh-CN" altLang="en-US" b="0" i="0" dirty="0">
                <a:solidFill>
                  <a:srgbClr val="222222"/>
                </a:solidFill>
                <a:effectLst/>
                <a:latin typeface="Inter"/>
              </a:rPr>
              <a:t>并且已经证明 </a:t>
            </a:r>
            <a:r>
              <a:rPr lang="en-US" altLang="zh-CN" b="0" i="0" dirty="0">
                <a:solidFill>
                  <a:srgbClr val="222222"/>
                </a:solidFill>
                <a:effectLst/>
                <a:latin typeface="Inter"/>
              </a:rPr>
              <a:t>NP </a:t>
            </a:r>
            <a:r>
              <a:rPr lang="zh-CN" altLang="en-US" b="0" i="0" dirty="0">
                <a:solidFill>
                  <a:srgbClr val="222222"/>
                </a:solidFill>
                <a:effectLst/>
                <a:latin typeface="Inter"/>
              </a:rPr>
              <a:t>类包含于 </a:t>
            </a:r>
            <a:r>
              <a:rPr lang="en-US" altLang="zh-CN" b="0" i="0" dirty="0">
                <a:solidFill>
                  <a:srgbClr val="222222"/>
                </a:solidFill>
                <a:effectLst/>
                <a:latin typeface="Inter"/>
              </a:rPr>
              <a:t>PSPACE </a:t>
            </a:r>
            <a:r>
              <a:rPr lang="zh-CN" altLang="en-US" b="0" i="0" dirty="0">
                <a:solidFill>
                  <a:srgbClr val="222222"/>
                </a:solidFill>
                <a:effectLst/>
                <a:latin typeface="Inter"/>
              </a:rPr>
              <a:t>类，即所有 </a:t>
            </a:r>
            <a:r>
              <a:rPr lang="en-US" altLang="zh-CN" b="0" i="0" dirty="0">
                <a:solidFill>
                  <a:srgbClr val="222222"/>
                </a:solidFill>
                <a:effectLst/>
                <a:latin typeface="Inter"/>
              </a:rPr>
              <a:t>NP </a:t>
            </a:r>
            <a:r>
              <a:rPr lang="zh-CN" altLang="en-US" b="0" i="0" dirty="0">
                <a:solidFill>
                  <a:srgbClr val="222222"/>
                </a:solidFill>
                <a:effectLst/>
                <a:latin typeface="Inter"/>
              </a:rPr>
              <a:t>问题都可以在 </a:t>
            </a:r>
            <a:r>
              <a:rPr lang="en-US" altLang="zh-CN" b="0" i="0" dirty="0">
                <a:solidFill>
                  <a:srgbClr val="222222"/>
                </a:solidFill>
                <a:effectLst/>
                <a:latin typeface="Inter"/>
              </a:rPr>
              <a:t>PSPACE </a:t>
            </a:r>
            <a:r>
              <a:rPr lang="zh-CN" altLang="en-US" b="0" i="0" dirty="0">
                <a:solidFill>
                  <a:srgbClr val="222222"/>
                </a:solidFill>
                <a:effectLst/>
                <a:latin typeface="Inter"/>
              </a:rPr>
              <a:t>中解决。</a:t>
            </a:r>
            <a:r>
              <a:rPr lang="en-US" altLang="zh-CN" b="0" i="0" dirty="0">
                <a:solidFill>
                  <a:srgbClr val="222222"/>
                </a:solidFill>
                <a:effectLst/>
                <a:latin typeface="Inter"/>
              </a:rPr>
              <a:t>PSPACE </a:t>
            </a:r>
            <a:r>
              <a:rPr lang="zh-CN" altLang="en-US" b="0" i="0" dirty="0">
                <a:solidFill>
                  <a:srgbClr val="222222"/>
                </a:solidFill>
                <a:effectLst/>
                <a:latin typeface="Inter"/>
              </a:rPr>
              <a:t>类除了包含 </a:t>
            </a:r>
            <a:r>
              <a:rPr lang="en-US" altLang="zh-CN" b="0" i="0" dirty="0">
                <a:solidFill>
                  <a:srgbClr val="222222"/>
                </a:solidFill>
                <a:effectLst/>
                <a:latin typeface="Inter"/>
              </a:rPr>
              <a:t>NP </a:t>
            </a:r>
            <a:r>
              <a:rPr lang="zh-CN" altLang="en-US" b="0" i="0" dirty="0">
                <a:solidFill>
                  <a:srgbClr val="222222"/>
                </a:solidFill>
                <a:effectLst/>
                <a:latin typeface="Inter"/>
              </a:rPr>
              <a:t>类问题外，还包含一些需要更多空间资源才能解决的其他问题。这意味着 </a:t>
            </a:r>
            <a:r>
              <a:rPr lang="en-US" altLang="zh-CN" b="0" i="0" dirty="0">
                <a:solidFill>
                  <a:srgbClr val="222222"/>
                </a:solidFill>
                <a:effectLst/>
                <a:latin typeface="Inter"/>
              </a:rPr>
              <a:t>PSPACE </a:t>
            </a:r>
            <a:r>
              <a:rPr lang="zh-CN" altLang="en-US" b="0" i="0" dirty="0">
                <a:solidFill>
                  <a:srgbClr val="222222"/>
                </a:solidFill>
                <a:effectLst/>
                <a:latin typeface="Inter"/>
              </a:rPr>
              <a:t>类的问题集合更大、更复杂，</a:t>
            </a:r>
            <a:r>
              <a:rPr lang="en-US" altLang="zh-CN" b="0" i="0" dirty="0">
                <a:solidFill>
                  <a:srgbClr val="222222"/>
                </a:solidFill>
                <a:effectLst/>
                <a:latin typeface="Inter"/>
              </a:rPr>
              <a:t>PSPACE </a:t>
            </a:r>
            <a:r>
              <a:rPr lang="zh-CN" altLang="en-US" b="0" i="0" dirty="0">
                <a:solidFill>
                  <a:srgbClr val="222222"/>
                </a:solidFill>
                <a:effectLst/>
                <a:latin typeface="Inter"/>
              </a:rPr>
              <a:t>完全问题作为 </a:t>
            </a:r>
            <a:r>
              <a:rPr lang="en-US" altLang="zh-CN" b="0" i="0" dirty="0">
                <a:solidFill>
                  <a:srgbClr val="222222"/>
                </a:solidFill>
                <a:effectLst/>
                <a:latin typeface="Inter"/>
              </a:rPr>
              <a:t>PSPACE </a:t>
            </a:r>
            <a:r>
              <a:rPr lang="zh-CN" altLang="en-US" b="0" i="0" dirty="0">
                <a:solidFill>
                  <a:srgbClr val="222222"/>
                </a:solidFill>
                <a:effectLst/>
                <a:latin typeface="Inter"/>
              </a:rPr>
              <a:t>类中最难的问题，从这个角度看，其难度 “上限” 是高于 </a:t>
            </a:r>
            <a:r>
              <a:rPr lang="en-US" altLang="zh-CN" b="0" i="0" dirty="0">
                <a:solidFill>
                  <a:srgbClr val="222222"/>
                </a:solidFill>
                <a:effectLst/>
                <a:latin typeface="Inter"/>
              </a:rPr>
              <a:t>NP </a:t>
            </a:r>
            <a:r>
              <a:rPr lang="zh-CN" altLang="en-US" b="0" i="0" dirty="0">
                <a:solidFill>
                  <a:srgbClr val="222222"/>
                </a:solidFill>
                <a:effectLst/>
                <a:latin typeface="Inter"/>
              </a:rPr>
              <a:t>完全问题的。</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从解决问题所需资源看</a:t>
            </a:r>
            <a:r>
              <a:rPr lang="zh-CN" altLang="en-US" b="0" i="0" dirty="0">
                <a:solidFill>
                  <a:srgbClr val="222222"/>
                </a:solidFill>
                <a:effectLst/>
                <a:latin typeface="Inter"/>
              </a:rPr>
              <a:t>：</a:t>
            </a:r>
            <a:r>
              <a:rPr lang="en-US" altLang="zh-CN" b="0" i="0" dirty="0">
                <a:solidFill>
                  <a:srgbClr val="222222"/>
                </a:solidFill>
                <a:effectLst/>
                <a:latin typeface="Inter"/>
              </a:rPr>
              <a:t>NP </a:t>
            </a:r>
            <a:r>
              <a:rPr lang="zh-CN" altLang="en-US" b="0" i="0" dirty="0">
                <a:solidFill>
                  <a:srgbClr val="222222"/>
                </a:solidFill>
                <a:effectLst/>
                <a:latin typeface="Inter"/>
              </a:rPr>
              <a:t>完全问题主要关注的是在多项式时间内验证解，其困难性更多体现在求解过程中可能需要指数级时间来找到一个解，但验证解的时间是多项式的。而 </a:t>
            </a:r>
            <a:r>
              <a:rPr lang="en-US" altLang="zh-CN" b="0" i="0" dirty="0">
                <a:solidFill>
                  <a:srgbClr val="222222"/>
                </a:solidFill>
                <a:effectLst/>
                <a:latin typeface="Inter"/>
              </a:rPr>
              <a:t>PSPACE </a:t>
            </a:r>
            <a:r>
              <a:rPr lang="zh-CN" altLang="en-US" b="0" i="0" dirty="0">
                <a:solidFill>
                  <a:srgbClr val="222222"/>
                </a:solidFill>
                <a:effectLst/>
                <a:latin typeface="Inter"/>
              </a:rPr>
              <a:t>完全问题关注的是解决问题所需的空间资源，很多 </a:t>
            </a:r>
            <a:r>
              <a:rPr lang="en-US" altLang="zh-CN" b="0" i="0" dirty="0">
                <a:solidFill>
                  <a:srgbClr val="222222"/>
                </a:solidFill>
                <a:effectLst/>
                <a:latin typeface="Inter"/>
              </a:rPr>
              <a:t>PSPACE </a:t>
            </a:r>
            <a:r>
              <a:rPr lang="zh-CN" altLang="en-US" b="0" i="0" dirty="0">
                <a:solidFill>
                  <a:srgbClr val="222222"/>
                </a:solidFill>
                <a:effectLst/>
                <a:latin typeface="Inter"/>
              </a:rPr>
              <a:t>完全问题即使在允许使用指数时间的情况下，也需要大量的内存空间来存储计算过程中的中间状态等信息。例如在广义博弈的理论模型这类 </a:t>
            </a:r>
            <a:r>
              <a:rPr lang="en-US" altLang="zh-CN" b="0" i="0" dirty="0">
                <a:solidFill>
                  <a:srgbClr val="222222"/>
                </a:solidFill>
                <a:effectLst/>
                <a:latin typeface="Inter"/>
              </a:rPr>
              <a:t>PSPACE </a:t>
            </a:r>
            <a:r>
              <a:rPr lang="zh-CN" altLang="en-US" b="0" i="0" dirty="0">
                <a:solidFill>
                  <a:srgbClr val="222222"/>
                </a:solidFill>
                <a:effectLst/>
                <a:latin typeface="Inter"/>
              </a:rPr>
              <a:t>完全问题中，随着局面的变化，可能的状态数量呈指数级增长，所需空间极大，这使得解决 </a:t>
            </a:r>
            <a:r>
              <a:rPr lang="en-US" altLang="zh-CN" b="0" i="0" dirty="0">
                <a:solidFill>
                  <a:srgbClr val="222222"/>
                </a:solidFill>
                <a:effectLst/>
                <a:latin typeface="Inter"/>
              </a:rPr>
              <a:t>PSPACE </a:t>
            </a:r>
            <a:r>
              <a:rPr lang="zh-CN" altLang="en-US" b="0" i="0" dirty="0">
                <a:solidFill>
                  <a:srgbClr val="222222"/>
                </a:solidFill>
                <a:effectLst/>
                <a:latin typeface="Inter"/>
              </a:rPr>
              <a:t>完全问题在资源需求上往往比 </a:t>
            </a:r>
            <a:r>
              <a:rPr lang="en-US" altLang="zh-CN" b="0" i="0" dirty="0">
                <a:solidFill>
                  <a:srgbClr val="222222"/>
                </a:solidFill>
                <a:effectLst/>
                <a:latin typeface="Inter"/>
              </a:rPr>
              <a:t>NP </a:t>
            </a:r>
            <a:r>
              <a:rPr lang="zh-CN" altLang="en-US" b="0" i="0" dirty="0">
                <a:solidFill>
                  <a:srgbClr val="222222"/>
                </a:solidFill>
                <a:effectLst/>
                <a:latin typeface="Inter"/>
              </a:rPr>
              <a:t>完全问题更苛刻。</a:t>
            </a:r>
          </a:p>
          <a:p>
            <a:pPr algn="l">
              <a:spcBef>
                <a:spcPts val="600"/>
              </a:spcBef>
              <a:buFont typeface="Arial" panose="020B0604020202020204" pitchFamily="34" charset="0"/>
              <a:buChar char="•"/>
            </a:pPr>
            <a:endParaRPr lang="zh-CN" altLang="en-US" b="0" i="0" dirty="0">
              <a:solidFill>
                <a:srgbClr val="222222"/>
              </a:solidFill>
              <a:effectLst/>
              <a:latin typeface="Inter"/>
            </a:endParaRPr>
          </a:p>
          <a:p>
            <a:endParaRPr lang="zh-CN" altLang="en-US" dirty="0"/>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92</a:t>
            </a:fld>
            <a:endParaRPr lang="en-US" altLang="zh-CN"/>
          </a:p>
        </p:txBody>
      </p:sp>
    </p:spTree>
    <p:extLst>
      <p:ext uri="{BB962C8B-B14F-4D97-AF65-F5344CB8AC3E}">
        <p14:creationId xmlns:p14="http://schemas.microsoft.com/office/powerpoint/2010/main" val="22643289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65DDC9EC-DAE2-4D20-BCD0-186AA8ADCCC2}" type="slidenum">
              <a:rPr lang="zh-CN" altLang="en-US" smtClean="0"/>
              <a:pPr>
                <a:defRPr/>
              </a:pPr>
              <a:t>93</a:t>
            </a:fld>
            <a:endParaRPr lang="en-US" altLang="zh-CN"/>
          </a:p>
        </p:txBody>
      </p:sp>
    </p:spTree>
    <p:extLst>
      <p:ext uri="{BB962C8B-B14F-4D97-AF65-F5344CB8AC3E}">
        <p14:creationId xmlns:p14="http://schemas.microsoft.com/office/powerpoint/2010/main" val="31092322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75F7475-AE13-4DF1-BD87-C6B3E1F39485}"/>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FC59F1BD-FE00-445A-9050-98AE366E3ECE}"/>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89F90025-76E3-46FE-8ED1-5AF0BC1C9E4C}"/>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a:defRPr/>
                </a:pPr>
                <a:endParaRPr lang="zh-CN" altLang="en-US"/>
              </a:p>
            </p:txBody>
          </p:sp>
          <p:sp>
            <p:nvSpPr>
              <p:cNvPr id="13" name="Rectangle 5">
                <a:extLst>
                  <a:ext uri="{FF2B5EF4-FFF2-40B4-BE49-F238E27FC236}">
                    <a16:creationId xmlns:a16="http://schemas.microsoft.com/office/drawing/2014/main" id="{DC5FC54C-5287-46CD-A488-5C966F76726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a:defRPr/>
                </a:pPr>
                <a:endParaRPr lang="zh-CN" altLang="en-US"/>
              </a:p>
            </p:txBody>
          </p:sp>
        </p:grpSp>
        <p:grpSp>
          <p:nvGrpSpPr>
            <p:cNvPr id="6" name="Group 6">
              <a:extLst>
                <a:ext uri="{FF2B5EF4-FFF2-40B4-BE49-F238E27FC236}">
                  <a16:creationId xmlns:a16="http://schemas.microsoft.com/office/drawing/2014/main" id="{355274FD-3FC9-485B-82F1-0050FD160F80}"/>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95621431-C8AA-4435-9293-98F137F45494}"/>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a:defRPr/>
                </a:pPr>
                <a:endParaRPr lang="zh-CN" altLang="en-US"/>
              </a:p>
            </p:txBody>
          </p:sp>
          <p:sp>
            <p:nvSpPr>
              <p:cNvPr id="11" name="Rectangle 8">
                <a:extLst>
                  <a:ext uri="{FF2B5EF4-FFF2-40B4-BE49-F238E27FC236}">
                    <a16:creationId xmlns:a16="http://schemas.microsoft.com/office/drawing/2014/main" id="{7CB78509-10A5-46A1-9079-66A54A8C8A3C}"/>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a:defRPr/>
                </a:pPr>
                <a:endParaRPr lang="zh-CN" altLang="en-US"/>
              </a:p>
            </p:txBody>
          </p:sp>
        </p:grpSp>
        <p:sp>
          <p:nvSpPr>
            <p:cNvPr id="7" name="Rectangle 9">
              <a:extLst>
                <a:ext uri="{FF2B5EF4-FFF2-40B4-BE49-F238E27FC236}">
                  <a16:creationId xmlns:a16="http://schemas.microsoft.com/office/drawing/2014/main" id="{98319434-90D1-4185-98F3-1C4A4EE87D7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a:defRPr/>
              </a:pPr>
              <a:endParaRPr lang="zh-CN" altLang="en-US"/>
            </a:p>
          </p:txBody>
        </p:sp>
        <p:sp>
          <p:nvSpPr>
            <p:cNvPr id="8" name="Rectangle 10">
              <a:extLst>
                <a:ext uri="{FF2B5EF4-FFF2-40B4-BE49-F238E27FC236}">
                  <a16:creationId xmlns:a16="http://schemas.microsoft.com/office/drawing/2014/main" id="{28D57F06-F723-4ED2-ABD2-D2E8F085D5F3}"/>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a:defRPr/>
              </a:pPr>
              <a:endParaRPr lang="zh-CN" altLang="en-US"/>
            </a:p>
          </p:txBody>
        </p:sp>
        <p:sp>
          <p:nvSpPr>
            <p:cNvPr id="9" name="Rectangle 11">
              <a:extLst>
                <a:ext uri="{FF2B5EF4-FFF2-40B4-BE49-F238E27FC236}">
                  <a16:creationId xmlns:a16="http://schemas.microsoft.com/office/drawing/2014/main" id="{8360BC2F-C61A-46E5-9B5F-AC8A0155B86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a:defRPr/>
              </a:pPr>
              <a:endParaRPr lang="zh-CN" altLang="en-US"/>
            </a:p>
          </p:txBody>
        </p:sp>
      </p:grpSp>
      <p:sp>
        <p:nvSpPr>
          <p:cNvPr id="6156" name="Rectangle 12">
            <a:extLst>
              <a:ext uri="{FF2B5EF4-FFF2-40B4-BE49-F238E27FC236}">
                <a16:creationId xmlns:a16="http://schemas.microsoft.com/office/drawing/2014/main" id="{AB87BDAB-300B-43BD-9F62-1E1CF3B2480E}"/>
              </a:ext>
            </a:extLst>
          </p:cNvPr>
          <p:cNvSpPr>
            <a:spLocks noGrp="1" noChangeArrowheads="1"/>
          </p:cNvSpPr>
          <p:nvPr>
            <p:ph type="ctrTitle"/>
          </p:nvPr>
        </p:nvSpPr>
        <p:spPr>
          <a:xfrm>
            <a:off x="990600" y="1828800"/>
            <a:ext cx="7772400" cy="1143000"/>
          </a:xfrm>
        </p:spPr>
        <p:txBody>
          <a:bodyPr/>
          <a:lstStyle>
            <a:lvl1pPr>
              <a:defRPr/>
            </a:lvl1pPr>
          </a:lstStyle>
          <a:p>
            <a:pPr lvl="0"/>
            <a:r>
              <a:rPr lang="zh-CN" altLang="en-US" noProof="0"/>
              <a:t>单击此处编辑母版标题样式</a:t>
            </a:r>
          </a:p>
        </p:txBody>
      </p:sp>
      <p:sp>
        <p:nvSpPr>
          <p:cNvPr id="6157" name="Rectangle 13">
            <a:extLst>
              <a:ext uri="{FF2B5EF4-FFF2-40B4-BE49-F238E27FC236}">
                <a16:creationId xmlns:a16="http://schemas.microsoft.com/office/drawing/2014/main" id="{87E348A6-BFE7-4F7A-9318-8169E5B3C137}"/>
              </a:ext>
            </a:extLst>
          </p:cNvPr>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4" name="Rectangle 14">
            <a:extLst>
              <a:ext uri="{FF2B5EF4-FFF2-40B4-BE49-F238E27FC236}">
                <a16:creationId xmlns:a16="http://schemas.microsoft.com/office/drawing/2014/main" id="{06F1B50A-9C5A-40C9-98FA-A0FCC4033A06}"/>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a:extLst>
              <a:ext uri="{FF2B5EF4-FFF2-40B4-BE49-F238E27FC236}">
                <a16:creationId xmlns:a16="http://schemas.microsoft.com/office/drawing/2014/main" id="{92090594-F310-40A7-A99C-1A79FB23BE9C}"/>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a:extLst>
              <a:ext uri="{FF2B5EF4-FFF2-40B4-BE49-F238E27FC236}">
                <a16:creationId xmlns:a16="http://schemas.microsoft.com/office/drawing/2014/main" id="{F43325D8-3A10-4FD0-8A8F-8383EC35FF8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45B08259-AC93-46A7-89D0-8EF814D15FF7}" type="slidenum">
              <a:rPr lang="zh-CN" altLang="en-US"/>
              <a:pPr>
                <a:defRPr/>
              </a:pPr>
              <a:t>‹#›</a:t>
            </a:fld>
            <a:endParaRPr lang="en-US" altLang="zh-CN"/>
          </a:p>
        </p:txBody>
      </p:sp>
    </p:spTree>
    <p:extLst>
      <p:ext uri="{BB962C8B-B14F-4D97-AF65-F5344CB8AC3E}">
        <p14:creationId xmlns:p14="http://schemas.microsoft.com/office/powerpoint/2010/main" val="1852832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21CC02-2A7E-4944-B0DE-35A27AAF53E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AC6D44-834F-4B7F-B0F4-513025DFB416}"/>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35">
            <a:extLst>
              <a:ext uri="{FF2B5EF4-FFF2-40B4-BE49-F238E27FC236}">
                <a16:creationId xmlns:a16="http://schemas.microsoft.com/office/drawing/2014/main" id="{4AE33CCA-3CE2-4ABB-9C2B-B954A06AE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6">
            <a:extLst>
              <a:ext uri="{FF2B5EF4-FFF2-40B4-BE49-F238E27FC236}">
                <a16:creationId xmlns:a16="http://schemas.microsoft.com/office/drawing/2014/main" id="{72AD53F3-599D-41EF-8865-A26C0FD931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7">
            <a:extLst>
              <a:ext uri="{FF2B5EF4-FFF2-40B4-BE49-F238E27FC236}">
                <a16:creationId xmlns:a16="http://schemas.microsoft.com/office/drawing/2014/main" id="{F8ED562F-B0DE-4E81-B31E-062EE9D4296B}"/>
              </a:ext>
            </a:extLst>
          </p:cNvPr>
          <p:cNvSpPr>
            <a:spLocks noGrp="1" noChangeArrowheads="1"/>
          </p:cNvSpPr>
          <p:nvPr>
            <p:ph type="sldNum" sz="quarter" idx="12"/>
          </p:nvPr>
        </p:nvSpPr>
        <p:spPr>
          <a:ln/>
        </p:spPr>
        <p:txBody>
          <a:bodyPr/>
          <a:lstStyle>
            <a:lvl1pPr>
              <a:defRPr/>
            </a:lvl1pPr>
          </a:lstStyle>
          <a:p>
            <a:pPr>
              <a:defRPr/>
            </a:pPr>
            <a:fld id="{3E73F7F4-7AAC-45FD-9679-A2CBA80A1BA0}" type="slidenum">
              <a:rPr lang="zh-CN" altLang="en-US"/>
              <a:pPr>
                <a:defRPr/>
              </a:pPr>
              <a:t>‹#›</a:t>
            </a:fld>
            <a:endParaRPr lang="en-US" altLang="zh-CN"/>
          </a:p>
        </p:txBody>
      </p:sp>
    </p:spTree>
    <p:extLst>
      <p:ext uri="{BB962C8B-B14F-4D97-AF65-F5344CB8AC3E}">
        <p14:creationId xmlns:p14="http://schemas.microsoft.com/office/powerpoint/2010/main" val="3969563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755FDB-044B-45F3-81BF-1EB8E77C8A16}"/>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A13C74E-7144-4056-BED1-A30951D4A0D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1035">
            <a:extLst>
              <a:ext uri="{FF2B5EF4-FFF2-40B4-BE49-F238E27FC236}">
                <a16:creationId xmlns:a16="http://schemas.microsoft.com/office/drawing/2014/main" id="{592B3A0F-6EE0-4263-B923-0EA0870ECD0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6">
            <a:extLst>
              <a:ext uri="{FF2B5EF4-FFF2-40B4-BE49-F238E27FC236}">
                <a16:creationId xmlns:a16="http://schemas.microsoft.com/office/drawing/2014/main" id="{7677ABEA-C470-4E99-964D-9F309AE1762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7">
            <a:extLst>
              <a:ext uri="{FF2B5EF4-FFF2-40B4-BE49-F238E27FC236}">
                <a16:creationId xmlns:a16="http://schemas.microsoft.com/office/drawing/2014/main" id="{394951D8-0806-46E2-9E70-670C5993F8F6}"/>
              </a:ext>
            </a:extLst>
          </p:cNvPr>
          <p:cNvSpPr>
            <a:spLocks noGrp="1" noChangeArrowheads="1"/>
          </p:cNvSpPr>
          <p:nvPr>
            <p:ph type="sldNum" sz="quarter" idx="12"/>
          </p:nvPr>
        </p:nvSpPr>
        <p:spPr>
          <a:ln/>
        </p:spPr>
        <p:txBody>
          <a:bodyPr/>
          <a:lstStyle>
            <a:lvl1pPr>
              <a:defRPr/>
            </a:lvl1pPr>
          </a:lstStyle>
          <a:p>
            <a:pPr>
              <a:defRPr/>
            </a:pPr>
            <a:fld id="{C6482403-FC42-4806-AD53-6DDFAB8A50FD}" type="slidenum">
              <a:rPr lang="zh-CN" altLang="en-US"/>
              <a:pPr>
                <a:defRPr/>
              </a:pPr>
              <a:t>‹#›</a:t>
            </a:fld>
            <a:endParaRPr lang="en-US" altLang="zh-CN"/>
          </a:p>
        </p:txBody>
      </p:sp>
    </p:spTree>
    <p:extLst>
      <p:ext uri="{BB962C8B-B14F-4D97-AF65-F5344CB8AC3E}">
        <p14:creationId xmlns:p14="http://schemas.microsoft.com/office/powerpoint/2010/main" val="2005860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8639EC-CF55-45AC-A2DD-487695201C7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CB26E19-257F-44AF-A702-358B224B4547}"/>
              </a:ext>
            </a:extLst>
          </p:cNvPr>
          <p:cNvSpPr>
            <a:spLocks noGrp="1"/>
          </p:cNvSpPr>
          <p:nvPr>
            <p:ph sz="half" idx="1"/>
          </p:nvPr>
        </p:nvSpPr>
        <p:spPr>
          <a:xfrm>
            <a:off x="11826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9407463-371C-4461-9519-A31CA8F6C242}"/>
              </a:ext>
            </a:extLst>
          </p:cNvPr>
          <p:cNvSpPr>
            <a:spLocks noGrp="1"/>
          </p:cNvSpPr>
          <p:nvPr>
            <p:ph sz="half" idx="2"/>
          </p:nvPr>
        </p:nvSpPr>
        <p:spPr>
          <a:xfrm>
            <a:off x="51450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35">
            <a:extLst>
              <a:ext uri="{FF2B5EF4-FFF2-40B4-BE49-F238E27FC236}">
                <a16:creationId xmlns:a16="http://schemas.microsoft.com/office/drawing/2014/main" id="{691C6703-6CD4-4310-9ACC-A39E38CFC77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6">
            <a:extLst>
              <a:ext uri="{FF2B5EF4-FFF2-40B4-BE49-F238E27FC236}">
                <a16:creationId xmlns:a16="http://schemas.microsoft.com/office/drawing/2014/main" id="{01A57E17-0632-484C-A76F-925288A3ED2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7">
            <a:extLst>
              <a:ext uri="{FF2B5EF4-FFF2-40B4-BE49-F238E27FC236}">
                <a16:creationId xmlns:a16="http://schemas.microsoft.com/office/drawing/2014/main" id="{6F28C42A-526E-4859-9AC8-93C2C1F7F839}"/>
              </a:ext>
            </a:extLst>
          </p:cNvPr>
          <p:cNvSpPr>
            <a:spLocks noGrp="1" noChangeArrowheads="1"/>
          </p:cNvSpPr>
          <p:nvPr>
            <p:ph type="sldNum" sz="quarter" idx="12"/>
          </p:nvPr>
        </p:nvSpPr>
        <p:spPr>
          <a:ln/>
        </p:spPr>
        <p:txBody>
          <a:bodyPr/>
          <a:lstStyle>
            <a:lvl1pPr>
              <a:defRPr/>
            </a:lvl1pPr>
          </a:lstStyle>
          <a:p>
            <a:pPr>
              <a:defRPr/>
            </a:pPr>
            <a:fld id="{938F6386-B955-47A8-ABE2-FC1C1887DECC}" type="slidenum">
              <a:rPr lang="zh-CN" altLang="en-US"/>
              <a:pPr>
                <a:defRPr/>
              </a:pPr>
              <a:t>‹#›</a:t>
            </a:fld>
            <a:endParaRPr lang="en-US" altLang="zh-CN"/>
          </a:p>
        </p:txBody>
      </p:sp>
    </p:spTree>
    <p:extLst>
      <p:ext uri="{BB962C8B-B14F-4D97-AF65-F5344CB8AC3E}">
        <p14:creationId xmlns:p14="http://schemas.microsoft.com/office/powerpoint/2010/main" val="1037247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29D4AA-0FA9-4248-A15B-C13779181F2E}"/>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EEE50DF-38D1-44E3-A4A4-20A0D0A9E3B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6E8F385A-22D4-4783-87B6-970B15341222}"/>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1C9C3165-9352-4FC7-A0B1-A3BCFB75D82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56B7E56-D2E8-4ABD-B26A-ACDC38F40294}"/>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35">
            <a:extLst>
              <a:ext uri="{FF2B5EF4-FFF2-40B4-BE49-F238E27FC236}">
                <a16:creationId xmlns:a16="http://schemas.microsoft.com/office/drawing/2014/main" id="{BEB020C5-C812-4042-8000-BF6575E7CF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036">
            <a:extLst>
              <a:ext uri="{FF2B5EF4-FFF2-40B4-BE49-F238E27FC236}">
                <a16:creationId xmlns:a16="http://schemas.microsoft.com/office/drawing/2014/main" id="{537C4D93-24DF-4FD5-8A64-DB3DAAE882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037">
            <a:extLst>
              <a:ext uri="{FF2B5EF4-FFF2-40B4-BE49-F238E27FC236}">
                <a16:creationId xmlns:a16="http://schemas.microsoft.com/office/drawing/2014/main" id="{C94E26E2-AF82-4921-A6AE-C6DBC383AC4B}"/>
              </a:ext>
            </a:extLst>
          </p:cNvPr>
          <p:cNvSpPr>
            <a:spLocks noGrp="1" noChangeArrowheads="1"/>
          </p:cNvSpPr>
          <p:nvPr>
            <p:ph type="sldNum" sz="quarter" idx="12"/>
          </p:nvPr>
        </p:nvSpPr>
        <p:spPr>
          <a:ln/>
        </p:spPr>
        <p:txBody>
          <a:bodyPr/>
          <a:lstStyle>
            <a:lvl1pPr>
              <a:defRPr/>
            </a:lvl1pPr>
          </a:lstStyle>
          <a:p>
            <a:pPr>
              <a:defRPr/>
            </a:pPr>
            <a:fld id="{838DB4F9-C4B6-4A61-8EFF-EA0749246DD5}" type="slidenum">
              <a:rPr lang="zh-CN" altLang="en-US"/>
              <a:pPr>
                <a:defRPr/>
              </a:pPr>
              <a:t>‹#›</a:t>
            </a:fld>
            <a:endParaRPr lang="en-US" altLang="zh-CN"/>
          </a:p>
        </p:txBody>
      </p:sp>
    </p:spTree>
    <p:extLst>
      <p:ext uri="{BB962C8B-B14F-4D97-AF65-F5344CB8AC3E}">
        <p14:creationId xmlns:p14="http://schemas.microsoft.com/office/powerpoint/2010/main" val="2755422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DA4478-3E02-4A1F-B9BF-7FB900349BEC}"/>
              </a:ext>
            </a:extLst>
          </p:cNvPr>
          <p:cNvSpPr>
            <a:spLocks noGrp="1"/>
          </p:cNvSpPr>
          <p:nvPr>
            <p:ph type="title"/>
          </p:nvPr>
        </p:nvSpPr>
        <p:spPr/>
        <p:txBody>
          <a:bodyPr/>
          <a:lstStyle/>
          <a:p>
            <a:r>
              <a:rPr lang="zh-CN" altLang="en-US"/>
              <a:t>单击此处编辑母版标题样式</a:t>
            </a:r>
          </a:p>
        </p:txBody>
      </p:sp>
      <p:sp>
        <p:nvSpPr>
          <p:cNvPr id="3" name="Rectangle 1035">
            <a:extLst>
              <a:ext uri="{FF2B5EF4-FFF2-40B4-BE49-F238E27FC236}">
                <a16:creationId xmlns:a16="http://schemas.microsoft.com/office/drawing/2014/main" id="{FC9E794F-EB60-46C5-803B-07989C0A4EE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36">
            <a:extLst>
              <a:ext uri="{FF2B5EF4-FFF2-40B4-BE49-F238E27FC236}">
                <a16:creationId xmlns:a16="http://schemas.microsoft.com/office/drawing/2014/main" id="{F707784D-DAE8-427F-BCE0-21AD11E0D9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37">
            <a:extLst>
              <a:ext uri="{FF2B5EF4-FFF2-40B4-BE49-F238E27FC236}">
                <a16:creationId xmlns:a16="http://schemas.microsoft.com/office/drawing/2014/main" id="{8120BBDF-0589-42D9-A700-2F28AB5C4C34}"/>
              </a:ext>
            </a:extLst>
          </p:cNvPr>
          <p:cNvSpPr>
            <a:spLocks noGrp="1" noChangeArrowheads="1"/>
          </p:cNvSpPr>
          <p:nvPr>
            <p:ph type="sldNum" sz="quarter" idx="12"/>
          </p:nvPr>
        </p:nvSpPr>
        <p:spPr>
          <a:ln/>
        </p:spPr>
        <p:txBody>
          <a:bodyPr/>
          <a:lstStyle>
            <a:lvl1pPr>
              <a:defRPr/>
            </a:lvl1pPr>
          </a:lstStyle>
          <a:p>
            <a:pPr>
              <a:defRPr/>
            </a:pPr>
            <a:fld id="{D91C2CE4-3AC9-45E8-A37A-34C2D813DC5E}" type="slidenum">
              <a:rPr lang="zh-CN" altLang="en-US"/>
              <a:pPr>
                <a:defRPr/>
              </a:pPr>
              <a:t>‹#›</a:t>
            </a:fld>
            <a:endParaRPr lang="en-US" altLang="zh-CN"/>
          </a:p>
        </p:txBody>
      </p:sp>
    </p:spTree>
    <p:extLst>
      <p:ext uri="{BB962C8B-B14F-4D97-AF65-F5344CB8AC3E}">
        <p14:creationId xmlns:p14="http://schemas.microsoft.com/office/powerpoint/2010/main" val="4084768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35">
            <a:extLst>
              <a:ext uri="{FF2B5EF4-FFF2-40B4-BE49-F238E27FC236}">
                <a16:creationId xmlns:a16="http://schemas.microsoft.com/office/drawing/2014/main" id="{D63B2054-73F1-402A-850C-46FE2197BD6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036">
            <a:extLst>
              <a:ext uri="{FF2B5EF4-FFF2-40B4-BE49-F238E27FC236}">
                <a16:creationId xmlns:a16="http://schemas.microsoft.com/office/drawing/2014/main" id="{3925D305-1AA0-41E5-9831-2FFF6CF8879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037">
            <a:extLst>
              <a:ext uri="{FF2B5EF4-FFF2-40B4-BE49-F238E27FC236}">
                <a16:creationId xmlns:a16="http://schemas.microsoft.com/office/drawing/2014/main" id="{9D39B112-DCDB-469B-A9B8-675AE691D207}"/>
              </a:ext>
            </a:extLst>
          </p:cNvPr>
          <p:cNvSpPr>
            <a:spLocks noGrp="1" noChangeArrowheads="1"/>
          </p:cNvSpPr>
          <p:nvPr>
            <p:ph type="sldNum" sz="quarter" idx="12"/>
          </p:nvPr>
        </p:nvSpPr>
        <p:spPr>
          <a:ln/>
        </p:spPr>
        <p:txBody>
          <a:bodyPr/>
          <a:lstStyle>
            <a:lvl1pPr>
              <a:defRPr/>
            </a:lvl1pPr>
          </a:lstStyle>
          <a:p>
            <a:pPr>
              <a:defRPr/>
            </a:pPr>
            <a:fld id="{B495ADCF-7D4B-41E7-8AC3-E084FCFABB32}" type="slidenum">
              <a:rPr lang="zh-CN" altLang="en-US"/>
              <a:pPr>
                <a:defRPr/>
              </a:pPr>
              <a:t>‹#›</a:t>
            </a:fld>
            <a:endParaRPr lang="en-US" altLang="zh-CN"/>
          </a:p>
        </p:txBody>
      </p:sp>
    </p:spTree>
    <p:extLst>
      <p:ext uri="{BB962C8B-B14F-4D97-AF65-F5344CB8AC3E}">
        <p14:creationId xmlns:p14="http://schemas.microsoft.com/office/powerpoint/2010/main" val="3804872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07DF4-AFEE-4A85-8669-5868A32A2DC5}"/>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42B6619-7B79-4AC8-B794-9105FEE4A6C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B1CE6DB4-6CCB-4D24-82C0-CEBB4DBD6E2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035">
            <a:extLst>
              <a:ext uri="{FF2B5EF4-FFF2-40B4-BE49-F238E27FC236}">
                <a16:creationId xmlns:a16="http://schemas.microsoft.com/office/drawing/2014/main" id="{8119CEB2-B73A-4E69-8D08-69F64AE483B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6">
            <a:extLst>
              <a:ext uri="{FF2B5EF4-FFF2-40B4-BE49-F238E27FC236}">
                <a16:creationId xmlns:a16="http://schemas.microsoft.com/office/drawing/2014/main" id="{05509F27-0D00-4168-B5F3-FBAAB45E84B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7">
            <a:extLst>
              <a:ext uri="{FF2B5EF4-FFF2-40B4-BE49-F238E27FC236}">
                <a16:creationId xmlns:a16="http://schemas.microsoft.com/office/drawing/2014/main" id="{FF75F6E3-59CF-4766-81CE-A40C46E411DF}"/>
              </a:ext>
            </a:extLst>
          </p:cNvPr>
          <p:cNvSpPr>
            <a:spLocks noGrp="1" noChangeArrowheads="1"/>
          </p:cNvSpPr>
          <p:nvPr>
            <p:ph type="sldNum" sz="quarter" idx="12"/>
          </p:nvPr>
        </p:nvSpPr>
        <p:spPr>
          <a:ln/>
        </p:spPr>
        <p:txBody>
          <a:bodyPr/>
          <a:lstStyle>
            <a:lvl1pPr>
              <a:defRPr/>
            </a:lvl1pPr>
          </a:lstStyle>
          <a:p>
            <a:pPr>
              <a:defRPr/>
            </a:pPr>
            <a:fld id="{DD0C4135-3CC7-4C04-9B19-49B2BD4898FE}" type="slidenum">
              <a:rPr lang="zh-CN" altLang="en-US"/>
              <a:pPr>
                <a:defRPr/>
              </a:pPr>
              <a:t>‹#›</a:t>
            </a:fld>
            <a:endParaRPr lang="en-US" altLang="zh-CN"/>
          </a:p>
        </p:txBody>
      </p:sp>
    </p:spTree>
    <p:extLst>
      <p:ext uri="{BB962C8B-B14F-4D97-AF65-F5344CB8AC3E}">
        <p14:creationId xmlns:p14="http://schemas.microsoft.com/office/powerpoint/2010/main" val="2682100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CB6DD1-E3CE-4D02-ABBE-8D68650FEE0A}"/>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CC53E1A-3DD7-446D-BC63-D662063D6AD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a:extLst>
              <a:ext uri="{FF2B5EF4-FFF2-40B4-BE49-F238E27FC236}">
                <a16:creationId xmlns:a16="http://schemas.microsoft.com/office/drawing/2014/main" id="{22F6FA0D-B9C9-4C2B-B502-3C035298088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035">
            <a:extLst>
              <a:ext uri="{FF2B5EF4-FFF2-40B4-BE49-F238E27FC236}">
                <a16:creationId xmlns:a16="http://schemas.microsoft.com/office/drawing/2014/main" id="{B096312A-AB4C-4C5B-8624-058D2465F86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6">
            <a:extLst>
              <a:ext uri="{FF2B5EF4-FFF2-40B4-BE49-F238E27FC236}">
                <a16:creationId xmlns:a16="http://schemas.microsoft.com/office/drawing/2014/main" id="{20FF1124-6F17-4D73-AF1F-9B070195043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7">
            <a:extLst>
              <a:ext uri="{FF2B5EF4-FFF2-40B4-BE49-F238E27FC236}">
                <a16:creationId xmlns:a16="http://schemas.microsoft.com/office/drawing/2014/main" id="{C988EA07-9C50-46FF-BDE3-B4CA4F7581DB}"/>
              </a:ext>
            </a:extLst>
          </p:cNvPr>
          <p:cNvSpPr>
            <a:spLocks noGrp="1" noChangeArrowheads="1"/>
          </p:cNvSpPr>
          <p:nvPr>
            <p:ph type="sldNum" sz="quarter" idx="12"/>
          </p:nvPr>
        </p:nvSpPr>
        <p:spPr>
          <a:ln/>
        </p:spPr>
        <p:txBody>
          <a:bodyPr/>
          <a:lstStyle>
            <a:lvl1pPr>
              <a:defRPr/>
            </a:lvl1pPr>
          </a:lstStyle>
          <a:p>
            <a:pPr>
              <a:defRPr/>
            </a:pPr>
            <a:fld id="{EA6D5C0D-6DDB-45B1-B04E-3E115E320F1A}" type="slidenum">
              <a:rPr lang="zh-CN" altLang="en-US"/>
              <a:pPr>
                <a:defRPr/>
              </a:pPr>
              <a:t>‹#›</a:t>
            </a:fld>
            <a:endParaRPr lang="en-US" altLang="zh-CN"/>
          </a:p>
        </p:txBody>
      </p:sp>
    </p:spTree>
    <p:extLst>
      <p:ext uri="{BB962C8B-B14F-4D97-AF65-F5344CB8AC3E}">
        <p14:creationId xmlns:p14="http://schemas.microsoft.com/office/powerpoint/2010/main" val="2998281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EE0257-460D-4C19-B514-D703F6B6CC1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93B99D1-D8F3-47D2-A5A4-40128A85CF5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35">
            <a:extLst>
              <a:ext uri="{FF2B5EF4-FFF2-40B4-BE49-F238E27FC236}">
                <a16:creationId xmlns:a16="http://schemas.microsoft.com/office/drawing/2014/main" id="{4499A932-F423-4E25-807A-0DE74931E43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6">
            <a:extLst>
              <a:ext uri="{FF2B5EF4-FFF2-40B4-BE49-F238E27FC236}">
                <a16:creationId xmlns:a16="http://schemas.microsoft.com/office/drawing/2014/main" id="{EA684C16-A070-489F-B24A-03B59E7A0B7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7">
            <a:extLst>
              <a:ext uri="{FF2B5EF4-FFF2-40B4-BE49-F238E27FC236}">
                <a16:creationId xmlns:a16="http://schemas.microsoft.com/office/drawing/2014/main" id="{2DC56394-F610-4E18-A628-5AE0285AF4DA}"/>
              </a:ext>
            </a:extLst>
          </p:cNvPr>
          <p:cNvSpPr>
            <a:spLocks noGrp="1" noChangeArrowheads="1"/>
          </p:cNvSpPr>
          <p:nvPr>
            <p:ph type="sldNum" sz="quarter" idx="12"/>
          </p:nvPr>
        </p:nvSpPr>
        <p:spPr>
          <a:ln/>
        </p:spPr>
        <p:txBody>
          <a:bodyPr/>
          <a:lstStyle>
            <a:lvl1pPr>
              <a:defRPr/>
            </a:lvl1pPr>
          </a:lstStyle>
          <a:p>
            <a:pPr>
              <a:defRPr/>
            </a:pPr>
            <a:fld id="{DEDD07C8-BCF7-4C25-9B83-E52151AE3AF4}" type="slidenum">
              <a:rPr lang="zh-CN" altLang="en-US"/>
              <a:pPr>
                <a:defRPr/>
              </a:pPr>
              <a:t>‹#›</a:t>
            </a:fld>
            <a:endParaRPr lang="en-US" altLang="zh-CN"/>
          </a:p>
        </p:txBody>
      </p:sp>
    </p:spTree>
    <p:extLst>
      <p:ext uri="{BB962C8B-B14F-4D97-AF65-F5344CB8AC3E}">
        <p14:creationId xmlns:p14="http://schemas.microsoft.com/office/powerpoint/2010/main" val="168262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2204578-3A56-4AFD-AF71-8CFDE2F09129}"/>
              </a:ext>
            </a:extLst>
          </p:cNvPr>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6B123CD-B6AD-4216-838F-C74589E1F029}"/>
              </a:ext>
            </a:extLst>
          </p:cNvPr>
          <p:cNvSpPr>
            <a:spLocks noGrp="1"/>
          </p:cNvSpPr>
          <p:nvPr>
            <p:ph type="body" orient="vert" idx="1"/>
          </p:nvPr>
        </p:nvSpPr>
        <p:spPr>
          <a:xfrm>
            <a:off x="1150938" y="617538"/>
            <a:ext cx="5700712" cy="55149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35">
            <a:extLst>
              <a:ext uri="{FF2B5EF4-FFF2-40B4-BE49-F238E27FC236}">
                <a16:creationId xmlns:a16="http://schemas.microsoft.com/office/drawing/2014/main" id="{03D01CB1-C5DB-4AC4-9001-389DD17A9E1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6">
            <a:extLst>
              <a:ext uri="{FF2B5EF4-FFF2-40B4-BE49-F238E27FC236}">
                <a16:creationId xmlns:a16="http://schemas.microsoft.com/office/drawing/2014/main" id="{541D32B8-5F6E-404A-B5F8-1BCD748C8F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7">
            <a:extLst>
              <a:ext uri="{FF2B5EF4-FFF2-40B4-BE49-F238E27FC236}">
                <a16:creationId xmlns:a16="http://schemas.microsoft.com/office/drawing/2014/main" id="{7A82A373-E03F-4DBB-89ED-58FE3FD447CE}"/>
              </a:ext>
            </a:extLst>
          </p:cNvPr>
          <p:cNvSpPr>
            <a:spLocks noGrp="1" noChangeArrowheads="1"/>
          </p:cNvSpPr>
          <p:nvPr>
            <p:ph type="sldNum" sz="quarter" idx="12"/>
          </p:nvPr>
        </p:nvSpPr>
        <p:spPr>
          <a:ln/>
        </p:spPr>
        <p:txBody>
          <a:bodyPr/>
          <a:lstStyle>
            <a:lvl1pPr>
              <a:defRPr/>
            </a:lvl1pPr>
          </a:lstStyle>
          <a:p>
            <a:pPr>
              <a:defRPr/>
            </a:pPr>
            <a:fld id="{7209E177-222E-43F0-9F80-EC4DC85F81B0}" type="slidenum">
              <a:rPr lang="zh-CN" altLang="en-US"/>
              <a:pPr>
                <a:defRPr/>
              </a:pPr>
              <a:t>‹#›</a:t>
            </a:fld>
            <a:endParaRPr lang="en-US" altLang="zh-CN"/>
          </a:p>
        </p:txBody>
      </p:sp>
    </p:spTree>
    <p:extLst>
      <p:ext uri="{BB962C8B-B14F-4D97-AF65-F5344CB8AC3E}">
        <p14:creationId xmlns:p14="http://schemas.microsoft.com/office/powerpoint/2010/main" val="412751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0367E553-E0BB-40AE-AA6E-3B786BCC24C6}"/>
              </a:ext>
            </a:extLst>
          </p:cNvPr>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eaLnBrk="1" hangingPunct="1">
              <a:defRPr/>
            </a:pPr>
            <a:endParaRPr lang="zh-CN" altLang="en-US" sz="2400">
              <a:solidFill>
                <a:schemeClr val="tx1"/>
              </a:solidFill>
              <a:latin typeface="Tahoma" panose="020B0604030504040204" pitchFamily="34" charset="0"/>
            </a:endParaRPr>
          </a:p>
        </p:txBody>
      </p:sp>
      <p:sp>
        <p:nvSpPr>
          <p:cNvPr id="1027" name="Rectangle 1027">
            <a:extLst>
              <a:ext uri="{FF2B5EF4-FFF2-40B4-BE49-F238E27FC236}">
                <a16:creationId xmlns:a16="http://schemas.microsoft.com/office/drawing/2014/main" id="{FF5018BA-44E6-4A5F-BCB8-ED3562EE11C0}"/>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eaLnBrk="1" hangingPunct="1">
              <a:defRPr/>
            </a:pPr>
            <a:endParaRPr lang="zh-CN" altLang="en-US" sz="2400">
              <a:solidFill>
                <a:schemeClr val="tx1"/>
              </a:solidFill>
              <a:latin typeface="Tahoma" panose="020B0604030504040204" pitchFamily="34" charset="0"/>
            </a:endParaRPr>
          </a:p>
        </p:txBody>
      </p:sp>
      <p:sp>
        <p:nvSpPr>
          <p:cNvPr id="1028" name="Rectangle 1028">
            <a:extLst>
              <a:ext uri="{FF2B5EF4-FFF2-40B4-BE49-F238E27FC236}">
                <a16:creationId xmlns:a16="http://schemas.microsoft.com/office/drawing/2014/main" id="{6394962F-D416-41D2-B295-6934C618C443}"/>
              </a:ext>
            </a:extLst>
          </p:cNvPr>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eaLnBrk="1" hangingPunct="1">
              <a:defRPr/>
            </a:pPr>
            <a:endParaRPr lang="zh-CN" altLang="en-US" sz="2400">
              <a:solidFill>
                <a:schemeClr val="tx1"/>
              </a:solidFill>
              <a:latin typeface="Tahoma" panose="020B0604030504040204" pitchFamily="34" charset="0"/>
            </a:endParaRPr>
          </a:p>
        </p:txBody>
      </p:sp>
      <p:sp>
        <p:nvSpPr>
          <p:cNvPr id="1029" name="Rectangle 1029">
            <a:extLst>
              <a:ext uri="{FF2B5EF4-FFF2-40B4-BE49-F238E27FC236}">
                <a16:creationId xmlns:a16="http://schemas.microsoft.com/office/drawing/2014/main" id="{72CA5166-BC1D-4AF1-8057-D9433C6070AD}"/>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eaLnBrk="1" hangingPunct="1">
              <a:defRPr/>
            </a:pPr>
            <a:endParaRPr lang="zh-CN" altLang="en-US" sz="2400">
              <a:solidFill>
                <a:schemeClr val="tx1"/>
              </a:solidFill>
              <a:latin typeface="Tahoma" panose="020B0604030504040204" pitchFamily="34" charset="0"/>
            </a:endParaRPr>
          </a:p>
        </p:txBody>
      </p:sp>
      <p:sp>
        <p:nvSpPr>
          <p:cNvPr id="1030" name="Rectangle 1030">
            <a:extLst>
              <a:ext uri="{FF2B5EF4-FFF2-40B4-BE49-F238E27FC236}">
                <a16:creationId xmlns:a16="http://schemas.microsoft.com/office/drawing/2014/main" id="{B7080772-D8A1-439B-B3EA-CF293A6B5996}"/>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eaLnBrk="1" hangingPunct="1">
              <a:defRPr/>
            </a:pPr>
            <a:endParaRPr lang="zh-CN" altLang="en-US" sz="2400">
              <a:solidFill>
                <a:schemeClr val="tx1"/>
              </a:solidFill>
              <a:latin typeface="Tahoma" panose="020B0604030504040204" pitchFamily="34" charset="0"/>
            </a:endParaRPr>
          </a:p>
        </p:txBody>
      </p:sp>
      <p:sp>
        <p:nvSpPr>
          <p:cNvPr id="1031" name="Rectangle 1031">
            <a:extLst>
              <a:ext uri="{FF2B5EF4-FFF2-40B4-BE49-F238E27FC236}">
                <a16:creationId xmlns:a16="http://schemas.microsoft.com/office/drawing/2014/main" id="{26485E93-EAF5-4BBF-9A2B-C149EB18D967}"/>
              </a:ext>
            </a:extLst>
          </p:cNvPr>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eaLnBrk="1" hangingPunct="1">
              <a:defRPr/>
            </a:pPr>
            <a:endParaRPr lang="zh-CN" altLang="en-US" sz="2400">
              <a:solidFill>
                <a:schemeClr val="tx1"/>
              </a:solidFill>
              <a:latin typeface="Tahoma" panose="020B0604030504040204" pitchFamily="34" charset="0"/>
            </a:endParaRPr>
          </a:p>
        </p:txBody>
      </p:sp>
      <p:sp>
        <p:nvSpPr>
          <p:cNvPr id="1032" name="Rectangle 1032">
            <a:extLst>
              <a:ext uri="{FF2B5EF4-FFF2-40B4-BE49-F238E27FC236}">
                <a16:creationId xmlns:a16="http://schemas.microsoft.com/office/drawing/2014/main" id="{CDF159F8-95E5-4A76-AAB9-C3AD86086018}"/>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600">
                <a:solidFill>
                  <a:srgbClr val="00FF00"/>
                </a:solidFill>
                <a:latin typeface="Comic Sans MS" panose="030F0702030302020204" pitchFamily="66" charset="0"/>
                <a:ea typeface="宋体" panose="02010600030101010101" pitchFamily="2" charset="-122"/>
              </a:defRPr>
            </a:lvl1pPr>
            <a:lvl2pPr marL="742950" indent="-285750" algn="ctr">
              <a:defRPr kumimoji="1" sz="1600">
                <a:solidFill>
                  <a:srgbClr val="00FF00"/>
                </a:solidFill>
                <a:latin typeface="Comic Sans MS" panose="030F0702030302020204" pitchFamily="66" charset="0"/>
                <a:ea typeface="宋体" panose="02010600030101010101" pitchFamily="2" charset="-122"/>
              </a:defRPr>
            </a:lvl2pPr>
            <a:lvl3pPr marL="1143000" indent="-228600" algn="ctr">
              <a:defRPr kumimoji="1" sz="1600">
                <a:solidFill>
                  <a:srgbClr val="00FF00"/>
                </a:solidFill>
                <a:latin typeface="Comic Sans MS" panose="030F0702030302020204" pitchFamily="66" charset="0"/>
                <a:ea typeface="宋体" panose="02010600030101010101" pitchFamily="2" charset="-122"/>
              </a:defRPr>
            </a:lvl3pPr>
            <a:lvl4pPr marL="1600200" indent="-228600" algn="ctr">
              <a:defRPr kumimoji="1" sz="1600">
                <a:solidFill>
                  <a:srgbClr val="00FF00"/>
                </a:solidFill>
                <a:latin typeface="Comic Sans MS" panose="030F0702030302020204" pitchFamily="66" charset="0"/>
                <a:ea typeface="宋体" panose="02010600030101010101" pitchFamily="2" charset="-122"/>
              </a:defRPr>
            </a:lvl4pPr>
            <a:lvl5pPr marL="2057400" indent="-228600" algn="ctr">
              <a:defRPr kumimoji="1" sz="1600">
                <a:solidFill>
                  <a:srgbClr val="00FF00"/>
                </a:solidFill>
                <a:latin typeface="Comic Sans MS" panose="030F0702030302020204" pitchFamily="66" charset="0"/>
                <a:ea typeface="宋体" panose="02010600030101010101" pitchFamily="2" charset="-122"/>
              </a:defRPr>
            </a:lvl5pPr>
            <a:lvl6pPr marL="25146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6pPr>
            <a:lvl7pPr marL="29718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7pPr>
            <a:lvl8pPr marL="34290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8pPr>
            <a:lvl9pPr marL="3886200" indent="-228600" algn="ctr" eaLnBrk="0" fontAlgn="base" hangingPunct="0">
              <a:spcBef>
                <a:spcPct val="0"/>
              </a:spcBef>
              <a:spcAft>
                <a:spcPct val="0"/>
              </a:spcAft>
              <a:defRPr kumimoji="1" sz="1600">
                <a:solidFill>
                  <a:srgbClr val="00FF00"/>
                </a:solidFill>
                <a:latin typeface="Comic Sans MS" panose="030F0702030302020204" pitchFamily="66" charset="0"/>
                <a:ea typeface="宋体" panose="02010600030101010101" pitchFamily="2" charset="-122"/>
              </a:defRPr>
            </a:lvl9pPr>
          </a:lstStyle>
          <a:p>
            <a:pPr eaLnBrk="1" hangingPunct="1">
              <a:defRPr/>
            </a:pPr>
            <a:endParaRPr lang="zh-CN" altLang="en-US" sz="2400">
              <a:solidFill>
                <a:schemeClr val="tx1"/>
              </a:solidFill>
              <a:latin typeface="Tahoma" panose="020B0604030504040204" pitchFamily="34" charset="0"/>
            </a:endParaRPr>
          </a:p>
        </p:txBody>
      </p:sp>
      <p:sp>
        <p:nvSpPr>
          <p:cNvPr id="1033" name="Rectangle 1033">
            <a:extLst>
              <a:ext uri="{FF2B5EF4-FFF2-40B4-BE49-F238E27FC236}">
                <a16:creationId xmlns:a16="http://schemas.microsoft.com/office/drawing/2014/main" id="{20A39180-8582-4F4D-9854-F1C53DD55EFF}"/>
              </a:ext>
            </a:extLst>
          </p:cNvPr>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34">
            <a:extLst>
              <a:ext uri="{FF2B5EF4-FFF2-40B4-BE49-F238E27FC236}">
                <a16:creationId xmlns:a16="http://schemas.microsoft.com/office/drawing/2014/main" id="{5BD9AAE8-2F6E-4F4F-BDFE-73A0D6CC685D}"/>
              </a:ext>
            </a:extLst>
          </p:cNvPr>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1" name="Rectangle 1035">
            <a:extLst>
              <a:ext uri="{FF2B5EF4-FFF2-40B4-BE49-F238E27FC236}">
                <a16:creationId xmlns:a16="http://schemas.microsoft.com/office/drawing/2014/main" id="{0BCB3A70-B96B-454F-8B19-217A45FE2504}"/>
              </a:ext>
            </a:extLst>
          </p:cNvPr>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0" sz="1400">
                <a:solidFill>
                  <a:schemeClr val="tx1"/>
                </a:solidFill>
                <a:latin typeface="+mn-lt"/>
              </a:defRPr>
            </a:lvl1pPr>
          </a:lstStyle>
          <a:p>
            <a:pPr>
              <a:defRPr/>
            </a:pPr>
            <a:endParaRPr lang="en-US" altLang="zh-CN"/>
          </a:p>
        </p:txBody>
      </p:sp>
      <p:sp>
        <p:nvSpPr>
          <p:cNvPr id="5132" name="Rectangle 1036">
            <a:extLst>
              <a:ext uri="{FF2B5EF4-FFF2-40B4-BE49-F238E27FC236}">
                <a16:creationId xmlns:a16="http://schemas.microsoft.com/office/drawing/2014/main" id="{3AC6D3B8-BD08-4D12-ADE0-2BDD46DF9650}"/>
              </a:ext>
            </a:extLst>
          </p:cNvPr>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a:solidFill>
                  <a:schemeClr val="tx1"/>
                </a:solidFill>
                <a:latin typeface="+mn-lt"/>
              </a:defRPr>
            </a:lvl1pPr>
          </a:lstStyle>
          <a:p>
            <a:pPr>
              <a:defRPr/>
            </a:pPr>
            <a:endParaRPr lang="en-US" altLang="zh-CN"/>
          </a:p>
        </p:txBody>
      </p:sp>
      <p:sp>
        <p:nvSpPr>
          <p:cNvPr id="5133" name="Rectangle 1037">
            <a:extLst>
              <a:ext uri="{FF2B5EF4-FFF2-40B4-BE49-F238E27FC236}">
                <a16:creationId xmlns:a16="http://schemas.microsoft.com/office/drawing/2014/main" id="{DC5B1BFE-863B-4DDD-920D-789C3AA4FE7D}"/>
              </a:ext>
            </a:extLst>
          </p:cNvPr>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a:solidFill>
                  <a:schemeClr val="tx1"/>
                </a:solidFill>
                <a:latin typeface="+mn-lt"/>
              </a:defRPr>
            </a:lvl1pPr>
          </a:lstStyle>
          <a:p>
            <a:pPr>
              <a:defRPr/>
            </a:pPr>
            <a:fld id="{650E0965-472F-4960-B0FA-4AACFD969FEA}"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oleObject" Target="../embeddings/oleObject8.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Rectangle 16">
            <a:extLst>
              <a:ext uri="{FF2B5EF4-FFF2-40B4-BE49-F238E27FC236}">
                <a16:creationId xmlns:a16="http://schemas.microsoft.com/office/drawing/2014/main" id="{8BA7F70E-0036-435E-93CA-5E099551E88D}"/>
              </a:ext>
            </a:extLst>
          </p:cNvPr>
          <p:cNvSpPr>
            <a:spLocks noGrp="1" noChangeArrowheads="1"/>
          </p:cNvSpPr>
          <p:nvPr>
            <p:ph type="sldNum" sz="quarter" idx="12"/>
          </p:nvPr>
        </p:nvSpPr>
        <p:spPr/>
        <p:txBody>
          <a:bodyPr/>
          <a:lstStyle/>
          <a:p>
            <a:pPr>
              <a:defRPr/>
            </a:pPr>
            <a:fld id="{BB6662E1-5999-4267-953E-B017056AED00}" type="slidenum">
              <a:rPr lang="zh-CN" altLang="en-US"/>
              <a:pPr>
                <a:defRPr/>
              </a:pPr>
              <a:t>1</a:t>
            </a:fld>
            <a:endParaRPr lang="en-US" altLang="zh-CN"/>
          </a:p>
        </p:txBody>
      </p:sp>
      <p:sp>
        <p:nvSpPr>
          <p:cNvPr id="4099" name="Rectangle 2">
            <a:extLst>
              <a:ext uri="{FF2B5EF4-FFF2-40B4-BE49-F238E27FC236}">
                <a16:creationId xmlns:a16="http://schemas.microsoft.com/office/drawing/2014/main" id="{0114B419-7709-4319-BA1F-E6BA389011E8}"/>
              </a:ext>
            </a:extLst>
          </p:cNvPr>
          <p:cNvSpPr>
            <a:spLocks noGrp="1" noChangeArrowheads="1"/>
          </p:cNvSpPr>
          <p:nvPr>
            <p:ph type="ctrTitle"/>
          </p:nvPr>
        </p:nvSpPr>
        <p:spPr/>
        <p:txBody>
          <a:bodyPr/>
          <a:lstStyle/>
          <a:p>
            <a:pPr eaLnBrk="1" hangingPunct="1"/>
            <a:r>
              <a:rPr lang="zh-CN" altLang="en-US"/>
              <a:t>第一章 引言：某些典型的问题</a:t>
            </a:r>
          </a:p>
        </p:txBody>
      </p:sp>
      <p:sp>
        <p:nvSpPr>
          <p:cNvPr id="4100" name="Rectangle 3">
            <a:extLst>
              <a:ext uri="{FF2B5EF4-FFF2-40B4-BE49-F238E27FC236}">
                <a16:creationId xmlns:a16="http://schemas.microsoft.com/office/drawing/2014/main" id="{D68B0C76-1243-49A1-8139-BE55BA7A280B}"/>
              </a:ext>
            </a:extLst>
          </p:cNvPr>
          <p:cNvSpPr>
            <a:spLocks noGrp="1" noChangeArrowheads="1"/>
          </p:cNvSpPr>
          <p:nvPr>
            <p:ph type="subTitle" idx="1"/>
          </p:nvPr>
        </p:nvSpPr>
        <p:spPr/>
        <p:txBody>
          <a:bodyPr/>
          <a:lstStyle/>
          <a:p>
            <a:pPr eaLnBrk="1" hangingPunct="1"/>
            <a:r>
              <a:rPr lang="zh-CN" altLang="en-US" dirty="0"/>
              <a:t>乔亚琼</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4">
            <a:extLst>
              <a:ext uri="{FF2B5EF4-FFF2-40B4-BE49-F238E27FC236}">
                <a16:creationId xmlns:a16="http://schemas.microsoft.com/office/drawing/2014/main" id="{27C734C1-35F2-4469-84FD-AB65689B1492}"/>
              </a:ext>
            </a:extLst>
          </p:cNvPr>
          <p:cNvSpPr>
            <a:spLocks noGrp="1" noChangeArrowheads="1"/>
          </p:cNvSpPr>
          <p:nvPr>
            <p:ph type="title"/>
          </p:nvPr>
        </p:nvSpPr>
        <p:spPr/>
        <p:txBody>
          <a:bodyPr/>
          <a:lstStyle/>
          <a:p>
            <a:pPr eaLnBrk="1" hangingPunct="1"/>
            <a:r>
              <a:rPr lang="zh-CN" altLang="en-US" sz="4000" dirty="0">
                <a:solidFill>
                  <a:srgbClr val="3907F1"/>
                </a:solidFill>
                <a:ea typeface="黑体" panose="02010609060101010101" pitchFamily="49" charset="-122"/>
              </a:rPr>
              <a:t>课程目标</a:t>
            </a:r>
          </a:p>
        </p:txBody>
      </p:sp>
      <p:sp>
        <p:nvSpPr>
          <p:cNvPr id="282627" name="Rectangle 3075">
            <a:extLst>
              <a:ext uri="{FF2B5EF4-FFF2-40B4-BE49-F238E27FC236}">
                <a16:creationId xmlns:a16="http://schemas.microsoft.com/office/drawing/2014/main" id="{B49B4BA3-3F04-49D8-8110-7C4897D2C00B}"/>
              </a:ext>
            </a:extLst>
          </p:cNvPr>
          <p:cNvSpPr>
            <a:spLocks noGrp="1" noChangeArrowheads="1"/>
          </p:cNvSpPr>
          <p:nvPr>
            <p:ph idx="1"/>
          </p:nvPr>
        </p:nvSpPr>
        <p:spPr>
          <a:xfrm>
            <a:off x="457200" y="1828800"/>
            <a:ext cx="8363272" cy="4166592"/>
          </a:xfrm>
        </p:spPr>
        <p:txBody>
          <a:bodyPr/>
          <a:lstStyle/>
          <a:p>
            <a:pPr eaLnBrk="1" hangingPunct="1">
              <a:lnSpc>
                <a:spcPct val="150000"/>
              </a:lnSpc>
            </a:pPr>
            <a:r>
              <a:rPr lang="zh-CN" altLang="en-US" dirty="0">
                <a:latin typeface="黑体" panose="02010609060101010101" pitchFamily="49" charset="-122"/>
                <a:ea typeface="黑体" panose="02010609060101010101" pitchFamily="49" charset="-122"/>
              </a:rPr>
              <a:t>目标</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a:t>
            </a:r>
            <a:r>
              <a:rPr lang="zh-CN" altLang="zh-CN" dirty="0">
                <a:latin typeface="Calibri" panose="020F0502020204030204" pitchFamily="34" charset="0"/>
                <a:ea typeface="宋体" panose="02010600030101010101" pitchFamily="2" charset="-122"/>
              </a:rPr>
              <a:t>分析</a:t>
            </a:r>
            <a:r>
              <a:rPr lang="zh-CN" altLang="zh-CN" dirty="0">
                <a:effectLst/>
                <a:latin typeface="Calibri" panose="020F0502020204030204" pitchFamily="34" charset="0"/>
                <a:ea typeface="宋体" panose="02010600030101010101" pitchFamily="2" charset="-122"/>
                <a:cs typeface="黑体" panose="02010609060101010101" pitchFamily="49" charset="-122"/>
              </a:rPr>
              <a:t>碰到的计算类问题，进行合理描述</a:t>
            </a:r>
            <a:r>
              <a:rPr lang="zh-CN" altLang="zh-CN" b="1" dirty="0">
                <a:effectLst/>
                <a:latin typeface="Calibri" panose="020F0502020204030204" pitchFamily="34" charset="0"/>
                <a:ea typeface="宋体" panose="02010600030101010101" pitchFamily="2" charset="-122"/>
                <a:cs typeface="黑体" panose="02010609060101010101" pitchFamily="49" charset="-122"/>
              </a:rPr>
              <a:t>，</a:t>
            </a:r>
            <a:r>
              <a:rPr lang="zh-CN" altLang="zh-CN" dirty="0">
                <a:solidFill>
                  <a:srgbClr val="3907F1"/>
                </a:solidFill>
                <a:latin typeface="+mj-ea"/>
                <a:ea typeface="+mj-ea"/>
                <a:cs typeface="+mj-cs"/>
              </a:rPr>
              <a:t>形式化成可计算问题</a:t>
            </a:r>
            <a:r>
              <a:rPr lang="zh-CN" altLang="zh-CN" dirty="0">
                <a:effectLst/>
                <a:latin typeface="Calibri" panose="020F0502020204030204" pitchFamily="34" charset="0"/>
                <a:ea typeface="宋体" panose="02010600030101010101" pitchFamily="2" charset="-122"/>
                <a:cs typeface="黑体" panose="02010609060101010101" pitchFamily="49" charset="-122"/>
              </a:rPr>
              <a:t>；能够分析该问题的关键要点，应用掌握的编程语言</a:t>
            </a:r>
            <a:r>
              <a:rPr lang="zh-CN" altLang="zh-CN" dirty="0">
                <a:solidFill>
                  <a:srgbClr val="3907F1"/>
                </a:solidFill>
                <a:latin typeface="+mj-ea"/>
                <a:ea typeface="+mj-ea"/>
                <a:cs typeface="+mj-cs"/>
              </a:rPr>
              <a:t>完成基本的任务需求</a:t>
            </a:r>
            <a:r>
              <a:rPr lang="zh-CN" altLang="en-US" dirty="0">
                <a:latin typeface="黑体" panose="02010609060101010101" pitchFamily="49" charset="-122"/>
                <a:ea typeface="黑体" panose="02010609060101010101" pitchFamily="49" charset="-122"/>
              </a:rPr>
              <a:t>。</a:t>
            </a:r>
          </a:p>
        </p:txBody>
      </p:sp>
      <p:sp>
        <p:nvSpPr>
          <p:cNvPr id="9220" name="灯片编号占位符 5">
            <a:extLst>
              <a:ext uri="{FF2B5EF4-FFF2-40B4-BE49-F238E27FC236}">
                <a16:creationId xmlns:a16="http://schemas.microsoft.com/office/drawing/2014/main" id="{D8091F55-CE9E-4A01-8960-29F82AAFAF17}"/>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D492373-93F1-4B3C-A04A-7DFA00BC4953}" type="slidenum">
              <a:rPr lang="zh-CN" altLang="en-US" sz="1400" smtClean="0">
                <a:latin typeface="Times New Roman" panose="02020603050405020304" pitchFamily="18" charset="0"/>
              </a:rPr>
              <a:pPr>
                <a:spcBef>
                  <a:spcPct val="0"/>
                </a:spcBef>
                <a:buClrTx/>
                <a:buSzTx/>
                <a:buFontTx/>
                <a:buNone/>
              </a:pPr>
              <a:t>2</a:t>
            </a:fld>
            <a:endParaRPr lang="zh-CN" altLang="en-US" sz="140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1568-2B0F-F44A-A729-CD4131CCF8C5}"/>
            </a:ext>
          </a:extLst>
        </p:cNvPr>
        <p:cNvGrpSpPr/>
        <p:nvPr/>
      </p:nvGrpSpPr>
      <p:grpSpPr>
        <a:xfrm>
          <a:off x="0" y="0"/>
          <a:ext cx="0" cy="0"/>
          <a:chOff x="0" y="0"/>
          <a:chExt cx="0" cy="0"/>
        </a:xfrm>
      </p:grpSpPr>
      <p:sp>
        <p:nvSpPr>
          <p:cNvPr id="9218" name="Rectangle 3074">
            <a:extLst>
              <a:ext uri="{FF2B5EF4-FFF2-40B4-BE49-F238E27FC236}">
                <a16:creationId xmlns:a16="http://schemas.microsoft.com/office/drawing/2014/main" id="{C8AB8C85-8C49-ED97-6899-A938E42C8FEF}"/>
              </a:ext>
            </a:extLst>
          </p:cNvPr>
          <p:cNvSpPr>
            <a:spLocks noGrp="1" noChangeArrowheads="1"/>
          </p:cNvSpPr>
          <p:nvPr>
            <p:ph type="title"/>
          </p:nvPr>
        </p:nvSpPr>
        <p:spPr/>
        <p:txBody>
          <a:bodyPr/>
          <a:lstStyle/>
          <a:p>
            <a:pPr eaLnBrk="1" hangingPunct="1"/>
            <a:r>
              <a:rPr lang="zh-CN" altLang="en-US" sz="4000" dirty="0">
                <a:solidFill>
                  <a:srgbClr val="3907F1"/>
                </a:solidFill>
                <a:ea typeface="黑体" panose="02010609060101010101" pitchFamily="49" charset="-122"/>
              </a:rPr>
              <a:t>课程目标</a:t>
            </a:r>
          </a:p>
        </p:txBody>
      </p:sp>
      <p:sp>
        <p:nvSpPr>
          <p:cNvPr id="282627" name="Rectangle 3075">
            <a:extLst>
              <a:ext uri="{FF2B5EF4-FFF2-40B4-BE49-F238E27FC236}">
                <a16:creationId xmlns:a16="http://schemas.microsoft.com/office/drawing/2014/main" id="{0C6494C9-DDC3-DFDC-8FB0-D3E08F6CB374}"/>
              </a:ext>
            </a:extLst>
          </p:cNvPr>
          <p:cNvSpPr>
            <a:spLocks noGrp="1" noChangeArrowheads="1"/>
          </p:cNvSpPr>
          <p:nvPr>
            <p:ph idx="1"/>
          </p:nvPr>
        </p:nvSpPr>
        <p:spPr>
          <a:xfrm>
            <a:off x="390364" y="1760538"/>
            <a:ext cx="8363272" cy="4166592"/>
          </a:xfrm>
        </p:spPr>
        <p:txBody>
          <a:bodyPr/>
          <a:lstStyle/>
          <a:p>
            <a:pPr eaLnBrk="1" hangingPunct="1">
              <a:lnSpc>
                <a:spcPct val="150000"/>
              </a:lnSpc>
            </a:pPr>
            <a:r>
              <a:rPr lang="zh-CN" altLang="en-US" sz="3000" dirty="0">
                <a:latin typeface="黑体" panose="02010609060101010101" pitchFamily="49" charset="-122"/>
                <a:ea typeface="黑体" panose="02010609060101010101" pitchFamily="49" charset="-122"/>
              </a:rPr>
              <a:t>目标</a:t>
            </a:r>
            <a:r>
              <a:rPr lang="en-US" altLang="zh-CN" sz="3000" dirty="0">
                <a:latin typeface="黑体" panose="02010609060101010101" pitchFamily="49" charset="-122"/>
                <a:ea typeface="黑体" panose="02010609060101010101" pitchFamily="49" charset="-122"/>
              </a:rPr>
              <a:t>2</a:t>
            </a:r>
            <a:r>
              <a:rPr lang="zh-CN" altLang="en-US" sz="3000" dirty="0">
                <a:latin typeface="黑体" panose="02010609060101010101" pitchFamily="49" charset="-122"/>
                <a:ea typeface="黑体" panose="02010609060101010101" pitchFamily="49" charset="-122"/>
              </a:rPr>
              <a:t>：</a:t>
            </a:r>
            <a:r>
              <a:rPr lang="zh-CN" altLang="zh-CN" dirty="0">
                <a:solidFill>
                  <a:srgbClr val="3907F1"/>
                </a:solidFill>
                <a:latin typeface="+mj-ea"/>
                <a:ea typeface="+mj-ea"/>
                <a:cs typeface="+mj-cs"/>
              </a:rPr>
              <a:t>灵活运用数据结构，选择合理的算法策略</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如贪心、动态规划、分治策略等求解问题。通过算法设计思路的培养训练拓宽学生思路，</a:t>
            </a:r>
            <a:r>
              <a:rPr lang="zh-CN" altLang="zh-CN" dirty="0">
                <a:solidFill>
                  <a:srgbClr val="3907F1"/>
                </a:solidFill>
                <a:latin typeface="+mj-ea"/>
                <a:ea typeface="+mj-ea"/>
                <a:cs typeface="+mj-cs"/>
              </a:rPr>
              <a:t>对算法复杂度有清楚认识</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，能够给出时间、空间复杂度的阶数估计，从而</a:t>
            </a:r>
            <a:r>
              <a:rPr lang="zh-CN" altLang="zh-CN" dirty="0">
                <a:solidFill>
                  <a:srgbClr val="3907F1"/>
                </a:solidFill>
                <a:latin typeface="+mj-ea"/>
                <a:ea typeface="+mj-ea"/>
                <a:cs typeface="+mj-cs"/>
              </a:rPr>
              <a:t>写出高效代码</a:t>
            </a:r>
            <a:r>
              <a:rPr lang="zh-CN" altLang="en-US" dirty="0">
                <a:solidFill>
                  <a:srgbClr val="3907F1"/>
                </a:solidFill>
                <a:latin typeface="+mj-ea"/>
                <a:ea typeface="+mj-ea"/>
                <a:cs typeface="+mj-cs"/>
              </a:rPr>
              <a:t>。</a:t>
            </a:r>
          </a:p>
        </p:txBody>
      </p:sp>
      <p:sp>
        <p:nvSpPr>
          <p:cNvPr id="9220" name="灯片编号占位符 5">
            <a:extLst>
              <a:ext uri="{FF2B5EF4-FFF2-40B4-BE49-F238E27FC236}">
                <a16:creationId xmlns:a16="http://schemas.microsoft.com/office/drawing/2014/main" id="{1DB699AA-FB85-7026-6F7D-4AC38FFAA5C4}"/>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D492373-93F1-4B3C-A04A-7DFA00BC4953}" type="slidenum">
              <a:rPr lang="zh-CN" altLang="en-US" sz="1400" smtClean="0">
                <a:latin typeface="Times New Roman" panose="02020603050405020304" pitchFamily="18" charset="0"/>
              </a:rPr>
              <a:pPr>
                <a:spcBef>
                  <a:spcPct val="0"/>
                </a:spcBef>
                <a:buClrTx/>
                <a:buSzTx/>
                <a:buFontTx/>
                <a:buNone/>
              </a:pPr>
              <a:t>3</a:t>
            </a:fld>
            <a:endParaRPr lang="zh-CN" altLang="en-US" sz="1400">
              <a:latin typeface="Times New Roman" panose="02020603050405020304" pitchFamily="18" charset="0"/>
            </a:endParaRPr>
          </a:p>
        </p:txBody>
      </p:sp>
    </p:spTree>
    <p:extLst>
      <p:ext uri="{BB962C8B-B14F-4D97-AF65-F5344CB8AC3E}">
        <p14:creationId xmlns:p14="http://schemas.microsoft.com/office/powerpoint/2010/main" val="3647675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074">
            <a:extLst>
              <a:ext uri="{FF2B5EF4-FFF2-40B4-BE49-F238E27FC236}">
                <a16:creationId xmlns:a16="http://schemas.microsoft.com/office/drawing/2014/main" id="{292F2CDA-73B2-45AD-8FF4-380339A0549D}"/>
              </a:ext>
            </a:extLst>
          </p:cNvPr>
          <p:cNvSpPr>
            <a:spLocks noGrp="1" noChangeArrowheads="1"/>
          </p:cNvSpPr>
          <p:nvPr>
            <p:ph type="title"/>
          </p:nvPr>
        </p:nvSpPr>
        <p:spPr/>
        <p:txBody>
          <a:bodyPr/>
          <a:lstStyle/>
          <a:p>
            <a:pPr eaLnBrk="1" hangingPunct="1"/>
            <a:r>
              <a:rPr lang="zh-CN" altLang="en-US" sz="4000" dirty="0">
                <a:solidFill>
                  <a:srgbClr val="3907F1"/>
                </a:solidFill>
                <a:ea typeface="黑体" panose="02010609060101010101" pitchFamily="49" charset="-122"/>
              </a:rPr>
              <a:t>课程目标</a:t>
            </a:r>
          </a:p>
        </p:txBody>
      </p:sp>
      <p:sp>
        <p:nvSpPr>
          <p:cNvPr id="10243" name="Rectangle 3075">
            <a:extLst>
              <a:ext uri="{FF2B5EF4-FFF2-40B4-BE49-F238E27FC236}">
                <a16:creationId xmlns:a16="http://schemas.microsoft.com/office/drawing/2014/main" id="{0686F192-554B-4ECF-B5A5-F30062FDBD50}"/>
              </a:ext>
            </a:extLst>
          </p:cNvPr>
          <p:cNvSpPr>
            <a:spLocks noGrp="1" noChangeArrowheads="1"/>
          </p:cNvSpPr>
          <p:nvPr>
            <p:ph idx="1"/>
          </p:nvPr>
        </p:nvSpPr>
        <p:spPr>
          <a:xfrm>
            <a:off x="457200" y="1751038"/>
            <a:ext cx="8229600" cy="4772000"/>
          </a:xfrm>
        </p:spPr>
        <p:txBody>
          <a:bodyPr/>
          <a:lstStyle/>
          <a:p>
            <a:pPr eaLnBrk="1" hangingPunct="1">
              <a:lnSpc>
                <a:spcPct val="150000"/>
              </a:lnSpc>
            </a:pPr>
            <a:r>
              <a:rPr lang="zh-CN" altLang="en-US" dirty="0">
                <a:latin typeface="黑体" panose="02010609060101010101" pitchFamily="49" charset="-122"/>
                <a:ea typeface="黑体" panose="02010609060101010101" pitchFamily="49" charset="-122"/>
              </a:rPr>
              <a:t>目标3：</a:t>
            </a:r>
            <a:r>
              <a:rPr lang="zh-CN" altLang="zh-CN" dirty="0">
                <a:solidFill>
                  <a:srgbClr val="3907F1"/>
                </a:solidFill>
                <a:latin typeface="+mj-ea"/>
                <a:ea typeface="+mj-ea"/>
                <a:cs typeface="+mj-cs"/>
              </a:rPr>
              <a:t>正确描述</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碰到的实验问题，并抽取合理的计算任务，设计</a:t>
            </a:r>
            <a:r>
              <a:rPr lang="zh-CN" altLang="zh-CN" dirty="0">
                <a:solidFill>
                  <a:srgbClr val="3907F1"/>
                </a:solidFill>
                <a:latin typeface="+mj-ea"/>
                <a:ea typeface="+mj-ea"/>
                <a:cs typeface="+mj-cs"/>
              </a:rPr>
              <a:t>合理的输入、输出数据格式来模拟计算任务</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，设计</a:t>
            </a:r>
            <a:r>
              <a:rPr lang="zh-CN" altLang="zh-CN" dirty="0">
                <a:solidFill>
                  <a:srgbClr val="3907F1"/>
                </a:solidFill>
                <a:latin typeface="+mj-ea"/>
                <a:ea typeface="+mj-ea"/>
                <a:cs typeface="+mj-cs"/>
              </a:rPr>
              <a:t>合理的实验方案</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，通过</a:t>
            </a:r>
            <a:r>
              <a:rPr lang="zh-CN" altLang="zh-CN" dirty="0">
                <a:solidFill>
                  <a:srgbClr val="3907F1"/>
                </a:solidFill>
                <a:latin typeface="+mj-ea"/>
                <a:ea typeface="+mj-ea"/>
                <a:cs typeface="+mj-cs"/>
              </a:rPr>
              <a:t>定量</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计算的模拟数据来</a:t>
            </a:r>
            <a:r>
              <a:rPr lang="zh-CN" altLang="zh-CN" dirty="0">
                <a:solidFill>
                  <a:srgbClr val="3907F1"/>
                </a:solidFill>
                <a:latin typeface="+mj-ea"/>
                <a:ea typeface="+mj-ea"/>
                <a:cs typeface="+mj-cs"/>
              </a:rPr>
              <a:t>解释、预测有效结论。</a:t>
            </a:r>
            <a:endParaRPr lang="zh-CN" altLang="en-US" dirty="0">
              <a:solidFill>
                <a:srgbClr val="3907F1"/>
              </a:solidFill>
              <a:latin typeface="+mj-ea"/>
              <a:ea typeface="+mj-ea"/>
              <a:cs typeface="+mj-cs"/>
            </a:endParaRPr>
          </a:p>
        </p:txBody>
      </p:sp>
      <p:sp>
        <p:nvSpPr>
          <p:cNvPr id="10244" name="灯片编号占位符 5">
            <a:extLst>
              <a:ext uri="{FF2B5EF4-FFF2-40B4-BE49-F238E27FC236}">
                <a16:creationId xmlns:a16="http://schemas.microsoft.com/office/drawing/2014/main" id="{42F671D3-8DFE-4304-889D-16CD450823C8}"/>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3A76CE-F3F2-4E65-B0EE-8384176F599C}" type="slidenum">
              <a:rPr lang="zh-CN" altLang="en-US" sz="1400" smtClean="0">
                <a:latin typeface="Times New Roman" panose="02020603050405020304" pitchFamily="18" charset="0"/>
              </a:rPr>
              <a:pPr>
                <a:spcBef>
                  <a:spcPct val="0"/>
                </a:spcBef>
                <a:buClrTx/>
                <a:buSzTx/>
                <a:buFontTx/>
                <a:buNone/>
              </a:pPr>
              <a:t>4</a:t>
            </a:fld>
            <a:endParaRPr lang="zh-CN" altLang="en-US" sz="1400">
              <a:latin typeface="Times New Roman" panose="02020603050405020304" pitchFamily="18" charset="0"/>
            </a:endParaRPr>
          </a:p>
        </p:txBody>
      </p:sp>
    </p:spTree>
    <p:extLst>
      <p:ext uri="{BB962C8B-B14F-4D97-AF65-F5344CB8AC3E}">
        <p14:creationId xmlns:p14="http://schemas.microsoft.com/office/powerpoint/2010/main" val="634512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06D0F-5158-035B-8CBE-B727BEDEA6F3}"/>
            </a:ext>
          </a:extLst>
        </p:cNvPr>
        <p:cNvGrpSpPr/>
        <p:nvPr/>
      </p:nvGrpSpPr>
      <p:grpSpPr>
        <a:xfrm>
          <a:off x="0" y="0"/>
          <a:ext cx="0" cy="0"/>
          <a:chOff x="0" y="0"/>
          <a:chExt cx="0" cy="0"/>
        </a:xfrm>
      </p:grpSpPr>
      <p:sp>
        <p:nvSpPr>
          <p:cNvPr id="10242" name="Rectangle 3074">
            <a:extLst>
              <a:ext uri="{FF2B5EF4-FFF2-40B4-BE49-F238E27FC236}">
                <a16:creationId xmlns:a16="http://schemas.microsoft.com/office/drawing/2014/main" id="{87DA9DB9-4A79-E580-A87F-59B1DF5A10DD}"/>
              </a:ext>
            </a:extLst>
          </p:cNvPr>
          <p:cNvSpPr>
            <a:spLocks noGrp="1" noChangeArrowheads="1"/>
          </p:cNvSpPr>
          <p:nvPr>
            <p:ph type="title"/>
          </p:nvPr>
        </p:nvSpPr>
        <p:spPr/>
        <p:txBody>
          <a:bodyPr/>
          <a:lstStyle/>
          <a:p>
            <a:pPr eaLnBrk="1" hangingPunct="1"/>
            <a:r>
              <a:rPr lang="zh-CN" altLang="en-US" sz="4000" dirty="0">
                <a:solidFill>
                  <a:srgbClr val="3907F1"/>
                </a:solidFill>
                <a:ea typeface="黑体" panose="02010609060101010101" pitchFamily="49" charset="-122"/>
              </a:rPr>
              <a:t>课程目标</a:t>
            </a:r>
          </a:p>
        </p:txBody>
      </p:sp>
      <p:sp>
        <p:nvSpPr>
          <p:cNvPr id="10243" name="Rectangle 3075">
            <a:extLst>
              <a:ext uri="{FF2B5EF4-FFF2-40B4-BE49-F238E27FC236}">
                <a16:creationId xmlns:a16="http://schemas.microsoft.com/office/drawing/2014/main" id="{798619F5-5553-574A-94BF-9068FFD60D9A}"/>
              </a:ext>
            </a:extLst>
          </p:cNvPr>
          <p:cNvSpPr>
            <a:spLocks noGrp="1" noChangeArrowheads="1"/>
          </p:cNvSpPr>
          <p:nvPr>
            <p:ph idx="1"/>
          </p:nvPr>
        </p:nvSpPr>
        <p:spPr>
          <a:xfrm>
            <a:off x="457200" y="1844824"/>
            <a:ext cx="8229600" cy="4032448"/>
          </a:xfrm>
        </p:spPr>
        <p:txBody>
          <a:bodyPr/>
          <a:lstStyle/>
          <a:p>
            <a:pPr eaLnBrk="1" hangingPunct="1">
              <a:lnSpc>
                <a:spcPct val="150000"/>
              </a:lnSpc>
            </a:pPr>
            <a:r>
              <a:rPr lang="zh-CN" altLang="en-US" dirty="0">
                <a:latin typeface="黑体" panose="02010609060101010101" pitchFamily="49" charset="-122"/>
                <a:ea typeface="黑体" panose="02010609060101010101" pitchFamily="49" charset="-122"/>
              </a:rPr>
              <a:t>目标</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根据特定计算任务需求，对问题进行</a:t>
            </a:r>
            <a:r>
              <a:rPr lang="zh-CN" altLang="zh-CN" dirty="0">
                <a:solidFill>
                  <a:srgbClr val="3907F1"/>
                </a:solidFill>
                <a:latin typeface="+mj-ea"/>
                <a:ea typeface="+mj-ea"/>
                <a:cs typeface="+mj-cs"/>
              </a:rPr>
              <a:t>形式化描述</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a:t>
            </a:r>
            <a:r>
              <a:rPr lang="zh-CN" altLang="zh-CN" dirty="0">
                <a:solidFill>
                  <a:srgbClr val="3907F1"/>
                </a:solidFill>
                <a:latin typeface="+mj-ea"/>
                <a:ea typeface="+mj-ea"/>
                <a:cs typeface="+mj-cs"/>
              </a:rPr>
              <a:t>设计合理复杂度</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的算法</a:t>
            </a:r>
            <a:r>
              <a:rPr lang="zh-CN" altLang="en-US" sz="3200" dirty="0">
                <a:effectLst/>
                <a:latin typeface="Calibri" panose="020F0502020204030204" pitchFamily="34" charset="0"/>
                <a:ea typeface="宋体" panose="02010600030101010101" pitchFamily="2" charset="-122"/>
                <a:cs typeface="黑体" panose="02010609060101010101" pitchFamily="49" charset="-122"/>
              </a:rPr>
              <a:t>来</a:t>
            </a:r>
            <a:r>
              <a:rPr lang="zh-CN" altLang="zh-CN" sz="3200" dirty="0">
                <a:effectLst/>
                <a:latin typeface="Calibri" panose="020F0502020204030204" pitchFamily="34" charset="0"/>
                <a:ea typeface="宋体" panose="02010600030101010101" pitchFamily="2" charset="-122"/>
                <a:cs typeface="黑体" panose="02010609060101010101" pitchFamily="49" charset="-122"/>
              </a:rPr>
              <a:t>解决计算任务，完成</a:t>
            </a:r>
            <a:r>
              <a:rPr lang="zh-CN" altLang="zh-CN" dirty="0">
                <a:solidFill>
                  <a:srgbClr val="3907F1"/>
                </a:solidFill>
                <a:latin typeface="+mj-ea"/>
                <a:ea typeface="+mj-ea"/>
                <a:cs typeface="+mj-cs"/>
              </a:rPr>
              <a:t>软件模块、硬件单元的算法设计。</a:t>
            </a:r>
            <a:endParaRPr lang="zh-CN" altLang="en-US" dirty="0">
              <a:solidFill>
                <a:srgbClr val="3907F1"/>
              </a:solidFill>
              <a:latin typeface="+mj-ea"/>
              <a:ea typeface="+mj-ea"/>
              <a:cs typeface="+mj-cs"/>
            </a:endParaRPr>
          </a:p>
        </p:txBody>
      </p:sp>
      <p:sp>
        <p:nvSpPr>
          <p:cNvPr id="10244" name="灯片编号占位符 5">
            <a:extLst>
              <a:ext uri="{FF2B5EF4-FFF2-40B4-BE49-F238E27FC236}">
                <a16:creationId xmlns:a16="http://schemas.microsoft.com/office/drawing/2014/main" id="{7938F950-09F7-2204-587D-7F1156CA9235}"/>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3A76CE-F3F2-4E65-B0EE-8384176F599C}" type="slidenum">
              <a:rPr lang="zh-CN" altLang="en-US" sz="1400" smtClean="0">
                <a:latin typeface="Times New Roman" panose="02020603050405020304" pitchFamily="18" charset="0"/>
              </a:rPr>
              <a:pPr>
                <a:spcBef>
                  <a:spcPct val="0"/>
                </a:spcBef>
                <a:buClrTx/>
                <a:buSzTx/>
                <a:buFontTx/>
                <a:buNone/>
              </a:pPr>
              <a:t>5</a:t>
            </a:fld>
            <a:endParaRPr lang="zh-CN" altLang="en-US" sz="1400">
              <a:latin typeface="Times New Roman" panose="02020603050405020304" pitchFamily="18" charset="0"/>
            </a:endParaRPr>
          </a:p>
        </p:txBody>
      </p:sp>
    </p:spTree>
    <p:extLst>
      <p:ext uri="{BB962C8B-B14F-4D97-AF65-F5344CB8AC3E}">
        <p14:creationId xmlns:p14="http://schemas.microsoft.com/office/powerpoint/2010/main" val="498874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3074">
            <a:extLst>
              <a:ext uri="{FF2B5EF4-FFF2-40B4-BE49-F238E27FC236}">
                <a16:creationId xmlns:a16="http://schemas.microsoft.com/office/drawing/2014/main" id="{34D0EC66-0FD1-4141-B34A-B076DD9BB102}"/>
              </a:ext>
            </a:extLst>
          </p:cNvPr>
          <p:cNvSpPr>
            <a:spLocks noGrp="1" noChangeArrowheads="1"/>
          </p:cNvSpPr>
          <p:nvPr>
            <p:ph type="title"/>
          </p:nvPr>
        </p:nvSpPr>
        <p:spPr/>
        <p:txBody>
          <a:bodyPr/>
          <a:lstStyle/>
          <a:p>
            <a:pPr eaLnBrk="1" hangingPunct="1"/>
            <a:r>
              <a:rPr lang="zh-CN" altLang="en-US" sz="4000" dirty="0">
                <a:solidFill>
                  <a:srgbClr val="3907F1"/>
                </a:solidFill>
                <a:ea typeface="黑体" panose="02010609060101010101" pitchFamily="49" charset="-122"/>
              </a:rPr>
              <a:t>成绩评定</a:t>
            </a:r>
          </a:p>
        </p:txBody>
      </p:sp>
      <p:sp>
        <p:nvSpPr>
          <p:cNvPr id="282627" name="Rectangle 3075">
            <a:extLst>
              <a:ext uri="{FF2B5EF4-FFF2-40B4-BE49-F238E27FC236}">
                <a16:creationId xmlns:a16="http://schemas.microsoft.com/office/drawing/2014/main" id="{5C023824-D983-49D6-9EB3-EC15378380B0}"/>
              </a:ext>
            </a:extLst>
          </p:cNvPr>
          <p:cNvSpPr>
            <a:spLocks noGrp="1" noChangeArrowheads="1"/>
          </p:cNvSpPr>
          <p:nvPr>
            <p:ph idx="1"/>
          </p:nvPr>
        </p:nvSpPr>
        <p:spPr>
          <a:xfrm>
            <a:off x="252983" y="2204864"/>
            <a:ext cx="8690992" cy="3816424"/>
          </a:xfrm>
        </p:spPr>
        <p:txBody>
          <a:bodyPr/>
          <a:lstStyle/>
          <a:p>
            <a:pPr>
              <a:lnSpc>
                <a:spcPts val="3500"/>
              </a:lnSpc>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学分：</a:t>
            </a:r>
            <a:r>
              <a:rPr lang="en-US" altLang="zh-CN" sz="2800" dirty="0">
                <a:latin typeface="黑体" panose="02010609060101010101" pitchFamily="49" charset="-122"/>
                <a:ea typeface="黑体" panose="02010609060101010101" pitchFamily="49" charset="-122"/>
              </a:rPr>
              <a:t>3.5	</a:t>
            </a:r>
          </a:p>
          <a:p>
            <a:pPr>
              <a:lnSpc>
                <a:spcPts val="3500"/>
              </a:lnSpc>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总学时（</a:t>
            </a:r>
            <a:r>
              <a:rPr lang="en-US" altLang="zh-CN" sz="2800" dirty="0">
                <a:latin typeface="黑体" panose="02010609060101010101" pitchFamily="49" charset="-122"/>
                <a:ea typeface="黑体" panose="02010609060101010101" pitchFamily="49" charset="-122"/>
              </a:rPr>
              <a:t>81</a:t>
            </a:r>
            <a:r>
              <a:rPr lang="zh-CN" altLang="en-US" sz="2800" dirty="0">
                <a:latin typeface="黑体" panose="02010609060101010101" pitchFamily="49" charset="-122"/>
                <a:ea typeface="黑体" panose="02010609060101010101" pitchFamily="49" charset="-122"/>
              </a:rPr>
              <a:t>）：主讲学时（</a:t>
            </a:r>
            <a:r>
              <a:rPr lang="en-US" altLang="zh-CN" sz="2800" dirty="0">
                <a:latin typeface="黑体" panose="02010609060101010101" pitchFamily="49" charset="-122"/>
                <a:ea typeface="黑体" panose="02010609060101010101" pitchFamily="49" charset="-122"/>
              </a:rPr>
              <a:t>51</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实践学时（</a:t>
            </a:r>
            <a:r>
              <a:rPr lang="en-US" altLang="zh-CN" sz="2800" dirty="0">
                <a:latin typeface="黑体" panose="02010609060101010101" pitchFamily="49" charset="-122"/>
                <a:ea typeface="黑体" panose="02010609060101010101" pitchFamily="49" charset="-122"/>
              </a:rPr>
              <a:t>30</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a:lnSpc>
                <a:spcPts val="3500"/>
              </a:lnSpc>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考查方式：</a:t>
            </a:r>
          </a:p>
          <a:p>
            <a:pPr eaLnBrk="1" hangingPunct="1">
              <a:lnSpc>
                <a:spcPts val="3500"/>
              </a:lnSpc>
            </a:pPr>
            <a:r>
              <a:rPr lang="zh-CN" altLang="en-US" sz="2800" dirty="0">
                <a:latin typeface="黑体" panose="02010609060101010101" pitchFamily="49" charset="-122"/>
                <a:ea typeface="黑体" panose="02010609060101010101" pitchFamily="49" charset="-122"/>
              </a:rPr>
              <a:t>平时成绩（</a:t>
            </a:r>
            <a:r>
              <a:rPr lang="en-US" altLang="zh-CN" sz="2800" dirty="0">
                <a:latin typeface="黑体" panose="02010609060101010101" pitchFamily="49" charset="-122"/>
                <a:ea typeface="黑体" panose="02010609060101010101" pitchFamily="49" charset="-122"/>
              </a:rPr>
              <a:t>45%</a:t>
            </a:r>
            <a:r>
              <a:rPr lang="zh-CN" altLang="en-US" sz="2800" dirty="0">
                <a:latin typeface="黑体" panose="02010609060101010101" pitchFamily="49" charset="-122"/>
                <a:ea typeface="黑体" panose="02010609060101010101" pitchFamily="49" charset="-122"/>
              </a:rPr>
              <a:t>）：考勤（</a:t>
            </a:r>
            <a:r>
              <a:rPr lang="en-US" altLang="zh-CN" sz="2800" dirty="0">
                <a:latin typeface="黑体" panose="02010609060101010101" pitchFamily="49" charset="-122"/>
                <a:ea typeface="黑体" panose="02010609060101010101" pitchFamily="49" charset="-122"/>
              </a:rPr>
              <a:t>10%</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实验（</a:t>
            </a:r>
            <a:r>
              <a:rPr lang="en-US" altLang="zh-CN" sz="2800" dirty="0">
                <a:latin typeface="黑体" panose="02010609060101010101" pitchFamily="49" charset="-122"/>
                <a:ea typeface="黑体" panose="02010609060101010101" pitchFamily="49" charset="-122"/>
              </a:rPr>
              <a:t>35%</a:t>
            </a:r>
            <a:r>
              <a:rPr lang="zh-CN" altLang="en-US" sz="2800" dirty="0">
                <a:latin typeface="黑体" panose="02010609060101010101" pitchFamily="49" charset="-122"/>
                <a:ea typeface="黑体" panose="02010609060101010101" pitchFamily="49" charset="-122"/>
              </a:rPr>
              <a:t>）</a:t>
            </a:r>
          </a:p>
          <a:p>
            <a:pPr>
              <a:lnSpc>
                <a:spcPts val="3500"/>
              </a:lnSpc>
            </a:pPr>
            <a:r>
              <a:rPr lang="zh-CN" altLang="en-US" sz="2800" dirty="0">
                <a:latin typeface="黑体" panose="02010609060101010101" pitchFamily="49" charset="-122"/>
                <a:ea typeface="黑体" panose="02010609060101010101" pitchFamily="49" charset="-122"/>
              </a:rPr>
              <a:t>期末考试（</a:t>
            </a:r>
            <a:r>
              <a:rPr lang="en-US" altLang="zh-CN" sz="2800" dirty="0">
                <a:latin typeface="黑体" panose="02010609060101010101" pitchFamily="49" charset="-122"/>
                <a:ea typeface="黑体" panose="02010609060101010101" pitchFamily="49" charset="-122"/>
              </a:rPr>
              <a:t>55%</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0" indent="0">
              <a:lnSpc>
                <a:spcPts val="3500"/>
              </a:lnSpc>
              <a:buNone/>
            </a:pPr>
            <a:r>
              <a:rPr lang="zh-CN" altLang="en-US" sz="2800" dirty="0">
                <a:latin typeface="黑体" panose="02010609060101010101" pitchFamily="49" charset="-122"/>
                <a:ea typeface="黑体" panose="02010609060101010101" pitchFamily="49" charset="-122"/>
              </a:rPr>
              <a:t> 填空题（</a:t>
            </a:r>
            <a:r>
              <a:rPr lang="en-US" altLang="zh-CN" sz="2800" dirty="0">
                <a:latin typeface="黑体" panose="02010609060101010101" pitchFamily="49" charset="-122"/>
                <a:ea typeface="黑体" panose="02010609060101010101" pitchFamily="49" charset="-122"/>
              </a:rPr>
              <a:t>11%</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 计算解答题（</a:t>
            </a:r>
            <a:r>
              <a:rPr lang="en-US" altLang="zh-CN" sz="2800" dirty="0">
                <a:latin typeface="黑体" panose="02010609060101010101" pitchFamily="49" charset="-122"/>
                <a:ea typeface="黑体" panose="02010609060101010101" pitchFamily="49" charset="-122"/>
              </a:rPr>
              <a:t>11%</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解答题（</a:t>
            </a:r>
            <a:r>
              <a:rPr lang="en-US" altLang="zh-CN" sz="2800" dirty="0">
                <a:latin typeface="黑体" panose="02010609060101010101" pitchFamily="49" charset="-122"/>
                <a:ea typeface="黑体" panose="02010609060101010101" pitchFamily="49" charset="-122"/>
              </a:rPr>
              <a:t>33%</a:t>
            </a:r>
            <a:r>
              <a:rPr lang="zh-CN" altLang="en-US" sz="2800" dirty="0">
                <a:latin typeface="黑体" panose="02010609060101010101" pitchFamily="49" charset="-122"/>
                <a:ea typeface="黑体" panose="02010609060101010101" pitchFamily="49" charset="-122"/>
              </a:rPr>
              <a:t>）</a:t>
            </a:r>
          </a:p>
        </p:txBody>
      </p:sp>
      <p:sp>
        <p:nvSpPr>
          <p:cNvPr id="8196" name="灯片编号占位符 5">
            <a:extLst>
              <a:ext uri="{FF2B5EF4-FFF2-40B4-BE49-F238E27FC236}">
                <a16:creationId xmlns:a16="http://schemas.microsoft.com/office/drawing/2014/main" id="{212568C2-68A0-4CCA-9EE6-92DFE684BA67}"/>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BF9D62B-08DD-4178-A49C-D976B1EC4142}" type="slidenum">
              <a:rPr lang="zh-CN" altLang="en-US" sz="1400" smtClean="0">
                <a:latin typeface="Times New Roman" panose="02020603050405020304" pitchFamily="18" charset="0"/>
              </a:rPr>
              <a:pPr>
                <a:spcBef>
                  <a:spcPct val="0"/>
                </a:spcBef>
                <a:buClrTx/>
                <a:buSzTx/>
                <a:buFontTx/>
                <a:buNone/>
              </a:pPr>
              <a:t>6</a:t>
            </a:fld>
            <a:endParaRPr lang="zh-CN" altLang="en-US" sz="1400">
              <a:latin typeface="Times New Roman" panose="02020603050405020304" pitchFamily="18" charset="0"/>
            </a:endParaRPr>
          </a:p>
        </p:txBody>
      </p:sp>
    </p:spTree>
    <p:extLst>
      <p:ext uri="{BB962C8B-B14F-4D97-AF65-F5344CB8AC3E}">
        <p14:creationId xmlns:p14="http://schemas.microsoft.com/office/powerpoint/2010/main" val="27603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灯片编号占位符 5">
            <a:extLst>
              <a:ext uri="{FF2B5EF4-FFF2-40B4-BE49-F238E27FC236}">
                <a16:creationId xmlns:a16="http://schemas.microsoft.com/office/drawing/2014/main" id="{42F671D3-8DFE-4304-889D-16CD450823C8}"/>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3A76CE-F3F2-4E65-B0EE-8384176F599C}" type="slidenum">
              <a:rPr lang="zh-CN" altLang="en-US" sz="1400" smtClean="0">
                <a:latin typeface="Times New Roman" panose="02020603050405020304" pitchFamily="18" charset="0"/>
              </a:rPr>
              <a:pPr>
                <a:spcBef>
                  <a:spcPct val="0"/>
                </a:spcBef>
                <a:buClrTx/>
                <a:buSzTx/>
                <a:buFontTx/>
                <a:buNone/>
              </a:pPr>
              <a:t>7</a:t>
            </a:fld>
            <a:endParaRPr lang="zh-CN" altLang="en-US" sz="1400">
              <a:latin typeface="Times New Roman" panose="02020603050405020304" pitchFamily="18" charset="0"/>
            </a:endParaRPr>
          </a:p>
        </p:txBody>
      </p:sp>
      <p:sp>
        <p:nvSpPr>
          <p:cNvPr id="9" name="文本框 8">
            <a:extLst>
              <a:ext uri="{FF2B5EF4-FFF2-40B4-BE49-F238E27FC236}">
                <a16:creationId xmlns:a16="http://schemas.microsoft.com/office/drawing/2014/main" id="{4E6935B7-A9E6-474E-89C3-409DA4BAEACB}"/>
              </a:ext>
            </a:extLst>
          </p:cNvPr>
          <p:cNvSpPr txBox="1"/>
          <p:nvPr/>
        </p:nvSpPr>
        <p:spPr>
          <a:xfrm>
            <a:off x="1187624" y="5843453"/>
            <a:ext cx="7200800" cy="646331"/>
          </a:xfrm>
          <a:prstGeom prst="rect">
            <a:avLst/>
          </a:prstGeom>
          <a:noFill/>
        </p:spPr>
        <p:txBody>
          <a:bodyPr wrap="square">
            <a:spAutoFit/>
          </a:bodyPr>
          <a:lstStyle/>
          <a:p>
            <a:pPr algn="ctr"/>
            <a:r>
              <a:rPr lang="en-US" altLang="zh-CN" b="1" dirty="0">
                <a:solidFill>
                  <a:srgbClr val="0000FF"/>
                </a:solidFill>
              </a:rPr>
              <a:t>《</a:t>
            </a:r>
            <a:r>
              <a:rPr lang="zh-CN" altLang="zh-CN" b="1" dirty="0">
                <a:solidFill>
                  <a:srgbClr val="0000FF"/>
                </a:solidFill>
              </a:rPr>
              <a:t>算法设计</a:t>
            </a:r>
            <a:r>
              <a:rPr lang="en-US" altLang="zh-CN" b="1" dirty="0">
                <a:solidFill>
                  <a:srgbClr val="0000FF"/>
                </a:solidFill>
              </a:rPr>
              <a:t>》 Jon Kleinberg, Eva </a:t>
            </a:r>
            <a:r>
              <a:rPr lang="en-US" altLang="zh-CN" b="1" dirty="0" err="1">
                <a:solidFill>
                  <a:srgbClr val="0000FF"/>
                </a:solidFill>
              </a:rPr>
              <a:t>Tardos</a:t>
            </a:r>
            <a:r>
              <a:rPr lang="en-US" altLang="zh-CN" b="1" dirty="0">
                <a:solidFill>
                  <a:srgbClr val="0000FF"/>
                </a:solidFill>
              </a:rPr>
              <a:t>(</a:t>
            </a:r>
            <a:r>
              <a:rPr lang="zh-CN" altLang="en-US" b="1" dirty="0">
                <a:solidFill>
                  <a:srgbClr val="0000FF"/>
                </a:solidFill>
              </a:rPr>
              <a:t>著</a:t>
            </a:r>
            <a:r>
              <a:rPr lang="en-US" altLang="zh-CN" b="1" dirty="0">
                <a:solidFill>
                  <a:srgbClr val="0000FF"/>
                </a:solidFill>
              </a:rPr>
              <a:t>) </a:t>
            </a:r>
            <a:r>
              <a:rPr lang="zh-CN" altLang="en-US" b="1" dirty="0">
                <a:solidFill>
                  <a:srgbClr val="0000FF"/>
                </a:solidFill>
              </a:rPr>
              <a:t>张立昂，屈婉玲</a:t>
            </a:r>
            <a:r>
              <a:rPr lang="en-US" altLang="zh-CN" b="1" dirty="0">
                <a:solidFill>
                  <a:srgbClr val="0000FF"/>
                </a:solidFill>
              </a:rPr>
              <a:t>(</a:t>
            </a:r>
            <a:r>
              <a:rPr lang="zh-CN" altLang="en-US" b="1" dirty="0">
                <a:solidFill>
                  <a:srgbClr val="0000FF"/>
                </a:solidFill>
              </a:rPr>
              <a:t>译</a:t>
            </a:r>
            <a:r>
              <a:rPr lang="en-US" altLang="zh-CN" b="1" dirty="0">
                <a:solidFill>
                  <a:srgbClr val="0000FF"/>
                </a:solidFill>
              </a:rPr>
              <a:t>) </a:t>
            </a:r>
            <a:r>
              <a:rPr lang="zh-CN" altLang="en-US" sz="1800" b="1" dirty="0">
                <a:solidFill>
                  <a:srgbClr val="0000FF"/>
                </a:solidFill>
              </a:rPr>
              <a:t>清华大学出版社</a:t>
            </a:r>
            <a:r>
              <a:rPr lang="en-US" altLang="zh-CN" sz="1800" b="1" dirty="0">
                <a:solidFill>
                  <a:srgbClr val="0000FF"/>
                </a:solidFill>
              </a:rPr>
              <a:t>(Pearson Education </a:t>
            </a:r>
            <a:r>
              <a:rPr lang="zh-CN" altLang="en-US" sz="1800" b="1" dirty="0">
                <a:solidFill>
                  <a:srgbClr val="0000FF"/>
                </a:solidFill>
              </a:rPr>
              <a:t>授权</a:t>
            </a:r>
            <a:r>
              <a:rPr lang="en-US" altLang="zh-CN" sz="1800" b="1" dirty="0">
                <a:solidFill>
                  <a:srgbClr val="0000FF"/>
                </a:solidFill>
              </a:rPr>
              <a:t>)</a:t>
            </a:r>
            <a:endParaRPr lang="zh-CN" altLang="en-US" dirty="0"/>
          </a:p>
        </p:txBody>
      </p:sp>
      <p:sp>
        <p:nvSpPr>
          <p:cNvPr id="12" name="Rectangle 3074">
            <a:extLst>
              <a:ext uri="{FF2B5EF4-FFF2-40B4-BE49-F238E27FC236}">
                <a16:creationId xmlns:a16="http://schemas.microsoft.com/office/drawing/2014/main" id="{0C4AD3DB-B66F-4AD7-8980-DBDE660AACDF}"/>
              </a:ext>
            </a:extLst>
          </p:cNvPr>
          <p:cNvSpPr>
            <a:spLocks noGrp="1" noChangeArrowheads="1"/>
          </p:cNvSpPr>
          <p:nvPr>
            <p:ph type="title"/>
          </p:nvPr>
        </p:nvSpPr>
        <p:spPr>
          <a:xfrm>
            <a:off x="457200" y="457200"/>
            <a:ext cx="8229600" cy="1371600"/>
          </a:xfrm>
        </p:spPr>
        <p:txBody>
          <a:bodyPr/>
          <a:lstStyle/>
          <a:p>
            <a:pPr eaLnBrk="1" hangingPunct="1"/>
            <a:r>
              <a:rPr lang="zh-CN" altLang="en-US" sz="4000" dirty="0">
                <a:solidFill>
                  <a:srgbClr val="3907F1"/>
                </a:solidFill>
                <a:ea typeface="黑体" panose="02010609060101010101" pitchFamily="49" charset="-122"/>
              </a:rPr>
              <a:t>教   材</a:t>
            </a:r>
          </a:p>
        </p:txBody>
      </p:sp>
      <p:pic>
        <p:nvPicPr>
          <p:cNvPr id="3" name="图片 2">
            <a:extLst>
              <a:ext uri="{FF2B5EF4-FFF2-40B4-BE49-F238E27FC236}">
                <a16:creationId xmlns:a16="http://schemas.microsoft.com/office/drawing/2014/main" id="{B5A47006-2071-6F92-98EF-5D1E3A49582A}"/>
              </a:ext>
            </a:extLst>
          </p:cNvPr>
          <p:cNvPicPr>
            <a:picLocks noChangeAspect="1"/>
          </p:cNvPicPr>
          <p:nvPr/>
        </p:nvPicPr>
        <p:blipFill>
          <a:blip r:embed="rId3"/>
          <a:stretch>
            <a:fillRect/>
          </a:stretch>
        </p:blipFill>
        <p:spPr>
          <a:xfrm>
            <a:off x="2843808" y="1014546"/>
            <a:ext cx="3303066" cy="48289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074">
            <a:extLst>
              <a:ext uri="{FF2B5EF4-FFF2-40B4-BE49-F238E27FC236}">
                <a16:creationId xmlns:a16="http://schemas.microsoft.com/office/drawing/2014/main" id="{0CAE2897-9254-41CF-8709-8B7BEDBE8796}"/>
              </a:ext>
            </a:extLst>
          </p:cNvPr>
          <p:cNvSpPr>
            <a:spLocks noGrp="1" noChangeArrowheads="1"/>
          </p:cNvSpPr>
          <p:nvPr>
            <p:ph type="title"/>
          </p:nvPr>
        </p:nvSpPr>
        <p:spPr/>
        <p:txBody>
          <a:bodyPr/>
          <a:lstStyle/>
          <a:p>
            <a:pPr eaLnBrk="1" hangingPunct="1"/>
            <a:r>
              <a:rPr lang="zh-CN" altLang="en-US" sz="4000" b="1" dirty="0">
                <a:solidFill>
                  <a:srgbClr val="0000FF"/>
                </a:solidFill>
              </a:rPr>
              <a:t>主要内容介绍</a:t>
            </a:r>
          </a:p>
        </p:txBody>
      </p:sp>
      <p:sp>
        <p:nvSpPr>
          <p:cNvPr id="282627" name="Rectangle 3075">
            <a:extLst>
              <a:ext uri="{FF2B5EF4-FFF2-40B4-BE49-F238E27FC236}">
                <a16:creationId xmlns:a16="http://schemas.microsoft.com/office/drawing/2014/main" id="{3989D79D-29DA-4C98-8F8C-391DE02D44F7}"/>
              </a:ext>
            </a:extLst>
          </p:cNvPr>
          <p:cNvSpPr>
            <a:spLocks noGrp="1" noChangeArrowheads="1"/>
          </p:cNvSpPr>
          <p:nvPr>
            <p:ph idx="1"/>
          </p:nvPr>
        </p:nvSpPr>
        <p:spPr>
          <a:xfrm>
            <a:off x="457200" y="1985824"/>
            <a:ext cx="8229600" cy="4844008"/>
          </a:xfrm>
        </p:spPr>
        <p:txBody>
          <a:bodyPr/>
          <a:lstStyle/>
          <a:p>
            <a:r>
              <a:rPr lang="zh-CN" altLang="en-US" dirty="0">
                <a:latin typeface="黑体" panose="02010609060101010101" pitchFamily="49" charset="-122"/>
                <a:ea typeface="黑体" panose="02010609060101010101" pitchFamily="49" charset="-122"/>
              </a:rPr>
              <a:t>第1章	引言：某些典型的问题</a:t>
            </a:r>
            <a:r>
              <a:rPr lang="en-US" altLang="zh-CN" dirty="0">
                <a:latin typeface="黑体" panose="02010609060101010101" pitchFamily="49" charset="-122"/>
                <a:ea typeface="黑体" panose="02010609060101010101" pitchFamily="49" charset="-122"/>
              </a:rPr>
              <a:t>(4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第2章	算法分析基础 </a:t>
            </a:r>
            <a:r>
              <a:rPr lang="en-US" altLang="zh-CN" dirty="0">
                <a:latin typeface="黑体" panose="02010609060101010101" pitchFamily="49" charset="-122"/>
                <a:ea typeface="黑体" panose="02010609060101010101" pitchFamily="49" charset="-122"/>
              </a:rPr>
              <a:t>(4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第3章	图</a:t>
            </a:r>
            <a:r>
              <a:rPr lang="en-US" altLang="zh-CN" dirty="0">
                <a:latin typeface="黑体" panose="02010609060101010101" pitchFamily="49" charset="-122"/>
                <a:ea typeface="黑体" panose="02010609060101010101" pitchFamily="49" charset="-122"/>
              </a:rPr>
              <a:t>(5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p>
          <a:p>
            <a:r>
              <a:rPr lang="zh-CN" altLang="en-US" dirty="0">
                <a:latin typeface="黑体" panose="02010609060101010101" pitchFamily="49" charset="-122"/>
                <a:ea typeface="黑体" panose="02010609060101010101" pitchFamily="49" charset="-122"/>
              </a:rPr>
              <a:t>第4章	贪心算法</a:t>
            </a:r>
            <a:r>
              <a:rPr lang="en-US" altLang="zh-CN" dirty="0">
                <a:latin typeface="黑体" panose="02010609060101010101" pitchFamily="49" charset="-122"/>
                <a:ea typeface="黑体" panose="02010609060101010101" pitchFamily="49" charset="-122"/>
              </a:rPr>
              <a:t>(10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第5章	分治策略</a:t>
            </a:r>
            <a:r>
              <a:rPr lang="en-US" altLang="zh-CN" dirty="0">
                <a:latin typeface="黑体" panose="02010609060101010101" pitchFamily="49" charset="-122"/>
                <a:ea typeface="黑体" panose="02010609060101010101" pitchFamily="49" charset="-122"/>
              </a:rPr>
              <a:t>(9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第6章	动态规划</a:t>
            </a:r>
            <a:r>
              <a:rPr lang="en-US" altLang="zh-CN" dirty="0">
                <a:latin typeface="黑体" panose="02010609060101010101" pitchFamily="49" charset="-122"/>
                <a:ea typeface="黑体" panose="02010609060101010101" pitchFamily="49" charset="-122"/>
              </a:rPr>
              <a:t>(10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7</a:t>
            </a:r>
            <a:r>
              <a:rPr lang="zh-CN" altLang="en-US" dirty="0">
                <a:latin typeface="黑体" panose="02010609060101010101" pitchFamily="49" charset="-122"/>
                <a:ea typeface="黑体" panose="02010609060101010101" pitchFamily="49" charset="-122"/>
              </a:rPr>
              <a:t>章	网络流</a:t>
            </a:r>
            <a:r>
              <a:rPr lang="en-US" altLang="zh-CN" dirty="0">
                <a:latin typeface="黑体" panose="02010609060101010101" pitchFamily="49" charset="-122"/>
                <a:ea typeface="黑体" panose="02010609060101010101" pitchFamily="49" charset="-122"/>
              </a:rPr>
              <a:t>(6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p>
          <a:p>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章   </a:t>
            </a:r>
            <a:r>
              <a:rPr lang="en-US" altLang="zh-CN" dirty="0">
                <a:latin typeface="黑体" panose="02010609060101010101" pitchFamily="49" charset="-122"/>
                <a:ea typeface="黑体" panose="02010609060101010101" pitchFamily="49" charset="-122"/>
              </a:rPr>
              <a:t>NP</a:t>
            </a:r>
            <a:r>
              <a:rPr lang="zh-CN" altLang="en-US" dirty="0">
                <a:latin typeface="黑体" panose="02010609060101010101" pitchFamily="49" charset="-122"/>
                <a:ea typeface="黑体" panose="02010609060101010101" pitchFamily="49" charset="-122"/>
              </a:rPr>
              <a:t>与计算的难解性</a:t>
            </a:r>
            <a:r>
              <a:rPr lang="en-US" altLang="zh-CN" dirty="0">
                <a:latin typeface="黑体" panose="02010609060101010101" pitchFamily="49" charset="-122"/>
                <a:ea typeface="黑体" panose="02010609060101010101" pitchFamily="49" charset="-122"/>
              </a:rPr>
              <a:t>(3 </a:t>
            </a:r>
            <a:r>
              <a:rPr lang="zh-CN" altLang="en-US" dirty="0">
                <a:latin typeface="黑体" panose="02010609060101010101" pitchFamily="49" charset="-122"/>
                <a:ea typeface="黑体" panose="02010609060101010101" pitchFamily="49" charset="-122"/>
              </a:rPr>
              <a:t>学时</a:t>
            </a:r>
            <a:r>
              <a:rPr lang="en-US" altLang="zh-CN" dirty="0">
                <a:latin typeface="黑体" panose="02010609060101010101" pitchFamily="49" charset="-122"/>
                <a:ea typeface="黑体" panose="02010609060101010101" pitchFamily="49" charset="-122"/>
              </a:rPr>
              <a:t>)</a:t>
            </a:r>
          </a:p>
          <a:p>
            <a:pPr eaLnBrk="1" hangingPunct="1"/>
            <a:endParaRPr lang="zh-CN" altLang="en-US" dirty="0">
              <a:latin typeface="黑体" panose="02010609060101010101" pitchFamily="49" charset="-122"/>
              <a:ea typeface="黑体" panose="02010609060101010101" pitchFamily="49" charset="-122"/>
            </a:endParaRPr>
          </a:p>
        </p:txBody>
      </p:sp>
      <p:sp>
        <p:nvSpPr>
          <p:cNvPr id="11268" name="灯片编号占位符 5">
            <a:extLst>
              <a:ext uri="{FF2B5EF4-FFF2-40B4-BE49-F238E27FC236}">
                <a16:creationId xmlns:a16="http://schemas.microsoft.com/office/drawing/2014/main" id="{5BADC2BF-1272-40AB-8F24-DEB7191F568C}"/>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C760CBA-B0D9-4423-A2C9-F7253474F825}" type="slidenum">
              <a:rPr lang="zh-CN" altLang="en-US" sz="1400" smtClean="0">
                <a:latin typeface="Times New Roman" panose="02020603050405020304" pitchFamily="18" charset="0"/>
              </a:rPr>
              <a:pPr>
                <a:spcBef>
                  <a:spcPct val="0"/>
                </a:spcBef>
                <a:buClrTx/>
                <a:buSzTx/>
                <a:buFontTx/>
                <a:buNone/>
              </a:pPr>
              <a:t>8</a:t>
            </a:fld>
            <a:endParaRPr lang="zh-CN" altLang="en-US" sz="140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23029-FD48-5D73-77B9-FA3AE6E326E3}"/>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46BF84C-10CB-9A57-94C2-D253EBE44131}"/>
              </a:ext>
            </a:extLst>
          </p:cNvPr>
          <p:cNvSpPr>
            <a:spLocks noGrp="1"/>
          </p:cNvSpPr>
          <p:nvPr>
            <p:ph type="sldNum" sz="quarter" idx="12"/>
          </p:nvPr>
        </p:nvSpPr>
        <p:spPr/>
        <p:txBody>
          <a:bodyPr/>
          <a:lstStyle/>
          <a:p>
            <a:pPr>
              <a:defRPr/>
            </a:pPr>
            <a:fld id="{97FE3B8A-DB05-47FB-B31E-612EFCDE12FC}" type="slidenum">
              <a:rPr lang="zh-CN" altLang="en-US"/>
              <a:pPr>
                <a:defRPr/>
              </a:pPr>
              <a:t>9</a:t>
            </a:fld>
            <a:endParaRPr lang="en-US" altLang="zh-CN"/>
          </a:p>
        </p:txBody>
      </p:sp>
      <p:sp>
        <p:nvSpPr>
          <p:cNvPr id="5123" name="Rectangle 2">
            <a:extLst>
              <a:ext uri="{FF2B5EF4-FFF2-40B4-BE49-F238E27FC236}">
                <a16:creationId xmlns:a16="http://schemas.microsoft.com/office/drawing/2014/main" id="{950B217F-3765-BC0E-3B15-49F1B7A63992}"/>
              </a:ext>
            </a:extLst>
          </p:cNvPr>
          <p:cNvSpPr>
            <a:spLocks noGrp="1" noChangeArrowheads="1"/>
          </p:cNvSpPr>
          <p:nvPr>
            <p:ph type="title"/>
          </p:nvPr>
        </p:nvSpPr>
        <p:spPr/>
        <p:txBody>
          <a:bodyPr/>
          <a:lstStyle/>
          <a:p>
            <a:pPr eaLnBrk="1" hangingPunct="1"/>
            <a:r>
              <a:rPr lang="zh-CN" altLang="en-US"/>
              <a:t>第一个问题： 稳定匹配</a:t>
            </a:r>
          </a:p>
        </p:txBody>
      </p:sp>
      <p:sp>
        <p:nvSpPr>
          <p:cNvPr id="3" name="Rectangle 2">
            <a:extLst>
              <a:ext uri="{FF2B5EF4-FFF2-40B4-BE49-F238E27FC236}">
                <a16:creationId xmlns:a16="http://schemas.microsoft.com/office/drawing/2014/main" id="{9EA22640-89EF-B123-EC5D-23B6E75301A1}"/>
              </a:ext>
            </a:extLst>
          </p:cNvPr>
          <p:cNvSpPr>
            <a:spLocks noGrp="1" noChangeArrowheads="1"/>
          </p:cNvSpPr>
          <p:nvPr>
            <p:ph type="body" idx="1"/>
          </p:nvPr>
        </p:nvSpPr>
        <p:spPr bwMode="auto">
          <a:xfrm>
            <a:off x="200025" y="1744661"/>
            <a:ext cx="8620447" cy="49174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None/>
              <a:tabLst/>
            </a:pPr>
            <a:r>
              <a:rPr kumimoji="0" lang="zh-CN" altLang="en-US" sz="2800" b="0" i="0" u="none" strike="noStrike" cap="none" normalizeH="0" baseline="0" dirty="0">
                <a:ln>
                  <a:noFill/>
                </a:ln>
                <a:solidFill>
                  <a:srgbClr val="1F2329"/>
                </a:solidFill>
                <a:effectLst/>
                <a:latin typeface="Arial" panose="020B0604020202020204" pitchFamily="34" charset="0"/>
                <a:ea typeface="Inter"/>
              </a:rPr>
              <a:t>婚姻市场问题</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kumimoji="0" lang="zh-CN" altLang="en-US" sz="2800" b="0" i="0" u="none" strike="noStrike" cap="none" normalizeH="0" baseline="0" dirty="0">
                <a:ln>
                  <a:noFill/>
                </a:ln>
                <a:solidFill>
                  <a:srgbClr val="1F2329"/>
                </a:solidFill>
                <a:effectLst/>
                <a:latin typeface="Arial" panose="020B0604020202020204" pitchFamily="34" charset="0"/>
                <a:ea typeface="Inter"/>
              </a:rPr>
              <a:t>起源背景：</a:t>
            </a:r>
            <a:r>
              <a:rPr kumimoji="0" lang="en-US" altLang="zh-CN" sz="2800" b="0" i="0" u="none" strike="noStrike" cap="none" normalizeH="0" baseline="0" dirty="0">
                <a:ln>
                  <a:noFill/>
                </a:ln>
                <a:solidFill>
                  <a:srgbClr val="1F2329"/>
                </a:solidFill>
                <a:effectLst/>
                <a:latin typeface="Arial" panose="020B0604020202020204" pitchFamily="34" charset="0"/>
                <a:ea typeface="Inter"/>
              </a:rPr>
              <a:t>20</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世纪</a:t>
            </a:r>
            <a:r>
              <a:rPr kumimoji="0" lang="en-US" altLang="zh-CN" sz="2800" b="0" i="0" u="none" strike="noStrike" cap="none" normalizeH="0" baseline="0" dirty="0">
                <a:ln>
                  <a:noFill/>
                </a:ln>
                <a:solidFill>
                  <a:srgbClr val="1F2329"/>
                </a:solidFill>
                <a:effectLst/>
                <a:latin typeface="Arial" panose="020B0604020202020204" pitchFamily="34" charset="0"/>
                <a:ea typeface="Inter"/>
              </a:rPr>
              <a:t>60</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年代，美国数学家大卫</a:t>
            </a:r>
            <a:r>
              <a:rPr kumimoji="0" lang="en-US" altLang="zh-CN" sz="2800" b="0" i="0" u="none" strike="noStrike" cap="none" normalizeH="0" baseline="0" dirty="0">
                <a:ln>
                  <a:noFill/>
                </a:ln>
                <a:solidFill>
                  <a:srgbClr val="1F2329"/>
                </a:solidFill>
                <a:effectLst/>
                <a:latin typeface="Arial" panose="020B0604020202020204" pitchFamily="34" charset="0"/>
                <a:ea typeface="Inter"/>
              </a:rPr>
              <a:t>·</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盖尔（</a:t>
            </a:r>
            <a:r>
              <a:rPr kumimoji="0" lang="en-US" altLang="zh-CN" sz="2800" b="0" i="0" u="none" strike="noStrike" cap="none" normalizeH="0" baseline="0" dirty="0">
                <a:ln>
                  <a:noFill/>
                </a:ln>
                <a:solidFill>
                  <a:srgbClr val="1F2329"/>
                </a:solidFill>
                <a:effectLst/>
                <a:latin typeface="Arial" panose="020B0604020202020204" pitchFamily="34" charset="0"/>
                <a:ea typeface="Inter"/>
              </a:rPr>
              <a:t>David Gale</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）和劳埃德</a:t>
            </a:r>
            <a:r>
              <a:rPr kumimoji="0" lang="en-US" altLang="zh-CN" sz="2800" b="0" i="0" u="none" strike="noStrike" cap="none" normalizeH="0" baseline="0" dirty="0">
                <a:ln>
                  <a:noFill/>
                </a:ln>
                <a:solidFill>
                  <a:srgbClr val="1F2329"/>
                </a:solidFill>
                <a:effectLst/>
                <a:latin typeface="Arial" panose="020B0604020202020204" pitchFamily="34" charset="0"/>
                <a:ea typeface="Inter"/>
              </a:rPr>
              <a:t>·</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沙普利（</a:t>
            </a:r>
            <a:r>
              <a:rPr kumimoji="0" lang="en-US" altLang="zh-CN" sz="2800" b="0" i="0" u="none" strike="noStrike" cap="none" normalizeH="0" baseline="0" dirty="0">
                <a:ln>
                  <a:noFill/>
                </a:ln>
                <a:solidFill>
                  <a:srgbClr val="1F2329"/>
                </a:solidFill>
                <a:effectLst/>
                <a:latin typeface="Arial" panose="020B0604020202020204" pitchFamily="34" charset="0"/>
                <a:ea typeface="Inter"/>
              </a:rPr>
              <a:t>Lloyd Shapley</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）为研究婚姻市场中的配对问题提出了稳定匹配问题。当时社会中婚姻匹配是一个普遍且重要的现象，</a:t>
            </a:r>
            <a:r>
              <a:rPr kumimoji="0" lang="zh-CN" altLang="en-US" sz="2800" b="0" i="0" u="none" strike="noStrike" cap="none" normalizeH="0" baseline="0" dirty="0">
                <a:ln>
                  <a:noFill/>
                </a:ln>
                <a:solidFill>
                  <a:schemeClr val="tx2"/>
                </a:solidFill>
                <a:effectLst/>
                <a:latin typeface="Arial" panose="020B0604020202020204" pitchFamily="34" charset="0"/>
                <a:ea typeface="Inter"/>
              </a:rPr>
              <a:t>人们希望找到一种合理的方式来研究如何将男性和女性进行配对，使得婚姻关系相对稳定</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 </a:t>
            </a:r>
          </a:p>
          <a:p>
            <a:pPr marL="0" marR="0" lvl="0" indent="0" algn="l" defTabSz="914400" rtl="0" eaLnBrk="0" fontAlgn="base" latinLnBrk="0" hangingPunct="0">
              <a:lnSpc>
                <a:spcPts val="3000"/>
              </a:lnSpc>
              <a:spcBef>
                <a:spcPct val="0"/>
              </a:spcBef>
              <a:spcAft>
                <a:spcPct val="0"/>
              </a:spcAft>
              <a:buClrTx/>
              <a:buSzTx/>
              <a:buNone/>
              <a:tabLst/>
            </a:pPr>
            <a:r>
              <a:rPr kumimoji="0" lang="zh-CN" altLang="en-US" sz="2000" b="0" i="0" u="none" strike="noStrike" cap="none" normalizeH="0" baseline="0" dirty="0">
                <a:ln>
                  <a:noFill/>
                </a:ln>
                <a:solidFill>
                  <a:srgbClr val="1F2329"/>
                </a:solidFill>
                <a:effectLst/>
                <a:latin typeface="Arial" panose="020B0604020202020204" pitchFamily="34" charset="0"/>
                <a:ea typeface="Inter"/>
              </a:rPr>
              <a:t> </a:t>
            </a:r>
          </a:p>
        </p:txBody>
      </p:sp>
    </p:spTree>
    <p:extLst>
      <p:ext uri="{BB962C8B-B14F-4D97-AF65-F5344CB8AC3E}">
        <p14:creationId xmlns:p14="http://schemas.microsoft.com/office/powerpoint/2010/main" val="11167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E12F8-DA5D-D145-B556-0862A29BE0F3}"/>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7196604-01FC-8470-A840-95561A0CA4EE}"/>
              </a:ext>
            </a:extLst>
          </p:cNvPr>
          <p:cNvSpPr>
            <a:spLocks noGrp="1"/>
          </p:cNvSpPr>
          <p:nvPr>
            <p:ph type="sldNum" sz="quarter" idx="12"/>
          </p:nvPr>
        </p:nvSpPr>
        <p:spPr/>
        <p:txBody>
          <a:bodyPr/>
          <a:lstStyle/>
          <a:p>
            <a:pPr>
              <a:defRPr/>
            </a:pPr>
            <a:fld id="{97FE3B8A-DB05-47FB-B31E-612EFCDE12FC}" type="slidenum">
              <a:rPr lang="zh-CN" altLang="en-US"/>
              <a:pPr>
                <a:defRPr/>
              </a:pPr>
              <a:t>10</a:t>
            </a:fld>
            <a:endParaRPr lang="en-US" altLang="zh-CN"/>
          </a:p>
        </p:txBody>
      </p:sp>
      <p:sp>
        <p:nvSpPr>
          <p:cNvPr id="5123" name="Rectangle 2">
            <a:extLst>
              <a:ext uri="{FF2B5EF4-FFF2-40B4-BE49-F238E27FC236}">
                <a16:creationId xmlns:a16="http://schemas.microsoft.com/office/drawing/2014/main" id="{07A44ED2-4367-9535-72F4-3A8A1D9D2734}"/>
              </a:ext>
            </a:extLst>
          </p:cNvPr>
          <p:cNvSpPr>
            <a:spLocks noGrp="1" noChangeArrowheads="1"/>
          </p:cNvSpPr>
          <p:nvPr>
            <p:ph type="title"/>
          </p:nvPr>
        </p:nvSpPr>
        <p:spPr/>
        <p:txBody>
          <a:bodyPr/>
          <a:lstStyle/>
          <a:p>
            <a:pPr eaLnBrk="1" hangingPunct="1"/>
            <a:r>
              <a:rPr lang="zh-CN" altLang="en-US"/>
              <a:t>第一个问题： 稳定匹配</a:t>
            </a:r>
          </a:p>
        </p:txBody>
      </p:sp>
      <p:sp>
        <p:nvSpPr>
          <p:cNvPr id="3" name="Rectangle 2">
            <a:extLst>
              <a:ext uri="{FF2B5EF4-FFF2-40B4-BE49-F238E27FC236}">
                <a16:creationId xmlns:a16="http://schemas.microsoft.com/office/drawing/2014/main" id="{9A1C6B97-5990-FA13-6310-50CDE385E211}"/>
              </a:ext>
            </a:extLst>
          </p:cNvPr>
          <p:cNvSpPr>
            <a:spLocks noGrp="1" noChangeArrowheads="1"/>
          </p:cNvSpPr>
          <p:nvPr>
            <p:ph type="body" idx="1"/>
          </p:nvPr>
        </p:nvSpPr>
        <p:spPr bwMode="auto">
          <a:xfrm>
            <a:off x="611560" y="2187379"/>
            <a:ext cx="7920880" cy="40320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None/>
              <a:tabLst/>
            </a:pPr>
            <a:r>
              <a:rPr kumimoji="0" lang="zh-CN" altLang="en-US" b="0" i="0" u="none" strike="noStrike" cap="none" normalizeH="0" baseline="0" dirty="0">
                <a:ln>
                  <a:noFill/>
                </a:ln>
                <a:solidFill>
                  <a:srgbClr val="1F2329"/>
                </a:solidFill>
                <a:effectLst/>
                <a:latin typeface="Arial" panose="020B0604020202020204" pitchFamily="34" charset="0"/>
                <a:ea typeface="Inter"/>
              </a:rPr>
              <a:t>大学招生问题</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kumimoji="0" lang="zh-CN" altLang="en-US" sz="2800" b="0" i="0" u="none" strike="noStrike" cap="none" normalizeH="0" baseline="0" dirty="0">
                <a:ln>
                  <a:noFill/>
                </a:ln>
                <a:solidFill>
                  <a:srgbClr val="1F2329"/>
                </a:solidFill>
                <a:effectLst/>
                <a:latin typeface="Arial" panose="020B0604020202020204" pitchFamily="34" charset="0"/>
                <a:ea typeface="Inter"/>
              </a:rPr>
              <a:t>起源背景：随着教育的发展，大学招生过程中</a:t>
            </a:r>
            <a:r>
              <a:rPr kumimoji="0" lang="zh-CN" altLang="en-US" b="1" dirty="0">
                <a:solidFill>
                  <a:schemeClr val="tx2"/>
                </a:solidFill>
              </a:rPr>
              <a:t>如何将学生与大学进行合理匹配</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成为一个重要问题。不同大学有不同的招生要求和对学生的偏好，学生也对不同大学有不同的喜好和选择优先级。</a:t>
            </a:r>
          </a:p>
        </p:txBody>
      </p:sp>
    </p:spTree>
    <p:extLst>
      <p:ext uri="{BB962C8B-B14F-4D97-AF65-F5344CB8AC3E}">
        <p14:creationId xmlns:p14="http://schemas.microsoft.com/office/powerpoint/2010/main" val="869923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820B3-D5ED-AF91-8021-0C65475AC3C2}"/>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7207E73-1865-3DB5-7A92-0C972655C13E}"/>
              </a:ext>
            </a:extLst>
          </p:cNvPr>
          <p:cNvSpPr>
            <a:spLocks noGrp="1"/>
          </p:cNvSpPr>
          <p:nvPr>
            <p:ph type="sldNum" sz="quarter" idx="12"/>
          </p:nvPr>
        </p:nvSpPr>
        <p:spPr/>
        <p:txBody>
          <a:bodyPr/>
          <a:lstStyle/>
          <a:p>
            <a:pPr>
              <a:defRPr/>
            </a:pPr>
            <a:fld id="{97FE3B8A-DB05-47FB-B31E-612EFCDE12FC}" type="slidenum">
              <a:rPr lang="zh-CN" altLang="en-US"/>
              <a:pPr>
                <a:defRPr/>
              </a:pPr>
              <a:t>11</a:t>
            </a:fld>
            <a:endParaRPr lang="en-US" altLang="zh-CN"/>
          </a:p>
        </p:txBody>
      </p:sp>
      <p:sp>
        <p:nvSpPr>
          <p:cNvPr id="5123" name="Rectangle 2">
            <a:extLst>
              <a:ext uri="{FF2B5EF4-FFF2-40B4-BE49-F238E27FC236}">
                <a16:creationId xmlns:a16="http://schemas.microsoft.com/office/drawing/2014/main" id="{FE10CA20-40F5-CE75-8952-C58EAE28D563}"/>
              </a:ext>
            </a:extLst>
          </p:cNvPr>
          <p:cNvSpPr>
            <a:spLocks noGrp="1" noChangeArrowheads="1"/>
          </p:cNvSpPr>
          <p:nvPr>
            <p:ph type="title"/>
          </p:nvPr>
        </p:nvSpPr>
        <p:spPr/>
        <p:txBody>
          <a:bodyPr/>
          <a:lstStyle/>
          <a:p>
            <a:pPr eaLnBrk="1" hangingPunct="1"/>
            <a:r>
              <a:rPr lang="zh-CN" altLang="en-US"/>
              <a:t>第一个问题： 稳定匹配</a:t>
            </a:r>
          </a:p>
        </p:txBody>
      </p:sp>
      <p:sp>
        <p:nvSpPr>
          <p:cNvPr id="3" name="Rectangle 2">
            <a:extLst>
              <a:ext uri="{FF2B5EF4-FFF2-40B4-BE49-F238E27FC236}">
                <a16:creationId xmlns:a16="http://schemas.microsoft.com/office/drawing/2014/main" id="{396564BD-D443-A7A3-0CE7-212F8AB4A9AC}"/>
              </a:ext>
            </a:extLst>
          </p:cNvPr>
          <p:cNvSpPr>
            <a:spLocks noGrp="1" noChangeArrowheads="1"/>
          </p:cNvSpPr>
          <p:nvPr>
            <p:ph type="body" idx="1"/>
          </p:nvPr>
        </p:nvSpPr>
        <p:spPr bwMode="auto">
          <a:xfrm>
            <a:off x="357187" y="2166906"/>
            <a:ext cx="8586788" cy="393966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None/>
              <a:tabLst/>
            </a:pPr>
            <a:r>
              <a:rPr kumimoji="0" lang="zh-CN" altLang="en-US" b="0" i="0" u="none" strike="noStrike" cap="none" normalizeH="0" baseline="0" dirty="0">
                <a:ln>
                  <a:noFill/>
                </a:ln>
                <a:solidFill>
                  <a:srgbClr val="1F2329"/>
                </a:solidFill>
                <a:effectLst/>
                <a:latin typeface="Arial" panose="020B0604020202020204" pitchFamily="34" charset="0"/>
                <a:ea typeface="Inter"/>
              </a:rPr>
              <a:t>就业市场问题</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kumimoji="0" lang="zh-CN" altLang="en-US" sz="2800" b="0" i="0" u="none" strike="noStrike" cap="none" normalizeH="0" baseline="0" dirty="0">
                <a:ln>
                  <a:noFill/>
                </a:ln>
                <a:solidFill>
                  <a:srgbClr val="1F2329"/>
                </a:solidFill>
                <a:effectLst/>
                <a:latin typeface="Arial" panose="020B0604020202020204" pitchFamily="34" charset="0"/>
                <a:ea typeface="Inter"/>
              </a:rPr>
              <a:t>起源背景：在就业领域，企业和求职者之间的匹配关系对双方的利益和发展都至关重要。企业希望招聘到符合岗位要求、能力和价值观与企业契合的员工，求职者则希望找到能提供良好发展机会、薪资待遇和工作环境的企业</a:t>
            </a:r>
            <a:r>
              <a:rPr kumimoji="0" lang="zh-CN" altLang="en-US" sz="2800" dirty="0">
                <a:solidFill>
                  <a:srgbClr val="1F2329"/>
                </a:solidFill>
                <a:ea typeface="Inter"/>
              </a:rPr>
              <a:t>。</a:t>
            </a:r>
            <a:endParaRPr kumimoji="0" lang="zh-CN" altLang="en-US" sz="2800" b="0" i="0" u="none" strike="noStrike" cap="none" normalizeH="0" baseline="0" dirty="0">
              <a:ln>
                <a:noFill/>
              </a:ln>
              <a:solidFill>
                <a:srgbClr val="1F2329"/>
              </a:solidFill>
              <a:effectLst/>
              <a:latin typeface="Arial" panose="020B0604020202020204" pitchFamily="34" charset="0"/>
              <a:ea typeface="Inter"/>
            </a:endParaRPr>
          </a:p>
        </p:txBody>
      </p:sp>
    </p:spTree>
    <p:extLst>
      <p:ext uri="{BB962C8B-B14F-4D97-AF65-F5344CB8AC3E}">
        <p14:creationId xmlns:p14="http://schemas.microsoft.com/office/powerpoint/2010/main" val="4200140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E848CE3-5065-40F4-B95C-A9135FFB1FDD}"/>
              </a:ext>
            </a:extLst>
          </p:cNvPr>
          <p:cNvSpPr>
            <a:spLocks noGrp="1"/>
          </p:cNvSpPr>
          <p:nvPr>
            <p:ph type="sldNum" sz="quarter" idx="12"/>
          </p:nvPr>
        </p:nvSpPr>
        <p:spPr/>
        <p:txBody>
          <a:bodyPr/>
          <a:lstStyle/>
          <a:p>
            <a:pPr>
              <a:defRPr/>
            </a:pPr>
            <a:fld id="{94A98A97-E516-4A71-BA5B-6BED734F161E}" type="slidenum">
              <a:rPr lang="zh-CN" altLang="en-US"/>
              <a:pPr>
                <a:defRPr/>
              </a:pPr>
              <a:t>12</a:t>
            </a:fld>
            <a:endParaRPr lang="en-US" altLang="zh-CN"/>
          </a:p>
        </p:txBody>
      </p:sp>
      <p:sp>
        <p:nvSpPr>
          <p:cNvPr id="6147" name="Rectangle 2">
            <a:extLst>
              <a:ext uri="{FF2B5EF4-FFF2-40B4-BE49-F238E27FC236}">
                <a16:creationId xmlns:a16="http://schemas.microsoft.com/office/drawing/2014/main" id="{4E721610-97DE-44D1-9B18-590B6BD7051A}"/>
              </a:ext>
            </a:extLst>
          </p:cNvPr>
          <p:cNvSpPr>
            <a:spLocks noGrp="1" noChangeArrowheads="1"/>
          </p:cNvSpPr>
          <p:nvPr>
            <p:ph type="title"/>
          </p:nvPr>
        </p:nvSpPr>
        <p:spPr/>
        <p:txBody>
          <a:bodyPr/>
          <a:lstStyle/>
          <a:p>
            <a:pPr eaLnBrk="1" hangingPunct="1"/>
            <a:r>
              <a:rPr lang="zh-CN" altLang="en-US"/>
              <a:t>1.1 第一个问题： 稳定匹配</a:t>
            </a:r>
            <a:endParaRPr lang="en-US" altLang="zh-CN"/>
          </a:p>
        </p:txBody>
      </p:sp>
      <p:sp>
        <p:nvSpPr>
          <p:cNvPr id="7171" name="Rectangle 3">
            <a:extLst>
              <a:ext uri="{FF2B5EF4-FFF2-40B4-BE49-F238E27FC236}">
                <a16:creationId xmlns:a16="http://schemas.microsoft.com/office/drawing/2014/main" id="{F1308658-E430-4E43-8640-9B0A3D7A0FB1}"/>
              </a:ext>
            </a:extLst>
          </p:cNvPr>
          <p:cNvSpPr>
            <a:spLocks noGrp="1" noChangeArrowheads="1"/>
          </p:cNvSpPr>
          <p:nvPr>
            <p:ph type="body" idx="1"/>
          </p:nvPr>
        </p:nvSpPr>
        <p:spPr>
          <a:xfrm>
            <a:off x="685800" y="2125662"/>
            <a:ext cx="7772400" cy="4114800"/>
          </a:xfrm>
        </p:spPr>
        <p:txBody>
          <a:bodyPr/>
          <a:lstStyle/>
          <a:p>
            <a:pPr eaLnBrk="1" hangingPunct="1"/>
            <a:r>
              <a:rPr lang="zh-CN" altLang="en-US" b="1" dirty="0"/>
              <a:t>双向选择</a:t>
            </a:r>
            <a:r>
              <a:rPr lang="zh-CN" altLang="en-US" dirty="0"/>
              <a:t>，缺少强制干预的实例：</a:t>
            </a:r>
          </a:p>
          <a:p>
            <a:pPr eaLnBrk="1" hangingPunct="1">
              <a:buFont typeface="Wingdings" panose="05000000000000000000" pitchFamily="2" charset="2"/>
              <a:buChar char="ü"/>
            </a:pPr>
            <a:r>
              <a:rPr lang="en-US" altLang="zh-CN" dirty="0"/>
              <a:t>Raj</a:t>
            </a:r>
            <a:r>
              <a:rPr lang="zh-CN" altLang="en-US" dirty="0"/>
              <a:t>接收到来自电信公司</a:t>
            </a:r>
            <a:r>
              <a:rPr lang="zh-CN" altLang="en-US" b="1" dirty="0">
                <a:solidFill>
                  <a:schemeClr val="tx2"/>
                </a:solidFill>
              </a:rPr>
              <a:t>移动</a:t>
            </a:r>
            <a:r>
              <a:rPr lang="zh-CN" altLang="en-US" dirty="0"/>
              <a:t>的暑期工作；</a:t>
            </a:r>
          </a:p>
          <a:p>
            <a:pPr eaLnBrk="1" hangingPunct="1">
              <a:buFont typeface="Wingdings" panose="05000000000000000000" pitchFamily="2" charset="2"/>
              <a:buChar char="ü"/>
            </a:pPr>
            <a:r>
              <a:rPr lang="zh-CN" altLang="en-US" dirty="0"/>
              <a:t>另一家公司</a:t>
            </a:r>
            <a:r>
              <a:rPr lang="zh-CN" altLang="en-US" b="1" dirty="0">
                <a:solidFill>
                  <a:schemeClr val="tx2"/>
                </a:solidFill>
              </a:rPr>
              <a:t>联通</a:t>
            </a:r>
            <a:r>
              <a:rPr lang="zh-CN" altLang="en-US" dirty="0"/>
              <a:t>也给他一个</a:t>
            </a:r>
            <a:r>
              <a:rPr lang="en-US" altLang="zh-CN" dirty="0"/>
              <a:t>Offer;</a:t>
            </a:r>
          </a:p>
          <a:p>
            <a:pPr eaLnBrk="1" hangingPunct="1">
              <a:buFont typeface="Wingdings" panose="05000000000000000000" pitchFamily="2" charset="2"/>
              <a:buChar char="ü"/>
            </a:pPr>
            <a:r>
              <a:rPr lang="en-US" altLang="zh-CN" dirty="0"/>
              <a:t>Raj</a:t>
            </a:r>
            <a:r>
              <a:rPr lang="zh-CN" altLang="en-US" dirty="0"/>
              <a:t>自己想去</a:t>
            </a:r>
            <a:r>
              <a:rPr lang="zh-CN" altLang="en-US" b="1" dirty="0">
                <a:solidFill>
                  <a:schemeClr val="tx2"/>
                </a:solidFill>
              </a:rPr>
              <a:t>联通</a:t>
            </a:r>
            <a:r>
              <a:rPr lang="zh-CN" altLang="en-US" dirty="0"/>
              <a:t>而不是</a:t>
            </a:r>
            <a:r>
              <a:rPr lang="zh-CN" altLang="en-US" b="1" dirty="0">
                <a:solidFill>
                  <a:schemeClr val="tx2"/>
                </a:solidFill>
              </a:rPr>
              <a:t>移动</a:t>
            </a:r>
            <a:r>
              <a:rPr lang="en-US" altLang="zh-CN" dirty="0"/>
              <a:t>;</a:t>
            </a:r>
          </a:p>
          <a:p>
            <a:pPr eaLnBrk="1" hangingPunct="1">
              <a:buFont typeface="Wingdings" panose="05000000000000000000" pitchFamily="2" charset="2"/>
              <a:buChar char="ü"/>
            </a:pPr>
            <a:r>
              <a:rPr lang="zh-CN" altLang="en-US" dirty="0"/>
              <a:t>于是</a:t>
            </a:r>
            <a:r>
              <a:rPr lang="en-US" altLang="zh-CN" dirty="0"/>
              <a:t>Raj</a:t>
            </a:r>
            <a:r>
              <a:rPr lang="zh-CN" altLang="en-US" dirty="0"/>
              <a:t>就去了</a:t>
            </a:r>
            <a:r>
              <a:rPr lang="zh-CN" altLang="zh-CN" b="1" dirty="0">
                <a:solidFill>
                  <a:schemeClr val="tx2"/>
                </a:solidFill>
              </a:rPr>
              <a:t>联通</a:t>
            </a:r>
            <a:r>
              <a:rPr lang="en-US" altLang="zh-CN" dirty="0"/>
              <a:t>;</a:t>
            </a:r>
          </a:p>
          <a:p>
            <a:pPr eaLnBrk="1" hangingPunct="1">
              <a:buFont typeface="Wingdings" panose="05000000000000000000" pitchFamily="2" charset="2"/>
              <a:buChar char="ü"/>
            </a:pPr>
            <a:endParaRPr lang="en-US" altLang="zh-CN" dirty="0"/>
          </a:p>
          <a:p>
            <a:pPr eaLnBrk="1" hangingPunct="1">
              <a:buFont typeface="Wingdings" panose="05000000000000000000" pitchFamily="2" charset="2"/>
              <a:buNone/>
            </a:pP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anim calcmode="lin" valueType="num">
                                      <p:cBhvr additive="base">
                                        <p:cTn id="7" dur="500" fill="hold"/>
                                        <p:tgtEl>
                                          <p:spTgt spid="717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 calcmode="lin" valueType="num">
                                      <p:cBhvr additive="base">
                                        <p:cTn id="13" dur="500" fill="hold"/>
                                        <p:tgtEl>
                                          <p:spTgt spid="71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anim calcmode="lin" valueType="num">
                                      <p:cBhvr additive="base">
                                        <p:cTn id="19" dur="500" fill="hold"/>
                                        <p:tgtEl>
                                          <p:spTgt spid="717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71">
                                            <p:txEl>
                                              <p:pRg st="4" end="4"/>
                                            </p:txEl>
                                          </p:spTgt>
                                        </p:tgtEl>
                                        <p:attrNameLst>
                                          <p:attrName>style.visibility</p:attrName>
                                        </p:attrNameLst>
                                      </p:cBhvr>
                                      <p:to>
                                        <p:strVal val="visible"/>
                                      </p:to>
                                    </p:set>
                                    <p:anim calcmode="lin" valueType="num">
                                      <p:cBhvr additive="base">
                                        <p:cTn id="25" dur="500" fill="hold"/>
                                        <p:tgtEl>
                                          <p:spTgt spid="717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7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F3D4344-9861-4F91-84DD-639E2A8CC8BF}"/>
              </a:ext>
            </a:extLst>
          </p:cNvPr>
          <p:cNvSpPr>
            <a:spLocks noGrp="1"/>
          </p:cNvSpPr>
          <p:nvPr>
            <p:ph type="sldNum" sz="quarter" idx="12"/>
          </p:nvPr>
        </p:nvSpPr>
        <p:spPr/>
        <p:txBody>
          <a:bodyPr/>
          <a:lstStyle/>
          <a:p>
            <a:pPr>
              <a:defRPr/>
            </a:pPr>
            <a:fld id="{80675321-E508-4C08-B5BB-39623E26D313}" type="slidenum">
              <a:rPr lang="zh-CN" altLang="en-US"/>
              <a:pPr>
                <a:defRPr/>
              </a:pPr>
              <a:t>13</a:t>
            </a:fld>
            <a:endParaRPr lang="en-US" altLang="zh-CN"/>
          </a:p>
        </p:txBody>
      </p:sp>
      <p:sp>
        <p:nvSpPr>
          <p:cNvPr id="7171" name="Rectangle 2">
            <a:extLst>
              <a:ext uri="{FF2B5EF4-FFF2-40B4-BE49-F238E27FC236}">
                <a16:creationId xmlns:a16="http://schemas.microsoft.com/office/drawing/2014/main" id="{17E63121-E7FB-406A-80DA-154C9C2F684B}"/>
              </a:ext>
            </a:extLst>
          </p:cNvPr>
          <p:cNvSpPr>
            <a:spLocks noGrp="1" noChangeArrowheads="1"/>
          </p:cNvSpPr>
          <p:nvPr>
            <p:ph type="title"/>
          </p:nvPr>
        </p:nvSpPr>
        <p:spPr/>
        <p:txBody>
          <a:bodyPr/>
          <a:lstStyle/>
          <a:p>
            <a:pPr eaLnBrk="1" hangingPunct="1"/>
            <a:r>
              <a:rPr lang="zh-CN" altLang="en-US"/>
              <a:t>问题的提出</a:t>
            </a:r>
          </a:p>
        </p:txBody>
      </p:sp>
      <p:sp>
        <p:nvSpPr>
          <p:cNvPr id="9219" name="Rectangle 3">
            <a:extLst>
              <a:ext uri="{FF2B5EF4-FFF2-40B4-BE49-F238E27FC236}">
                <a16:creationId xmlns:a16="http://schemas.microsoft.com/office/drawing/2014/main" id="{C8BC6B70-B846-4571-BD55-DE12CAB5C246}"/>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Char char="ü"/>
            </a:pPr>
            <a:r>
              <a:rPr lang="zh-CN" altLang="en-US" dirty="0"/>
              <a:t>原来的</a:t>
            </a:r>
            <a:r>
              <a:rPr lang="zh-CN" altLang="zh-CN" b="1" dirty="0">
                <a:solidFill>
                  <a:schemeClr val="tx2"/>
                </a:solidFill>
              </a:rPr>
              <a:t>移动</a:t>
            </a:r>
            <a:r>
              <a:rPr lang="zh-CN" altLang="en-US" dirty="0"/>
              <a:t>空出来一个暑期实习位置；</a:t>
            </a:r>
          </a:p>
          <a:p>
            <a:pPr eaLnBrk="1" hangingPunct="1">
              <a:lnSpc>
                <a:spcPct val="90000"/>
              </a:lnSpc>
              <a:buFont typeface="Wingdings" panose="05000000000000000000" pitchFamily="2" charset="2"/>
              <a:buChar char="ü"/>
            </a:pPr>
            <a:r>
              <a:rPr lang="zh-CN" altLang="zh-CN" dirty="0"/>
              <a:t>移动</a:t>
            </a:r>
            <a:r>
              <a:rPr lang="zh-CN" altLang="en-US" dirty="0"/>
              <a:t>招了一个新人，</a:t>
            </a:r>
            <a:r>
              <a:rPr lang="en-US" altLang="zh-CN" dirty="0"/>
              <a:t>Bob; Bob </a:t>
            </a:r>
            <a:r>
              <a:rPr lang="zh-CN" altLang="en-US" dirty="0"/>
              <a:t>更喜欢</a:t>
            </a:r>
            <a:r>
              <a:rPr lang="zh-CN" altLang="zh-CN" dirty="0"/>
              <a:t>移动</a:t>
            </a:r>
            <a:r>
              <a:rPr lang="en-US" altLang="zh-CN" dirty="0"/>
              <a:t>，</a:t>
            </a:r>
            <a:r>
              <a:rPr lang="zh-CN" altLang="en-US" dirty="0"/>
              <a:t>因此取消了原先的公司</a:t>
            </a:r>
            <a:r>
              <a:rPr lang="zh-CN" altLang="en-US" b="1" dirty="0">
                <a:solidFill>
                  <a:schemeClr val="tx2"/>
                </a:solidFill>
              </a:rPr>
              <a:t>铁通</a:t>
            </a:r>
            <a:r>
              <a:rPr lang="zh-CN" altLang="en-US" dirty="0"/>
              <a:t>的录用；</a:t>
            </a:r>
          </a:p>
          <a:p>
            <a:pPr eaLnBrk="1" hangingPunct="1">
              <a:lnSpc>
                <a:spcPct val="90000"/>
              </a:lnSpc>
              <a:buFont typeface="Wingdings" panose="05000000000000000000" pitchFamily="2" charset="2"/>
              <a:buChar char="ü"/>
            </a:pPr>
            <a:r>
              <a:rPr lang="zh-CN" altLang="en-US" dirty="0"/>
              <a:t>于是</a:t>
            </a:r>
            <a:r>
              <a:rPr lang="zh-CN" altLang="en-US" b="1" dirty="0">
                <a:solidFill>
                  <a:schemeClr val="tx2"/>
                </a:solidFill>
              </a:rPr>
              <a:t>铁通</a:t>
            </a:r>
            <a:r>
              <a:rPr lang="zh-CN" altLang="en-US" dirty="0"/>
              <a:t>空出来一个位置</a:t>
            </a:r>
          </a:p>
          <a:p>
            <a:pPr eaLnBrk="1" hangingPunct="1">
              <a:lnSpc>
                <a:spcPct val="90000"/>
              </a:lnSpc>
              <a:buFont typeface="Wingdings" panose="05000000000000000000" pitchFamily="2" charset="2"/>
              <a:buChar char="ü"/>
            </a:pPr>
            <a:r>
              <a:rPr lang="zh-CN" altLang="en-US" dirty="0">
                <a:latin typeface="Times New Roman" panose="02020603050405020304" pitchFamily="18" charset="0"/>
              </a:rPr>
              <a:t>……</a:t>
            </a:r>
            <a:endParaRPr lang="zh-CN" altLang="en-US" dirty="0"/>
          </a:p>
          <a:p>
            <a:pPr eaLnBrk="1" hangingPunct="1">
              <a:lnSpc>
                <a:spcPct val="90000"/>
              </a:lnSpc>
              <a:buFont typeface="Wingdings" panose="05000000000000000000" pitchFamily="2" charset="2"/>
              <a:buChar char="ü"/>
            </a:pPr>
            <a:r>
              <a:rPr lang="zh-CN" altLang="en-US" dirty="0"/>
              <a:t>情况连续失控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anim calcmode="lin" valueType="num">
                                      <p:cBhvr additive="base">
                                        <p:cTn id="13" dur="500" fill="hold"/>
                                        <p:tgtEl>
                                          <p:spTgt spid="92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 calcmode="lin" valueType="num">
                                      <p:cBhvr additive="base">
                                        <p:cTn id="19" dur="500" fill="hold"/>
                                        <p:tgtEl>
                                          <p:spTgt spid="92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anim calcmode="lin" valueType="num">
                                      <p:cBhvr additive="base">
                                        <p:cTn id="25" dur="500" fill="hold"/>
                                        <p:tgtEl>
                                          <p:spTgt spid="921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219">
                                            <p:txEl>
                                              <p:pRg st="4" end="4"/>
                                            </p:txEl>
                                          </p:spTgt>
                                        </p:tgtEl>
                                        <p:attrNameLst>
                                          <p:attrName>style.visibility</p:attrName>
                                        </p:attrNameLst>
                                      </p:cBhvr>
                                      <p:to>
                                        <p:strVal val="visible"/>
                                      </p:to>
                                    </p:set>
                                    <p:anim calcmode="lin" valueType="num">
                                      <p:cBhvr additive="base">
                                        <p:cTn id="31" dur="500" fill="hold"/>
                                        <p:tgtEl>
                                          <p:spTgt spid="921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21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F1946B5-BEB6-4F9C-A8F6-227D9884737F}"/>
              </a:ext>
            </a:extLst>
          </p:cNvPr>
          <p:cNvSpPr>
            <a:spLocks noGrp="1"/>
          </p:cNvSpPr>
          <p:nvPr>
            <p:ph type="sldNum" sz="quarter" idx="12"/>
          </p:nvPr>
        </p:nvSpPr>
        <p:spPr/>
        <p:txBody>
          <a:bodyPr/>
          <a:lstStyle/>
          <a:p>
            <a:pPr>
              <a:defRPr/>
            </a:pPr>
            <a:fld id="{2BB1FF39-270C-44F5-901D-0676DA3FF603}" type="slidenum">
              <a:rPr lang="zh-CN" altLang="en-US"/>
              <a:pPr>
                <a:defRPr/>
              </a:pPr>
              <a:t>14</a:t>
            </a:fld>
            <a:endParaRPr lang="en-US" altLang="zh-CN"/>
          </a:p>
        </p:txBody>
      </p:sp>
      <p:sp>
        <p:nvSpPr>
          <p:cNvPr id="8195" name="Rectangle 2">
            <a:extLst>
              <a:ext uri="{FF2B5EF4-FFF2-40B4-BE49-F238E27FC236}">
                <a16:creationId xmlns:a16="http://schemas.microsoft.com/office/drawing/2014/main" id="{7A35A41C-FE15-4E9E-B05C-96BEE93FD964}"/>
              </a:ext>
            </a:extLst>
          </p:cNvPr>
          <p:cNvSpPr>
            <a:spLocks noGrp="1" noChangeArrowheads="1"/>
          </p:cNvSpPr>
          <p:nvPr>
            <p:ph type="title"/>
          </p:nvPr>
        </p:nvSpPr>
        <p:spPr/>
        <p:txBody>
          <a:bodyPr/>
          <a:lstStyle/>
          <a:p>
            <a:pPr eaLnBrk="1" hangingPunct="1"/>
            <a:r>
              <a:rPr lang="zh-CN" altLang="en-US"/>
              <a:t>问题的提出</a:t>
            </a:r>
          </a:p>
        </p:txBody>
      </p:sp>
      <p:sp>
        <p:nvSpPr>
          <p:cNvPr id="10243" name="Rectangle 3">
            <a:extLst>
              <a:ext uri="{FF2B5EF4-FFF2-40B4-BE49-F238E27FC236}">
                <a16:creationId xmlns:a16="http://schemas.microsoft.com/office/drawing/2014/main" id="{E8DD7D76-A5B8-43CE-9682-09B9CF9E81DD}"/>
              </a:ext>
            </a:extLst>
          </p:cNvPr>
          <p:cNvSpPr>
            <a:spLocks noGrp="1" noChangeArrowheads="1"/>
          </p:cNvSpPr>
          <p:nvPr>
            <p:ph type="body" idx="1"/>
          </p:nvPr>
        </p:nvSpPr>
        <p:spPr>
          <a:xfrm>
            <a:off x="827584" y="2017713"/>
            <a:ext cx="7772400" cy="4114800"/>
          </a:xfrm>
        </p:spPr>
        <p:txBody>
          <a:bodyPr/>
          <a:lstStyle/>
          <a:p>
            <a:pPr eaLnBrk="1" hangingPunct="1"/>
            <a:r>
              <a:rPr lang="zh-CN" altLang="en-US" dirty="0"/>
              <a:t>如果申请者，公司都有自己的</a:t>
            </a:r>
            <a:r>
              <a:rPr lang="zh-CN" altLang="en-US" b="1" dirty="0"/>
              <a:t>优先</a:t>
            </a:r>
            <a:r>
              <a:rPr lang="zh-CN" altLang="en-US" dirty="0"/>
              <a:t>选择列表，如何在申请者，公司之间找到一种选择的平衡？</a:t>
            </a:r>
          </a:p>
          <a:p>
            <a:pPr eaLnBrk="1" hangingPunct="1"/>
            <a:endParaRPr lang="zh-CN" altLang="en-US" dirty="0"/>
          </a:p>
          <a:p>
            <a:pPr eaLnBrk="1" hangingPunct="1"/>
            <a:r>
              <a:rPr lang="zh-CN" altLang="en-US" dirty="0"/>
              <a:t>如何让最后的选择</a:t>
            </a:r>
            <a:r>
              <a:rPr lang="zh-CN" altLang="en-US" dirty="0">
                <a:latin typeface="Times New Roman" panose="02020603050405020304" pitchFamily="18" charset="0"/>
              </a:rPr>
              <a:t>“</a:t>
            </a:r>
            <a:r>
              <a:rPr lang="zh-CN" altLang="en-US" dirty="0">
                <a:solidFill>
                  <a:schemeClr val="hlink"/>
                </a:solidFill>
              </a:rPr>
              <a:t>稳定</a:t>
            </a:r>
            <a:r>
              <a:rPr lang="zh-CN" altLang="en-US" dirty="0">
                <a:latin typeface="Times New Roman" panose="02020603050405020304" pitchFamily="18" charset="0"/>
              </a:rPr>
              <a:t>”</a:t>
            </a:r>
            <a:r>
              <a:rPr lang="zh-CN" altLang="en-US" dirty="0"/>
              <a:t>下来？</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anim calcmode="lin" valueType="num">
                                      <p:cBhvr additive="base">
                                        <p:cTn id="13"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909D271-29B9-4848-B462-6A1C176809C1}"/>
              </a:ext>
            </a:extLst>
          </p:cNvPr>
          <p:cNvSpPr>
            <a:spLocks noGrp="1"/>
          </p:cNvSpPr>
          <p:nvPr>
            <p:ph type="sldNum" sz="quarter" idx="12"/>
          </p:nvPr>
        </p:nvSpPr>
        <p:spPr/>
        <p:txBody>
          <a:bodyPr/>
          <a:lstStyle/>
          <a:p>
            <a:pPr>
              <a:defRPr/>
            </a:pPr>
            <a:fld id="{98C7A0C2-A64F-4CD8-BA97-9F0B41D1C7F8}" type="slidenum">
              <a:rPr lang="zh-CN" altLang="en-US"/>
              <a:pPr>
                <a:defRPr/>
              </a:pPr>
              <a:t>15</a:t>
            </a:fld>
            <a:endParaRPr lang="en-US" altLang="zh-CN"/>
          </a:p>
        </p:txBody>
      </p:sp>
      <p:sp>
        <p:nvSpPr>
          <p:cNvPr id="8195" name="Rectangle 3">
            <a:extLst>
              <a:ext uri="{FF2B5EF4-FFF2-40B4-BE49-F238E27FC236}">
                <a16:creationId xmlns:a16="http://schemas.microsoft.com/office/drawing/2014/main" id="{77B3F9ED-1B40-4652-86EA-F6F32F1815ED}"/>
              </a:ext>
            </a:extLst>
          </p:cNvPr>
          <p:cNvSpPr>
            <a:spLocks noGrp="1" noChangeArrowheads="1"/>
          </p:cNvSpPr>
          <p:nvPr>
            <p:ph type="body" idx="1"/>
          </p:nvPr>
        </p:nvSpPr>
        <p:spPr>
          <a:xfrm>
            <a:off x="827584" y="1988840"/>
            <a:ext cx="7772400" cy="4114800"/>
          </a:xfrm>
        </p:spPr>
        <p:txBody>
          <a:bodyPr/>
          <a:lstStyle/>
          <a:p>
            <a:pPr eaLnBrk="1" hangingPunct="1">
              <a:lnSpc>
                <a:spcPct val="90000"/>
              </a:lnSpc>
            </a:pPr>
            <a:r>
              <a:rPr lang="zh-CN" altLang="en-US" dirty="0"/>
              <a:t>存在一些医院，以及一些即将从医学院毕业的学生。医院招学生的时候，会有自己的倾向性；同样的学生也有自己的喜好。</a:t>
            </a:r>
          </a:p>
          <a:p>
            <a:pPr eaLnBrk="1" hangingPunct="1">
              <a:lnSpc>
                <a:spcPct val="90000"/>
              </a:lnSpc>
            </a:pPr>
            <a:r>
              <a:rPr lang="zh-CN" altLang="en-US" dirty="0"/>
              <a:t>经过一系列的招聘选择以后，如果</a:t>
            </a:r>
          </a:p>
          <a:p>
            <a:pPr eaLnBrk="1" hangingPunct="1">
              <a:lnSpc>
                <a:spcPct val="90000"/>
              </a:lnSpc>
              <a:buClr>
                <a:schemeClr val="hlink"/>
              </a:buClr>
              <a:buFont typeface="Wingdings" panose="05000000000000000000" pitchFamily="2" charset="2"/>
              <a:buChar char="ü"/>
            </a:pPr>
            <a:r>
              <a:rPr lang="en-US" altLang="zh-CN" dirty="0"/>
              <a:t>x</a:t>
            </a:r>
            <a:r>
              <a:rPr lang="zh-CN" altLang="en-US" dirty="0"/>
              <a:t>更喜欢</a:t>
            </a:r>
            <a:r>
              <a:rPr lang="en-US" altLang="zh-CN" dirty="0"/>
              <a:t>y, </a:t>
            </a:r>
            <a:r>
              <a:rPr lang="zh-CN" altLang="en-US" dirty="0"/>
              <a:t>而不喜欢目前分配的医院</a:t>
            </a:r>
          </a:p>
          <a:p>
            <a:pPr eaLnBrk="1" hangingPunct="1">
              <a:lnSpc>
                <a:spcPct val="90000"/>
              </a:lnSpc>
              <a:buClr>
                <a:schemeClr val="hlink"/>
              </a:buClr>
              <a:buFont typeface="Wingdings" panose="05000000000000000000" pitchFamily="2" charset="2"/>
              <a:buChar char="ü"/>
            </a:pPr>
            <a:r>
              <a:rPr lang="en-US" altLang="zh-CN" dirty="0"/>
              <a:t>y</a:t>
            </a:r>
            <a:r>
              <a:rPr lang="zh-CN" altLang="en-US" dirty="0"/>
              <a:t>更喜欢</a:t>
            </a:r>
            <a:r>
              <a:rPr lang="en-US" altLang="zh-CN" dirty="0"/>
              <a:t>x, </a:t>
            </a:r>
            <a:r>
              <a:rPr lang="zh-CN" altLang="en-US" dirty="0"/>
              <a:t>而不喜欢目前分配给它的学生。</a:t>
            </a:r>
            <a:endParaRPr lang="en-US" altLang="zh-CN" dirty="0"/>
          </a:p>
          <a:p>
            <a:pPr marL="0" indent="0" eaLnBrk="1" hangingPunct="1">
              <a:lnSpc>
                <a:spcPct val="90000"/>
              </a:lnSpc>
              <a:buClr>
                <a:schemeClr val="hlink"/>
              </a:buClr>
              <a:buNone/>
            </a:pPr>
            <a:r>
              <a:rPr lang="zh-CN" altLang="en-US" dirty="0"/>
              <a:t>称申请者</a:t>
            </a:r>
            <a:r>
              <a:rPr lang="en-US" altLang="zh-CN" dirty="0"/>
              <a:t>x</a:t>
            </a:r>
            <a:r>
              <a:rPr lang="zh-CN" altLang="en-US" dirty="0"/>
              <a:t>和医院</a:t>
            </a:r>
            <a:r>
              <a:rPr lang="en-US" altLang="zh-CN" dirty="0"/>
              <a:t>y</a:t>
            </a:r>
            <a:r>
              <a:rPr lang="zh-CN" altLang="en-US" dirty="0"/>
              <a:t>是</a:t>
            </a:r>
            <a:r>
              <a:rPr lang="zh-CN" altLang="en-US" dirty="0">
                <a:solidFill>
                  <a:schemeClr val="hlink"/>
                </a:solidFill>
              </a:rPr>
              <a:t>不稳定</a:t>
            </a:r>
            <a:r>
              <a:rPr lang="zh-CN" altLang="en-US" dirty="0"/>
              <a:t>的。</a:t>
            </a:r>
          </a:p>
        </p:txBody>
      </p:sp>
      <p:sp>
        <p:nvSpPr>
          <p:cNvPr id="4" name="Rectangle 2">
            <a:extLst>
              <a:ext uri="{FF2B5EF4-FFF2-40B4-BE49-F238E27FC236}">
                <a16:creationId xmlns:a16="http://schemas.microsoft.com/office/drawing/2014/main" id="{F352DA0A-39C0-9CFB-2373-29366487CF4A}"/>
              </a:ext>
            </a:extLst>
          </p:cNvPr>
          <p:cNvSpPr txBox="1">
            <a:spLocks noChangeArrowheads="1"/>
          </p:cNvSpPr>
          <p:nvPr/>
        </p:nvSpPr>
        <p:spPr bwMode="auto">
          <a:xfrm>
            <a:off x="1259632" y="624880"/>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r>
              <a:rPr lang="zh-CN" altLang="en-US" dirty="0"/>
              <a:t>第一个问题： 稳定匹配</a:t>
            </a:r>
          </a:p>
        </p:txBody>
      </p:sp>
    </p:spTree>
    <p:custDataLst>
      <p:tags r:id="rId1"/>
    </p:custDataLst>
    <p:extLst>
      <p:ext uri="{BB962C8B-B14F-4D97-AF65-F5344CB8AC3E}">
        <p14:creationId xmlns:p14="http://schemas.microsoft.com/office/powerpoint/2010/main" val="1611198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95">
                                            <p:txEl>
                                              <p:pRg st="3" end="3"/>
                                            </p:txEl>
                                          </p:spTgt>
                                        </p:tgtEl>
                                        <p:attrNameLst>
                                          <p:attrName>style.visibility</p:attrName>
                                        </p:attrNameLst>
                                      </p:cBhvr>
                                      <p:to>
                                        <p:strVal val="visible"/>
                                      </p:to>
                                    </p:set>
                                    <p:anim calcmode="lin" valueType="num">
                                      <p:cBhvr additive="base">
                                        <p:cTn id="25" dur="500" fill="hold"/>
                                        <p:tgtEl>
                                          <p:spTgt spid="819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1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195">
                                            <p:txEl>
                                              <p:pRg st="4" end="4"/>
                                            </p:txEl>
                                          </p:spTgt>
                                        </p:tgtEl>
                                        <p:attrNameLst>
                                          <p:attrName>style.visibility</p:attrName>
                                        </p:attrNameLst>
                                      </p:cBhvr>
                                      <p:to>
                                        <p:strVal val="visible"/>
                                      </p:to>
                                    </p:set>
                                    <p:anim calcmode="lin" valueType="num">
                                      <p:cBhvr additive="base">
                                        <p:cTn id="31" dur="500" fill="hold"/>
                                        <p:tgtEl>
                                          <p:spTgt spid="819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19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0885422-708E-48EB-A569-41992D48D080}"/>
              </a:ext>
            </a:extLst>
          </p:cNvPr>
          <p:cNvSpPr>
            <a:spLocks noGrp="1"/>
          </p:cNvSpPr>
          <p:nvPr>
            <p:ph type="sldNum" sz="quarter" idx="12"/>
          </p:nvPr>
        </p:nvSpPr>
        <p:spPr/>
        <p:txBody>
          <a:bodyPr/>
          <a:lstStyle/>
          <a:p>
            <a:pPr>
              <a:defRPr/>
            </a:pPr>
            <a:fld id="{09E7A7A1-C2AC-4A45-9ADE-94152A21F686}" type="slidenum">
              <a:rPr lang="zh-CN" altLang="en-US"/>
              <a:pPr>
                <a:defRPr/>
              </a:pPr>
              <a:t>16</a:t>
            </a:fld>
            <a:endParaRPr lang="en-US" altLang="zh-CN"/>
          </a:p>
        </p:txBody>
      </p:sp>
      <p:sp>
        <p:nvSpPr>
          <p:cNvPr id="10243" name="Rectangle 2">
            <a:extLst>
              <a:ext uri="{FF2B5EF4-FFF2-40B4-BE49-F238E27FC236}">
                <a16:creationId xmlns:a16="http://schemas.microsoft.com/office/drawing/2014/main" id="{5216E2BC-3005-435F-82DC-DD2292F9AC53}"/>
              </a:ext>
            </a:extLst>
          </p:cNvPr>
          <p:cNvSpPr>
            <a:spLocks noGrp="1" noChangeArrowheads="1"/>
          </p:cNvSpPr>
          <p:nvPr>
            <p:ph type="title"/>
          </p:nvPr>
        </p:nvSpPr>
        <p:spPr/>
        <p:txBody>
          <a:bodyPr/>
          <a:lstStyle/>
          <a:p>
            <a:pPr eaLnBrk="1" hangingPunct="1"/>
            <a:r>
              <a:rPr lang="zh-CN" altLang="en-US"/>
              <a:t>问题的背景</a:t>
            </a:r>
          </a:p>
        </p:txBody>
      </p:sp>
      <p:sp>
        <p:nvSpPr>
          <p:cNvPr id="10244" name="Rectangle 3">
            <a:extLst>
              <a:ext uri="{FF2B5EF4-FFF2-40B4-BE49-F238E27FC236}">
                <a16:creationId xmlns:a16="http://schemas.microsoft.com/office/drawing/2014/main" id="{ED8CD29E-6274-48E7-9033-DCC7D55F831E}"/>
              </a:ext>
            </a:extLst>
          </p:cNvPr>
          <p:cNvSpPr>
            <a:spLocks noGrp="1" noChangeArrowheads="1"/>
          </p:cNvSpPr>
          <p:nvPr>
            <p:ph type="body" idx="1"/>
          </p:nvPr>
        </p:nvSpPr>
        <p:spPr/>
        <p:txBody>
          <a:bodyPr/>
          <a:lstStyle/>
          <a:p>
            <a:pPr eaLnBrk="1" hangingPunct="1"/>
            <a:r>
              <a:rPr lang="zh-CN" altLang="en-US" dirty="0">
                <a:solidFill>
                  <a:schemeClr val="hlink"/>
                </a:solidFill>
              </a:rPr>
              <a:t>稳定的分配方案</a:t>
            </a:r>
          </a:p>
          <a:p>
            <a:pPr eaLnBrk="1" hangingPunct="1">
              <a:buFont typeface="Wingdings" panose="05000000000000000000" pitchFamily="2" charset="2"/>
              <a:buNone/>
            </a:pPr>
            <a:r>
              <a:rPr lang="zh-CN" altLang="en-US" dirty="0"/>
              <a:t>   如果分配方案中没有前面所述的不稳定的(</a:t>
            </a:r>
            <a:r>
              <a:rPr lang="en-US" altLang="zh-CN" dirty="0"/>
              <a:t>x, y)</a:t>
            </a:r>
            <a:r>
              <a:rPr lang="zh-CN" altLang="en-US" dirty="0"/>
              <a:t>出现。</a:t>
            </a:r>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r>
              <a:rPr lang="zh-CN" altLang="en-US" dirty="0"/>
              <a:t>   这样的定义比较符合真实，而且也能够保证尽可能的满足双方的选择</a:t>
            </a:r>
          </a:p>
          <a:p>
            <a:pPr eaLnBrk="1" hangingPunct="1">
              <a:buFont typeface="Wingdings" panose="05000000000000000000" pitchFamily="2" charset="2"/>
              <a:buNone/>
            </a:pP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BE6F9-54ED-3CAC-1A73-5C341B8540C6}"/>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2BABFD3-FDD3-2278-609F-77EEA5C19C39}"/>
              </a:ext>
            </a:extLst>
          </p:cNvPr>
          <p:cNvSpPr>
            <a:spLocks noGrp="1"/>
          </p:cNvSpPr>
          <p:nvPr>
            <p:ph type="sldNum" sz="quarter" idx="12"/>
          </p:nvPr>
        </p:nvSpPr>
        <p:spPr/>
        <p:txBody>
          <a:bodyPr/>
          <a:lstStyle/>
          <a:p>
            <a:pPr>
              <a:defRPr/>
            </a:pPr>
            <a:fld id="{97FE3B8A-DB05-47FB-B31E-612EFCDE12FC}" type="slidenum">
              <a:rPr lang="zh-CN" altLang="en-US"/>
              <a:pPr>
                <a:defRPr/>
              </a:pPr>
              <a:t>17</a:t>
            </a:fld>
            <a:endParaRPr lang="en-US" altLang="zh-CN"/>
          </a:p>
        </p:txBody>
      </p:sp>
      <p:sp>
        <p:nvSpPr>
          <p:cNvPr id="5123" name="Rectangle 2">
            <a:extLst>
              <a:ext uri="{FF2B5EF4-FFF2-40B4-BE49-F238E27FC236}">
                <a16:creationId xmlns:a16="http://schemas.microsoft.com/office/drawing/2014/main" id="{135ACD3A-55BD-C70F-C9D3-EA722E850ECC}"/>
              </a:ext>
            </a:extLst>
          </p:cNvPr>
          <p:cNvSpPr>
            <a:spLocks noGrp="1" noChangeArrowheads="1"/>
          </p:cNvSpPr>
          <p:nvPr>
            <p:ph type="title"/>
          </p:nvPr>
        </p:nvSpPr>
        <p:spPr/>
        <p:txBody>
          <a:bodyPr/>
          <a:lstStyle/>
          <a:p>
            <a:pPr eaLnBrk="1" hangingPunct="1"/>
            <a:r>
              <a:rPr lang="zh-CN" altLang="en-US"/>
              <a:t>第一个问题： 稳定匹配</a:t>
            </a:r>
          </a:p>
        </p:txBody>
      </p:sp>
      <p:sp>
        <p:nvSpPr>
          <p:cNvPr id="3" name="Rectangle 2">
            <a:extLst>
              <a:ext uri="{FF2B5EF4-FFF2-40B4-BE49-F238E27FC236}">
                <a16:creationId xmlns:a16="http://schemas.microsoft.com/office/drawing/2014/main" id="{5E5F9579-8F00-86F2-42BF-BCA2D04F56D6}"/>
              </a:ext>
            </a:extLst>
          </p:cNvPr>
          <p:cNvSpPr>
            <a:spLocks noGrp="1" noChangeArrowheads="1"/>
          </p:cNvSpPr>
          <p:nvPr>
            <p:ph type="body" idx="1"/>
          </p:nvPr>
        </p:nvSpPr>
        <p:spPr bwMode="auto">
          <a:xfrm>
            <a:off x="611560" y="2228094"/>
            <a:ext cx="7793036" cy="39505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None/>
              <a:tabLst/>
            </a:pPr>
            <a:r>
              <a:rPr kumimoji="0" lang="zh-CN" altLang="en-US" sz="2800" b="0" i="0" u="none" strike="noStrike" cap="none" normalizeH="0" baseline="0" dirty="0">
                <a:ln>
                  <a:noFill/>
                </a:ln>
                <a:solidFill>
                  <a:srgbClr val="1F2329"/>
                </a:solidFill>
                <a:effectLst/>
                <a:latin typeface="Arial" panose="020B0604020202020204" pitchFamily="34" charset="0"/>
                <a:ea typeface="Inter"/>
              </a:rPr>
              <a:t>婚姻市场问题</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kumimoji="0" lang="zh-CN" altLang="en-US" sz="2400" b="0" i="0" u="none" strike="noStrike" cap="none" normalizeH="0" baseline="0" dirty="0">
                <a:ln>
                  <a:noFill/>
                </a:ln>
                <a:solidFill>
                  <a:srgbClr val="1F2329"/>
                </a:solidFill>
                <a:effectLst/>
                <a:latin typeface="Arial" panose="020B0604020202020204" pitchFamily="34" charset="0"/>
                <a:ea typeface="Inter"/>
              </a:rPr>
              <a:t>问题描述：假设有</a:t>
            </a:r>
            <a:r>
              <a:rPr kumimoji="0" lang="zh-CN" altLang="en-US" sz="2400" b="0" i="0" u="none" strike="noStrike" cap="none" normalizeH="0" baseline="0" dirty="0">
                <a:ln>
                  <a:noFill/>
                </a:ln>
                <a:solidFill>
                  <a:schemeClr val="tx2"/>
                </a:solidFill>
                <a:effectLst/>
                <a:latin typeface="Arial" panose="020B0604020202020204" pitchFamily="34" charset="0"/>
                <a:ea typeface="Inter"/>
              </a:rPr>
              <a:t>若干个男性和若干个女性</a:t>
            </a:r>
            <a:r>
              <a:rPr kumimoji="0" lang="zh-CN" altLang="en-US" sz="2400" b="0" i="0" u="none" strike="noStrike" cap="none" normalizeH="0" baseline="0" dirty="0">
                <a:ln>
                  <a:noFill/>
                </a:ln>
                <a:solidFill>
                  <a:srgbClr val="1F2329"/>
                </a:solidFill>
                <a:effectLst/>
                <a:latin typeface="Arial" panose="020B0604020202020204" pitchFamily="34" charset="0"/>
                <a:ea typeface="Inter"/>
              </a:rPr>
              <a:t>，</a:t>
            </a:r>
            <a:r>
              <a:rPr kumimoji="0" lang="zh-CN" altLang="en-US" sz="2400" b="0" i="0" u="none" strike="noStrike" cap="none" normalizeH="0" baseline="0" dirty="0">
                <a:ln>
                  <a:noFill/>
                </a:ln>
                <a:solidFill>
                  <a:schemeClr val="tx2"/>
                </a:solidFill>
                <a:effectLst/>
                <a:latin typeface="Arial" panose="020B0604020202020204" pitchFamily="34" charset="0"/>
                <a:ea typeface="Inter"/>
              </a:rPr>
              <a:t>每个男性对所有女性有一个偏好排序，每个女性对所有男性也有一个偏好排序</a:t>
            </a:r>
            <a:r>
              <a:rPr kumimoji="0" lang="zh-CN" altLang="en-US" sz="2400" b="0" i="0" u="none" strike="noStrike" cap="none" normalizeH="0" baseline="0" dirty="0">
                <a:ln>
                  <a:noFill/>
                </a:ln>
                <a:solidFill>
                  <a:srgbClr val="1F2329"/>
                </a:solidFill>
                <a:effectLst/>
                <a:latin typeface="Arial" panose="020B0604020202020204" pitchFamily="34" charset="0"/>
                <a:ea typeface="Inter"/>
              </a:rPr>
              <a:t>。目标是找到一种匹配方式，使得在这种匹配下，</a:t>
            </a:r>
            <a:r>
              <a:rPr kumimoji="0" lang="zh-CN" altLang="en-US" sz="2400" b="0" i="0" u="none" strike="noStrike" cap="none" normalizeH="0" baseline="0" dirty="0">
                <a:ln>
                  <a:noFill/>
                </a:ln>
                <a:solidFill>
                  <a:schemeClr val="tx2"/>
                </a:solidFill>
                <a:effectLst/>
                <a:latin typeface="Arial" panose="020B0604020202020204" pitchFamily="34" charset="0"/>
                <a:ea typeface="Inter"/>
              </a:rPr>
              <a:t>不存在</a:t>
            </a:r>
            <a:r>
              <a:rPr kumimoji="0" lang="zh-CN" altLang="en-US" sz="2400" b="0" i="0" u="none" strike="noStrike" cap="none" normalizeH="0" baseline="0" dirty="0">
                <a:ln>
                  <a:noFill/>
                </a:ln>
                <a:solidFill>
                  <a:srgbClr val="FF0000"/>
                </a:solidFill>
                <a:effectLst/>
                <a:latin typeface="Arial" panose="020B0604020202020204" pitchFamily="34" charset="0"/>
                <a:ea typeface="Inter"/>
              </a:rPr>
              <a:t>两个异性个体，他们都更倾向于对方而不是自己当前的伴侣</a:t>
            </a:r>
            <a:r>
              <a:rPr kumimoji="0" lang="zh-CN" altLang="en-US" sz="2400" b="0" i="0" u="none" strike="noStrike" cap="none" normalizeH="0" baseline="0" dirty="0">
                <a:ln>
                  <a:noFill/>
                </a:ln>
                <a:solidFill>
                  <a:srgbClr val="1F2329"/>
                </a:solidFill>
                <a:effectLst/>
                <a:latin typeface="Arial" panose="020B0604020202020204" pitchFamily="34" charset="0"/>
                <a:ea typeface="Inter"/>
              </a:rPr>
              <a:t>，这种匹配就被称为稳定匹配。 </a:t>
            </a:r>
          </a:p>
        </p:txBody>
      </p:sp>
    </p:spTree>
    <p:extLst>
      <p:ext uri="{BB962C8B-B14F-4D97-AF65-F5344CB8AC3E}">
        <p14:creationId xmlns:p14="http://schemas.microsoft.com/office/powerpoint/2010/main" val="1251670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F94C0-9824-D1BC-C486-50E5A9D74CEC}"/>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F3C6E91-D5B6-47A8-7349-13B50E6F519B}"/>
              </a:ext>
            </a:extLst>
          </p:cNvPr>
          <p:cNvSpPr>
            <a:spLocks noGrp="1"/>
          </p:cNvSpPr>
          <p:nvPr>
            <p:ph type="sldNum" sz="quarter" idx="12"/>
          </p:nvPr>
        </p:nvSpPr>
        <p:spPr/>
        <p:txBody>
          <a:bodyPr/>
          <a:lstStyle/>
          <a:p>
            <a:pPr>
              <a:defRPr/>
            </a:pPr>
            <a:fld id="{97FE3B8A-DB05-47FB-B31E-612EFCDE12FC}" type="slidenum">
              <a:rPr lang="zh-CN" altLang="en-US"/>
              <a:pPr>
                <a:defRPr/>
              </a:pPr>
              <a:t>18</a:t>
            </a:fld>
            <a:endParaRPr lang="en-US" altLang="zh-CN"/>
          </a:p>
        </p:txBody>
      </p:sp>
      <p:sp>
        <p:nvSpPr>
          <p:cNvPr id="5123" name="Rectangle 2">
            <a:extLst>
              <a:ext uri="{FF2B5EF4-FFF2-40B4-BE49-F238E27FC236}">
                <a16:creationId xmlns:a16="http://schemas.microsoft.com/office/drawing/2014/main" id="{C2F408CA-9D1F-EADD-C516-784B829A0F4C}"/>
              </a:ext>
            </a:extLst>
          </p:cNvPr>
          <p:cNvSpPr>
            <a:spLocks noGrp="1" noChangeArrowheads="1"/>
          </p:cNvSpPr>
          <p:nvPr>
            <p:ph type="title"/>
          </p:nvPr>
        </p:nvSpPr>
        <p:spPr/>
        <p:txBody>
          <a:bodyPr/>
          <a:lstStyle/>
          <a:p>
            <a:pPr eaLnBrk="1" hangingPunct="1"/>
            <a:r>
              <a:rPr lang="zh-CN" altLang="en-US"/>
              <a:t>第一个问题： 稳定匹配</a:t>
            </a:r>
          </a:p>
        </p:txBody>
      </p:sp>
      <p:sp>
        <p:nvSpPr>
          <p:cNvPr id="3" name="Rectangle 2">
            <a:extLst>
              <a:ext uri="{FF2B5EF4-FFF2-40B4-BE49-F238E27FC236}">
                <a16:creationId xmlns:a16="http://schemas.microsoft.com/office/drawing/2014/main" id="{A248B1E1-02FC-14AF-4BCC-51F0A0D1426F}"/>
              </a:ext>
            </a:extLst>
          </p:cNvPr>
          <p:cNvSpPr>
            <a:spLocks noGrp="1" noChangeArrowheads="1"/>
          </p:cNvSpPr>
          <p:nvPr>
            <p:ph type="body" idx="1"/>
          </p:nvPr>
        </p:nvSpPr>
        <p:spPr bwMode="auto">
          <a:xfrm>
            <a:off x="611560" y="2228094"/>
            <a:ext cx="7793036" cy="39505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None/>
              <a:tabLst/>
            </a:pPr>
            <a:r>
              <a:rPr kumimoji="0" lang="zh-CN" altLang="en-US" sz="2800" b="0" i="0" u="none" strike="noStrike" cap="none" normalizeH="0" baseline="0" dirty="0">
                <a:ln>
                  <a:noFill/>
                </a:ln>
                <a:solidFill>
                  <a:srgbClr val="1F2329"/>
                </a:solidFill>
                <a:effectLst/>
                <a:latin typeface="Arial" panose="020B0604020202020204" pitchFamily="34" charset="0"/>
                <a:ea typeface="Inter"/>
              </a:rPr>
              <a:t>大学招生问题</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kumimoji="0" lang="zh-CN" altLang="en-US" sz="2400" b="0" i="0" u="none" strike="noStrike" cap="none" normalizeH="0" baseline="0" dirty="0">
                <a:ln>
                  <a:noFill/>
                </a:ln>
                <a:solidFill>
                  <a:srgbClr val="1F2329"/>
                </a:solidFill>
                <a:effectLst/>
                <a:latin typeface="Arial" panose="020B0604020202020204" pitchFamily="34" charset="0"/>
                <a:ea typeface="Inter"/>
              </a:rPr>
              <a:t>问题描述：把大学和学生分别看作两个集合，</a:t>
            </a:r>
            <a:r>
              <a:rPr kumimoji="0" lang="zh-CN" altLang="en-US" sz="2400" b="0" i="0" u="none" strike="noStrike" cap="none" normalizeH="0" baseline="0" dirty="0">
                <a:ln>
                  <a:noFill/>
                </a:ln>
                <a:solidFill>
                  <a:schemeClr val="tx2"/>
                </a:solidFill>
                <a:effectLst/>
                <a:latin typeface="Arial" panose="020B0604020202020204" pitchFamily="34" charset="0"/>
                <a:ea typeface="Inter"/>
              </a:rPr>
              <a:t>大学对申请的学生有一个偏好排序，学生对各个大学也有一个偏好排序</a:t>
            </a:r>
            <a:r>
              <a:rPr kumimoji="0" lang="zh-CN" altLang="en-US" sz="2400" b="0" i="0" u="none" strike="noStrike" cap="none" normalizeH="0" baseline="0" dirty="0">
                <a:ln>
                  <a:noFill/>
                </a:ln>
                <a:solidFill>
                  <a:srgbClr val="1F2329"/>
                </a:solidFill>
                <a:effectLst/>
                <a:latin typeface="Arial" panose="020B0604020202020204" pitchFamily="34" charset="0"/>
                <a:ea typeface="Inter"/>
              </a:rPr>
              <a:t>。需要找到一种招生方案，使得在该方案下</a:t>
            </a:r>
            <a:r>
              <a:rPr kumimoji="0" lang="zh-CN" altLang="en-US" sz="2400" b="0" i="0" u="none" strike="noStrike" cap="none" normalizeH="0" baseline="0" dirty="0">
                <a:ln>
                  <a:noFill/>
                </a:ln>
                <a:solidFill>
                  <a:schemeClr val="tx2"/>
                </a:solidFill>
                <a:effectLst/>
                <a:latin typeface="Arial" panose="020B0604020202020204" pitchFamily="34" charset="0"/>
                <a:ea typeface="Inter"/>
              </a:rPr>
              <a:t>，不存在一个学生和一所大学，</a:t>
            </a:r>
            <a:r>
              <a:rPr kumimoji="0" lang="zh-CN" altLang="en-US" sz="2400" b="0" i="0" u="none" strike="noStrike" cap="none" normalizeH="0" baseline="0" dirty="0">
                <a:ln>
                  <a:noFill/>
                </a:ln>
                <a:solidFill>
                  <a:srgbClr val="FF0000"/>
                </a:solidFill>
                <a:effectLst/>
                <a:latin typeface="Arial" panose="020B0604020202020204" pitchFamily="34" charset="0"/>
                <a:ea typeface="Inter"/>
              </a:rPr>
              <a:t>学生想去这所大学且这所大学也更想要这个学生，而学生却被匹配到了其他大学</a:t>
            </a:r>
            <a:r>
              <a:rPr kumimoji="0" lang="zh-CN" altLang="en-US" sz="2400" b="0" i="0" u="none" strike="noStrike" cap="none" normalizeH="0" baseline="0" dirty="0">
                <a:ln>
                  <a:noFill/>
                </a:ln>
                <a:solidFill>
                  <a:schemeClr val="tx2"/>
                </a:solidFill>
                <a:effectLst/>
                <a:latin typeface="Arial" panose="020B0604020202020204" pitchFamily="34" charset="0"/>
                <a:ea typeface="Inter"/>
              </a:rPr>
              <a:t>的情况</a:t>
            </a:r>
            <a:r>
              <a:rPr kumimoji="0" lang="zh-CN" altLang="en-US" sz="2400" b="0" i="0" u="none" strike="noStrike" cap="none" normalizeH="0" baseline="0" dirty="0">
                <a:ln>
                  <a:noFill/>
                </a:ln>
                <a:solidFill>
                  <a:srgbClr val="1F2329"/>
                </a:solidFill>
                <a:effectLst/>
                <a:latin typeface="Arial" panose="020B0604020202020204" pitchFamily="34" charset="0"/>
                <a:ea typeface="Inter"/>
              </a:rPr>
              <a:t>。 </a:t>
            </a:r>
          </a:p>
        </p:txBody>
      </p:sp>
    </p:spTree>
    <p:extLst>
      <p:ext uri="{BB962C8B-B14F-4D97-AF65-F5344CB8AC3E}">
        <p14:creationId xmlns:p14="http://schemas.microsoft.com/office/powerpoint/2010/main" val="2821533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A7920-7917-4BA5-7FFE-DDC75C466A2F}"/>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BE71BB3-AD04-ACA6-2010-783AC0DAFB49}"/>
              </a:ext>
            </a:extLst>
          </p:cNvPr>
          <p:cNvSpPr>
            <a:spLocks noGrp="1"/>
          </p:cNvSpPr>
          <p:nvPr>
            <p:ph type="sldNum" sz="quarter" idx="12"/>
          </p:nvPr>
        </p:nvSpPr>
        <p:spPr/>
        <p:txBody>
          <a:bodyPr/>
          <a:lstStyle/>
          <a:p>
            <a:pPr>
              <a:defRPr/>
            </a:pPr>
            <a:fld id="{97FE3B8A-DB05-47FB-B31E-612EFCDE12FC}" type="slidenum">
              <a:rPr lang="zh-CN" altLang="en-US"/>
              <a:pPr>
                <a:defRPr/>
              </a:pPr>
              <a:t>19</a:t>
            </a:fld>
            <a:endParaRPr lang="en-US" altLang="zh-CN"/>
          </a:p>
        </p:txBody>
      </p:sp>
      <p:sp>
        <p:nvSpPr>
          <p:cNvPr id="5123" name="Rectangle 2">
            <a:extLst>
              <a:ext uri="{FF2B5EF4-FFF2-40B4-BE49-F238E27FC236}">
                <a16:creationId xmlns:a16="http://schemas.microsoft.com/office/drawing/2014/main" id="{A96A0405-4686-3D29-A89A-4D11A7E66D18}"/>
              </a:ext>
            </a:extLst>
          </p:cNvPr>
          <p:cNvSpPr>
            <a:spLocks noGrp="1" noChangeArrowheads="1"/>
          </p:cNvSpPr>
          <p:nvPr>
            <p:ph type="title"/>
          </p:nvPr>
        </p:nvSpPr>
        <p:spPr/>
        <p:txBody>
          <a:bodyPr/>
          <a:lstStyle/>
          <a:p>
            <a:pPr eaLnBrk="1" hangingPunct="1"/>
            <a:r>
              <a:rPr lang="zh-CN" altLang="en-US" dirty="0"/>
              <a:t>第一个问题： 稳定匹配</a:t>
            </a:r>
          </a:p>
        </p:txBody>
      </p:sp>
      <p:sp>
        <p:nvSpPr>
          <p:cNvPr id="3" name="Rectangle 2">
            <a:extLst>
              <a:ext uri="{FF2B5EF4-FFF2-40B4-BE49-F238E27FC236}">
                <a16:creationId xmlns:a16="http://schemas.microsoft.com/office/drawing/2014/main" id="{670645F5-E7F6-0EB9-A83A-77B8AEB14049}"/>
              </a:ext>
            </a:extLst>
          </p:cNvPr>
          <p:cNvSpPr>
            <a:spLocks noGrp="1" noChangeArrowheads="1"/>
          </p:cNvSpPr>
          <p:nvPr>
            <p:ph type="body" idx="1"/>
          </p:nvPr>
        </p:nvSpPr>
        <p:spPr bwMode="auto">
          <a:xfrm>
            <a:off x="357187" y="2120740"/>
            <a:ext cx="8586788" cy="40320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None/>
              <a:tabLst/>
            </a:pPr>
            <a:r>
              <a:rPr kumimoji="0" lang="zh-CN" altLang="en-US" sz="2800" b="0" i="0" u="none" strike="noStrike" cap="none" normalizeH="0" baseline="0" dirty="0">
                <a:ln>
                  <a:noFill/>
                </a:ln>
                <a:solidFill>
                  <a:srgbClr val="1F2329"/>
                </a:solidFill>
                <a:effectLst/>
                <a:latin typeface="Arial" panose="020B0604020202020204" pitchFamily="34" charset="0"/>
                <a:ea typeface="Inter"/>
              </a:rPr>
              <a:t>就业市场问题</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p"/>
              <a:tabLst/>
            </a:pPr>
            <a:r>
              <a:rPr kumimoji="0" lang="zh-CN" altLang="en-US" sz="2400" b="0" i="0" u="none" strike="noStrike" cap="none" normalizeH="0" baseline="0" dirty="0">
                <a:ln>
                  <a:noFill/>
                </a:ln>
                <a:solidFill>
                  <a:srgbClr val="1F2329"/>
                </a:solidFill>
                <a:effectLst/>
                <a:latin typeface="Arial" panose="020B0604020202020204" pitchFamily="34" charset="0"/>
                <a:ea typeface="Inter"/>
              </a:rPr>
              <a:t>问题描述：将企业和求职者分别作为两个群体，</a:t>
            </a:r>
            <a:r>
              <a:rPr kumimoji="0" lang="zh-CN" altLang="en-US" sz="2400" b="0" i="0" u="none" strike="noStrike" cap="none" normalizeH="0" baseline="0" dirty="0">
                <a:ln>
                  <a:noFill/>
                </a:ln>
                <a:solidFill>
                  <a:schemeClr val="tx2"/>
                </a:solidFill>
                <a:effectLst/>
                <a:latin typeface="Arial" panose="020B0604020202020204" pitchFamily="34" charset="0"/>
                <a:ea typeface="Inter"/>
              </a:rPr>
              <a:t>企业对求职者有自己的评价和偏好顺序，求职者对企业也有自己的选择偏好顺序</a:t>
            </a:r>
            <a:r>
              <a:rPr kumimoji="0" lang="zh-CN" altLang="en-US" sz="2400" b="0" i="0" u="none" strike="noStrike" cap="none" normalizeH="0" baseline="0" dirty="0">
                <a:ln>
                  <a:noFill/>
                </a:ln>
                <a:solidFill>
                  <a:srgbClr val="1F2329"/>
                </a:solidFill>
                <a:effectLst/>
                <a:latin typeface="Arial" panose="020B0604020202020204" pitchFamily="34" charset="0"/>
                <a:ea typeface="Inter"/>
              </a:rPr>
              <a:t>。要找到一种就业匹配方案，使得</a:t>
            </a:r>
            <a:r>
              <a:rPr kumimoji="0" lang="zh-CN" altLang="en-US" sz="2400" b="0" i="0" u="none" strike="noStrike" cap="none" normalizeH="0" baseline="0" dirty="0">
                <a:ln>
                  <a:noFill/>
                </a:ln>
                <a:solidFill>
                  <a:schemeClr val="tx2"/>
                </a:solidFill>
                <a:effectLst/>
                <a:latin typeface="Arial" panose="020B0604020202020204" pitchFamily="34" charset="0"/>
                <a:ea typeface="Inter"/>
              </a:rPr>
              <a:t>不存在一个求职者和一家企业，</a:t>
            </a:r>
            <a:r>
              <a:rPr kumimoji="0" lang="zh-CN" altLang="en-US" sz="2400" b="0" i="0" u="none" strike="noStrike" cap="none" normalizeH="0" baseline="0" dirty="0">
                <a:ln>
                  <a:noFill/>
                </a:ln>
                <a:solidFill>
                  <a:srgbClr val="FF0000"/>
                </a:solidFill>
                <a:effectLst/>
                <a:latin typeface="Arial" panose="020B0604020202020204" pitchFamily="34" charset="0"/>
                <a:ea typeface="Inter"/>
              </a:rPr>
              <a:t>求职者更倾向于这家企业而不是自己当前的工作，同时这家企业也更想要这个求职者而不是自己现有的员工</a:t>
            </a:r>
            <a:r>
              <a:rPr kumimoji="0" lang="zh-CN" altLang="en-US" sz="2400" b="0" i="0" u="none" strike="noStrike" cap="none" normalizeH="0" baseline="0" dirty="0">
                <a:ln>
                  <a:noFill/>
                </a:ln>
                <a:solidFill>
                  <a:schemeClr val="tx2"/>
                </a:solidFill>
                <a:effectLst/>
                <a:latin typeface="Arial" panose="020B0604020202020204" pitchFamily="34" charset="0"/>
                <a:ea typeface="Inter"/>
              </a:rPr>
              <a:t>的情况</a:t>
            </a:r>
            <a:r>
              <a:rPr kumimoji="0" lang="zh-CN" altLang="en-US" sz="2800" b="0" i="0" u="none" strike="noStrike" cap="none" normalizeH="0" baseline="0" dirty="0">
                <a:ln>
                  <a:noFill/>
                </a:ln>
                <a:solidFill>
                  <a:srgbClr val="1F2329"/>
                </a:solidFill>
                <a:effectLst/>
                <a:latin typeface="Arial" panose="020B0604020202020204" pitchFamily="34" charset="0"/>
                <a:ea typeface="Inter"/>
              </a:rPr>
              <a:t>。</a:t>
            </a:r>
            <a:endParaRPr kumimoji="0" lang="zh-CN" altLang="en-US" sz="2400" b="0" i="0" u="none" strike="noStrike" cap="none" normalizeH="0" baseline="0" dirty="0">
              <a:ln>
                <a:noFill/>
              </a:ln>
              <a:solidFill>
                <a:srgbClr val="1F2329"/>
              </a:solidFill>
              <a:effectLst/>
              <a:latin typeface="Arial" panose="020B0604020202020204" pitchFamily="34" charset="0"/>
              <a:ea typeface="Inter"/>
            </a:endParaRPr>
          </a:p>
        </p:txBody>
      </p:sp>
    </p:spTree>
    <p:extLst>
      <p:ext uri="{BB962C8B-B14F-4D97-AF65-F5344CB8AC3E}">
        <p14:creationId xmlns:p14="http://schemas.microsoft.com/office/powerpoint/2010/main" val="3677800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27AB41A-661E-40D5-B1FF-6FF4E97FAC03}"/>
              </a:ext>
            </a:extLst>
          </p:cNvPr>
          <p:cNvSpPr>
            <a:spLocks noGrp="1"/>
          </p:cNvSpPr>
          <p:nvPr>
            <p:ph type="sldNum" sz="quarter" idx="12"/>
          </p:nvPr>
        </p:nvSpPr>
        <p:spPr/>
        <p:txBody>
          <a:bodyPr/>
          <a:lstStyle/>
          <a:p>
            <a:pPr>
              <a:defRPr/>
            </a:pPr>
            <a:fld id="{3166C2C0-D704-491C-8CE6-E6A178B48343}" type="slidenum">
              <a:rPr lang="zh-CN" altLang="en-US"/>
              <a:pPr>
                <a:defRPr/>
              </a:pPr>
              <a:t>20</a:t>
            </a:fld>
            <a:endParaRPr lang="en-US" altLang="zh-CN"/>
          </a:p>
        </p:txBody>
      </p:sp>
      <p:sp>
        <p:nvSpPr>
          <p:cNvPr id="12291" name="Rectangle 2">
            <a:extLst>
              <a:ext uri="{FF2B5EF4-FFF2-40B4-BE49-F238E27FC236}">
                <a16:creationId xmlns:a16="http://schemas.microsoft.com/office/drawing/2014/main" id="{4389354A-B28F-46F7-8326-97CBD2B89D79}"/>
              </a:ext>
            </a:extLst>
          </p:cNvPr>
          <p:cNvSpPr>
            <a:spLocks noGrp="1" noChangeArrowheads="1"/>
          </p:cNvSpPr>
          <p:nvPr>
            <p:ph type="title"/>
          </p:nvPr>
        </p:nvSpPr>
        <p:spPr/>
        <p:txBody>
          <a:bodyPr/>
          <a:lstStyle/>
          <a:p>
            <a:pPr eaLnBrk="1" hangingPunct="1"/>
            <a:r>
              <a:rPr lang="zh-CN" altLang="en-US" dirty="0"/>
              <a:t>1.1 问题的形式化</a:t>
            </a:r>
          </a:p>
        </p:txBody>
      </p:sp>
      <p:sp>
        <p:nvSpPr>
          <p:cNvPr id="2" name="Rectangle 3">
            <a:extLst>
              <a:ext uri="{FF2B5EF4-FFF2-40B4-BE49-F238E27FC236}">
                <a16:creationId xmlns:a16="http://schemas.microsoft.com/office/drawing/2014/main" id="{B3093D7A-9FBA-4695-B72F-B5807C45C259}"/>
              </a:ext>
            </a:extLst>
          </p:cNvPr>
          <p:cNvSpPr>
            <a:spLocks noGrp="1" noChangeArrowheads="1"/>
          </p:cNvSpPr>
          <p:nvPr>
            <p:ph type="body" idx="1"/>
          </p:nvPr>
        </p:nvSpPr>
        <p:spPr>
          <a:xfrm>
            <a:off x="827584" y="1988840"/>
            <a:ext cx="7772400" cy="4114800"/>
          </a:xfrm>
        </p:spPr>
        <p:txBody>
          <a:bodyPr/>
          <a:lstStyle/>
          <a:p>
            <a:pPr marL="0" indent="0" eaLnBrk="1" hangingPunct="1">
              <a:buNone/>
            </a:pPr>
            <a:r>
              <a:rPr lang="zh-CN" altLang="en-US" dirty="0"/>
              <a:t>提出</a:t>
            </a:r>
            <a:r>
              <a:rPr lang="zh-CN" altLang="en-US" b="1" dirty="0"/>
              <a:t>本质</a:t>
            </a:r>
            <a:r>
              <a:rPr lang="zh-CN" altLang="en-US" dirty="0"/>
              <a:t>的、</a:t>
            </a:r>
            <a:r>
              <a:rPr lang="zh-CN" altLang="en-US" b="1" dirty="0"/>
              <a:t>相对简单</a:t>
            </a:r>
            <a:r>
              <a:rPr lang="zh-CN" altLang="en-US" dirty="0"/>
              <a:t>模型：</a:t>
            </a:r>
          </a:p>
          <a:p>
            <a:pPr eaLnBrk="1" hangingPunct="1">
              <a:buFont typeface="Wingdings" panose="05000000000000000000" pitchFamily="2" charset="2"/>
              <a:buChar char="p"/>
            </a:pPr>
            <a:r>
              <a:rPr lang="en-US" altLang="zh-CN" dirty="0"/>
              <a:t>n</a:t>
            </a:r>
            <a:r>
              <a:rPr lang="zh-CN" altLang="en-US" dirty="0"/>
              <a:t>个申请人中的每个人对</a:t>
            </a:r>
            <a:r>
              <a:rPr lang="en-US" altLang="zh-CN" dirty="0"/>
              <a:t>n</a:t>
            </a:r>
            <a:r>
              <a:rPr lang="zh-CN" altLang="en-US" dirty="0"/>
              <a:t>个公司提出申请，每个公司只要单一的申请人；</a:t>
            </a:r>
          </a:p>
          <a:p>
            <a:pPr eaLnBrk="1" hangingPunct="1">
              <a:buFont typeface="Wingdings" panose="05000000000000000000" pitchFamily="2" charset="2"/>
              <a:buChar char="p"/>
            </a:pPr>
            <a:r>
              <a:rPr lang="zh-CN" altLang="en-US" dirty="0"/>
              <a:t>按照</a:t>
            </a:r>
            <a:r>
              <a:rPr lang="en-US" altLang="zh-CN" dirty="0"/>
              <a:t>Gale-Shapley</a:t>
            </a:r>
            <a:r>
              <a:rPr lang="zh-CN" altLang="en-US" dirty="0"/>
              <a:t>的思路，考虑等价的不同性别的匹配问题；</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300ECE62-998A-4E8C-85C4-34F1BE552C40}"/>
              </a:ext>
            </a:extLst>
          </p:cNvPr>
          <p:cNvSpPr>
            <a:spLocks noGrp="1"/>
          </p:cNvSpPr>
          <p:nvPr>
            <p:ph type="sldNum" sz="quarter" idx="12"/>
          </p:nvPr>
        </p:nvSpPr>
        <p:spPr/>
        <p:txBody>
          <a:bodyPr/>
          <a:lstStyle/>
          <a:p>
            <a:pPr>
              <a:defRPr/>
            </a:pPr>
            <a:fld id="{536964AC-F60F-4238-8829-36B51A22F66B}" type="slidenum">
              <a:rPr lang="zh-CN" altLang="en-US"/>
              <a:pPr>
                <a:defRPr/>
              </a:pPr>
              <a:t>21</a:t>
            </a:fld>
            <a:endParaRPr lang="en-US" altLang="zh-CN"/>
          </a:p>
        </p:txBody>
      </p:sp>
      <p:sp>
        <p:nvSpPr>
          <p:cNvPr id="13315" name="Rectangle 2">
            <a:extLst>
              <a:ext uri="{FF2B5EF4-FFF2-40B4-BE49-F238E27FC236}">
                <a16:creationId xmlns:a16="http://schemas.microsoft.com/office/drawing/2014/main" id="{64D3B49E-A969-489F-A73B-374DB4107544}"/>
              </a:ext>
            </a:extLst>
          </p:cNvPr>
          <p:cNvSpPr>
            <a:spLocks noGrp="1" noChangeArrowheads="1"/>
          </p:cNvSpPr>
          <p:nvPr>
            <p:ph type="title"/>
          </p:nvPr>
        </p:nvSpPr>
        <p:spPr>
          <a:xfrm>
            <a:off x="1143000" y="609600"/>
            <a:ext cx="7793038" cy="1143000"/>
          </a:xfrm>
        </p:spPr>
        <p:txBody>
          <a:bodyPr/>
          <a:lstStyle/>
          <a:p>
            <a:pPr eaLnBrk="1" hangingPunct="1"/>
            <a:r>
              <a:rPr lang="zh-CN" altLang="en-US"/>
              <a:t>1.1 问题</a:t>
            </a:r>
          </a:p>
        </p:txBody>
      </p:sp>
      <p:sp>
        <p:nvSpPr>
          <p:cNvPr id="13316" name="Rectangle 3">
            <a:extLst>
              <a:ext uri="{FF2B5EF4-FFF2-40B4-BE49-F238E27FC236}">
                <a16:creationId xmlns:a16="http://schemas.microsoft.com/office/drawing/2014/main" id="{3D8B5E5D-7A21-4F93-AA4A-D513B7666651}"/>
              </a:ext>
            </a:extLst>
          </p:cNvPr>
          <p:cNvSpPr>
            <a:spLocks noGrp="1" noChangeArrowheads="1"/>
          </p:cNvSpPr>
          <p:nvPr>
            <p:ph type="body" idx="1"/>
          </p:nvPr>
        </p:nvSpPr>
        <p:spPr>
          <a:xfrm>
            <a:off x="755576" y="2017713"/>
            <a:ext cx="7772400" cy="4114800"/>
          </a:xfrm>
        </p:spPr>
        <p:txBody>
          <a:bodyPr/>
          <a:lstStyle/>
          <a:p>
            <a:pPr marL="0" indent="0" eaLnBrk="1" hangingPunct="1">
              <a:buNone/>
            </a:pPr>
            <a:r>
              <a:rPr lang="zh-CN" altLang="en-US" dirty="0"/>
              <a:t>   考虑</a:t>
            </a:r>
            <a:r>
              <a:rPr lang="en-US" altLang="zh-CN" dirty="0"/>
              <a:t>n</a:t>
            </a:r>
            <a:r>
              <a:rPr lang="zh-CN" altLang="en-US" dirty="0"/>
              <a:t>个男人的集合：                       ，</a:t>
            </a:r>
          </a:p>
          <a:p>
            <a:pPr eaLnBrk="1" hangingPunct="1">
              <a:buFont typeface="Wingdings" panose="05000000000000000000" pitchFamily="2" charset="2"/>
              <a:buNone/>
            </a:pPr>
            <a:r>
              <a:rPr lang="en-US" altLang="zh-CN" dirty="0"/>
              <a:t>   </a:t>
            </a:r>
            <a:r>
              <a:rPr lang="zh-CN" altLang="en-US" dirty="0"/>
              <a:t>以及</a:t>
            </a:r>
            <a:r>
              <a:rPr lang="en-US" altLang="zh-CN" dirty="0"/>
              <a:t>n</a:t>
            </a:r>
            <a:r>
              <a:rPr lang="zh-CN" altLang="en-US" dirty="0"/>
              <a:t>个女人的集合：                       。</a:t>
            </a:r>
          </a:p>
          <a:p>
            <a:pPr algn="just" eaLnBrk="1" hangingPunct="1"/>
            <a:r>
              <a:rPr lang="zh-CN" altLang="en-US" dirty="0"/>
              <a:t> 令</a:t>
            </a:r>
            <a:r>
              <a:rPr lang="en-US" altLang="zh-CN" dirty="0"/>
              <a:t>M*W </a:t>
            </a:r>
            <a:r>
              <a:rPr lang="zh-CN" altLang="en-US" dirty="0"/>
              <a:t>表示所有可能的形如(</a:t>
            </a:r>
            <a:r>
              <a:rPr lang="en-US" altLang="zh-CN" dirty="0" err="1"/>
              <a:t>m,w</a:t>
            </a:r>
            <a:r>
              <a:rPr lang="en-US" altLang="zh-CN" dirty="0"/>
              <a:t>)</a:t>
            </a:r>
            <a:r>
              <a:rPr lang="zh-CN" altLang="en-US" dirty="0"/>
              <a:t>的有序对的集合，其中                . </a:t>
            </a:r>
            <a:endParaRPr lang="en-US" altLang="zh-CN" dirty="0"/>
          </a:p>
          <a:p>
            <a:pPr algn="just" eaLnBrk="1" hangingPunct="1"/>
            <a:r>
              <a:rPr lang="zh-CN" altLang="en-US" dirty="0"/>
              <a:t>一个</a:t>
            </a:r>
            <a:r>
              <a:rPr lang="zh-CN" altLang="en-US" dirty="0">
                <a:solidFill>
                  <a:schemeClr val="hlink"/>
                </a:solidFill>
              </a:rPr>
              <a:t>匹配</a:t>
            </a:r>
            <a:r>
              <a:rPr lang="en-US" altLang="zh-CN" dirty="0"/>
              <a:t>S</a:t>
            </a:r>
            <a:r>
              <a:rPr lang="zh-CN" altLang="en-US" dirty="0"/>
              <a:t>是来自</a:t>
            </a:r>
            <a:r>
              <a:rPr lang="en-US" altLang="zh-CN" dirty="0"/>
              <a:t>M*W</a:t>
            </a:r>
            <a:r>
              <a:rPr lang="zh-CN" altLang="en-US" dirty="0"/>
              <a:t>的</a:t>
            </a:r>
            <a:r>
              <a:rPr lang="zh-CN" altLang="en-US" b="1" dirty="0"/>
              <a:t>有序对的集合</a:t>
            </a:r>
            <a:r>
              <a:rPr lang="zh-CN" altLang="en-US" dirty="0"/>
              <a:t>，并且有如下性质：</a:t>
            </a:r>
            <a:r>
              <a:rPr lang="zh-CN" altLang="en-US" u="sng" dirty="0"/>
              <a:t>每个</a:t>
            </a:r>
            <a:r>
              <a:rPr lang="en-US" altLang="zh-CN" u="sng" dirty="0"/>
              <a:t>M</a:t>
            </a:r>
            <a:r>
              <a:rPr lang="zh-CN" altLang="en-US" u="sng" dirty="0"/>
              <a:t>的成员和每个</a:t>
            </a:r>
            <a:r>
              <a:rPr lang="en-US" altLang="zh-CN" u="sng" dirty="0"/>
              <a:t>W</a:t>
            </a:r>
            <a:r>
              <a:rPr lang="zh-CN" altLang="en-US" u="sng" dirty="0"/>
              <a:t>的成员至多出现在</a:t>
            </a:r>
            <a:r>
              <a:rPr lang="en-US" altLang="zh-CN" u="sng" dirty="0"/>
              <a:t>S</a:t>
            </a:r>
            <a:r>
              <a:rPr lang="zh-CN" altLang="en-US" u="sng" dirty="0"/>
              <a:t>的一个有序对中</a:t>
            </a:r>
            <a:r>
              <a:rPr lang="zh-CN" altLang="en-US" dirty="0"/>
              <a:t>。</a:t>
            </a:r>
          </a:p>
        </p:txBody>
      </p:sp>
      <p:graphicFrame>
        <p:nvGraphicFramePr>
          <p:cNvPr id="13317" name="Object 4">
            <a:extLst>
              <a:ext uri="{FF2B5EF4-FFF2-40B4-BE49-F238E27FC236}">
                <a16:creationId xmlns:a16="http://schemas.microsoft.com/office/drawing/2014/main" id="{C45752EE-DB2E-4FE5-B956-6682BCDE8A8E}"/>
              </a:ext>
            </a:extLst>
          </p:cNvPr>
          <p:cNvGraphicFramePr>
            <a:graphicFrameLocks noChangeAspect="1"/>
          </p:cNvGraphicFramePr>
          <p:nvPr>
            <p:extLst>
              <p:ext uri="{D42A27DB-BD31-4B8C-83A1-F6EECF244321}">
                <p14:modId xmlns:p14="http://schemas.microsoft.com/office/powerpoint/2010/main" val="878214436"/>
              </p:ext>
            </p:extLst>
          </p:nvPr>
        </p:nvGraphicFramePr>
        <p:xfrm>
          <a:off x="5076056" y="2057400"/>
          <a:ext cx="2838450" cy="511175"/>
        </p:xfrm>
        <a:graphic>
          <a:graphicData uri="http://schemas.openxmlformats.org/presentationml/2006/ole">
            <mc:AlternateContent xmlns:mc="http://schemas.openxmlformats.org/markup-compatibility/2006">
              <mc:Choice xmlns:v="urn:schemas-microsoft-com:vml" Requires="v">
                <p:oleObj name="Equation" r:id="rId2" imgW="1270000" imgH="228600" progId="Equation.3">
                  <p:embed/>
                </p:oleObj>
              </mc:Choice>
              <mc:Fallback>
                <p:oleObj name="Equation" r:id="rId2" imgW="127000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2057400"/>
                        <a:ext cx="283845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 name="Object 5">
            <a:extLst>
              <a:ext uri="{FF2B5EF4-FFF2-40B4-BE49-F238E27FC236}">
                <a16:creationId xmlns:a16="http://schemas.microsoft.com/office/drawing/2014/main" id="{715F3241-A86E-43E8-B2CA-F7BB08B197A8}"/>
              </a:ext>
            </a:extLst>
          </p:cNvPr>
          <p:cNvGraphicFramePr>
            <a:graphicFrameLocks noChangeAspect="1"/>
          </p:cNvGraphicFramePr>
          <p:nvPr>
            <p:extLst>
              <p:ext uri="{D42A27DB-BD31-4B8C-83A1-F6EECF244321}">
                <p14:modId xmlns:p14="http://schemas.microsoft.com/office/powerpoint/2010/main" val="1709223674"/>
              </p:ext>
            </p:extLst>
          </p:nvPr>
        </p:nvGraphicFramePr>
        <p:xfrm>
          <a:off x="5199881" y="2743200"/>
          <a:ext cx="2724150" cy="511175"/>
        </p:xfrm>
        <a:graphic>
          <a:graphicData uri="http://schemas.openxmlformats.org/presentationml/2006/ole">
            <mc:AlternateContent xmlns:mc="http://schemas.openxmlformats.org/markup-compatibility/2006">
              <mc:Choice xmlns:v="urn:schemas-microsoft-com:vml" Requires="v">
                <p:oleObj name="Equation" r:id="rId4" imgW="1219200" imgH="228600" progId="Equation.3">
                  <p:embed/>
                </p:oleObj>
              </mc:Choice>
              <mc:Fallback>
                <p:oleObj name="Equation" r:id="rId4" imgW="1219200" imgH="228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9881" y="2743200"/>
                        <a:ext cx="272415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6">
            <a:extLst>
              <a:ext uri="{FF2B5EF4-FFF2-40B4-BE49-F238E27FC236}">
                <a16:creationId xmlns:a16="http://schemas.microsoft.com/office/drawing/2014/main" id="{B2CF2B96-B2C7-422B-A307-2EF7116D8667}"/>
              </a:ext>
            </a:extLst>
          </p:cNvPr>
          <p:cNvGraphicFramePr>
            <a:graphicFrameLocks noChangeAspect="1"/>
          </p:cNvGraphicFramePr>
          <p:nvPr>
            <p:extLst>
              <p:ext uri="{D42A27DB-BD31-4B8C-83A1-F6EECF244321}">
                <p14:modId xmlns:p14="http://schemas.microsoft.com/office/powerpoint/2010/main" val="1712756247"/>
              </p:ext>
            </p:extLst>
          </p:nvPr>
        </p:nvGraphicFramePr>
        <p:xfrm>
          <a:off x="4355976" y="3733800"/>
          <a:ext cx="2209800" cy="496888"/>
        </p:xfrm>
        <a:graphic>
          <a:graphicData uri="http://schemas.openxmlformats.org/presentationml/2006/ole">
            <mc:AlternateContent xmlns:mc="http://schemas.openxmlformats.org/markup-compatibility/2006">
              <mc:Choice xmlns:v="urn:schemas-microsoft-com:vml" Requires="v">
                <p:oleObj name="Equation" r:id="rId6" imgW="901309" imgH="203112" progId="Equation.3">
                  <p:embed/>
                </p:oleObj>
              </mc:Choice>
              <mc:Fallback>
                <p:oleObj name="Equation" r:id="rId6" imgW="901309" imgH="203112"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5976" y="3733800"/>
                        <a:ext cx="22098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1A2B00-D737-4277-95F1-6E5C4D3BB884}"/>
              </a:ext>
            </a:extLst>
          </p:cNvPr>
          <p:cNvSpPr>
            <a:spLocks noGrp="1"/>
          </p:cNvSpPr>
          <p:nvPr>
            <p:ph type="sldNum" sz="quarter" idx="12"/>
          </p:nvPr>
        </p:nvSpPr>
        <p:spPr/>
        <p:txBody>
          <a:bodyPr/>
          <a:lstStyle/>
          <a:p>
            <a:pPr>
              <a:defRPr/>
            </a:pPr>
            <a:fld id="{3DB3888B-51BC-452D-A489-06551817441E}" type="slidenum">
              <a:rPr lang="zh-CN" altLang="en-US"/>
              <a:pPr>
                <a:defRPr/>
              </a:pPr>
              <a:t>22</a:t>
            </a:fld>
            <a:endParaRPr lang="en-US" altLang="zh-CN"/>
          </a:p>
        </p:txBody>
      </p:sp>
      <p:sp>
        <p:nvSpPr>
          <p:cNvPr id="14339" name="Rectangle 2">
            <a:extLst>
              <a:ext uri="{FF2B5EF4-FFF2-40B4-BE49-F238E27FC236}">
                <a16:creationId xmlns:a16="http://schemas.microsoft.com/office/drawing/2014/main" id="{58ACA99F-FF74-40D8-8122-8B3FDC2A8013}"/>
              </a:ext>
            </a:extLst>
          </p:cNvPr>
          <p:cNvSpPr>
            <a:spLocks noGrp="1" noChangeArrowheads="1"/>
          </p:cNvSpPr>
          <p:nvPr>
            <p:ph type="title"/>
          </p:nvPr>
        </p:nvSpPr>
        <p:spPr/>
        <p:txBody>
          <a:bodyPr/>
          <a:lstStyle/>
          <a:p>
            <a:pPr eaLnBrk="1" hangingPunct="1"/>
            <a:r>
              <a:rPr lang="zh-CN" altLang="en-US"/>
              <a:t>1.1 问题</a:t>
            </a:r>
          </a:p>
        </p:txBody>
      </p:sp>
      <p:sp>
        <p:nvSpPr>
          <p:cNvPr id="14340" name="Rectangle 3">
            <a:extLst>
              <a:ext uri="{FF2B5EF4-FFF2-40B4-BE49-F238E27FC236}">
                <a16:creationId xmlns:a16="http://schemas.microsoft.com/office/drawing/2014/main" id="{6C1890A5-5FE9-44A9-BCA0-19DBC1EF2EE3}"/>
              </a:ext>
            </a:extLst>
          </p:cNvPr>
          <p:cNvSpPr>
            <a:spLocks noGrp="1" noChangeArrowheads="1"/>
          </p:cNvSpPr>
          <p:nvPr>
            <p:ph type="body" idx="1"/>
          </p:nvPr>
        </p:nvSpPr>
        <p:spPr>
          <a:xfrm>
            <a:off x="899592" y="2017713"/>
            <a:ext cx="7772400" cy="4114800"/>
          </a:xfrm>
        </p:spPr>
        <p:txBody>
          <a:bodyPr/>
          <a:lstStyle/>
          <a:p>
            <a:pPr eaLnBrk="1" hangingPunct="1">
              <a:lnSpc>
                <a:spcPct val="90000"/>
              </a:lnSpc>
            </a:pPr>
            <a:r>
              <a:rPr lang="zh-CN" altLang="en-US" dirty="0"/>
              <a:t>一个</a:t>
            </a:r>
            <a:r>
              <a:rPr lang="zh-CN" altLang="en-US" dirty="0">
                <a:solidFill>
                  <a:schemeClr val="hlink"/>
                </a:solidFill>
              </a:rPr>
              <a:t>完美匹配</a:t>
            </a:r>
            <a:r>
              <a:rPr lang="en-US" altLang="zh-CN" dirty="0"/>
              <a:t>S</a:t>
            </a:r>
            <a:r>
              <a:rPr lang="en-US" altLang="zh-CN" dirty="0">
                <a:latin typeface="Times New Roman" panose="02020603050405020304" pitchFamily="18" charset="0"/>
              </a:rPr>
              <a:t>’</a:t>
            </a:r>
            <a:r>
              <a:rPr lang="zh-CN" altLang="en-US" dirty="0"/>
              <a:t>是具有如下性质的匹配：</a:t>
            </a:r>
            <a:r>
              <a:rPr lang="en-US" altLang="zh-CN" u="sng" dirty="0"/>
              <a:t>M</a:t>
            </a:r>
            <a:r>
              <a:rPr lang="zh-CN" altLang="en-US" u="sng" dirty="0"/>
              <a:t>的每个成员和</a:t>
            </a:r>
            <a:r>
              <a:rPr lang="en-US" altLang="zh-CN" u="sng" dirty="0"/>
              <a:t>W</a:t>
            </a:r>
            <a:r>
              <a:rPr lang="zh-CN" altLang="en-US" u="sng" dirty="0"/>
              <a:t>的每个成员恰好出现在</a:t>
            </a:r>
            <a:r>
              <a:rPr lang="en-US" altLang="zh-CN" u="sng" dirty="0"/>
              <a:t>S</a:t>
            </a:r>
            <a:r>
              <a:rPr lang="en-US" altLang="zh-CN" u="sng" dirty="0">
                <a:latin typeface="Times New Roman" panose="02020603050405020304" pitchFamily="18" charset="0"/>
              </a:rPr>
              <a:t>’</a:t>
            </a:r>
            <a:r>
              <a:rPr lang="zh-CN" altLang="en-US" u="sng" dirty="0"/>
              <a:t>的一个队里。</a:t>
            </a:r>
          </a:p>
          <a:p>
            <a:pPr eaLnBrk="1" hangingPunct="1">
              <a:lnSpc>
                <a:spcPct val="90000"/>
              </a:lnSpc>
            </a:pPr>
            <a:r>
              <a:rPr lang="zh-CN" altLang="en-US" dirty="0">
                <a:solidFill>
                  <a:schemeClr val="hlink"/>
                </a:solidFill>
              </a:rPr>
              <a:t>优先</a:t>
            </a:r>
            <a:r>
              <a:rPr lang="zh-CN" altLang="en-US" dirty="0"/>
              <a:t>的概念: 每个男人         对所有的女人排名，如果</a:t>
            </a:r>
            <a:r>
              <a:rPr lang="en-US" altLang="zh-CN" dirty="0"/>
              <a:t>m</a:t>
            </a:r>
            <a:r>
              <a:rPr lang="zh-CN" altLang="en-US" dirty="0"/>
              <a:t>给</a:t>
            </a:r>
            <a:r>
              <a:rPr lang="en-US" altLang="zh-CN" dirty="0"/>
              <a:t>w</a:t>
            </a:r>
            <a:r>
              <a:rPr lang="zh-CN" altLang="en-US" dirty="0"/>
              <a:t>的排名高于</a:t>
            </a:r>
            <a:r>
              <a:rPr lang="en-US" altLang="zh-CN" dirty="0"/>
              <a:t>w</a:t>
            </a:r>
            <a:r>
              <a:rPr lang="en-US" altLang="zh-CN" dirty="0">
                <a:latin typeface="Times New Roman" panose="02020603050405020304" pitchFamily="18" charset="0"/>
              </a:rPr>
              <a:t>’</a:t>
            </a:r>
            <a:r>
              <a:rPr lang="en-US" altLang="zh-CN" dirty="0"/>
              <a:t>,</a:t>
            </a:r>
            <a:r>
              <a:rPr lang="zh-CN" altLang="en-US" dirty="0"/>
              <a:t>称 </a:t>
            </a:r>
            <a:r>
              <a:rPr lang="en-US" altLang="zh-CN" dirty="0"/>
              <a:t>m</a:t>
            </a:r>
            <a:r>
              <a:rPr lang="zh-CN" altLang="en-US" dirty="0"/>
              <a:t>偏爱</a:t>
            </a:r>
            <a:r>
              <a:rPr lang="en-US" altLang="zh-CN" dirty="0"/>
              <a:t>w</a:t>
            </a:r>
            <a:r>
              <a:rPr lang="zh-CN" altLang="en-US" dirty="0"/>
              <a:t>超过</a:t>
            </a:r>
            <a:r>
              <a:rPr lang="en-US" altLang="zh-CN" dirty="0"/>
              <a:t>w</a:t>
            </a:r>
            <a:r>
              <a:rPr lang="en-US" altLang="zh-CN" dirty="0">
                <a:latin typeface="Times New Roman" panose="02020603050405020304" pitchFamily="18" charset="0"/>
              </a:rPr>
              <a:t>’</a:t>
            </a:r>
            <a:r>
              <a:rPr lang="en-US" altLang="zh-CN" dirty="0"/>
              <a:t>.</a:t>
            </a:r>
          </a:p>
          <a:p>
            <a:pPr eaLnBrk="1" hangingPunct="1">
              <a:lnSpc>
                <a:spcPct val="90000"/>
              </a:lnSpc>
            </a:pPr>
            <a:r>
              <a:rPr lang="zh-CN" altLang="en-US" dirty="0"/>
              <a:t>于是每个男人对女人有一个排名</a:t>
            </a:r>
            <a:r>
              <a:rPr lang="en-US" altLang="zh-CN" dirty="0"/>
              <a:t>-&gt;</a:t>
            </a:r>
            <a:r>
              <a:rPr lang="zh-CN" altLang="en-US" b="1" dirty="0"/>
              <a:t>优先表</a:t>
            </a:r>
            <a:r>
              <a:rPr lang="zh-CN" altLang="en-US" dirty="0"/>
              <a:t>；类似的每个女人也有一个优先表。</a:t>
            </a:r>
            <a:endParaRPr lang="en-US" altLang="zh-CN" dirty="0"/>
          </a:p>
        </p:txBody>
      </p:sp>
      <p:graphicFrame>
        <p:nvGraphicFramePr>
          <p:cNvPr id="14341" name="Object 4">
            <a:extLst>
              <a:ext uri="{FF2B5EF4-FFF2-40B4-BE49-F238E27FC236}">
                <a16:creationId xmlns:a16="http://schemas.microsoft.com/office/drawing/2014/main" id="{A186E551-37A0-4744-B58F-F0FDB3D77EE2}"/>
              </a:ext>
            </a:extLst>
          </p:cNvPr>
          <p:cNvGraphicFramePr>
            <a:graphicFrameLocks noChangeAspect="1"/>
          </p:cNvGraphicFramePr>
          <p:nvPr>
            <p:extLst>
              <p:ext uri="{D42A27DB-BD31-4B8C-83A1-F6EECF244321}">
                <p14:modId xmlns:p14="http://schemas.microsoft.com/office/powerpoint/2010/main" val="2423983471"/>
              </p:ext>
            </p:extLst>
          </p:nvPr>
        </p:nvGraphicFramePr>
        <p:xfrm>
          <a:off x="5225008" y="3429000"/>
          <a:ext cx="1219200" cy="474663"/>
        </p:xfrm>
        <a:graphic>
          <a:graphicData uri="http://schemas.openxmlformats.org/presentationml/2006/ole">
            <mc:AlternateContent xmlns:mc="http://schemas.openxmlformats.org/markup-compatibility/2006">
              <mc:Choice xmlns:v="urn:schemas-microsoft-com:vml" Requires="v">
                <p:oleObj name="Equation" r:id="rId2" imgW="457002" imgH="177723" progId="Equation.3">
                  <p:embed/>
                </p:oleObj>
              </mc:Choice>
              <mc:Fallback>
                <p:oleObj name="Equation" r:id="rId2" imgW="457002" imgH="177723"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5008" y="3429000"/>
                        <a:ext cx="1219200"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5">
            <a:extLst>
              <a:ext uri="{FF2B5EF4-FFF2-40B4-BE49-F238E27FC236}">
                <a16:creationId xmlns:a16="http://schemas.microsoft.com/office/drawing/2014/main" id="{29CEFBF4-E8B0-4344-91B4-0150EBA8D210}"/>
              </a:ext>
            </a:extLst>
          </p:cNvPr>
          <p:cNvSpPr>
            <a:spLocks noGrp="1"/>
          </p:cNvSpPr>
          <p:nvPr>
            <p:ph type="sldNum" sz="quarter" idx="12"/>
          </p:nvPr>
        </p:nvSpPr>
        <p:spPr/>
        <p:txBody>
          <a:bodyPr/>
          <a:lstStyle/>
          <a:p>
            <a:pPr>
              <a:defRPr/>
            </a:pPr>
            <a:fld id="{2B2F97F4-EEDD-451D-8A88-CB2BB1AF1E1A}" type="slidenum">
              <a:rPr lang="zh-CN" altLang="en-US"/>
              <a:pPr>
                <a:defRPr/>
              </a:pPr>
              <a:t>23</a:t>
            </a:fld>
            <a:endParaRPr lang="en-US" altLang="zh-CN"/>
          </a:p>
        </p:txBody>
      </p:sp>
      <p:sp>
        <p:nvSpPr>
          <p:cNvPr id="15363" name="Rectangle 2">
            <a:extLst>
              <a:ext uri="{FF2B5EF4-FFF2-40B4-BE49-F238E27FC236}">
                <a16:creationId xmlns:a16="http://schemas.microsoft.com/office/drawing/2014/main" id="{32F000F8-6C55-4919-B9BA-C7E2241CBFDE}"/>
              </a:ext>
            </a:extLst>
          </p:cNvPr>
          <p:cNvSpPr>
            <a:spLocks noGrp="1" noChangeArrowheads="1"/>
          </p:cNvSpPr>
          <p:nvPr>
            <p:ph type="title"/>
          </p:nvPr>
        </p:nvSpPr>
        <p:spPr/>
        <p:txBody>
          <a:bodyPr/>
          <a:lstStyle/>
          <a:p>
            <a:pPr eaLnBrk="1" hangingPunct="1"/>
            <a:r>
              <a:rPr lang="zh-CN" altLang="en-US"/>
              <a:t>1.1 问题</a:t>
            </a:r>
          </a:p>
        </p:txBody>
      </p:sp>
      <p:sp>
        <p:nvSpPr>
          <p:cNvPr id="15364" name="Rectangle 3">
            <a:extLst>
              <a:ext uri="{FF2B5EF4-FFF2-40B4-BE49-F238E27FC236}">
                <a16:creationId xmlns:a16="http://schemas.microsoft.com/office/drawing/2014/main" id="{448E549E-8F14-4A3C-9C29-51D5D68644CD}"/>
              </a:ext>
            </a:extLst>
          </p:cNvPr>
          <p:cNvSpPr>
            <a:spLocks noGrp="1" noChangeArrowheads="1"/>
          </p:cNvSpPr>
          <p:nvPr>
            <p:ph type="body" idx="1"/>
          </p:nvPr>
        </p:nvSpPr>
        <p:spPr/>
        <p:txBody>
          <a:bodyPr/>
          <a:lstStyle/>
          <a:p>
            <a:pPr eaLnBrk="1" hangingPunct="1"/>
            <a:r>
              <a:rPr lang="zh-CN" altLang="en-US" dirty="0"/>
              <a:t>一个具体的优先表例子：</a:t>
            </a:r>
            <a:endParaRPr lang="en-US" altLang="zh-CN" dirty="0"/>
          </a:p>
          <a:p>
            <a:pPr eaLnBrk="1" hangingPunct="1"/>
            <a:r>
              <a:rPr kumimoji="0" lang="en-US" altLang="zh-CN" sz="2800" dirty="0">
                <a:solidFill>
                  <a:schemeClr val="bg2"/>
                </a:solidFill>
                <a:latin typeface="Comic Sans MS" panose="030F0702030302020204" pitchFamily="66" charset="0"/>
                <a:ea typeface="宋体" panose="02010600030101010101" pitchFamily="2" charset="-122"/>
              </a:rPr>
              <a:t>M={Xavier, Yancey, Zeus};</a:t>
            </a:r>
          </a:p>
          <a:p>
            <a:pPr eaLnBrk="1" hangingPunct="1"/>
            <a:r>
              <a:rPr kumimoji="0" lang="en-US" altLang="zh-CN" sz="2800" dirty="0">
                <a:solidFill>
                  <a:schemeClr val="bg2"/>
                </a:solidFill>
                <a:latin typeface="Comic Sans MS" panose="030F0702030302020204" pitchFamily="66" charset="0"/>
                <a:ea typeface="宋体" panose="02010600030101010101" pitchFamily="2" charset="-122"/>
              </a:rPr>
              <a:t>W={Army, Bertha, Clare}</a:t>
            </a:r>
          </a:p>
          <a:p>
            <a:pPr eaLnBrk="1" hangingPunct="1"/>
            <a:endParaRPr lang="zh-CN" altLang="en-US" dirty="0"/>
          </a:p>
          <a:p>
            <a:pPr eaLnBrk="1" hangingPunct="1"/>
            <a:endParaRPr lang="zh-CN" altLang="en-US" dirty="0"/>
          </a:p>
        </p:txBody>
      </p:sp>
      <p:sp>
        <p:nvSpPr>
          <p:cNvPr id="15365" name="Rectangle 44">
            <a:extLst>
              <a:ext uri="{FF2B5EF4-FFF2-40B4-BE49-F238E27FC236}">
                <a16:creationId xmlns:a16="http://schemas.microsoft.com/office/drawing/2014/main" id="{D59BC0D1-76AD-4796-9258-2C2E36D9A54E}"/>
              </a:ext>
            </a:extLst>
          </p:cNvPr>
          <p:cNvSpPr>
            <a:spLocks noChangeAspect="1" noChangeArrowheads="1"/>
          </p:cNvSpPr>
          <p:nvPr/>
        </p:nvSpPr>
        <p:spPr bwMode="auto">
          <a:xfrm>
            <a:off x="319088" y="5507038"/>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Zeus</a:t>
            </a:r>
          </a:p>
        </p:txBody>
      </p:sp>
      <p:sp>
        <p:nvSpPr>
          <p:cNvPr id="15366" name="Rectangle 45">
            <a:extLst>
              <a:ext uri="{FF2B5EF4-FFF2-40B4-BE49-F238E27FC236}">
                <a16:creationId xmlns:a16="http://schemas.microsoft.com/office/drawing/2014/main" id="{847C9DB7-523B-4421-85E1-3DB51D5390AF}"/>
              </a:ext>
            </a:extLst>
          </p:cNvPr>
          <p:cNvSpPr>
            <a:spLocks noChangeAspect="1" noChangeArrowheads="1"/>
          </p:cNvSpPr>
          <p:nvPr/>
        </p:nvSpPr>
        <p:spPr bwMode="auto">
          <a:xfrm>
            <a:off x="1311275" y="5507038"/>
            <a:ext cx="992188"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Amy</a:t>
            </a:r>
          </a:p>
        </p:txBody>
      </p:sp>
      <p:sp>
        <p:nvSpPr>
          <p:cNvPr id="15367" name="Rectangle 46">
            <a:extLst>
              <a:ext uri="{FF2B5EF4-FFF2-40B4-BE49-F238E27FC236}">
                <a16:creationId xmlns:a16="http://schemas.microsoft.com/office/drawing/2014/main" id="{4DA13566-2B41-4D0B-BB87-B439D540794B}"/>
              </a:ext>
            </a:extLst>
          </p:cNvPr>
          <p:cNvSpPr>
            <a:spLocks noChangeAspect="1" noChangeArrowheads="1"/>
          </p:cNvSpPr>
          <p:nvPr/>
        </p:nvSpPr>
        <p:spPr bwMode="auto">
          <a:xfrm>
            <a:off x="3295650" y="5507038"/>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Clare</a:t>
            </a:r>
          </a:p>
        </p:txBody>
      </p:sp>
      <p:sp>
        <p:nvSpPr>
          <p:cNvPr id="15368" name="Rectangle 47">
            <a:extLst>
              <a:ext uri="{FF2B5EF4-FFF2-40B4-BE49-F238E27FC236}">
                <a16:creationId xmlns:a16="http://schemas.microsoft.com/office/drawing/2014/main" id="{8DC4C6C1-749D-4D6C-8D0C-FD7B0A186E37}"/>
              </a:ext>
            </a:extLst>
          </p:cNvPr>
          <p:cNvSpPr>
            <a:spLocks noChangeAspect="1" noChangeArrowheads="1"/>
          </p:cNvSpPr>
          <p:nvPr/>
        </p:nvSpPr>
        <p:spPr bwMode="auto">
          <a:xfrm>
            <a:off x="2303463" y="5507038"/>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Bertha</a:t>
            </a:r>
          </a:p>
        </p:txBody>
      </p:sp>
      <p:sp>
        <p:nvSpPr>
          <p:cNvPr id="15369" name="Rectangle 48">
            <a:extLst>
              <a:ext uri="{FF2B5EF4-FFF2-40B4-BE49-F238E27FC236}">
                <a16:creationId xmlns:a16="http://schemas.microsoft.com/office/drawing/2014/main" id="{841F9AAB-D4E0-4AB1-A507-1B98BD7C70A4}"/>
              </a:ext>
            </a:extLst>
          </p:cNvPr>
          <p:cNvSpPr>
            <a:spLocks noChangeAspect="1" noChangeArrowheads="1"/>
          </p:cNvSpPr>
          <p:nvPr/>
        </p:nvSpPr>
        <p:spPr bwMode="auto">
          <a:xfrm>
            <a:off x="319088" y="509270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Yancey</a:t>
            </a:r>
          </a:p>
        </p:txBody>
      </p:sp>
      <p:sp>
        <p:nvSpPr>
          <p:cNvPr id="15370" name="Rectangle 49">
            <a:extLst>
              <a:ext uri="{FF2B5EF4-FFF2-40B4-BE49-F238E27FC236}">
                <a16:creationId xmlns:a16="http://schemas.microsoft.com/office/drawing/2014/main" id="{21F6FD12-00DA-4545-908F-77255C7666F9}"/>
              </a:ext>
            </a:extLst>
          </p:cNvPr>
          <p:cNvSpPr>
            <a:spLocks noChangeAspect="1" noChangeArrowheads="1"/>
          </p:cNvSpPr>
          <p:nvPr/>
        </p:nvSpPr>
        <p:spPr bwMode="auto">
          <a:xfrm>
            <a:off x="1311275" y="5092700"/>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Bertha</a:t>
            </a:r>
          </a:p>
        </p:txBody>
      </p:sp>
      <p:sp>
        <p:nvSpPr>
          <p:cNvPr id="15371" name="Rectangle 50">
            <a:extLst>
              <a:ext uri="{FF2B5EF4-FFF2-40B4-BE49-F238E27FC236}">
                <a16:creationId xmlns:a16="http://schemas.microsoft.com/office/drawing/2014/main" id="{03661CD7-EC5A-4480-A5C1-2C3B707AA496}"/>
              </a:ext>
            </a:extLst>
          </p:cNvPr>
          <p:cNvSpPr>
            <a:spLocks noChangeAspect="1" noChangeArrowheads="1"/>
          </p:cNvSpPr>
          <p:nvPr/>
        </p:nvSpPr>
        <p:spPr bwMode="auto">
          <a:xfrm>
            <a:off x="3295650" y="5080000"/>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Clare</a:t>
            </a:r>
          </a:p>
        </p:txBody>
      </p:sp>
      <p:sp>
        <p:nvSpPr>
          <p:cNvPr id="15372" name="Rectangle 51">
            <a:extLst>
              <a:ext uri="{FF2B5EF4-FFF2-40B4-BE49-F238E27FC236}">
                <a16:creationId xmlns:a16="http://schemas.microsoft.com/office/drawing/2014/main" id="{4494D703-7251-443E-9D56-707ACC5110B9}"/>
              </a:ext>
            </a:extLst>
          </p:cNvPr>
          <p:cNvSpPr>
            <a:spLocks noChangeAspect="1" noChangeArrowheads="1"/>
          </p:cNvSpPr>
          <p:nvPr/>
        </p:nvSpPr>
        <p:spPr bwMode="auto">
          <a:xfrm>
            <a:off x="2303463" y="5092700"/>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Amy</a:t>
            </a:r>
          </a:p>
        </p:txBody>
      </p:sp>
      <p:sp>
        <p:nvSpPr>
          <p:cNvPr id="15373" name="Rectangle 52">
            <a:extLst>
              <a:ext uri="{FF2B5EF4-FFF2-40B4-BE49-F238E27FC236}">
                <a16:creationId xmlns:a16="http://schemas.microsoft.com/office/drawing/2014/main" id="{B4D8E911-E8B3-400E-AD22-B6C772054767}"/>
              </a:ext>
            </a:extLst>
          </p:cNvPr>
          <p:cNvSpPr>
            <a:spLocks noChangeAspect="1" noChangeArrowheads="1"/>
          </p:cNvSpPr>
          <p:nvPr/>
        </p:nvSpPr>
        <p:spPr bwMode="auto">
          <a:xfrm>
            <a:off x="319088" y="4678363"/>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accent2"/>
                </a:solidFill>
                <a:latin typeface="Comic Sans MS" panose="030F0702030302020204" pitchFamily="66" charset="0"/>
              </a:rPr>
              <a:t>Xavier</a:t>
            </a:r>
          </a:p>
        </p:txBody>
      </p:sp>
      <p:sp>
        <p:nvSpPr>
          <p:cNvPr id="15374" name="Rectangle 53">
            <a:extLst>
              <a:ext uri="{FF2B5EF4-FFF2-40B4-BE49-F238E27FC236}">
                <a16:creationId xmlns:a16="http://schemas.microsoft.com/office/drawing/2014/main" id="{D1343589-65FD-4BB1-B957-E0CF1BF188BF}"/>
              </a:ext>
            </a:extLst>
          </p:cNvPr>
          <p:cNvSpPr>
            <a:spLocks noChangeAspect="1" noChangeArrowheads="1"/>
          </p:cNvSpPr>
          <p:nvPr/>
        </p:nvSpPr>
        <p:spPr bwMode="auto">
          <a:xfrm>
            <a:off x="1311275" y="4678363"/>
            <a:ext cx="992188"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Amy</a:t>
            </a:r>
          </a:p>
        </p:txBody>
      </p:sp>
      <p:sp>
        <p:nvSpPr>
          <p:cNvPr id="15375" name="Rectangle 54">
            <a:extLst>
              <a:ext uri="{FF2B5EF4-FFF2-40B4-BE49-F238E27FC236}">
                <a16:creationId xmlns:a16="http://schemas.microsoft.com/office/drawing/2014/main" id="{FEC040A3-C167-4A89-8CD5-187E7F5FC770}"/>
              </a:ext>
            </a:extLst>
          </p:cNvPr>
          <p:cNvSpPr>
            <a:spLocks noChangeAspect="1" noChangeArrowheads="1"/>
          </p:cNvSpPr>
          <p:nvPr/>
        </p:nvSpPr>
        <p:spPr bwMode="auto">
          <a:xfrm>
            <a:off x="3295650" y="4678363"/>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Clare</a:t>
            </a:r>
          </a:p>
        </p:txBody>
      </p:sp>
      <p:sp>
        <p:nvSpPr>
          <p:cNvPr id="15376" name="Rectangle 55">
            <a:extLst>
              <a:ext uri="{FF2B5EF4-FFF2-40B4-BE49-F238E27FC236}">
                <a16:creationId xmlns:a16="http://schemas.microsoft.com/office/drawing/2014/main" id="{671C0075-5379-4A87-8742-F9E2F3D40234}"/>
              </a:ext>
            </a:extLst>
          </p:cNvPr>
          <p:cNvSpPr>
            <a:spLocks noChangeAspect="1" noChangeArrowheads="1"/>
          </p:cNvSpPr>
          <p:nvPr/>
        </p:nvSpPr>
        <p:spPr bwMode="auto">
          <a:xfrm>
            <a:off x="2303463" y="4678363"/>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Bertha</a:t>
            </a:r>
          </a:p>
        </p:txBody>
      </p:sp>
      <p:sp>
        <p:nvSpPr>
          <p:cNvPr id="15377" name="Rectangle 56">
            <a:extLst>
              <a:ext uri="{FF2B5EF4-FFF2-40B4-BE49-F238E27FC236}">
                <a16:creationId xmlns:a16="http://schemas.microsoft.com/office/drawing/2014/main" id="{D657E3A7-7BBA-43CA-8480-7E9440FCE2EA}"/>
              </a:ext>
            </a:extLst>
          </p:cNvPr>
          <p:cNvSpPr>
            <a:spLocks noChangeAspect="1" noChangeArrowheads="1"/>
          </p:cNvSpPr>
          <p:nvPr/>
        </p:nvSpPr>
        <p:spPr bwMode="auto">
          <a:xfrm>
            <a:off x="1311275" y="4267200"/>
            <a:ext cx="992188"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chemeClr val="accent2"/>
                </a:solidFill>
                <a:latin typeface="Comic Sans MS" panose="030F0702030302020204" pitchFamily="66" charset="0"/>
              </a:rPr>
              <a:t>1</a:t>
            </a:r>
            <a:r>
              <a:rPr kumimoji="0" lang="en-US" altLang="zh-CN" sz="1600" baseline="30000">
                <a:solidFill>
                  <a:schemeClr val="accent2"/>
                </a:solidFill>
                <a:latin typeface="Comic Sans MS" panose="030F0702030302020204" pitchFamily="66" charset="0"/>
              </a:rPr>
              <a:t>st</a:t>
            </a:r>
          </a:p>
        </p:txBody>
      </p:sp>
      <p:sp>
        <p:nvSpPr>
          <p:cNvPr id="15378" name="Rectangle 57">
            <a:extLst>
              <a:ext uri="{FF2B5EF4-FFF2-40B4-BE49-F238E27FC236}">
                <a16:creationId xmlns:a16="http://schemas.microsoft.com/office/drawing/2014/main" id="{13B29153-7966-4DD6-AFAA-C74C635466A5}"/>
              </a:ext>
            </a:extLst>
          </p:cNvPr>
          <p:cNvSpPr>
            <a:spLocks noChangeAspect="1" noChangeArrowheads="1"/>
          </p:cNvSpPr>
          <p:nvPr/>
        </p:nvSpPr>
        <p:spPr bwMode="auto">
          <a:xfrm>
            <a:off x="2303463" y="4267200"/>
            <a:ext cx="992187"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chemeClr val="accent2"/>
                </a:solidFill>
                <a:latin typeface="Comic Sans MS" panose="030F0702030302020204" pitchFamily="66" charset="0"/>
              </a:rPr>
              <a:t>2</a:t>
            </a:r>
            <a:r>
              <a:rPr kumimoji="0" lang="en-US" altLang="zh-CN" sz="1600" baseline="30000">
                <a:solidFill>
                  <a:schemeClr val="accent2"/>
                </a:solidFill>
                <a:latin typeface="Comic Sans MS" panose="030F0702030302020204" pitchFamily="66" charset="0"/>
              </a:rPr>
              <a:t>nd</a:t>
            </a:r>
          </a:p>
        </p:txBody>
      </p:sp>
      <p:sp>
        <p:nvSpPr>
          <p:cNvPr id="15379" name="Rectangle 58">
            <a:extLst>
              <a:ext uri="{FF2B5EF4-FFF2-40B4-BE49-F238E27FC236}">
                <a16:creationId xmlns:a16="http://schemas.microsoft.com/office/drawing/2014/main" id="{3263351F-8C28-42AE-A9C6-6F26A3FCD28C}"/>
              </a:ext>
            </a:extLst>
          </p:cNvPr>
          <p:cNvSpPr>
            <a:spLocks noChangeAspect="1" noChangeArrowheads="1"/>
          </p:cNvSpPr>
          <p:nvPr/>
        </p:nvSpPr>
        <p:spPr bwMode="auto">
          <a:xfrm>
            <a:off x="3295650" y="4267200"/>
            <a:ext cx="990600"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chemeClr val="accent2"/>
                </a:solidFill>
                <a:latin typeface="Comic Sans MS" panose="030F0702030302020204" pitchFamily="66" charset="0"/>
              </a:rPr>
              <a:t>3</a:t>
            </a:r>
            <a:r>
              <a:rPr kumimoji="0" lang="en-US" altLang="zh-CN" sz="1600" baseline="30000">
                <a:solidFill>
                  <a:schemeClr val="accent2"/>
                </a:solidFill>
                <a:latin typeface="Comic Sans MS" panose="030F0702030302020204" pitchFamily="66" charset="0"/>
              </a:rPr>
              <a:t>rd</a:t>
            </a:r>
          </a:p>
        </p:txBody>
      </p:sp>
      <p:sp>
        <p:nvSpPr>
          <p:cNvPr id="15380" name="Rectangle 59">
            <a:extLst>
              <a:ext uri="{FF2B5EF4-FFF2-40B4-BE49-F238E27FC236}">
                <a16:creationId xmlns:a16="http://schemas.microsoft.com/office/drawing/2014/main" id="{0972A3DA-9363-4D0B-BE64-149AAE5C0874}"/>
              </a:ext>
            </a:extLst>
          </p:cNvPr>
          <p:cNvSpPr>
            <a:spLocks noChangeAspect="1" noChangeArrowheads="1"/>
          </p:cNvSpPr>
          <p:nvPr/>
        </p:nvSpPr>
        <p:spPr bwMode="auto">
          <a:xfrm>
            <a:off x="304800" y="5910263"/>
            <a:ext cx="3962400" cy="414337"/>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Men’s Preference Profile</a:t>
            </a:r>
            <a:endParaRPr kumimoji="0" lang="en-US" altLang="zh-CN" sz="1400" i="1">
              <a:solidFill>
                <a:schemeClr val="bg1"/>
              </a:solidFill>
              <a:latin typeface="Comic Sans MS" panose="030F0702030302020204" pitchFamily="66" charset="0"/>
            </a:endParaRPr>
          </a:p>
        </p:txBody>
      </p:sp>
      <p:sp>
        <p:nvSpPr>
          <p:cNvPr id="15381" name="Text Box 60">
            <a:extLst>
              <a:ext uri="{FF2B5EF4-FFF2-40B4-BE49-F238E27FC236}">
                <a16:creationId xmlns:a16="http://schemas.microsoft.com/office/drawing/2014/main" id="{6F77699D-C5CA-4311-AD56-801765ED5646}"/>
              </a:ext>
            </a:extLst>
          </p:cNvPr>
          <p:cNvSpPr txBox="1">
            <a:spLocks noChangeArrowheads="1"/>
          </p:cNvSpPr>
          <p:nvPr/>
        </p:nvSpPr>
        <p:spPr bwMode="auto">
          <a:xfrm>
            <a:off x="1465635" y="3755391"/>
            <a:ext cx="78226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600" dirty="0">
                <a:latin typeface="Comic Sans MS" panose="030F0702030302020204" pitchFamily="66" charset="0"/>
              </a:rPr>
              <a:t>favorite</a:t>
            </a:r>
            <a:endParaRPr lang="en-US" altLang="zh-CN" sz="1200" dirty="0">
              <a:latin typeface="Comic Sans MS" panose="030F0702030302020204" pitchFamily="66" charset="0"/>
            </a:endParaRPr>
          </a:p>
        </p:txBody>
      </p:sp>
      <p:sp>
        <p:nvSpPr>
          <p:cNvPr id="15382" name="Text Box 61">
            <a:extLst>
              <a:ext uri="{FF2B5EF4-FFF2-40B4-BE49-F238E27FC236}">
                <a16:creationId xmlns:a16="http://schemas.microsoft.com/office/drawing/2014/main" id="{FEE53BC2-803E-4B96-9361-9D7F02DF5CD4}"/>
              </a:ext>
            </a:extLst>
          </p:cNvPr>
          <p:cNvSpPr txBox="1">
            <a:spLocks noChangeArrowheads="1"/>
          </p:cNvSpPr>
          <p:nvPr/>
        </p:nvSpPr>
        <p:spPr bwMode="auto">
          <a:xfrm>
            <a:off x="3429000" y="3776663"/>
            <a:ext cx="131286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defPPr>
              <a:defRPr lang="en-US"/>
            </a:defPPr>
            <a:lvl1pPr defTabSz="1019175">
              <a:spcBef>
                <a:spcPct val="50000"/>
              </a:spcBef>
              <a:buClrTx/>
              <a:buSzTx/>
              <a:buFontTx/>
              <a:buNone/>
              <a:defRPr>
                <a:solidFill>
                  <a:schemeClr val="tx1"/>
                </a:solidFill>
              </a:defRPr>
            </a:lvl1pPr>
            <a:lvl2pPr marL="509588" indent="-285750" defTabSz="1019175">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019175" indent="-228600" defTabSz="1019175">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528763" indent="-228600" defTabSz="1019175">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38350" indent="-228600" defTabSz="1019175">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r>
              <a:rPr lang="en-US" altLang="zh-CN" dirty="0"/>
              <a:t>least favorite</a:t>
            </a:r>
          </a:p>
        </p:txBody>
      </p:sp>
      <p:sp>
        <p:nvSpPr>
          <p:cNvPr id="15383" name="Rectangle 62">
            <a:extLst>
              <a:ext uri="{FF2B5EF4-FFF2-40B4-BE49-F238E27FC236}">
                <a16:creationId xmlns:a16="http://schemas.microsoft.com/office/drawing/2014/main" id="{DE2CC50D-71A9-499D-BE64-CD3B6F3F3638}"/>
              </a:ext>
            </a:extLst>
          </p:cNvPr>
          <p:cNvSpPr>
            <a:spLocks noChangeAspect="1" noChangeArrowheads="1"/>
          </p:cNvSpPr>
          <p:nvPr/>
        </p:nvSpPr>
        <p:spPr bwMode="auto">
          <a:xfrm>
            <a:off x="4738688" y="5507038"/>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Clare</a:t>
            </a:r>
          </a:p>
        </p:txBody>
      </p:sp>
      <p:sp>
        <p:nvSpPr>
          <p:cNvPr id="15384" name="Rectangle 63">
            <a:extLst>
              <a:ext uri="{FF2B5EF4-FFF2-40B4-BE49-F238E27FC236}">
                <a16:creationId xmlns:a16="http://schemas.microsoft.com/office/drawing/2014/main" id="{02981F39-A300-41A1-9910-6E7CB2704668}"/>
              </a:ext>
            </a:extLst>
          </p:cNvPr>
          <p:cNvSpPr>
            <a:spLocks noChangeAspect="1" noChangeArrowheads="1"/>
          </p:cNvSpPr>
          <p:nvPr/>
        </p:nvSpPr>
        <p:spPr bwMode="auto">
          <a:xfrm>
            <a:off x="5730875" y="5507038"/>
            <a:ext cx="992188"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Xavier</a:t>
            </a:r>
          </a:p>
        </p:txBody>
      </p:sp>
      <p:sp>
        <p:nvSpPr>
          <p:cNvPr id="15385" name="Rectangle 64">
            <a:extLst>
              <a:ext uri="{FF2B5EF4-FFF2-40B4-BE49-F238E27FC236}">
                <a16:creationId xmlns:a16="http://schemas.microsoft.com/office/drawing/2014/main" id="{62719FF4-3C62-4541-B3BD-18D229C58917}"/>
              </a:ext>
            </a:extLst>
          </p:cNvPr>
          <p:cNvSpPr>
            <a:spLocks noChangeAspect="1" noChangeArrowheads="1"/>
          </p:cNvSpPr>
          <p:nvPr/>
        </p:nvSpPr>
        <p:spPr bwMode="auto">
          <a:xfrm>
            <a:off x="7715250" y="5507038"/>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Zeus</a:t>
            </a:r>
          </a:p>
        </p:txBody>
      </p:sp>
      <p:sp>
        <p:nvSpPr>
          <p:cNvPr id="15386" name="Rectangle 65">
            <a:extLst>
              <a:ext uri="{FF2B5EF4-FFF2-40B4-BE49-F238E27FC236}">
                <a16:creationId xmlns:a16="http://schemas.microsoft.com/office/drawing/2014/main" id="{6210ED04-FBB3-40B6-88D0-AF4E434D3661}"/>
              </a:ext>
            </a:extLst>
          </p:cNvPr>
          <p:cNvSpPr>
            <a:spLocks noChangeAspect="1" noChangeArrowheads="1"/>
          </p:cNvSpPr>
          <p:nvPr/>
        </p:nvSpPr>
        <p:spPr bwMode="auto">
          <a:xfrm>
            <a:off x="6723063" y="5507038"/>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Yancey</a:t>
            </a:r>
          </a:p>
        </p:txBody>
      </p:sp>
      <p:sp>
        <p:nvSpPr>
          <p:cNvPr id="15387" name="Rectangle 66">
            <a:extLst>
              <a:ext uri="{FF2B5EF4-FFF2-40B4-BE49-F238E27FC236}">
                <a16:creationId xmlns:a16="http://schemas.microsoft.com/office/drawing/2014/main" id="{7E618CB6-452A-40B3-A997-0DA193E8B757}"/>
              </a:ext>
            </a:extLst>
          </p:cNvPr>
          <p:cNvSpPr>
            <a:spLocks noChangeAspect="1" noChangeArrowheads="1"/>
          </p:cNvSpPr>
          <p:nvPr/>
        </p:nvSpPr>
        <p:spPr bwMode="auto">
          <a:xfrm>
            <a:off x="4738688" y="509270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Bertha</a:t>
            </a:r>
          </a:p>
        </p:txBody>
      </p:sp>
      <p:sp>
        <p:nvSpPr>
          <p:cNvPr id="15388" name="Rectangle 67">
            <a:extLst>
              <a:ext uri="{FF2B5EF4-FFF2-40B4-BE49-F238E27FC236}">
                <a16:creationId xmlns:a16="http://schemas.microsoft.com/office/drawing/2014/main" id="{26CA197A-3103-428F-86D2-9B6966F6D033}"/>
              </a:ext>
            </a:extLst>
          </p:cNvPr>
          <p:cNvSpPr>
            <a:spLocks noChangeAspect="1" noChangeArrowheads="1"/>
          </p:cNvSpPr>
          <p:nvPr/>
        </p:nvSpPr>
        <p:spPr bwMode="auto">
          <a:xfrm>
            <a:off x="5730875" y="5092700"/>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Xavier</a:t>
            </a:r>
          </a:p>
        </p:txBody>
      </p:sp>
      <p:sp>
        <p:nvSpPr>
          <p:cNvPr id="15389" name="Rectangle 68">
            <a:extLst>
              <a:ext uri="{FF2B5EF4-FFF2-40B4-BE49-F238E27FC236}">
                <a16:creationId xmlns:a16="http://schemas.microsoft.com/office/drawing/2014/main" id="{E9531F40-C2EB-4A4C-8619-B42551857C01}"/>
              </a:ext>
            </a:extLst>
          </p:cNvPr>
          <p:cNvSpPr>
            <a:spLocks noChangeAspect="1" noChangeArrowheads="1"/>
          </p:cNvSpPr>
          <p:nvPr/>
        </p:nvSpPr>
        <p:spPr bwMode="auto">
          <a:xfrm>
            <a:off x="7715250" y="5092700"/>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Zeus</a:t>
            </a:r>
          </a:p>
        </p:txBody>
      </p:sp>
      <p:sp>
        <p:nvSpPr>
          <p:cNvPr id="15390" name="Rectangle 69">
            <a:extLst>
              <a:ext uri="{FF2B5EF4-FFF2-40B4-BE49-F238E27FC236}">
                <a16:creationId xmlns:a16="http://schemas.microsoft.com/office/drawing/2014/main" id="{1DB2DEB9-C735-48CC-A0F9-C15171D9C3FB}"/>
              </a:ext>
            </a:extLst>
          </p:cNvPr>
          <p:cNvSpPr>
            <a:spLocks noChangeAspect="1" noChangeArrowheads="1"/>
          </p:cNvSpPr>
          <p:nvPr/>
        </p:nvSpPr>
        <p:spPr bwMode="auto">
          <a:xfrm>
            <a:off x="6723063" y="5092700"/>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Yancey</a:t>
            </a:r>
          </a:p>
        </p:txBody>
      </p:sp>
      <p:sp>
        <p:nvSpPr>
          <p:cNvPr id="15391" name="Rectangle 70">
            <a:extLst>
              <a:ext uri="{FF2B5EF4-FFF2-40B4-BE49-F238E27FC236}">
                <a16:creationId xmlns:a16="http://schemas.microsoft.com/office/drawing/2014/main" id="{C55EC5E4-29A8-4B15-A035-E6F35899B391}"/>
              </a:ext>
            </a:extLst>
          </p:cNvPr>
          <p:cNvSpPr>
            <a:spLocks noChangeAspect="1" noChangeArrowheads="1"/>
          </p:cNvSpPr>
          <p:nvPr/>
        </p:nvSpPr>
        <p:spPr bwMode="auto">
          <a:xfrm>
            <a:off x="4738688" y="4678363"/>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Amy</a:t>
            </a:r>
          </a:p>
        </p:txBody>
      </p:sp>
      <p:sp>
        <p:nvSpPr>
          <p:cNvPr id="15392" name="Rectangle 71">
            <a:extLst>
              <a:ext uri="{FF2B5EF4-FFF2-40B4-BE49-F238E27FC236}">
                <a16:creationId xmlns:a16="http://schemas.microsoft.com/office/drawing/2014/main" id="{BE1E9103-9C5C-45AF-B2AC-6DA0136670DF}"/>
              </a:ext>
            </a:extLst>
          </p:cNvPr>
          <p:cNvSpPr>
            <a:spLocks noChangeAspect="1" noChangeArrowheads="1"/>
          </p:cNvSpPr>
          <p:nvPr/>
        </p:nvSpPr>
        <p:spPr bwMode="auto">
          <a:xfrm>
            <a:off x="5730875" y="4678363"/>
            <a:ext cx="992188"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Yancey</a:t>
            </a:r>
          </a:p>
        </p:txBody>
      </p:sp>
      <p:sp>
        <p:nvSpPr>
          <p:cNvPr id="15393" name="Rectangle 72">
            <a:extLst>
              <a:ext uri="{FF2B5EF4-FFF2-40B4-BE49-F238E27FC236}">
                <a16:creationId xmlns:a16="http://schemas.microsoft.com/office/drawing/2014/main" id="{8B88DF9F-E7E3-4FD3-B6FE-0C7B7DBC406F}"/>
              </a:ext>
            </a:extLst>
          </p:cNvPr>
          <p:cNvSpPr>
            <a:spLocks noChangeAspect="1" noChangeArrowheads="1"/>
          </p:cNvSpPr>
          <p:nvPr/>
        </p:nvSpPr>
        <p:spPr bwMode="auto">
          <a:xfrm>
            <a:off x="7715250" y="4678363"/>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Zeus</a:t>
            </a:r>
          </a:p>
        </p:txBody>
      </p:sp>
      <p:sp>
        <p:nvSpPr>
          <p:cNvPr id="15394" name="Rectangle 73">
            <a:extLst>
              <a:ext uri="{FF2B5EF4-FFF2-40B4-BE49-F238E27FC236}">
                <a16:creationId xmlns:a16="http://schemas.microsoft.com/office/drawing/2014/main" id="{3674CC0B-E900-41C8-B611-7CF4885B328C}"/>
              </a:ext>
            </a:extLst>
          </p:cNvPr>
          <p:cNvSpPr>
            <a:spLocks noChangeAspect="1" noChangeArrowheads="1"/>
          </p:cNvSpPr>
          <p:nvPr/>
        </p:nvSpPr>
        <p:spPr bwMode="auto">
          <a:xfrm>
            <a:off x="6723063" y="4678363"/>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Xavier</a:t>
            </a:r>
          </a:p>
        </p:txBody>
      </p:sp>
      <p:sp>
        <p:nvSpPr>
          <p:cNvPr id="15395" name="Rectangle 74">
            <a:extLst>
              <a:ext uri="{FF2B5EF4-FFF2-40B4-BE49-F238E27FC236}">
                <a16:creationId xmlns:a16="http://schemas.microsoft.com/office/drawing/2014/main" id="{9F4A0E91-977B-4124-B82F-BA0D103C4D24}"/>
              </a:ext>
            </a:extLst>
          </p:cNvPr>
          <p:cNvSpPr>
            <a:spLocks noChangeAspect="1" noChangeArrowheads="1"/>
          </p:cNvSpPr>
          <p:nvPr/>
        </p:nvSpPr>
        <p:spPr bwMode="auto">
          <a:xfrm>
            <a:off x="5730875" y="4267200"/>
            <a:ext cx="992188"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chemeClr val="accent2"/>
                </a:solidFill>
                <a:latin typeface="Comic Sans MS" panose="030F0702030302020204" pitchFamily="66" charset="0"/>
              </a:rPr>
              <a:t>1</a:t>
            </a:r>
            <a:r>
              <a:rPr kumimoji="0" lang="en-US" altLang="zh-CN" sz="1600" baseline="30000">
                <a:solidFill>
                  <a:schemeClr val="accent2"/>
                </a:solidFill>
                <a:latin typeface="Comic Sans MS" panose="030F0702030302020204" pitchFamily="66" charset="0"/>
              </a:rPr>
              <a:t>st</a:t>
            </a:r>
          </a:p>
        </p:txBody>
      </p:sp>
      <p:sp>
        <p:nvSpPr>
          <p:cNvPr id="15396" name="Rectangle 75">
            <a:extLst>
              <a:ext uri="{FF2B5EF4-FFF2-40B4-BE49-F238E27FC236}">
                <a16:creationId xmlns:a16="http://schemas.microsoft.com/office/drawing/2014/main" id="{75DEECCA-A534-4A24-9B34-D9A6D5A3D7F0}"/>
              </a:ext>
            </a:extLst>
          </p:cNvPr>
          <p:cNvSpPr>
            <a:spLocks noChangeAspect="1" noChangeArrowheads="1"/>
          </p:cNvSpPr>
          <p:nvPr/>
        </p:nvSpPr>
        <p:spPr bwMode="auto">
          <a:xfrm>
            <a:off x="6723063" y="4267200"/>
            <a:ext cx="992187"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chemeClr val="accent2"/>
                </a:solidFill>
                <a:latin typeface="Comic Sans MS" panose="030F0702030302020204" pitchFamily="66" charset="0"/>
              </a:rPr>
              <a:t>2</a:t>
            </a:r>
            <a:r>
              <a:rPr kumimoji="0" lang="en-US" altLang="zh-CN" sz="1600" baseline="30000">
                <a:solidFill>
                  <a:schemeClr val="accent2"/>
                </a:solidFill>
                <a:latin typeface="Comic Sans MS" panose="030F0702030302020204" pitchFamily="66" charset="0"/>
              </a:rPr>
              <a:t>nd</a:t>
            </a:r>
          </a:p>
        </p:txBody>
      </p:sp>
      <p:sp>
        <p:nvSpPr>
          <p:cNvPr id="15397" name="Rectangle 76">
            <a:extLst>
              <a:ext uri="{FF2B5EF4-FFF2-40B4-BE49-F238E27FC236}">
                <a16:creationId xmlns:a16="http://schemas.microsoft.com/office/drawing/2014/main" id="{CDFCC8B9-CB73-4DD2-8F94-182677BA64BA}"/>
              </a:ext>
            </a:extLst>
          </p:cNvPr>
          <p:cNvSpPr>
            <a:spLocks noChangeAspect="1" noChangeArrowheads="1"/>
          </p:cNvSpPr>
          <p:nvPr/>
        </p:nvSpPr>
        <p:spPr bwMode="auto">
          <a:xfrm>
            <a:off x="7715250" y="4267200"/>
            <a:ext cx="990600"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chemeClr val="accent2"/>
                </a:solidFill>
                <a:latin typeface="Comic Sans MS" panose="030F0702030302020204" pitchFamily="66" charset="0"/>
              </a:rPr>
              <a:t>3</a:t>
            </a:r>
            <a:r>
              <a:rPr kumimoji="0" lang="en-US" altLang="zh-CN" sz="1600" baseline="30000">
                <a:solidFill>
                  <a:schemeClr val="accent2"/>
                </a:solidFill>
                <a:latin typeface="Comic Sans MS" panose="030F0702030302020204" pitchFamily="66" charset="0"/>
              </a:rPr>
              <a:t>rd</a:t>
            </a:r>
          </a:p>
        </p:txBody>
      </p:sp>
      <p:sp>
        <p:nvSpPr>
          <p:cNvPr id="15398" name="Rectangle 77">
            <a:extLst>
              <a:ext uri="{FF2B5EF4-FFF2-40B4-BE49-F238E27FC236}">
                <a16:creationId xmlns:a16="http://schemas.microsoft.com/office/drawing/2014/main" id="{FA7CE0DB-FFDC-4CF5-8650-14CB1C89B5E2}"/>
              </a:ext>
            </a:extLst>
          </p:cNvPr>
          <p:cNvSpPr>
            <a:spLocks noChangeAspect="1" noChangeArrowheads="1"/>
          </p:cNvSpPr>
          <p:nvPr/>
        </p:nvSpPr>
        <p:spPr bwMode="auto">
          <a:xfrm>
            <a:off x="4724400" y="5910263"/>
            <a:ext cx="3962400" cy="414337"/>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Women’s Preference Profile</a:t>
            </a:r>
            <a:endParaRPr kumimoji="0" lang="en-US" altLang="zh-CN" sz="1400" i="1">
              <a:solidFill>
                <a:schemeClr val="bg1"/>
              </a:solidFill>
              <a:latin typeface="Comic Sans MS" panose="030F0702030302020204" pitchFamily="66" charset="0"/>
            </a:endParaRPr>
          </a:p>
        </p:txBody>
      </p:sp>
      <p:sp>
        <p:nvSpPr>
          <p:cNvPr id="15399" name="Text Box 78">
            <a:extLst>
              <a:ext uri="{FF2B5EF4-FFF2-40B4-BE49-F238E27FC236}">
                <a16:creationId xmlns:a16="http://schemas.microsoft.com/office/drawing/2014/main" id="{070E2A6B-F96C-4EF2-BE48-609BA9CBE753}"/>
              </a:ext>
            </a:extLst>
          </p:cNvPr>
          <p:cNvSpPr txBox="1">
            <a:spLocks noChangeArrowheads="1"/>
          </p:cNvSpPr>
          <p:nvPr/>
        </p:nvSpPr>
        <p:spPr bwMode="auto">
          <a:xfrm>
            <a:off x="5976938" y="3776663"/>
            <a:ext cx="78226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defPPr>
              <a:defRPr lang="en-US"/>
            </a:defPPr>
            <a:lvl1pPr defTabSz="1019175">
              <a:spcBef>
                <a:spcPct val="50000"/>
              </a:spcBef>
              <a:buClrTx/>
              <a:buSzTx/>
              <a:buFontTx/>
              <a:buNone/>
              <a:defRPr>
                <a:solidFill>
                  <a:schemeClr val="tx1"/>
                </a:solidFill>
              </a:defRPr>
            </a:lvl1pPr>
            <a:lvl2pPr marL="509588" indent="-285750" defTabSz="1019175">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019175" indent="-228600" defTabSz="1019175">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528763" indent="-228600" defTabSz="1019175">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38350" indent="-228600" defTabSz="1019175">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r>
              <a:rPr lang="en-US" altLang="zh-CN" dirty="0"/>
              <a:t>favorite</a:t>
            </a:r>
          </a:p>
        </p:txBody>
      </p:sp>
      <p:sp>
        <p:nvSpPr>
          <p:cNvPr id="15400" name="Text Box 79">
            <a:extLst>
              <a:ext uri="{FF2B5EF4-FFF2-40B4-BE49-F238E27FC236}">
                <a16:creationId xmlns:a16="http://schemas.microsoft.com/office/drawing/2014/main" id="{397E2C92-7B91-42F0-86AB-71E6587197CD}"/>
              </a:ext>
            </a:extLst>
          </p:cNvPr>
          <p:cNvSpPr txBox="1">
            <a:spLocks noChangeArrowheads="1"/>
          </p:cNvSpPr>
          <p:nvPr/>
        </p:nvSpPr>
        <p:spPr bwMode="auto">
          <a:xfrm>
            <a:off x="7848600" y="3776663"/>
            <a:ext cx="131286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defPPr>
              <a:defRPr lang="en-US"/>
            </a:defPPr>
            <a:lvl1pPr defTabSz="1019175">
              <a:spcBef>
                <a:spcPct val="50000"/>
              </a:spcBef>
              <a:buClrTx/>
              <a:buSzTx/>
              <a:buFontTx/>
              <a:buNone/>
              <a:defRPr>
                <a:solidFill>
                  <a:schemeClr val="tx1"/>
                </a:solidFill>
              </a:defRPr>
            </a:lvl1pPr>
            <a:lvl2pPr marL="509588" indent="-285750" defTabSz="1019175">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019175" indent="-228600" defTabSz="1019175">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528763" indent="-228600" defTabSz="1019175">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38350" indent="-228600" defTabSz="1019175">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r>
              <a:rPr lang="en-US" altLang="zh-CN" dirty="0"/>
              <a:t>least favorite</a:t>
            </a:r>
          </a:p>
        </p:txBody>
      </p:sp>
      <p:sp>
        <p:nvSpPr>
          <p:cNvPr id="15401" name="Line 80">
            <a:extLst>
              <a:ext uri="{FF2B5EF4-FFF2-40B4-BE49-F238E27FC236}">
                <a16:creationId xmlns:a16="http://schemas.microsoft.com/office/drawing/2014/main" id="{CA01AFA8-78B2-4553-ACE7-029682F47FA4}"/>
              </a:ext>
            </a:extLst>
          </p:cNvPr>
          <p:cNvSpPr>
            <a:spLocks noChangeShapeType="1"/>
          </p:cNvSpPr>
          <p:nvPr/>
        </p:nvSpPr>
        <p:spPr bwMode="auto">
          <a:xfrm>
            <a:off x="8153400" y="4016375"/>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15402" name="Line 81">
            <a:extLst>
              <a:ext uri="{FF2B5EF4-FFF2-40B4-BE49-F238E27FC236}">
                <a16:creationId xmlns:a16="http://schemas.microsoft.com/office/drawing/2014/main" id="{5D9036B6-723C-47C5-B9EE-45A707A3C3E1}"/>
              </a:ext>
            </a:extLst>
          </p:cNvPr>
          <p:cNvSpPr>
            <a:spLocks noChangeShapeType="1"/>
          </p:cNvSpPr>
          <p:nvPr/>
        </p:nvSpPr>
        <p:spPr bwMode="auto">
          <a:xfrm>
            <a:off x="6248400" y="4005263"/>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15403" name="Line 82">
            <a:extLst>
              <a:ext uri="{FF2B5EF4-FFF2-40B4-BE49-F238E27FC236}">
                <a16:creationId xmlns:a16="http://schemas.microsoft.com/office/drawing/2014/main" id="{C6ABF994-7248-4726-B6E9-F558E4C3B170}"/>
              </a:ext>
            </a:extLst>
          </p:cNvPr>
          <p:cNvSpPr>
            <a:spLocks noChangeShapeType="1"/>
          </p:cNvSpPr>
          <p:nvPr/>
        </p:nvSpPr>
        <p:spPr bwMode="auto">
          <a:xfrm>
            <a:off x="3886200" y="4005263"/>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15404" name="Line 83">
            <a:extLst>
              <a:ext uri="{FF2B5EF4-FFF2-40B4-BE49-F238E27FC236}">
                <a16:creationId xmlns:a16="http://schemas.microsoft.com/office/drawing/2014/main" id="{77640589-B000-418C-8250-F7CBD9861B93}"/>
              </a:ext>
            </a:extLst>
          </p:cNvPr>
          <p:cNvSpPr>
            <a:spLocks noChangeShapeType="1"/>
          </p:cNvSpPr>
          <p:nvPr/>
        </p:nvSpPr>
        <p:spPr bwMode="auto">
          <a:xfrm>
            <a:off x="1828800" y="4005263"/>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AFCFDCE-CFD5-42A1-9DAD-03265C3790AA}"/>
              </a:ext>
            </a:extLst>
          </p:cNvPr>
          <p:cNvSpPr>
            <a:spLocks noGrp="1"/>
          </p:cNvSpPr>
          <p:nvPr>
            <p:ph type="sldNum" sz="quarter" idx="12"/>
          </p:nvPr>
        </p:nvSpPr>
        <p:spPr/>
        <p:txBody>
          <a:bodyPr/>
          <a:lstStyle/>
          <a:p>
            <a:pPr>
              <a:defRPr/>
            </a:pPr>
            <a:fld id="{950CC485-6DE7-4ECB-99D5-217F0E5D802C}" type="slidenum">
              <a:rPr lang="zh-CN" altLang="en-US"/>
              <a:pPr>
                <a:defRPr/>
              </a:pPr>
              <a:t>24</a:t>
            </a:fld>
            <a:endParaRPr lang="en-US" altLang="zh-CN"/>
          </a:p>
        </p:txBody>
      </p:sp>
      <p:sp>
        <p:nvSpPr>
          <p:cNvPr id="16387" name="Rectangle 2">
            <a:extLst>
              <a:ext uri="{FF2B5EF4-FFF2-40B4-BE49-F238E27FC236}">
                <a16:creationId xmlns:a16="http://schemas.microsoft.com/office/drawing/2014/main" id="{21633463-A498-4CCF-99B5-F9C44E1EC6EA}"/>
              </a:ext>
            </a:extLst>
          </p:cNvPr>
          <p:cNvSpPr>
            <a:spLocks noGrp="1" noChangeArrowheads="1"/>
          </p:cNvSpPr>
          <p:nvPr>
            <p:ph type="title"/>
          </p:nvPr>
        </p:nvSpPr>
        <p:spPr/>
        <p:txBody>
          <a:bodyPr/>
          <a:lstStyle/>
          <a:p>
            <a:pPr eaLnBrk="1" hangingPunct="1"/>
            <a:r>
              <a:rPr lang="zh-CN" altLang="en-US"/>
              <a:t>1.1 问题</a:t>
            </a:r>
          </a:p>
        </p:txBody>
      </p:sp>
      <p:sp>
        <p:nvSpPr>
          <p:cNvPr id="16388" name="Rectangle 3">
            <a:extLst>
              <a:ext uri="{FF2B5EF4-FFF2-40B4-BE49-F238E27FC236}">
                <a16:creationId xmlns:a16="http://schemas.microsoft.com/office/drawing/2014/main" id="{CA0FC0D9-42F6-4C75-BB2B-94030C4E5131}"/>
              </a:ext>
            </a:extLst>
          </p:cNvPr>
          <p:cNvSpPr>
            <a:spLocks noGrp="1" noChangeArrowheads="1"/>
          </p:cNvSpPr>
          <p:nvPr>
            <p:ph type="body" idx="1"/>
          </p:nvPr>
        </p:nvSpPr>
        <p:spPr>
          <a:xfrm>
            <a:off x="755576" y="2017713"/>
            <a:ext cx="7772400" cy="4114800"/>
          </a:xfrm>
        </p:spPr>
        <p:txBody>
          <a:bodyPr/>
          <a:lstStyle/>
          <a:p>
            <a:pPr marL="0" indent="0" eaLnBrk="1" hangingPunct="1">
              <a:lnSpc>
                <a:spcPct val="90000"/>
              </a:lnSpc>
              <a:buNone/>
            </a:pPr>
            <a:r>
              <a:rPr lang="zh-CN" altLang="en-US" dirty="0">
                <a:solidFill>
                  <a:schemeClr val="tx2"/>
                </a:solidFill>
              </a:rPr>
              <a:t>不稳定因素</a:t>
            </a:r>
          </a:p>
          <a:p>
            <a:pPr eaLnBrk="1" hangingPunct="1">
              <a:lnSpc>
                <a:spcPct val="90000"/>
              </a:lnSpc>
            </a:pPr>
            <a:r>
              <a:rPr lang="zh-CN" altLang="en-US" dirty="0"/>
              <a:t>给定一个完美匹配</a:t>
            </a:r>
            <a:r>
              <a:rPr lang="en-US" altLang="zh-CN" dirty="0"/>
              <a:t>S, </a:t>
            </a:r>
            <a:r>
              <a:rPr lang="zh-CN" altLang="en-US" dirty="0"/>
              <a:t>在</a:t>
            </a:r>
            <a:r>
              <a:rPr lang="en-US" altLang="zh-CN" dirty="0"/>
              <a:t>S</a:t>
            </a:r>
            <a:r>
              <a:rPr lang="zh-CN" altLang="en-US" dirty="0"/>
              <a:t>中存在两个对(</a:t>
            </a:r>
            <a:r>
              <a:rPr lang="en-US" altLang="zh-CN" dirty="0" err="1"/>
              <a:t>m,w</a:t>
            </a:r>
            <a:r>
              <a:rPr lang="en-US" altLang="zh-CN" dirty="0"/>
              <a:t>)</a:t>
            </a:r>
            <a:r>
              <a:rPr lang="zh-CN" altLang="en-US" dirty="0"/>
              <a:t>和(</a:t>
            </a:r>
            <a:r>
              <a:rPr lang="en-US" altLang="zh-CN" dirty="0" err="1"/>
              <a:t>m</a:t>
            </a:r>
            <a:r>
              <a:rPr lang="en-US" altLang="zh-CN" dirty="0" err="1">
                <a:latin typeface="Times New Roman" panose="02020603050405020304" pitchFamily="18" charset="0"/>
              </a:rPr>
              <a:t>’</a:t>
            </a:r>
            <a:r>
              <a:rPr lang="en-US" altLang="zh-CN" dirty="0" err="1"/>
              <a:t>,w</a:t>
            </a:r>
            <a:r>
              <a:rPr lang="en-US" altLang="zh-CN" dirty="0">
                <a:latin typeface="Times New Roman" panose="02020603050405020304" pitchFamily="18" charset="0"/>
              </a:rPr>
              <a:t>’</a:t>
            </a:r>
            <a:r>
              <a:rPr lang="en-US" altLang="zh-CN" dirty="0"/>
              <a:t>), </a:t>
            </a:r>
            <a:r>
              <a:rPr lang="zh-CN" altLang="en-US" dirty="0"/>
              <a:t>如果</a:t>
            </a:r>
            <a:r>
              <a:rPr lang="en-US" altLang="zh-CN" dirty="0"/>
              <a:t>m</a:t>
            </a:r>
            <a:r>
              <a:rPr lang="zh-CN" altLang="en-US" dirty="0"/>
              <a:t>更偏爱</a:t>
            </a:r>
            <a:r>
              <a:rPr lang="en-US" altLang="zh-CN" dirty="0"/>
              <a:t>w</a:t>
            </a:r>
            <a:r>
              <a:rPr lang="en-US" altLang="zh-CN" dirty="0">
                <a:latin typeface="Times New Roman" panose="02020603050405020304" pitchFamily="18" charset="0"/>
              </a:rPr>
              <a:t>’</a:t>
            </a:r>
            <a:r>
              <a:rPr lang="zh-CN" altLang="en-US" dirty="0"/>
              <a:t>而不爱</a:t>
            </a:r>
            <a:r>
              <a:rPr lang="en-US" altLang="zh-CN" dirty="0"/>
              <a:t>w, </a:t>
            </a:r>
            <a:r>
              <a:rPr lang="zh-CN" altLang="en-US" u="sng" dirty="0"/>
              <a:t>而且</a:t>
            </a:r>
            <a:r>
              <a:rPr lang="en-US" altLang="zh-CN" dirty="0"/>
              <a:t>w</a:t>
            </a:r>
            <a:r>
              <a:rPr lang="en-US" altLang="zh-CN" dirty="0">
                <a:latin typeface="Times New Roman" panose="02020603050405020304" pitchFamily="18" charset="0"/>
              </a:rPr>
              <a:t>’</a:t>
            </a:r>
            <a:r>
              <a:rPr lang="zh-CN" altLang="en-US" dirty="0"/>
              <a:t>更偏爱</a:t>
            </a:r>
            <a:r>
              <a:rPr lang="en-US" altLang="zh-CN" dirty="0"/>
              <a:t>m</a:t>
            </a:r>
            <a:r>
              <a:rPr lang="zh-CN" altLang="en-US" dirty="0"/>
              <a:t>而不爱</a:t>
            </a:r>
            <a:r>
              <a:rPr lang="en-US" altLang="zh-CN" dirty="0"/>
              <a:t>m</a:t>
            </a:r>
            <a:r>
              <a:rPr lang="en-US" altLang="zh-CN" dirty="0">
                <a:latin typeface="Times New Roman" panose="02020603050405020304" pitchFamily="18" charset="0"/>
              </a:rPr>
              <a:t>’</a:t>
            </a:r>
            <a:r>
              <a:rPr lang="en-US" altLang="zh-CN" dirty="0"/>
              <a:t>. </a:t>
            </a:r>
          </a:p>
          <a:p>
            <a:pPr eaLnBrk="1" hangingPunct="1">
              <a:lnSpc>
                <a:spcPct val="90000"/>
              </a:lnSpc>
              <a:buFont typeface="Wingdings" panose="05000000000000000000" pitchFamily="2" charset="2"/>
              <a:buNone/>
            </a:pPr>
            <a:r>
              <a:rPr lang="zh-CN" altLang="en-US" dirty="0"/>
              <a:t>---称(</a:t>
            </a:r>
            <a:r>
              <a:rPr lang="en-US" altLang="zh-CN" dirty="0" err="1"/>
              <a:t>m,w</a:t>
            </a:r>
            <a:r>
              <a:rPr lang="en-US" altLang="zh-CN" dirty="0">
                <a:latin typeface="Times New Roman" panose="02020603050405020304" pitchFamily="18" charset="0"/>
              </a:rPr>
              <a:t>’</a:t>
            </a:r>
            <a:r>
              <a:rPr lang="en-US" altLang="zh-CN" dirty="0"/>
              <a:t>)</a:t>
            </a:r>
            <a:r>
              <a:rPr lang="zh-CN" altLang="en-US" dirty="0"/>
              <a:t>是一个相对于</a:t>
            </a:r>
            <a:r>
              <a:rPr lang="en-US" altLang="zh-CN" dirty="0"/>
              <a:t>S</a:t>
            </a:r>
            <a:r>
              <a:rPr lang="zh-CN" altLang="en-US" dirty="0"/>
              <a:t>的</a:t>
            </a:r>
            <a:r>
              <a:rPr lang="zh-CN" altLang="en-US" b="1" i="1" dirty="0">
                <a:solidFill>
                  <a:srgbClr val="FF0000"/>
                </a:solidFill>
              </a:rPr>
              <a:t>不稳定因素</a:t>
            </a:r>
            <a:r>
              <a:rPr lang="zh-CN" altLang="en-US" dirty="0">
                <a:sym typeface="Wingdings" panose="05000000000000000000" pitchFamily="2" charset="2"/>
              </a:rPr>
              <a:t>:  (</a:t>
            </a:r>
            <a:r>
              <a:rPr lang="en-US" altLang="zh-CN" dirty="0" err="1">
                <a:sym typeface="Wingdings" panose="05000000000000000000" pitchFamily="2" charset="2"/>
              </a:rPr>
              <a:t>m,w</a:t>
            </a:r>
            <a:r>
              <a:rPr lang="en-US" altLang="zh-CN" dirty="0">
                <a:latin typeface="Times New Roman" panose="02020603050405020304" pitchFamily="18" charset="0"/>
                <a:sym typeface="Wingdings" panose="05000000000000000000" pitchFamily="2" charset="2"/>
              </a:rPr>
              <a:t>’</a:t>
            </a:r>
            <a:r>
              <a:rPr lang="en-US" altLang="zh-CN" dirty="0">
                <a:sym typeface="Wingdings" panose="05000000000000000000" pitchFamily="2" charset="2"/>
              </a:rPr>
              <a:t>)</a:t>
            </a:r>
            <a:r>
              <a:rPr lang="zh-CN" altLang="en-US" dirty="0">
                <a:sym typeface="Wingdings" panose="05000000000000000000" pitchFamily="2" charset="2"/>
              </a:rPr>
              <a:t>不属于</a:t>
            </a:r>
            <a:r>
              <a:rPr lang="en-US" altLang="zh-CN" dirty="0">
                <a:sym typeface="Wingdings" panose="05000000000000000000" pitchFamily="2" charset="2"/>
              </a:rPr>
              <a:t>S, </a:t>
            </a:r>
            <a:r>
              <a:rPr lang="zh-CN" altLang="en-US" dirty="0">
                <a:sym typeface="Wingdings" panose="05000000000000000000" pitchFamily="2" charset="2"/>
              </a:rPr>
              <a:t>但是</a:t>
            </a:r>
            <a:r>
              <a:rPr lang="en-US" altLang="zh-CN" dirty="0">
                <a:sym typeface="Wingdings" panose="05000000000000000000" pitchFamily="2" charset="2"/>
              </a:rPr>
              <a:t>m</a:t>
            </a:r>
            <a:r>
              <a:rPr lang="zh-CN" altLang="en-US" dirty="0">
                <a:sym typeface="Wingdings" panose="05000000000000000000" pitchFamily="2" charset="2"/>
              </a:rPr>
              <a:t>和</a:t>
            </a:r>
            <a:r>
              <a:rPr lang="en-US" altLang="zh-CN" dirty="0">
                <a:sym typeface="Wingdings" panose="05000000000000000000" pitchFamily="2" charset="2"/>
              </a:rPr>
              <a:t>w</a:t>
            </a:r>
            <a:r>
              <a:rPr lang="en-US" altLang="zh-CN" dirty="0">
                <a:latin typeface="Times New Roman" panose="02020603050405020304" pitchFamily="18" charset="0"/>
                <a:sym typeface="Wingdings" panose="05000000000000000000" pitchFamily="2" charset="2"/>
              </a:rPr>
              <a:t>’</a:t>
            </a:r>
            <a:r>
              <a:rPr lang="zh-CN" altLang="en-US" dirty="0">
                <a:sym typeface="Wingdings" panose="05000000000000000000" pitchFamily="2" charset="2"/>
              </a:rPr>
              <a:t>双方都偏爱对方而不爱他们在</a:t>
            </a:r>
            <a:r>
              <a:rPr lang="en-US" altLang="zh-CN" dirty="0">
                <a:sym typeface="Wingdings" panose="05000000000000000000" pitchFamily="2" charset="2"/>
              </a:rPr>
              <a:t>S</a:t>
            </a:r>
            <a:r>
              <a:rPr lang="zh-CN" altLang="en-US" dirty="0">
                <a:sym typeface="Wingdings" panose="05000000000000000000" pitchFamily="2" charset="2"/>
              </a:rPr>
              <a:t>中的伴侣。</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1E1B6955-3BFB-4345-9E05-8C114F86AFBC}"/>
              </a:ext>
            </a:extLst>
          </p:cNvPr>
          <p:cNvSpPr>
            <a:spLocks noGrp="1"/>
          </p:cNvSpPr>
          <p:nvPr>
            <p:ph type="sldNum" sz="quarter" idx="12"/>
          </p:nvPr>
        </p:nvSpPr>
        <p:spPr/>
        <p:txBody>
          <a:bodyPr/>
          <a:lstStyle/>
          <a:p>
            <a:pPr>
              <a:defRPr/>
            </a:pPr>
            <a:fld id="{CBF99311-168C-4359-9F26-8A8C5EB21443}" type="slidenum">
              <a:rPr lang="zh-CN" altLang="en-US"/>
              <a:pPr>
                <a:defRPr/>
              </a:pPr>
              <a:t>25</a:t>
            </a:fld>
            <a:endParaRPr lang="en-US" altLang="zh-CN"/>
          </a:p>
        </p:txBody>
      </p:sp>
      <p:sp>
        <p:nvSpPr>
          <p:cNvPr id="17411" name="Rectangle 2">
            <a:extLst>
              <a:ext uri="{FF2B5EF4-FFF2-40B4-BE49-F238E27FC236}">
                <a16:creationId xmlns:a16="http://schemas.microsoft.com/office/drawing/2014/main" id="{F90288D7-8BDD-4426-9564-5451526E87DB}"/>
              </a:ext>
            </a:extLst>
          </p:cNvPr>
          <p:cNvSpPr>
            <a:spLocks noGrp="1" noChangeArrowheads="1"/>
          </p:cNvSpPr>
          <p:nvPr>
            <p:ph type="title"/>
          </p:nvPr>
        </p:nvSpPr>
        <p:spPr/>
        <p:txBody>
          <a:bodyPr/>
          <a:lstStyle/>
          <a:p>
            <a:pPr eaLnBrk="1" hangingPunct="1"/>
            <a:r>
              <a:rPr lang="zh-CN" altLang="en-US"/>
              <a:t>1.1 问题</a:t>
            </a:r>
          </a:p>
        </p:txBody>
      </p:sp>
      <p:sp>
        <p:nvSpPr>
          <p:cNvPr id="17412" name="Rectangle 3">
            <a:extLst>
              <a:ext uri="{FF2B5EF4-FFF2-40B4-BE49-F238E27FC236}">
                <a16:creationId xmlns:a16="http://schemas.microsoft.com/office/drawing/2014/main" id="{450CAF10-345B-413A-82E4-3C79FBFF3DA6}"/>
              </a:ext>
            </a:extLst>
          </p:cNvPr>
          <p:cNvSpPr>
            <a:spLocks noGrp="1" noChangeArrowheads="1"/>
          </p:cNvSpPr>
          <p:nvPr>
            <p:ph type="body" idx="1"/>
          </p:nvPr>
        </p:nvSpPr>
        <p:spPr>
          <a:xfrm>
            <a:off x="683568" y="2017713"/>
            <a:ext cx="7772400" cy="4114800"/>
          </a:xfrm>
        </p:spPr>
        <p:txBody>
          <a:bodyPr/>
          <a:lstStyle/>
          <a:p>
            <a:pPr eaLnBrk="1" hangingPunct="1"/>
            <a:r>
              <a:rPr lang="en-US" altLang="zh-CN" dirty="0"/>
              <a:t>Figure 1.1 </a:t>
            </a:r>
            <a:r>
              <a:rPr lang="zh-CN" altLang="en-US" dirty="0"/>
              <a:t>具有不稳定元素(</a:t>
            </a:r>
            <a:r>
              <a:rPr lang="en-US" altLang="zh-CN" dirty="0" err="1"/>
              <a:t>m,w</a:t>
            </a:r>
            <a:r>
              <a:rPr lang="en-US" altLang="zh-CN" dirty="0">
                <a:latin typeface="Times New Roman" panose="02020603050405020304" pitchFamily="18" charset="0"/>
              </a:rPr>
              <a:t>’</a:t>
            </a:r>
            <a:r>
              <a:rPr lang="en-US" altLang="zh-CN" dirty="0"/>
              <a:t>)</a:t>
            </a:r>
            <a:r>
              <a:rPr lang="zh-CN" altLang="en-US" dirty="0"/>
              <a:t>的完美匹配</a:t>
            </a:r>
            <a:r>
              <a:rPr lang="en-US" altLang="zh-CN" dirty="0"/>
              <a:t>S</a:t>
            </a:r>
          </a:p>
        </p:txBody>
      </p:sp>
      <p:graphicFrame>
        <p:nvGraphicFramePr>
          <p:cNvPr id="17413" name="Object 5">
            <a:extLst>
              <a:ext uri="{FF2B5EF4-FFF2-40B4-BE49-F238E27FC236}">
                <a16:creationId xmlns:a16="http://schemas.microsoft.com/office/drawing/2014/main" id="{9AA741E2-1900-4345-85DE-2E0CDF2447C0}"/>
              </a:ext>
            </a:extLst>
          </p:cNvPr>
          <p:cNvGraphicFramePr>
            <a:graphicFrameLocks noChangeAspect="1"/>
          </p:cNvGraphicFramePr>
          <p:nvPr>
            <p:extLst>
              <p:ext uri="{D42A27DB-BD31-4B8C-83A1-F6EECF244321}">
                <p14:modId xmlns:p14="http://schemas.microsoft.com/office/powerpoint/2010/main" val="3326765496"/>
              </p:ext>
            </p:extLst>
          </p:nvPr>
        </p:nvGraphicFramePr>
        <p:xfrm>
          <a:off x="2987824" y="2881943"/>
          <a:ext cx="2736304" cy="3515593"/>
        </p:xfrm>
        <a:graphic>
          <a:graphicData uri="http://schemas.openxmlformats.org/presentationml/2006/ole">
            <mc:AlternateContent xmlns:mc="http://schemas.openxmlformats.org/markup-compatibility/2006">
              <mc:Choice xmlns:v="urn:schemas-microsoft-com:vml" Requires="v">
                <p:oleObj name="BMP 图像" r:id="rId2" imgW="1305107" imgH="1676634" progId="Paint.Picture">
                  <p:embed/>
                </p:oleObj>
              </mc:Choice>
              <mc:Fallback>
                <p:oleObj name="BMP 图像" r:id="rId2" imgW="1305107" imgH="1676634" progId="Paint.Picture">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2881943"/>
                        <a:ext cx="2736304" cy="3515593"/>
                      </a:xfrm>
                      <a:prstGeom prst="rect">
                        <a:avLst/>
                      </a:prstGeom>
                      <a:noFill/>
                      <a:ln>
                        <a:noFill/>
                      </a:ln>
                      <a:effec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FDDA8E1-D0D1-4D0E-8BF7-869A37E66C4D}"/>
              </a:ext>
            </a:extLst>
          </p:cNvPr>
          <p:cNvSpPr>
            <a:spLocks noGrp="1"/>
          </p:cNvSpPr>
          <p:nvPr>
            <p:ph type="sldNum" sz="quarter" idx="12"/>
          </p:nvPr>
        </p:nvSpPr>
        <p:spPr/>
        <p:txBody>
          <a:bodyPr/>
          <a:lstStyle/>
          <a:p>
            <a:pPr>
              <a:defRPr/>
            </a:pPr>
            <a:fld id="{DE588B55-7C79-40D5-A218-92255CF1A9E0}" type="slidenum">
              <a:rPr lang="zh-CN" altLang="en-US"/>
              <a:pPr>
                <a:defRPr/>
              </a:pPr>
              <a:t>26</a:t>
            </a:fld>
            <a:endParaRPr lang="en-US" altLang="zh-CN"/>
          </a:p>
        </p:txBody>
      </p:sp>
      <p:sp>
        <p:nvSpPr>
          <p:cNvPr id="18435" name="Rectangle 2">
            <a:extLst>
              <a:ext uri="{FF2B5EF4-FFF2-40B4-BE49-F238E27FC236}">
                <a16:creationId xmlns:a16="http://schemas.microsoft.com/office/drawing/2014/main" id="{3B27F15F-8A7D-42F9-91F4-1F1CFB19673E}"/>
              </a:ext>
            </a:extLst>
          </p:cNvPr>
          <p:cNvSpPr>
            <a:spLocks noGrp="1" noChangeArrowheads="1"/>
          </p:cNvSpPr>
          <p:nvPr>
            <p:ph type="title"/>
          </p:nvPr>
        </p:nvSpPr>
        <p:spPr/>
        <p:txBody>
          <a:bodyPr/>
          <a:lstStyle/>
          <a:p>
            <a:pPr eaLnBrk="1" hangingPunct="1"/>
            <a:r>
              <a:rPr lang="zh-CN" altLang="en-US"/>
              <a:t>1.1 问题</a:t>
            </a:r>
          </a:p>
        </p:txBody>
      </p:sp>
      <p:sp>
        <p:nvSpPr>
          <p:cNvPr id="18436" name="Rectangle 3">
            <a:extLst>
              <a:ext uri="{FF2B5EF4-FFF2-40B4-BE49-F238E27FC236}">
                <a16:creationId xmlns:a16="http://schemas.microsoft.com/office/drawing/2014/main" id="{03A19B28-161C-4ED7-9179-A16039EC7521}"/>
              </a:ext>
            </a:extLst>
          </p:cNvPr>
          <p:cNvSpPr>
            <a:spLocks noGrp="1" noChangeArrowheads="1"/>
          </p:cNvSpPr>
          <p:nvPr>
            <p:ph type="body" idx="1"/>
          </p:nvPr>
        </p:nvSpPr>
        <p:spPr>
          <a:xfrm>
            <a:off x="899592" y="2017713"/>
            <a:ext cx="7772400" cy="4114800"/>
          </a:xfrm>
        </p:spPr>
        <p:txBody>
          <a:bodyPr/>
          <a:lstStyle/>
          <a:p>
            <a:pPr eaLnBrk="1" hangingPunct="1"/>
            <a:r>
              <a:rPr lang="zh-CN" altLang="en-US" b="1" dirty="0"/>
              <a:t>目标</a:t>
            </a:r>
            <a:r>
              <a:rPr lang="zh-CN" altLang="en-US" dirty="0"/>
              <a:t>：一个不含有不稳定因素的匹配(舞会，婚姻)集合</a:t>
            </a:r>
          </a:p>
          <a:p>
            <a:pPr marL="0" indent="0" eaLnBrk="1" hangingPunct="1">
              <a:buNone/>
            </a:pPr>
            <a:r>
              <a:rPr lang="zh-CN" altLang="en-US" dirty="0"/>
              <a:t>如果</a:t>
            </a:r>
          </a:p>
          <a:p>
            <a:pPr eaLnBrk="1" hangingPunct="1">
              <a:buFont typeface="Wingdings" panose="05000000000000000000" pitchFamily="2" charset="2"/>
              <a:buChar char="ü"/>
            </a:pPr>
            <a:r>
              <a:rPr lang="zh-CN" altLang="en-US" dirty="0"/>
              <a:t>匹配</a:t>
            </a:r>
            <a:r>
              <a:rPr lang="en-US" altLang="zh-CN" dirty="0"/>
              <a:t>S</a:t>
            </a:r>
            <a:r>
              <a:rPr lang="zh-CN" altLang="en-US" dirty="0"/>
              <a:t>是完美的</a:t>
            </a:r>
          </a:p>
          <a:p>
            <a:pPr eaLnBrk="1" hangingPunct="1">
              <a:buFont typeface="Wingdings" panose="05000000000000000000" pitchFamily="2" charset="2"/>
              <a:buChar char="ü"/>
            </a:pPr>
            <a:r>
              <a:rPr lang="zh-CN" altLang="en-US" dirty="0"/>
              <a:t>不存在相对于</a:t>
            </a:r>
            <a:r>
              <a:rPr lang="en-US" altLang="zh-CN" dirty="0"/>
              <a:t>S</a:t>
            </a:r>
            <a:r>
              <a:rPr lang="zh-CN" altLang="en-US" dirty="0"/>
              <a:t>的不稳定因素</a:t>
            </a:r>
            <a:endParaRPr lang="en-US" altLang="zh-CN" dirty="0"/>
          </a:p>
          <a:p>
            <a:pPr marL="0" indent="0" eaLnBrk="1" hangingPunct="1">
              <a:buNone/>
            </a:pPr>
            <a:r>
              <a:rPr lang="zh-CN" altLang="en-US" dirty="0"/>
              <a:t>   我们说一个匹配</a:t>
            </a:r>
            <a:r>
              <a:rPr lang="en-US" altLang="zh-CN" dirty="0"/>
              <a:t>S</a:t>
            </a:r>
            <a:r>
              <a:rPr lang="zh-CN" altLang="en-US" dirty="0"/>
              <a:t>是</a:t>
            </a:r>
            <a:r>
              <a:rPr lang="zh-CN" altLang="en-US" dirty="0">
                <a:solidFill>
                  <a:schemeClr val="hlink"/>
                </a:solidFill>
              </a:rPr>
              <a:t>稳定</a:t>
            </a:r>
            <a:r>
              <a:rPr lang="zh-CN" altLang="en-US" dirty="0"/>
              <a:t>的</a:t>
            </a:r>
          </a:p>
          <a:p>
            <a:pPr eaLnBrk="1" hangingPunct="1">
              <a:buFont typeface="Wingdings" panose="05000000000000000000" pitchFamily="2" charset="2"/>
              <a:buNone/>
            </a:pP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D97051-10EE-4123-BC04-C3CB4E2E53C9}"/>
              </a:ext>
            </a:extLst>
          </p:cNvPr>
          <p:cNvSpPr>
            <a:spLocks noGrp="1"/>
          </p:cNvSpPr>
          <p:nvPr>
            <p:ph type="sldNum" sz="quarter" idx="12"/>
          </p:nvPr>
        </p:nvSpPr>
        <p:spPr/>
        <p:txBody>
          <a:bodyPr/>
          <a:lstStyle/>
          <a:p>
            <a:pPr>
              <a:defRPr/>
            </a:pPr>
            <a:fld id="{C1EF000E-C431-4112-BC41-2D41C422BB49}" type="slidenum">
              <a:rPr lang="zh-CN" altLang="en-US"/>
              <a:pPr>
                <a:defRPr/>
              </a:pPr>
              <a:t>27</a:t>
            </a:fld>
            <a:endParaRPr lang="en-US" altLang="zh-CN"/>
          </a:p>
        </p:txBody>
      </p:sp>
      <p:sp>
        <p:nvSpPr>
          <p:cNvPr id="19459" name="Rectangle 2">
            <a:extLst>
              <a:ext uri="{FF2B5EF4-FFF2-40B4-BE49-F238E27FC236}">
                <a16:creationId xmlns:a16="http://schemas.microsoft.com/office/drawing/2014/main" id="{DAEB71CE-481A-4DEF-BFD7-58CD976BD908}"/>
              </a:ext>
            </a:extLst>
          </p:cNvPr>
          <p:cNvSpPr>
            <a:spLocks noGrp="1" noChangeArrowheads="1"/>
          </p:cNvSpPr>
          <p:nvPr>
            <p:ph type="title"/>
          </p:nvPr>
        </p:nvSpPr>
        <p:spPr/>
        <p:txBody>
          <a:bodyPr/>
          <a:lstStyle/>
          <a:p>
            <a:pPr eaLnBrk="1" hangingPunct="1"/>
            <a:r>
              <a:rPr lang="zh-CN" altLang="en-US"/>
              <a:t>1.1 问题</a:t>
            </a:r>
            <a:endParaRPr lang="en-US" altLang="zh-CN"/>
          </a:p>
        </p:txBody>
      </p:sp>
      <p:sp>
        <p:nvSpPr>
          <p:cNvPr id="20483" name="Rectangle 3">
            <a:extLst>
              <a:ext uri="{FF2B5EF4-FFF2-40B4-BE49-F238E27FC236}">
                <a16:creationId xmlns:a16="http://schemas.microsoft.com/office/drawing/2014/main" id="{8F882D1B-D880-4337-A00A-A9B79AE4B214}"/>
              </a:ext>
            </a:extLst>
          </p:cNvPr>
          <p:cNvSpPr>
            <a:spLocks noGrp="1" noChangeArrowheads="1"/>
          </p:cNvSpPr>
          <p:nvPr>
            <p:ph type="body" idx="1"/>
          </p:nvPr>
        </p:nvSpPr>
        <p:spPr>
          <a:xfrm>
            <a:off x="1043608" y="2017713"/>
            <a:ext cx="7772400" cy="4114800"/>
          </a:xfrm>
        </p:spPr>
        <p:txBody>
          <a:bodyPr/>
          <a:lstStyle/>
          <a:p>
            <a:pPr eaLnBrk="1" hangingPunct="1"/>
            <a:r>
              <a:rPr lang="zh-CN" altLang="en-US" dirty="0"/>
              <a:t>对每组优先表是否</a:t>
            </a:r>
            <a:r>
              <a:rPr lang="zh-CN" altLang="en-US" dirty="0">
                <a:solidFill>
                  <a:schemeClr val="hlink"/>
                </a:solidFill>
              </a:rPr>
              <a:t>存在</a:t>
            </a:r>
            <a:r>
              <a:rPr lang="zh-CN" altLang="en-US" dirty="0"/>
              <a:t>一个稳定匹配？</a:t>
            </a:r>
          </a:p>
          <a:p>
            <a:pPr eaLnBrk="1" hangingPunct="1"/>
            <a:endParaRPr lang="zh-CN" altLang="en-US" dirty="0"/>
          </a:p>
          <a:p>
            <a:pPr eaLnBrk="1" hangingPunct="1"/>
            <a:r>
              <a:rPr lang="zh-CN" altLang="en-US" dirty="0"/>
              <a:t>给定一组优先表，如果存在稳定匹配，我们能够有效的</a:t>
            </a:r>
            <a:r>
              <a:rPr lang="zh-CN" altLang="en-US" dirty="0">
                <a:solidFill>
                  <a:schemeClr val="hlink"/>
                </a:solidFill>
              </a:rPr>
              <a:t>构造</a:t>
            </a:r>
            <a:r>
              <a:rPr lang="zh-CN" altLang="en-US" dirty="0"/>
              <a:t>出来吗？</a:t>
            </a:r>
          </a:p>
          <a:p>
            <a:pPr eaLnBrk="1" hangingPunct="1"/>
            <a:endParaRPr lang="zh-CN" altLang="en-US" dirty="0"/>
          </a:p>
          <a:p>
            <a:pPr eaLnBrk="1" hangingPunct="1"/>
            <a:r>
              <a:rPr lang="zh-CN" altLang="en-US" dirty="0"/>
              <a:t>如果存在稳定匹配，会有</a:t>
            </a:r>
            <a:r>
              <a:rPr lang="zh-CN" altLang="en-US" dirty="0">
                <a:solidFill>
                  <a:schemeClr val="hlink"/>
                </a:solidFill>
              </a:rPr>
              <a:t>很多</a:t>
            </a:r>
            <a:r>
              <a:rPr lang="zh-CN" altLang="en-US" dirty="0"/>
              <a:t>吗？</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anim calcmode="lin" valueType="num">
                                      <p:cBhvr additive="base">
                                        <p:cTn id="13" dur="500" fill="hold"/>
                                        <p:tgtEl>
                                          <p:spTgt spid="2048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anim calcmode="lin" valueType="num">
                                      <p:cBhvr additive="base">
                                        <p:cTn id="19" dur="500" fill="hold"/>
                                        <p:tgtEl>
                                          <p:spTgt spid="20483">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48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7F2DD55F-29A2-4F04-A813-3C906234BFA8}"/>
              </a:ext>
            </a:extLst>
          </p:cNvPr>
          <p:cNvSpPr>
            <a:spLocks noGrp="1"/>
          </p:cNvSpPr>
          <p:nvPr>
            <p:ph type="sldNum" sz="quarter" idx="12"/>
          </p:nvPr>
        </p:nvSpPr>
        <p:spPr/>
        <p:txBody>
          <a:bodyPr/>
          <a:lstStyle/>
          <a:p>
            <a:pPr>
              <a:defRPr/>
            </a:pPr>
            <a:fld id="{F9E6B120-0F50-49E5-AD1A-F3C0AC96F2CC}" type="slidenum">
              <a:rPr lang="zh-CN" altLang="en-US"/>
              <a:pPr>
                <a:defRPr/>
              </a:pPr>
              <a:t>28</a:t>
            </a:fld>
            <a:endParaRPr lang="en-US" altLang="zh-CN"/>
          </a:p>
        </p:txBody>
      </p:sp>
      <p:sp>
        <p:nvSpPr>
          <p:cNvPr id="20483" name="Rectangle 2">
            <a:extLst>
              <a:ext uri="{FF2B5EF4-FFF2-40B4-BE49-F238E27FC236}">
                <a16:creationId xmlns:a16="http://schemas.microsoft.com/office/drawing/2014/main" id="{5AF92923-BAFE-40DF-8C4D-2268E9E5A6AD}"/>
              </a:ext>
            </a:extLst>
          </p:cNvPr>
          <p:cNvSpPr>
            <a:spLocks noGrp="1" noChangeArrowheads="1"/>
          </p:cNvSpPr>
          <p:nvPr>
            <p:ph type="title"/>
          </p:nvPr>
        </p:nvSpPr>
        <p:spPr>
          <a:xfrm>
            <a:off x="1143000" y="609600"/>
            <a:ext cx="7793038" cy="1143000"/>
          </a:xfrm>
        </p:spPr>
        <p:txBody>
          <a:bodyPr/>
          <a:lstStyle/>
          <a:p>
            <a:pPr eaLnBrk="1" hangingPunct="1"/>
            <a:r>
              <a:rPr lang="zh-CN" altLang="en-US" dirty="0"/>
              <a:t>例子</a:t>
            </a:r>
          </a:p>
        </p:txBody>
      </p:sp>
      <p:sp>
        <p:nvSpPr>
          <p:cNvPr id="20484" name="Rectangle 3">
            <a:extLst>
              <a:ext uri="{FF2B5EF4-FFF2-40B4-BE49-F238E27FC236}">
                <a16:creationId xmlns:a16="http://schemas.microsoft.com/office/drawing/2014/main" id="{C54C2EA9-756C-4DE6-AA79-E14392663539}"/>
              </a:ext>
            </a:extLst>
          </p:cNvPr>
          <p:cNvSpPr>
            <a:spLocks noGrp="1" noChangeArrowheads="1"/>
          </p:cNvSpPr>
          <p:nvPr>
            <p:ph type="body" idx="1"/>
          </p:nvPr>
        </p:nvSpPr>
        <p:spPr>
          <a:xfrm>
            <a:off x="914400" y="2057400"/>
            <a:ext cx="8229600" cy="4114800"/>
          </a:xfrm>
        </p:spPr>
        <p:txBody>
          <a:bodyPr/>
          <a:lstStyle/>
          <a:p>
            <a:pPr eaLnBrk="1" hangingPunct="1"/>
            <a:r>
              <a:rPr lang="zh-CN" altLang="en-US" dirty="0"/>
              <a:t>考虑</a:t>
            </a:r>
            <a:r>
              <a:rPr lang="en-US" altLang="zh-CN" dirty="0"/>
              <a:t>n=2, M={</a:t>
            </a:r>
            <a:r>
              <a:rPr lang="en-US" altLang="zh-CN" dirty="0" err="1"/>
              <a:t>m,m</a:t>
            </a:r>
            <a:r>
              <a:rPr lang="en-US" altLang="zh-CN" dirty="0">
                <a:latin typeface="Times New Roman" panose="02020603050405020304" pitchFamily="18" charset="0"/>
              </a:rPr>
              <a:t>’</a:t>
            </a:r>
            <a:r>
              <a:rPr lang="en-US" altLang="zh-CN" dirty="0"/>
              <a:t>};W={</a:t>
            </a:r>
            <a:r>
              <a:rPr lang="en-US" altLang="zh-CN" dirty="0" err="1"/>
              <a:t>w,w</a:t>
            </a:r>
            <a:r>
              <a:rPr lang="en-US" altLang="zh-CN" dirty="0">
                <a:latin typeface="Times New Roman" panose="02020603050405020304" pitchFamily="18" charset="0"/>
              </a:rPr>
              <a:t>’</a:t>
            </a:r>
            <a:r>
              <a:rPr lang="en-US" altLang="zh-CN" dirty="0"/>
              <a:t>}</a:t>
            </a:r>
          </a:p>
          <a:p>
            <a:pPr eaLnBrk="1" hangingPunct="1">
              <a:buFont typeface="Wingdings" panose="05000000000000000000" pitchFamily="2" charset="2"/>
              <a:buChar char="ü"/>
            </a:pPr>
            <a:r>
              <a:rPr lang="zh-CN" altLang="en-US" dirty="0"/>
              <a:t> </a:t>
            </a:r>
            <a:r>
              <a:rPr lang="en-US" altLang="zh-CN" dirty="0"/>
              <a:t>m</a:t>
            </a:r>
            <a:r>
              <a:rPr lang="zh-CN" altLang="en-US" dirty="0"/>
              <a:t>更偏爱</a:t>
            </a:r>
            <a:r>
              <a:rPr lang="en-US" altLang="zh-CN" dirty="0"/>
              <a:t>w</a:t>
            </a:r>
            <a:r>
              <a:rPr lang="zh-CN" altLang="en-US" dirty="0"/>
              <a:t>而不爱</a:t>
            </a:r>
            <a:r>
              <a:rPr lang="en-US" altLang="zh-CN" dirty="0"/>
              <a:t>w</a:t>
            </a:r>
            <a:r>
              <a:rPr lang="en-US" altLang="zh-CN" dirty="0">
                <a:latin typeface="Times New Roman" panose="02020603050405020304" pitchFamily="18" charset="0"/>
              </a:rPr>
              <a:t>’</a:t>
            </a:r>
            <a:r>
              <a:rPr lang="en-US" altLang="zh-CN" dirty="0"/>
              <a:t>      m : </a:t>
            </a:r>
            <a:r>
              <a:rPr lang="en-US" altLang="zh-CN" dirty="0" err="1"/>
              <a:t>w,w</a:t>
            </a:r>
            <a:r>
              <a:rPr lang="en-US" altLang="zh-CN" dirty="0">
                <a:latin typeface="Times New Roman" panose="02020603050405020304" pitchFamily="18" charset="0"/>
              </a:rPr>
              <a:t>’</a:t>
            </a:r>
            <a:endParaRPr lang="en-US" altLang="zh-CN" dirty="0"/>
          </a:p>
          <a:p>
            <a:pPr eaLnBrk="1" hangingPunct="1">
              <a:buFont typeface="Wingdings" panose="05000000000000000000" pitchFamily="2" charset="2"/>
              <a:buChar char="ü"/>
            </a:pPr>
            <a:r>
              <a:rPr lang="en-US" altLang="zh-CN" dirty="0"/>
              <a:t> m</a:t>
            </a:r>
            <a:r>
              <a:rPr lang="en-US" altLang="zh-CN" dirty="0">
                <a:latin typeface="Times New Roman" panose="02020603050405020304" pitchFamily="18" charset="0"/>
              </a:rPr>
              <a:t>’</a:t>
            </a:r>
            <a:r>
              <a:rPr lang="zh-CN" altLang="en-US" dirty="0"/>
              <a:t>更偏爱</a:t>
            </a:r>
            <a:r>
              <a:rPr lang="en-US" altLang="zh-CN" dirty="0"/>
              <a:t>w</a:t>
            </a:r>
            <a:r>
              <a:rPr lang="zh-CN" altLang="en-US" dirty="0"/>
              <a:t>而不爱</a:t>
            </a:r>
            <a:r>
              <a:rPr lang="en-US" altLang="zh-CN" dirty="0"/>
              <a:t>w</a:t>
            </a:r>
            <a:r>
              <a:rPr lang="en-US" altLang="zh-CN" dirty="0">
                <a:latin typeface="Times New Roman" panose="02020603050405020304" pitchFamily="18" charset="0"/>
              </a:rPr>
              <a:t>’       </a:t>
            </a:r>
            <a:r>
              <a:rPr lang="en-US" altLang="zh-CN" dirty="0"/>
              <a:t>m</a:t>
            </a:r>
            <a:r>
              <a:rPr lang="en-US" altLang="zh-CN" dirty="0">
                <a:latin typeface="Times New Roman" panose="02020603050405020304" pitchFamily="18" charset="0"/>
              </a:rPr>
              <a:t>’</a:t>
            </a:r>
            <a:r>
              <a:rPr lang="en-US" altLang="zh-CN" dirty="0"/>
              <a:t>: </a:t>
            </a:r>
            <a:r>
              <a:rPr lang="en-US" altLang="zh-CN" dirty="0" err="1"/>
              <a:t>w,w</a:t>
            </a:r>
            <a:r>
              <a:rPr lang="en-US" altLang="zh-CN" dirty="0">
                <a:latin typeface="Times New Roman" panose="02020603050405020304" pitchFamily="18" charset="0"/>
              </a:rPr>
              <a:t>’</a:t>
            </a:r>
            <a:endParaRPr lang="en-US" altLang="zh-CN" dirty="0"/>
          </a:p>
          <a:p>
            <a:pPr eaLnBrk="1" hangingPunct="1">
              <a:buFont typeface="Wingdings" panose="05000000000000000000" pitchFamily="2" charset="2"/>
              <a:buChar char="ü"/>
            </a:pPr>
            <a:r>
              <a:rPr lang="en-US" altLang="zh-CN" dirty="0"/>
              <a:t> w</a:t>
            </a:r>
            <a:r>
              <a:rPr lang="zh-CN" altLang="en-US" dirty="0"/>
              <a:t>更偏爱</a:t>
            </a:r>
            <a:r>
              <a:rPr lang="en-US" altLang="zh-CN" dirty="0"/>
              <a:t>m</a:t>
            </a:r>
            <a:r>
              <a:rPr lang="zh-CN" altLang="en-US" dirty="0"/>
              <a:t>而不爱</a:t>
            </a:r>
            <a:r>
              <a:rPr lang="en-US" altLang="zh-CN" dirty="0"/>
              <a:t>m</a:t>
            </a:r>
            <a:r>
              <a:rPr lang="en-US" altLang="zh-CN" dirty="0">
                <a:latin typeface="Times New Roman" panose="02020603050405020304" pitchFamily="18" charset="0"/>
              </a:rPr>
              <a:t>’        </a:t>
            </a:r>
            <a:r>
              <a:rPr lang="en-US" altLang="zh-CN" dirty="0"/>
              <a:t>w : </a:t>
            </a:r>
            <a:r>
              <a:rPr lang="en-US" altLang="zh-CN" dirty="0" err="1"/>
              <a:t>m,m</a:t>
            </a:r>
            <a:r>
              <a:rPr lang="en-US" altLang="zh-CN" dirty="0">
                <a:latin typeface="Times New Roman" panose="02020603050405020304" pitchFamily="18" charset="0"/>
              </a:rPr>
              <a:t>’</a:t>
            </a:r>
            <a:endParaRPr lang="en-US" altLang="zh-CN" dirty="0"/>
          </a:p>
          <a:p>
            <a:pPr eaLnBrk="1" hangingPunct="1">
              <a:buFont typeface="Wingdings" panose="05000000000000000000" pitchFamily="2" charset="2"/>
              <a:buChar char="ü"/>
            </a:pPr>
            <a:r>
              <a:rPr lang="en-US" altLang="zh-CN" dirty="0"/>
              <a:t> w</a:t>
            </a:r>
            <a:r>
              <a:rPr lang="en-US" altLang="zh-CN" dirty="0">
                <a:latin typeface="Times New Roman" panose="02020603050405020304" pitchFamily="18" charset="0"/>
              </a:rPr>
              <a:t>’</a:t>
            </a:r>
            <a:r>
              <a:rPr lang="zh-CN" altLang="en-US" dirty="0"/>
              <a:t>更偏爱</a:t>
            </a:r>
            <a:r>
              <a:rPr lang="en-US" altLang="zh-CN" dirty="0"/>
              <a:t>m</a:t>
            </a:r>
            <a:r>
              <a:rPr lang="zh-CN" altLang="en-US" dirty="0"/>
              <a:t>而不爱</a:t>
            </a:r>
            <a:r>
              <a:rPr lang="en-US" altLang="zh-CN" dirty="0"/>
              <a:t>m</a:t>
            </a:r>
            <a:r>
              <a:rPr lang="en-US" altLang="zh-CN" dirty="0">
                <a:latin typeface="Times New Roman" panose="02020603050405020304" pitchFamily="18" charset="0"/>
              </a:rPr>
              <a:t>’</a:t>
            </a:r>
            <a:r>
              <a:rPr lang="en-US" altLang="zh-CN" dirty="0"/>
              <a:t>     w</a:t>
            </a:r>
            <a:r>
              <a:rPr lang="en-US" altLang="zh-CN" dirty="0">
                <a:latin typeface="Times New Roman" panose="02020603050405020304" pitchFamily="18" charset="0"/>
              </a:rPr>
              <a:t>’</a:t>
            </a:r>
            <a:r>
              <a:rPr lang="en-US" altLang="zh-CN" dirty="0"/>
              <a:t>: </a:t>
            </a:r>
            <a:r>
              <a:rPr lang="en-US" altLang="zh-CN" dirty="0" err="1"/>
              <a:t>m,m</a:t>
            </a:r>
            <a:r>
              <a:rPr lang="en-US" altLang="zh-CN" dirty="0">
                <a:latin typeface="Times New Roman" panose="02020603050405020304" pitchFamily="18" charset="0"/>
              </a:rPr>
              <a:t>’</a:t>
            </a:r>
            <a:endParaRPr lang="en-US" altLang="zh-CN" dirty="0"/>
          </a:p>
          <a:p>
            <a:pPr eaLnBrk="1" hangingPunct="1">
              <a:buFont typeface="Wingdings" panose="05000000000000000000" pitchFamily="2" charset="2"/>
              <a:buNone/>
            </a:pPr>
            <a:r>
              <a:rPr lang="zh-CN" altLang="en-US" dirty="0"/>
              <a:t>那么(</a:t>
            </a:r>
            <a:r>
              <a:rPr lang="en-US" altLang="zh-CN" dirty="0" err="1"/>
              <a:t>m,w</a:t>
            </a:r>
            <a:r>
              <a:rPr lang="en-US" altLang="zh-CN" dirty="0"/>
              <a:t>), (</a:t>
            </a:r>
            <a:r>
              <a:rPr lang="en-US" altLang="zh-CN" dirty="0" err="1"/>
              <a:t>m</a:t>
            </a:r>
            <a:r>
              <a:rPr lang="en-US" altLang="zh-CN" dirty="0" err="1">
                <a:latin typeface="Times New Roman" panose="02020603050405020304" pitchFamily="18" charset="0"/>
              </a:rPr>
              <a:t>’</a:t>
            </a:r>
            <a:r>
              <a:rPr lang="en-US" altLang="zh-CN" dirty="0" err="1"/>
              <a:t>,w</a:t>
            </a:r>
            <a:r>
              <a:rPr lang="en-US" altLang="zh-CN" dirty="0">
                <a:latin typeface="Times New Roman" panose="02020603050405020304" pitchFamily="18" charset="0"/>
              </a:rPr>
              <a:t>’</a:t>
            </a:r>
            <a:r>
              <a:rPr lang="en-US" altLang="zh-CN" dirty="0"/>
              <a:t>)</a:t>
            </a:r>
            <a:r>
              <a:rPr lang="zh-CN" altLang="en-US" dirty="0"/>
              <a:t>构成了唯一的稳定匹配。</a:t>
            </a:r>
          </a:p>
          <a:p>
            <a:pPr eaLnBrk="1" hangingPunct="1">
              <a:buFont typeface="Wingdings" panose="05000000000000000000" pitchFamily="2" charset="2"/>
              <a:buNone/>
            </a:pPr>
            <a:endParaRPr lang="zh-CN" altLang="en-US" dirty="0"/>
          </a:p>
        </p:txBody>
      </p:sp>
      <p:sp>
        <p:nvSpPr>
          <p:cNvPr id="21508" name="Text Box 4">
            <a:extLst>
              <a:ext uri="{FF2B5EF4-FFF2-40B4-BE49-F238E27FC236}">
                <a16:creationId xmlns:a16="http://schemas.microsoft.com/office/drawing/2014/main" id="{08C59BCB-C6E3-4964-A537-B7C71D0A76F2}"/>
              </a:ext>
            </a:extLst>
          </p:cNvPr>
          <p:cNvSpPr txBox="1">
            <a:spLocks noChangeArrowheads="1"/>
          </p:cNvSpPr>
          <p:nvPr/>
        </p:nvSpPr>
        <p:spPr bwMode="auto">
          <a:xfrm>
            <a:off x="990600" y="5715000"/>
            <a:ext cx="7467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a:solidFill>
                  <a:schemeClr val="hlink"/>
                </a:solidFill>
              </a:rPr>
              <a:t>---(</a:t>
            </a:r>
            <a:r>
              <a:rPr lang="en-US" altLang="zh-CN" sz="3600">
                <a:solidFill>
                  <a:schemeClr val="hlink"/>
                </a:solidFill>
              </a:rPr>
              <a:t>m,w</a:t>
            </a:r>
            <a:r>
              <a:rPr lang="en-US" altLang="zh-CN" sz="3600">
                <a:solidFill>
                  <a:schemeClr val="hlink"/>
                </a:solidFill>
                <a:latin typeface="Times New Roman" panose="02020603050405020304" pitchFamily="18" charset="0"/>
              </a:rPr>
              <a:t>’</a:t>
            </a:r>
            <a:r>
              <a:rPr lang="en-US" altLang="zh-CN" sz="3600">
                <a:solidFill>
                  <a:schemeClr val="hlink"/>
                </a:solidFill>
              </a:rPr>
              <a:t>), (m</a:t>
            </a:r>
            <a:r>
              <a:rPr lang="en-US" altLang="zh-CN" sz="3600">
                <a:solidFill>
                  <a:schemeClr val="hlink"/>
                </a:solidFill>
                <a:latin typeface="Times New Roman" panose="02020603050405020304" pitchFamily="18" charset="0"/>
              </a:rPr>
              <a:t>’</a:t>
            </a:r>
            <a:r>
              <a:rPr lang="en-US" altLang="zh-CN" sz="3600">
                <a:solidFill>
                  <a:schemeClr val="hlink"/>
                </a:solidFill>
              </a:rPr>
              <a:t>,w) </a:t>
            </a:r>
            <a:r>
              <a:rPr lang="zh-CN" altLang="en-US" sz="3600">
                <a:solidFill>
                  <a:schemeClr val="hlink"/>
                </a:solidFill>
              </a:rPr>
              <a:t>不是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additive="base">
                                        <p:cTn id="7" dur="500" fill="hold"/>
                                        <p:tgtEl>
                                          <p:spTgt spid="21508"/>
                                        </p:tgtEl>
                                        <p:attrNameLst>
                                          <p:attrName>ppt_x</p:attrName>
                                        </p:attrNameLst>
                                      </p:cBhvr>
                                      <p:tavLst>
                                        <p:tav tm="0">
                                          <p:val>
                                            <p:strVal val="#ppt_x"/>
                                          </p:val>
                                        </p:tav>
                                        <p:tav tm="100000">
                                          <p:val>
                                            <p:strVal val="#ppt_x"/>
                                          </p:val>
                                        </p:tav>
                                      </p:tavLst>
                                    </p:anim>
                                    <p:anim calcmode="lin" valueType="num">
                                      <p:cBhvr additive="base">
                                        <p:cTn id="8"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FA0B5792-6E75-4049-AC0C-17D07558D912}"/>
              </a:ext>
            </a:extLst>
          </p:cNvPr>
          <p:cNvSpPr>
            <a:spLocks noGrp="1"/>
          </p:cNvSpPr>
          <p:nvPr>
            <p:ph type="sldNum" sz="quarter" idx="12"/>
          </p:nvPr>
        </p:nvSpPr>
        <p:spPr/>
        <p:txBody>
          <a:bodyPr/>
          <a:lstStyle/>
          <a:p>
            <a:pPr>
              <a:defRPr/>
            </a:pPr>
            <a:fld id="{96DC47C2-77DC-4359-86B1-8D879D5A6849}" type="slidenum">
              <a:rPr lang="zh-CN" altLang="en-US"/>
              <a:pPr>
                <a:defRPr/>
              </a:pPr>
              <a:t>29</a:t>
            </a:fld>
            <a:endParaRPr lang="en-US" altLang="zh-CN"/>
          </a:p>
        </p:txBody>
      </p:sp>
      <p:sp>
        <p:nvSpPr>
          <p:cNvPr id="21507" name="Rectangle 2">
            <a:extLst>
              <a:ext uri="{FF2B5EF4-FFF2-40B4-BE49-F238E27FC236}">
                <a16:creationId xmlns:a16="http://schemas.microsoft.com/office/drawing/2014/main" id="{13D28034-1A07-4751-9C06-B75C3E6DF144}"/>
              </a:ext>
            </a:extLst>
          </p:cNvPr>
          <p:cNvSpPr>
            <a:spLocks noGrp="1" noChangeArrowheads="1"/>
          </p:cNvSpPr>
          <p:nvPr>
            <p:ph type="title"/>
          </p:nvPr>
        </p:nvSpPr>
        <p:spPr>
          <a:xfrm>
            <a:off x="1143000" y="609600"/>
            <a:ext cx="7793038" cy="1143000"/>
          </a:xfrm>
        </p:spPr>
        <p:txBody>
          <a:bodyPr/>
          <a:lstStyle/>
          <a:p>
            <a:pPr eaLnBrk="1" hangingPunct="1"/>
            <a:r>
              <a:rPr lang="zh-CN" altLang="en-US" dirty="0"/>
              <a:t>例子</a:t>
            </a:r>
          </a:p>
        </p:txBody>
      </p:sp>
      <p:sp>
        <p:nvSpPr>
          <p:cNvPr id="21508" name="Rectangle 3">
            <a:extLst>
              <a:ext uri="{FF2B5EF4-FFF2-40B4-BE49-F238E27FC236}">
                <a16:creationId xmlns:a16="http://schemas.microsoft.com/office/drawing/2014/main" id="{A3FB33CE-BA7B-4294-AD54-C1E1A40BDFB0}"/>
              </a:ext>
            </a:extLst>
          </p:cNvPr>
          <p:cNvSpPr>
            <a:spLocks noGrp="1" noChangeArrowheads="1"/>
          </p:cNvSpPr>
          <p:nvPr>
            <p:ph type="body" idx="1"/>
          </p:nvPr>
        </p:nvSpPr>
        <p:spPr>
          <a:xfrm>
            <a:off x="1219200" y="1981200"/>
            <a:ext cx="7772400" cy="4114800"/>
          </a:xfrm>
        </p:spPr>
        <p:txBody>
          <a:bodyPr/>
          <a:lstStyle/>
          <a:p>
            <a:pPr eaLnBrk="1" hangingPunct="1"/>
            <a:r>
              <a:rPr lang="zh-CN" altLang="en-US" dirty="0"/>
              <a:t>考虑</a:t>
            </a:r>
            <a:r>
              <a:rPr lang="en-US" altLang="zh-CN" dirty="0"/>
              <a:t>n=2, M={</a:t>
            </a:r>
            <a:r>
              <a:rPr lang="en-US" altLang="zh-CN" dirty="0" err="1"/>
              <a:t>m,m</a:t>
            </a:r>
            <a:r>
              <a:rPr lang="en-US" altLang="zh-CN" dirty="0">
                <a:latin typeface="Times New Roman" panose="02020603050405020304" pitchFamily="18" charset="0"/>
              </a:rPr>
              <a:t>’</a:t>
            </a:r>
            <a:r>
              <a:rPr lang="en-US" altLang="zh-CN" dirty="0"/>
              <a:t>};W={</a:t>
            </a:r>
            <a:r>
              <a:rPr lang="en-US" altLang="zh-CN" dirty="0" err="1"/>
              <a:t>w,w</a:t>
            </a:r>
            <a:r>
              <a:rPr lang="en-US" altLang="zh-CN" dirty="0">
                <a:latin typeface="Times New Roman" panose="02020603050405020304" pitchFamily="18" charset="0"/>
              </a:rPr>
              <a:t>’</a:t>
            </a:r>
            <a:r>
              <a:rPr lang="en-US" altLang="zh-CN" dirty="0"/>
              <a:t>}</a:t>
            </a:r>
          </a:p>
          <a:p>
            <a:pPr eaLnBrk="1" hangingPunct="1">
              <a:buFont typeface="Wingdings" panose="05000000000000000000" pitchFamily="2" charset="2"/>
              <a:buChar char="ü"/>
            </a:pPr>
            <a:r>
              <a:rPr lang="zh-CN" altLang="en-US" dirty="0"/>
              <a:t> </a:t>
            </a:r>
            <a:r>
              <a:rPr lang="en-US" altLang="zh-CN" dirty="0"/>
              <a:t>m</a:t>
            </a:r>
            <a:r>
              <a:rPr lang="zh-CN" altLang="en-US" dirty="0"/>
              <a:t>更偏爱</a:t>
            </a:r>
            <a:r>
              <a:rPr lang="en-US" altLang="zh-CN" dirty="0"/>
              <a:t>w</a:t>
            </a:r>
            <a:r>
              <a:rPr lang="zh-CN" altLang="en-US" dirty="0"/>
              <a:t>而不爱</a:t>
            </a:r>
            <a:r>
              <a:rPr lang="en-US" altLang="zh-CN" dirty="0"/>
              <a:t>w</a:t>
            </a:r>
            <a:r>
              <a:rPr lang="en-US" altLang="zh-CN" dirty="0">
                <a:latin typeface="Times New Roman" panose="02020603050405020304" pitchFamily="18" charset="0"/>
              </a:rPr>
              <a:t>’    </a:t>
            </a:r>
            <a:endParaRPr lang="en-US" altLang="zh-CN" dirty="0"/>
          </a:p>
          <a:p>
            <a:pPr eaLnBrk="1" hangingPunct="1">
              <a:buFont typeface="Wingdings" panose="05000000000000000000" pitchFamily="2" charset="2"/>
              <a:buChar char="ü"/>
            </a:pPr>
            <a:r>
              <a:rPr lang="en-US" altLang="zh-CN" dirty="0"/>
              <a:t> m</a:t>
            </a:r>
            <a:r>
              <a:rPr lang="en-US" altLang="zh-CN" dirty="0">
                <a:latin typeface="Times New Roman" panose="02020603050405020304" pitchFamily="18" charset="0"/>
              </a:rPr>
              <a:t>’</a:t>
            </a:r>
            <a:r>
              <a:rPr lang="zh-CN" altLang="en-US" dirty="0"/>
              <a:t>更偏爱</a:t>
            </a:r>
            <a:r>
              <a:rPr lang="en-US" altLang="zh-CN" dirty="0"/>
              <a:t>w</a:t>
            </a:r>
            <a:r>
              <a:rPr lang="en-US" altLang="zh-CN" dirty="0">
                <a:latin typeface="Times New Roman" panose="02020603050405020304" pitchFamily="18" charset="0"/>
              </a:rPr>
              <a:t>’</a:t>
            </a:r>
            <a:r>
              <a:rPr lang="zh-CN" altLang="en-US" dirty="0"/>
              <a:t>而不爱</a:t>
            </a:r>
            <a:r>
              <a:rPr lang="en-US" altLang="zh-CN" dirty="0"/>
              <a:t>w</a:t>
            </a:r>
          </a:p>
          <a:p>
            <a:pPr eaLnBrk="1" hangingPunct="1">
              <a:buFont typeface="Wingdings" panose="05000000000000000000" pitchFamily="2" charset="2"/>
              <a:buChar char="ü"/>
            </a:pPr>
            <a:r>
              <a:rPr lang="en-US" altLang="zh-CN" dirty="0"/>
              <a:t> w</a:t>
            </a:r>
            <a:r>
              <a:rPr lang="zh-CN" altLang="en-US" dirty="0"/>
              <a:t>更偏爱</a:t>
            </a:r>
            <a:r>
              <a:rPr lang="en-US" altLang="zh-CN" dirty="0"/>
              <a:t>m</a:t>
            </a:r>
            <a:r>
              <a:rPr lang="en-US" altLang="zh-CN" dirty="0">
                <a:latin typeface="Times New Roman" panose="02020603050405020304" pitchFamily="18" charset="0"/>
              </a:rPr>
              <a:t>’</a:t>
            </a:r>
            <a:r>
              <a:rPr lang="zh-CN" altLang="en-US" dirty="0"/>
              <a:t>而不爱</a:t>
            </a:r>
            <a:r>
              <a:rPr lang="en-US" altLang="zh-CN" dirty="0"/>
              <a:t>m</a:t>
            </a:r>
          </a:p>
          <a:p>
            <a:pPr eaLnBrk="1" hangingPunct="1">
              <a:buFont typeface="Wingdings" panose="05000000000000000000" pitchFamily="2" charset="2"/>
              <a:buChar char="ü"/>
            </a:pPr>
            <a:r>
              <a:rPr lang="en-US" altLang="zh-CN" dirty="0"/>
              <a:t> w</a:t>
            </a:r>
            <a:r>
              <a:rPr lang="en-US" altLang="zh-CN" dirty="0">
                <a:latin typeface="Times New Roman" panose="02020603050405020304" pitchFamily="18" charset="0"/>
              </a:rPr>
              <a:t>’</a:t>
            </a:r>
            <a:r>
              <a:rPr lang="zh-CN" altLang="en-US" dirty="0"/>
              <a:t>更偏爱</a:t>
            </a:r>
            <a:r>
              <a:rPr lang="en-US" altLang="zh-CN" dirty="0"/>
              <a:t>m</a:t>
            </a:r>
            <a:r>
              <a:rPr lang="zh-CN" altLang="en-US" dirty="0"/>
              <a:t>而不爱</a:t>
            </a:r>
            <a:r>
              <a:rPr lang="en-US" altLang="zh-CN" dirty="0"/>
              <a:t>m</a:t>
            </a:r>
            <a:r>
              <a:rPr lang="en-US" altLang="zh-CN" dirty="0">
                <a:latin typeface="Times New Roman" panose="02020603050405020304" pitchFamily="18" charset="0"/>
              </a:rPr>
              <a:t>’</a:t>
            </a:r>
            <a:endParaRPr lang="en-US" altLang="zh-CN" dirty="0"/>
          </a:p>
          <a:p>
            <a:pPr eaLnBrk="1" hangingPunct="1">
              <a:buFont typeface="Wingdings" panose="05000000000000000000" pitchFamily="2" charset="2"/>
              <a:buNone/>
            </a:pPr>
            <a:r>
              <a:rPr lang="zh-CN" altLang="en-US" dirty="0">
                <a:solidFill>
                  <a:schemeClr val="hlink"/>
                </a:solidFill>
              </a:rPr>
              <a:t> 稳定匹配是什么?</a:t>
            </a:r>
          </a:p>
          <a:p>
            <a:pPr eaLnBrk="1" hangingPunct="1">
              <a:buFont typeface="Wingdings" panose="05000000000000000000" pitchFamily="2" charset="2"/>
              <a:buNone/>
            </a:pPr>
            <a:endParaRPr lang="en-US" altLang="zh-CN" dirty="0">
              <a:solidFill>
                <a:schemeClr val="hlink"/>
              </a:solidFill>
            </a:endParaRPr>
          </a:p>
        </p:txBody>
      </p:sp>
      <p:sp>
        <p:nvSpPr>
          <p:cNvPr id="22534" name="Text Box 6">
            <a:extLst>
              <a:ext uri="{FF2B5EF4-FFF2-40B4-BE49-F238E27FC236}">
                <a16:creationId xmlns:a16="http://schemas.microsoft.com/office/drawing/2014/main" id="{55A2658C-07F3-48B8-8FA2-A74E2E41CBDB}"/>
              </a:ext>
            </a:extLst>
          </p:cNvPr>
          <p:cNvSpPr txBox="1">
            <a:spLocks noChangeArrowheads="1"/>
          </p:cNvSpPr>
          <p:nvPr/>
        </p:nvSpPr>
        <p:spPr bwMode="auto">
          <a:xfrm>
            <a:off x="1524000" y="5562600"/>
            <a:ext cx="5486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solidFill>
                  <a:schemeClr val="hlink"/>
                </a:solidFill>
              </a:rPr>
              <a:t>(</a:t>
            </a:r>
            <a:r>
              <a:rPr lang="en-US" altLang="zh-CN" sz="2400" dirty="0" err="1">
                <a:solidFill>
                  <a:schemeClr val="hlink"/>
                </a:solidFill>
              </a:rPr>
              <a:t>m,w</a:t>
            </a:r>
            <a:r>
              <a:rPr lang="en-US" altLang="zh-CN" sz="2400" dirty="0">
                <a:solidFill>
                  <a:schemeClr val="hlink"/>
                </a:solidFill>
              </a:rPr>
              <a:t>),(</a:t>
            </a:r>
            <a:r>
              <a:rPr lang="en-US" altLang="zh-CN" sz="2400" dirty="0" err="1">
                <a:solidFill>
                  <a:schemeClr val="hlink"/>
                </a:solidFill>
              </a:rPr>
              <a:t>m</a:t>
            </a:r>
            <a:r>
              <a:rPr lang="en-US" altLang="zh-CN" sz="2400" dirty="0" err="1">
                <a:solidFill>
                  <a:schemeClr val="hlink"/>
                </a:solidFill>
                <a:latin typeface="Times New Roman" panose="02020603050405020304" pitchFamily="18" charset="0"/>
              </a:rPr>
              <a:t>’</a:t>
            </a:r>
            <a:r>
              <a:rPr lang="en-US" altLang="zh-CN" sz="2400" dirty="0" err="1">
                <a:solidFill>
                  <a:schemeClr val="hlink"/>
                </a:solidFill>
              </a:rPr>
              <a:t>,w</a:t>
            </a:r>
            <a:r>
              <a:rPr lang="en-US" altLang="zh-CN" sz="2400" dirty="0">
                <a:solidFill>
                  <a:schemeClr val="hlink"/>
                </a:solidFill>
                <a:latin typeface="Times New Roman" panose="02020603050405020304" pitchFamily="18" charset="0"/>
              </a:rPr>
              <a:t>’</a:t>
            </a:r>
            <a:r>
              <a:rPr lang="en-US" altLang="zh-CN" sz="2400" dirty="0">
                <a:solidFill>
                  <a:schemeClr val="hlink"/>
                </a:solidFill>
              </a:rPr>
              <a:t>);  </a:t>
            </a:r>
          </a:p>
          <a:p>
            <a:pPr eaLnBrk="1" hangingPunct="1">
              <a:spcBef>
                <a:spcPct val="50000"/>
              </a:spcBef>
              <a:buClrTx/>
              <a:buSzTx/>
              <a:buFontTx/>
              <a:buNone/>
            </a:pPr>
            <a:r>
              <a:rPr lang="en-US" altLang="zh-CN" sz="2400" dirty="0">
                <a:solidFill>
                  <a:schemeClr val="hlink"/>
                </a:solidFill>
              </a:rPr>
              <a:t>(</a:t>
            </a:r>
            <a:r>
              <a:rPr lang="en-US" altLang="zh-CN" sz="2400" dirty="0" err="1">
                <a:solidFill>
                  <a:schemeClr val="hlink"/>
                </a:solidFill>
              </a:rPr>
              <a:t>m,w</a:t>
            </a:r>
            <a:r>
              <a:rPr lang="en-US" altLang="zh-CN" sz="2400" dirty="0">
                <a:solidFill>
                  <a:schemeClr val="hlink"/>
                </a:solidFill>
                <a:latin typeface="Times New Roman" panose="02020603050405020304" pitchFamily="18" charset="0"/>
              </a:rPr>
              <a:t>’</a:t>
            </a:r>
            <a:r>
              <a:rPr lang="en-US" altLang="zh-CN" sz="2400" dirty="0">
                <a:solidFill>
                  <a:schemeClr val="hlink"/>
                </a:solidFill>
              </a:rPr>
              <a:t>),(</a:t>
            </a:r>
            <a:r>
              <a:rPr lang="en-US" altLang="zh-CN" sz="2400" dirty="0" err="1">
                <a:solidFill>
                  <a:schemeClr val="hlink"/>
                </a:solidFill>
              </a:rPr>
              <a:t>m</a:t>
            </a:r>
            <a:r>
              <a:rPr lang="en-US" altLang="zh-CN" sz="2400" dirty="0" err="1">
                <a:solidFill>
                  <a:schemeClr val="hlink"/>
                </a:solidFill>
                <a:latin typeface="Times New Roman" panose="02020603050405020304" pitchFamily="18" charset="0"/>
              </a:rPr>
              <a:t>’</a:t>
            </a:r>
            <a:r>
              <a:rPr lang="en-US" altLang="zh-CN" sz="2400" dirty="0" err="1">
                <a:solidFill>
                  <a:schemeClr val="hlink"/>
                </a:solidFill>
              </a:rPr>
              <a:t>,w</a:t>
            </a:r>
            <a:r>
              <a:rPr lang="en-US" altLang="zh-CN" sz="2400" dirty="0">
                <a:solidFill>
                  <a:schemeClr val="hlink"/>
                </a:solidFill>
              </a:rPr>
              <a:t>)  </a:t>
            </a:r>
          </a:p>
        </p:txBody>
      </p:sp>
      <p:sp>
        <p:nvSpPr>
          <p:cNvPr id="3" name="文本框 2">
            <a:extLst>
              <a:ext uri="{FF2B5EF4-FFF2-40B4-BE49-F238E27FC236}">
                <a16:creationId xmlns:a16="http://schemas.microsoft.com/office/drawing/2014/main" id="{C72991AA-7DB7-4BDF-AC06-9DE3AF0AA377}"/>
              </a:ext>
            </a:extLst>
          </p:cNvPr>
          <p:cNvSpPr txBox="1"/>
          <p:nvPr/>
        </p:nvSpPr>
        <p:spPr>
          <a:xfrm>
            <a:off x="4114800" y="5862935"/>
            <a:ext cx="4572000" cy="461665"/>
          </a:xfrm>
          <a:prstGeom prst="rect">
            <a:avLst/>
          </a:prstGeom>
          <a:noFill/>
        </p:spPr>
        <p:txBody>
          <a:bodyPr wrap="square">
            <a:spAutoFit/>
          </a:bodyPr>
          <a:lstStyle/>
          <a:p>
            <a:pPr eaLnBrk="1" hangingPunct="1">
              <a:buFont typeface="Wingdings" panose="05000000000000000000" pitchFamily="2" charset="2"/>
              <a:buNone/>
            </a:pPr>
            <a:r>
              <a:rPr lang="zh-CN" altLang="en-US" sz="2400" dirty="0">
                <a:solidFill>
                  <a:schemeClr val="hlink"/>
                </a:solidFill>
              </a:rPr>
              <a:t>一个实例有多于一个的稳定匹配！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5">
            <a:extLst>
              <a:ext uri="{FF2B5EF4-FFF2-40B4-BE49-F238E27FC236}">
                <a16:creationId xmlns:a16="http://schemas.microsoft.com/office/drawing/2014/main" id="{0C4A1E08-CC6A-4DCA-90E3-796FA95AE252}"/>
              </a:ext>
            </a:extLst>
          </p:cNvPr>
          <p:cNvSpPr>
            <a:spLocks noGrp="1"/>
          </p:cNvSpPr>
          <p:nvPr>
            <p:ph type="sldNum" sz="quarter" idx="12"/>
          </p:nvPr>
        </p:nvSpPr>
        <p:spPr/>
        <p:txBody>
          <a:bodyPr/>
          <a:lstStyle/>
          <a:p>
            <a:pPr>
              <a:defRPr/>
            </a:pPr>
            <a:fld id="{52655447-7C6E-4140-A249-010861D35385}" type="slidenum">
              <a:rPr lang="zh-CN" altLang="en-US"/>
              <a:pPr>
                <a:defRPr/>
              </a:pPr>
              <a:t>30</a:t>
            </a:fld>
            <a:endParaRPr lang="en-US" altLang="zh-CN"/>
          </a:p>
        </p:txBody>
      </p:sp>
      <p:sp>
        <p:nvSpPr>
          <p:cNvPr id="22531" name="Rectangle 2">
            <a:extLst>
              <a:ext uri="{FF2B5EF4-FFF2-40B4-BE49-F238E27FC236}">
                <a16:creationId xmlns:a16="http://schemas.microsoft.com/office/drawing/2014/main" id="{994A348C-54D6-402B-B1EA-F1543D2C0DA3}"/>
              </a:ext>
            </a:extLst>
          </p:cNvPr>
          <p:cNvSpPr>
            <a:spLocks noGrp="1" noChangeArrowheads="1"/>
          </p:cNvSpPr>
          <p:nvPr>
            <p:ph type="title"/>
          </p:nvPr>
        </p:nvSpPr>
        <p:spPr/>
        <p:txBody>
          <a:bodyPr/>
          <a:lstStyle/>
          <a:p>
            <a:pPr eaLnBrk="1" hangingPunct="1"/>
            <a:r>
              <a:rPr lang="zh-CN" altLang="en-US"/>
              <a:t>例子</a:t>
            </a:r>
          </a:p>
        </p:txBody>
      </p:sp>
      <p:sp>
        <p:nvSpPr>
          <p:cNvPr id="22532" name="Rectangle 3">
            <a:extLst>
              <a:ext uri="{FF2B5EF4-FFF2-40B4-BE49-F238E27FC236}">
                <a16:creationId xmlns:a16="http://schemas.microsoft.com/office/drawing/2014/main" id="{AA831B2B-C02B-4C6B-AFEA-78BE15C2200A}"/>
              </a:ext>
            </a:extLst>
          </p:cNvPr>
          <p:cNvSpPr>
            <a:spLocks noGrp="1" noChangeArrowheads="1"/>
          </p:cNvSpPr>
          <p:nvPr>
            <p:ph type="body" idx="1"/>
          </p:nvPr>
        </p:nvSpPr>
        <p:spPr/>
        <p:txBody>
          <a:bodyPr/>
          <a:lstStyle/>
          <a:p>
            <a:pPr eaLnBrk="1" hangingPunct="1"/>
            <a:r>
              <a:rPr lang="en-US" altLang="zh-CN"/>
              <a:t>n=3,</a:t>
            </a:r>
            <a:r>
              <a:rPr lang="zh-CN" altLang="en-US"/>
              <a:t>如前所述的优先表</a:t>
            </a:r>
          </a:p>
          <a:p>
            <a:pPr eaLnBrk="1" hangingPunct="1"/>
            <a:r>
              <a:rPr lang="en-US" altLang="zh-CN"/>
              <a:t>X-C, Y-B, Z-A </a:t>
            </a:r>
            <a:r>
              <a:rPr lang="zh-CN" altLang="en-US"/>
              <a:t>是稳定匹配吗?</a:t>
            </a:r>
          </a:p>
          <a:p>
            <a:pPr eaLnBrk="1" hangingPunct="1"/>
            <a:endParaRPr lang="zh-CN" altLang="en-US"/>
          </a:p>
        </p:txBody>
      </p:sp>
      <p:sp>
        <p:nvSpPr>
          <p:cNvPr id="22533" name="Rectangle 4">
            <a:extLst>
              <a:ext uri="{FF2B5EF4-FFF2-40B4-BE49-F238E27FC236}">
                <a16:creationId xmlns:a16="http://schemas.microsoft.com/office/drawing/2014/main" id="{E5C00CD3-6036-4AFD-BADA-9ADB3DE0DCC7}"/>
              </a:ext>
            </a:extLst>
          </p:cNvPr>
          <p:cNvSpPr>
            <a:spLocks noChangeAspect="1" noChangeArrowheads="1"/>
          </p:cNvSpPr>
          <p:nvPr/>
        </p:nvSpPr>
        <p:spPr bwMode="auto">
          <a:xfrm>
            <a:off x="319088" y="5049838"/>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Zeus</a:t>
            </a:r>
          </a:p>
        </p:txBody>
      </p:sp>
      <p:sp>
        <p:nvSpPr>
          <p:cNvPr id="22534" name="Rectangle 5">
            <a:extLst>
              <a:ext uri="{FF2B5EF4-FFF2-40B4-BE49-F238E27FC236}">
                <a16:creationId xmlns:a16="http://schemas.microsoft.com/office/drawing/2014/main" id="{FB0B71EB-C50A-47F4-9791-BDBD89A18291}"/>
              </a:ext>
            </a:extLst>
          </p:cNvPr>
          <p:cNvSpPr>
            <a:spLocks noChangeAspect="1" noChangeArrowheads="1"/>
          </p:cNvSpPr>
          <p:nvPr/>
        </p:nvSpPr>
        <p:spPr bwMode="auto">
          <a:xfrm>
            <a:off x="1311275" y="5049838"/>
            <a:ext cx="992188"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bg2"/>
                </a:solidFill>
                <a:latin typeface="Comic Sans MS" panose="030F0702030302020204" pitchFamily="66" charset="0"/>
              </a:rPr>
              <a:t>Amy</a:t>
            </a:r>
          </a:p>
        </p:txBody>
      </p:sp>
      <p:sp>
        <p:nvSpPr>
          <p:cNvPr id="22535" name="Rectangle 6">
            <a:extLst>
              <a:ext uri="{FF2B5EF4-FFF2-40B4-BE49-F238E27FC236}">
                <a16:creationId xmlns:a16="http://schemas.microsoft.com/office/drawing/2014/main" id="{5E2E5D30-6C24-4571-8A44-4717B64FC6D5}"/>
              </a:ext>
            </a:extLst>
          </p:cNvPr>
          <p:cNvSpPr>
            <a:spLocks noChangeAspect="1" noChangeArrowheads="1"/>
          </p:cNvSpPr>
          <p:nvPr/>
        </p:nvSpPr>
        <p:spPr bwMode="auto">
          <a:xfrm>
            <a:off x="3295650" y="5049838"/>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2536" name="Rectangle 7">
            <a:extLst>
              <a:ext uri="{FF2B5EF4-FFF2-40B4-BE49-F238E27FC236}">
                <a16:creationId xmlns:a16="http://schemas.microsoft.com/office/drawing/2014/main" id="{13B808E5-B870-4CB4-B782-F1707CCE3012}"/>
              </a:ext>
            </a:extLst>
          </p:cNvPr>
          <p:cNvSpPr>
            <a:spLocks noChangeAspect="1" noChangeArrowheads="1"/>
          </p:cNvSpPr>
          <p:nvPr/>
        </p:nvSpPr>
        <p:spPr bwMode="auto">
          <a:xfrm>
            <a:off x="2303463" y="5049838"/>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2537" name="Rectangle 8">
            <a:extLst>
              <a:ext uri="{FF2B5EF4-FFF2-40B4-BE49-F238E27FC236}">
                <a16:creationId xmlns:a16="http://schemas.microsoft.com/office/drawing/2014/main" id="{86DBA722-2242-4B67-9920-E46F72F22527}"/>
              </a:ext>
            </a:extLst>
          </p:cNvPr>
          <p:cNvSpPr>
            <a:spLocks noChangeAspect="1" noChangeArrowheads="1"/>
          </p:cNvSpPr>
          <p:nvPr/>
        </p:nvSpPr>
        <p:spPr bwMode="auto">
          <a:xfrm>
            <a:off x="319088" y="463550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Yancey</a:t>
            </a:r>
          </a:p>
        </p:txBody>
      </p:sp>
      <p:sp>
        <p:nvSpPr>
          <p:cNvPr id="22538" name="Rectangle 9">
            <a:extLst>
              <a:ext uri="{FF2B5EF4-FFF2-40B4-BE49-F238E27FC236}">
                <a16:creationId xmlns:a16="http://schemas.microsoft.com/office/drawing/2014/main" id="{67EA90F8-2DFE-4502-B201-887AAA032FF1}"/>
              </a:ext>
            </a:extLst>
          </p:cNvPr>
          <p:cNvSpPr>
            <a:spLocks noChangeAspect="1" noChangeArrowheads="1"/>
          </p:cNvSpPr>
          <p:nvPr/>
        </p:nvSpPr>
        <p:spPr bwMode="auto">
          <a:xfrm>
            <a:off x="1311275" y="4635500"/>
            <a:ext cx="992188"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Bertha</a:t>
            </a:r>
          </a:p>
        </p:txBody>
      </p:sp>
      <p:sp>
        <p:nvSpPr>
          <p:cNvPr id="22539" name="Rectangle 10">
            <a:extLst>
              <a:ext uri="{FF2B5EF4-FFF2-40B4-BE49-F238E27FC236}">
                <a16:creationId xmlns:a16="http://schemas.microsoft.com/office/drawing/2014/main" id="{0D075EF1-7D71-4815-943E-B59809C0D0FE}"/>
              </a:ext>
            </a:extLst>
          </p:cNvPr>
          <p:cNvSpPr>
            <a:spLocks noChangeAspect="1" noChangeArrowheads="1"/>
          </p:cNvSpPr>
          <p:nvPr/>
        </p:nvSpPr>
        <p:spPr bwMode="auto">
          <a:xfrm>
            <a:off x="3295650" y="4635500"/>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2540" name="Rectangle 11">
            <a:extLst>
              <a:ext uri="{FF2B5EF4-FFF2-40B4-BE49-F238E27FC236}">
                <a16:creationId xmlns:a16="http://schemas.microsoft.com/office/drawing/2014/main" id="{B063E03B-9B7E-434A-B88F-85F1C688D54F}"/>
              </a:ext>
            </a:extLst>
          </p:cNvPr>
          <p:cNvSpPr>
            <a:spLocks noChangeAspect="1" noChangeArrowheads="1"/>
          </p:cNvSpPr>
          <p:nvPr/>
        </p:nvSpPr>
        <p:spPr bwMode="auto">
          <a:xfrm>
            <a:off x="2303463" y="4635500"/>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Amy</a:t>
            </a:r>
          </a:p>
        </p:txBody>
      </p:sp>
      <p:sp>
        <p:nvSpPr>
          <p:cNvPr id="22541" name="Rectangle 12">
            <a:extLst>
              <a:ext uri="{FF2B5EF4-FFF2-40B4-BE49-F238E27FC236}">
                <a16:creationId xmlns:a16="http://schemas.microsoft.com/office/drawing/2014/main" id="{39BE39E6-F450-402F-9E5B-71458703CFCB}"/>
              </a:ext>
            </a:extLst>
          </p:cNvPr>
          <p:cNvSpPr>
            <a:spLocks noChangeAspect="1" noChangeArrowheads="1"/>
          </p:cNvSpPr>
          <p:nvPr/>
        </p:nvSpPr>
        <p:spPr bwMode="auto">
          <a:xfrm>
            <a:off x="319088" y="4221163"/>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Xavier</a:t>
            </a:r>
          </a:p>
        </p:txBody>
      </p:sp>
      <p:sp>
        <p:nvSpPr>
          <p:cNvPr id="22542" name="Rectangle 13">
            <a:extLst>
              <a:ext uri="{FF2B5EF4-FFF2-40B4-BE49-F238E27FC236}">
                <a16:creationId xmlns:a16="http://schemas.microsoft.com/office/drawing/2014/main" id="{F7296BA8-FA87-465C-97D5-38A71B681FBF}"/>
              </a:ext>
            </a:extLst>
          </p:cNvPr>
          <p:cNvSpPr>
            <a:spLocks noChangeAspect="1" noChangeArrowheads="1"/>
          </p:cNvSpPr>
          <p:nvPr/>
        </p:nvSpPr>
        <p:spPr bwMode="auto">
          <a:xfrm>
            <a:off x="1311275" y="4221163"/>
            <a:ext cx="992188"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Amy</a:t>
            </a:r>
          </a:p>
        </p:txBody>
      </p:sp>
      <p:sp>
        <p:nvSpPr>
          <p:cNvPr id="22543" name="Rectangle 14">
            <a:extLst>
              <a:ext uri="{FF2B5EF4-FFF2-40B4-BE49-F238E27FC236}">
                <a16:creationId xmlns:a16="http://schemas.microsoft.com/office/drawing/2014/main" id="{CA3EC6D6-D22E-4976-BBD5-CC246696661D}"/>
              </a:ext>
            </a:extLst>
          </p:cNvPr>
          <p:cNvSpPr>
            <a:spLocks noChangeAspect="1" noChangeArrowheads="1"/>
          </p:cNvSpPr>
          <p:nvPr/>
        </p:nvSpPr>
        <p:spPr bwMode="auto">
          <a:xfrm>
            <a:off x="3295650" y="4221163"/>
            <a:ext cx="990600"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Clare</a:t>
            </a:r>
          </a:p>
        </p:txBody>
      </p:sp>
      <p:sp>
        <p:nvSpPr>
          <p:cNvPr id="22544" name="Rectangle 15">
            <a:extLst>
              <a:ext uri="{FF2B5EF4-FFF2-40B4-BE49-F238E27FC236}">
                <a16:creationId xmlns:a16="http://schemas.microsoft.com/office/drawing/2014/main" id="{B43209A2-FDA9-4499-B0CE-A1EA6E8BCBFC}"/>
              </a:ext>
            </a:extLst>
          </p:cNvPr>
          <p:cNvSpPr>
            <a:spLocks noChangeAspect="1" noChangeArrowheads="1"/>
          </p:cNvSpPr>
          <p:nvPr/>
        </p:nvSpPr>
        <p:spPr bwMode="auto">
          <a:xfrm>
            <a:off x="2303463" y="4221163"/>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Bertha</a:t>
            </a:r>
          </a:p>
        </p:txBody>
      </p:sp>
      <p:sp>
        <p:nvSpPr>
          <p:cNvPr id="22545" name="Rectangle 16">
            <a:extLst>
              <a:ext uri="{FF2B5EF4-FFF2-40B4-BE49-F238E27FC236}">
                <a16:creationId xmlns:a16="http://schemas.microsoft.com/office/drawing/2014/main" id="{E2D143B5-36F9-4880-9842-43A47ED10810}"/>
              </a:ext>
            </a:extLst>
          </p:cNvPr>
          <p:cNvSpPr>
            <a:spLocks noChangeAspect="1" noChangeArrowheads="1"/>
          </p:cNvSpPr>
          <p:nvPr/>
        </p:nvSpPr>
        <p:spPr bwMode="auto">
          <a:xfrm>
            <a:off x="1311275" y="3810000"/>
            <a:ext cx="992188"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1</a:t>
            </a:r>
            <a:r>
              <a:rPr kumimoji="0" lang="en-US" altLang="zh-CN" sz="1600" baseline="30000">
                <a:solidFill>
                  <a:srgbClr val="00FF00"/>
                </a:solidFill>
                <a:latin typeface="Comic Sans MS" panose="030F0702030302020204" pitchFamily="66" charset="0"/>
              </a:rPr>
              <a:t>st</a:t>
            </a:r>
          </a:p>
        </p:txBody>
      </p:sp>
      <p:sp>
        <p:nvSpPr>
          <p:cNvPr id="22546" name="Rectangle 17">
            <a:extLst>
              <a:ext uri="{FF2B5EF4-FFF2-40B4-BE49-F238E27FC236}">
                <a16:creationId xmlns:a16="http://schemas.microsoft.com/office/drawing/2014/main" id="{40EBF29A-03C0-4B49-98AC-BBD0D5593DD5}"/>
              </a:ext>
            </a:extLst>
          </p:cNvPr>
          <p:cNvSpPr>
            <a:spLocks noChangeAspect="1" noChangeArrowheads="1"/>
          </p:cNvSpPr>
          <p:nvPr/>
        </p:nvSpPr>
        <p:spPr bwMode="auto">
          <a:xfrm>
            <a:off x="2303463" y="3810000"/>
            <a:ext cx="992187"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2</a:t>
            </a:r>
            <a:r>
              <a:rPr kumimoji="0" lang="en-US" altLang="zh-CN" sz="1600" baseline="30000">
                <a:solidFill>
                  <a:srgbClr val="00FF00"/>
                </a:solidFill>
                <a:latin typeface="Comic Sans MS" panose="030F0702030302020204" pitchFamily="66" charset="0"/>
              </a:rPr>
              <a:t>nd</a:t>
            </a:r>
          </a:p>
        </p:txBody>
      </p:sp>
      <p:sp>
        <p:nvSpPr>
          <p:cNvPr id="22547" name="Rectangle 18">
            <a:extLst>
              <a:ext uri="{FF2B5EF4-FFF2-40B4-BE49-F238E27FC236}">
                <a16:creationId xmlns:a16="http://schemas.microsoft.com/office/drawing/2014/main" id="{28110044-4286-42E8-9F88-E933F3A6D7A7}"/>
              </a:ext>
            </a:extLst>
          </p:cNvPr>
          <p:cNvSpPr>
            <a:spLocks noChangeAspect="1" noChangeArrowheads="1"/>
          </p:cNvSpPr>
          <p:nvPr/>
        </p:nvSpPr>
        <p:spPr bwMode="auto">
          <a:xfrm>
            <a:off x="3295650" y="3810000"/>
            <a:ext cx="990600"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3</a:t>
            </a:r>
            <a:r>
              <a:rPr kumimoji="0" lang="en-US" altLang="zh-CN" sz="1600" baseline="30000">
                <a:solidFill>
                  <a:srgbClr val="00FF00"/>
                </a:solidFill>
                <a:latin typeface="Comic Sans MS" panose="030F0702030302020204" pitchFamily="66" charset="0"/>
              </a:rPr>
              <a:t>rd</a:t>
            </a:r>
          </a:p>
        </p:txBody>
      </p:sp>
      <p:sp>
        <p:nvSpPr>
          <p:cNvPr id="22548" name="Rectangle 19">
            <a:extLst>
              <a:ext uri="{FF2B5EF4-FFF2-40B4-BE49-F238E27FC236}">
                <a16:creationId xmlns:a16="http://schemas.microsoft.com/office/drawing/2014/main" id="{F9171421-482B-4561-BB6D-319140674E97}"/>
              </a:ext>
            </a:extLst>
          </p:cNvPr>
          <p:cNvSpPr>
            <a:spLocks noChangeAspect="1" noChangeArrowheads="1"/>
          </p:cNvSpPr>
          <p:nvPr/>
        </p:nvSpPr>
        <p:spPr bwMode="auto">
          <a:xfrm>
            <a:off x="304800" y="5453063"/>
            <a:ext cx="3962400" cy="414337"/>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Men’s Preference Profile</a:t>
            </a:r>
            <a:endParaRPr kumimoji="0" lang="en-US" altLang="zh-CN" sz="1400" i="1">
              <a:solidFill>
                <a:schemeClr val="bg1"/>
              </a:solidFill>
              <a:latin typeface="Comic Sans MS" panose="030F0702030302020204" pitchFamily="66" charset="0"/>
            </a:endParaRPr>
          </a:p>
        </p:txBody>
      </p:sp>
      <p:sp>
        <p:nvSpPr>
          <p:cNvPr id="22549" name="Rectangle 20">
            <a:extLst>
              <a:ext uri="{FF2B5EF4-FFF2-40B4-BE49-F238E27FC236}">
                <a16:creationId xmlns:a16="http://schemas.microsoft.com/office/drawing/2014/main" id="{CD11EC8E-87EA-465A-BC03-77C2F40DD816}"/>
              </a:ext>
            </a:extLst>
          </p:cNvPr>
          <p:cNvSpPr>
            <a:spLocks noChangeAspect="1" noChangeArrowheads="1"/>
          </p:cNvSpPr>
          <p:nvPr/>
        </p:nvSpPr>
        <p:spPr bwMode="auto">
          <a:xfrm>
            <a:off x="4738688" y="5049838"/>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2550" name="Rectangle 21">
            <a:extLst>
              <a:ext uri="{FF2B5EF4-FFF2-40B4-BE49-F238E27FC236}">
                <a16:creationId xmlns:a16="http://schemas.microsoft.com/office/drawing/2014/main" id="{9F3454FA-D05D-495C-BF8E-F7032E6803F7}"/>
              </a:ext>
            </a:extLst>
          </p:cNvPr>
          <p:cNvSpPr>
            <a:spLocks noChangeAspect="1" noChangeArrowheads="1"/>
          </p:cNvSpPr>
          <p:nvPr/>
        </p:nvSpPr>
        <p:spPr bwMode="auto">
          <a:xfrm>
            <a:off x="5730875" y="5049838"/>
            <a:ext cx="992188"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Xavier</a:t>
            </a:r>
          </a:p>
        </p:txBody>
      </p:sp>
      <p:sp>
        <p:nvSpPr>
          <p:cNvPr id="22551" name="Rectangle 22">
            <a:extLst>
              <a:ext uri="{FF2B5EF4-FFF2-40B4-BE49-F238E27FC236}">
                <a16:creationId xmlns:a16="http://schemas.microsoft.com/office/drawing/2014/main" id="{C20064B2-7194-48CB-AD7D-17A1AA46EA4B}"/>
              </a:ext>
            </a:extLst>
          </p:cNvPr>
          <p:cNvSpPr>
            <a:spLocks noChangeAspect="1" noChangeArrowheads="1"/>
          </p:cNvSpPr>
          <p:nvPr/>
        </p:nvSpPr>
        <p:spPr bwMode="auto">
          <a:xfrm>
            <a:off x="7715250" y="5049838"/>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2552" name="Rectangle 23">
            <a:extLst>
              <a:ext uri="{FF2B5EF4-FFF2-40B4-BE49-F238E27FC236}">
                <a16:creationId xmlns:a16="http://schemas.microsoft.com/office/drawing/2014/main" id="{A9ABB788-745E-46AD-AB08-CCCE836EE744}"/>
              </a:ext>
            </a:extLst>
          </p:cNvPr>
          <p:cNvSpPr>
            <a:spLocks noChangeAspect="1" noChangeArrowheads="1"/>
          </p:cNvSpPr>
          <p:nvPr/>
        </p:nvSpPr>
        <p:spPr bwMode="auto">
          <a:xfrm>
            <a:off x="6723063" y="5049838"/>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Yancey</a:t>
            </a:r>
          </a:p>
        </p:txBody>
      </p:sp>
      <p:sp>
        <p:nvSpPr>
          <p:cNvPr id="22553" name="Rectangle 24">
            <a:extLst>
              <a:ext uri="{FF2B5EF4-FFF2-40B4-BE49-F238E27FC236}">
                <a16:creationId xmlns:a16="http://schemas.microsoft.com/office/drawing/2014/main" id="{20499A43-0D66-4FA8-947E-1AB3DA57A4A1}"/>
              </a:ext>
            </a:extLst>
          </p:cNvPr>
          <p:cNvSpPr>
            <a:spLocks noChangeAspect="1" noChangeArrowheads="1"/>
          </p:cNvSpPr>
          <p:nvPr/>
        </p:nvSpPr>
        <p:spPr bwMode="auto">
          <a:xfrm>
            <a:off x="4738688" y="463550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2554" name="Rectangle 25">
            <a:extLst>
              <a:ext uri="{FF2B5EF4-FFF2-40B4-BE49-F238E27FC236}">
                <a16:creationId xmlns:a16="http://schemas.microsoft.com/office/drawing/2014/main" id="{512C7D2D-D879-4933-A258-49009F06B9E4}"/>
              </a:ext>
            </a:extLst>
          </p:cNvPr>
          <p:cNvSpPr>
            <a:spLocks noChangeAspect="1" noChangeArrowheads="1"/>
          </p:cNvSpPr>
          <p:nvPr/>
        </p:nvSpPr>
        <p:spPr bwMode="auto">
          <a:xfrm>
            <a:off x="5730875" y="4635500"/>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Xavier</a:t>
            </a:r>
          </a:p>
        </p:txBody>
      </p:sp>
      <p:sp>
        <p:nvSpPr>
          <p:cNvPr id="22555" name="Rectangle 26">
            <a:extLst>
              <a:ext uri="{FF2B5EF4-FFF2-40B4-BE49-F238E27FC236}">
                <a16:creationId xmlns:a16="http://schemas.microsoft.com/office/drawing/2014/main" id="{8C5C9CB1-4AF7-4370-93DD-1474083F6F6A}"/>
              </a:ext>
            </a:extLst>
          </p:cNvPr>
          <p:cNvSpPr>
            <a:spLocks noChangeAspect="1" noChangeArrowheads="1"/>
          </p:cNvSpPr>
          <p:nvPr/>
        </p:nvSpPr>
        <p:spPr bwMode="auto">
          <a:xfrm>
            <a:off x="7715250" y="4635500"/>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2556" name="Rectangle 27">
            <a:extLst>
              <a:ext uri="{FF2B5EF4-FFF2-40B4-BE49-F238E27FC236}">
                <a16:creationId xmlns:a16="http://schemas.microsoft.com/office/drawing/2014/main" id="{08D88AA6-9313-4342-BB79-C8177ED44477}"/>
              </a:ext>
            </a:extLst>
          </p:cNvPr>
          <p:cNvSpPr>
            <a:spLocks noChangeAspect="1" noChangeArrowheads="1"/>
          </p:cNvSpPr>
          <p:nvPr/>
        </p:nvSpPr>
        <p:spPr bwMode="auto">
          <a:xfrm>
            <a:off x="6723063" y="4635500"/>
            <a:ext cx="992187"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bg2"/>
                </a:solidFill>
                <a:latin typeface="Comic Sans MS" panose="030F0702030302020204" pitchFamily="66" charset="0"/>
              </a:rPr>
              <a:t>Yancey</a:t>
            </a:r>
          </a:p>
        </p:txBody>
      </p:sp>
      <p:sp>
        <p:nvSpPr>
          <p:cNvPr id="22557" name="Rectangle 28">
            <a:extLst>
              <a:ext uri="{FF2B5EF4-FFF2-40B4-BE49-F238E27FC236}">
                <a16:creationId xmlns:a16="http://schemas.microsoft.com/office/drawing/2014/main" id="{233A2CD1-2992-488D-BE27-B8B1ECE6813B}"/>
              </a:ext>
            </a:extLst>
          </p:cNvPr>
          <p:cNvSpPr>
            <a:spLocks noChangeAspect="1" noChangeArrowheads="1"/>
          </p:cNvSpPr>
          <p:nvPr/>
        </p:nvSpPr>
        <p:spPr bwMode="auto">
          <a:xfrm>
            <a:off x="4738688" y="4221163"/>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Amy</a:t>
            </a:r>
          </a:p>
        </p:txBody>
      </p:sp>
      <p:sp>
        <p:nvSpPr>
          <p:cNvPr id="22558" name="Rectangle 29">
            <a:extLst>
              <a:ext uri="{FF2B5EF4-FFF2-40B4-BE49-F238E27FC236}">
                <a16:creationId xmlns:a16="http://schemas.microsoft.com/office/drawing/2014/main" id="{1FC866E7-5929-4CD8-974D-648F6674CAB3}"/>
              </a:ext>
            </a:extLst>
          </p:cNvPr>
          <p:cNvSpPr>
            <a:spLocks noChangeAspect="1" noChangeArrowheads="1"/>
          </p:cNvSpPr>
          <p:nvPr/>
        </p:nvSpPr>
        <p:spPr bwMode="auto">
          <a:xfrm>
            <a:off x="5730875" y="4221163"/>
            <a:ext cx="992188"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Yancey</a:t>
            </a:r>
          </a:p>
        </p:txBody>
      </p:sp>
      <p:sp>
        <p:nvSpPr>
          <p:cNvPr id="22559" name="Rectangle 30">
            <a:extLst>
              <a:ext uri="{FF2B5EF4-FFF2-40B4-BE49-F238E27FC236}">
                <a16:creationId xmlns:a16="http://schemas.microsoft.com/office/drawing/2014/main" id="{AD035549-F85A-447E-AF09-0944D29FECCB}"/>
              </a:ext>
            </a:extLst>
          </p:cNvPr>
          <p:cNvSpPr>
            <a:spLocks noChangeAspect="1" noChangeArrowheads="1"/>
          </p:cNvSpPr>
          <p:nvPr/>
        </p:nvSpPr>
        <p:spPr bwMode="auto">
          <a:xfrm>
            <a:off x="7715250" y="4221163"/>
            <a:ext cx="990600"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Zeus</a:t>
            </a:r>
          </a:p>
        </p:txBody>
      </p:sp>
      <p:sp>
        <p:nvSpPr>
          <p:cNvPr id="22560" name="Rectangle 31">
            <a:extLst>
              <a:ext uri="{FF2B5EF4-FFF2-40B4-BE49-F238E27FC236}">
                <a16:creationId xmlns:a16="http://schemas.microsoft.com/office/drawing/2014/main" id="{7187C51F-FF4E-49A9-A8B7-C10BC177898B}"/>
              </a:ext>
            </a:extLst>
          </p:cNvPr>
          <p:cNvSpPr>
            <a:spLocks noChangeAspect="1" noChangeArrowheads="1"/>
          </p:cNvSpPr>
          <p:nvPr/>
        </p:nvSpPr>
        <p:spPr bwMode="auto">
          <a:xfrm>
            <a:off x="6723063" y="4221163"/>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Xavier</a:t>
            </a:r>
          </a:p>
        </p:txBody>
      </p:sp>
      <p:sp>
        <p:nvSpPr>
          <p:cNvPr id="22561" name="Rectangle 32">
            <a:extLst>
              <a:ext uri="{FF2B5EF4-FFF2-40B4-BE49-F238E27FC236}">
                <a16:creationId xmlns:a16="http://schemas.microsoft.com/office/drawing/2014/main" id="{6B6A8FE2-034B-41AD-B103-1E4CFE38D420}"/>
              </a:ext>
            </a:extLst>
          </p:cNvPr>
          <p:cNvSpPr>
            <a:spLocks noChangeAspect="1" noChangeArrowheads="1"/>
          </p:cNvSpPr>
          <p:nvPr/>
        </p:nvSpPr>
        <p:spPr bwMode="auto">
          <a:xfrm>
            <a:off x="5730875" y="3810000"/>
            <a:ext cx="992188"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1</a:t>
            </a:r>
            <a:r>
              <a:rPr kumimoji="0" lang="en-US" altLang="zh-CN" sz="1600" baseline="30000">
                <a:solidFill>
                  <a:srgbClr val="00FF00"/>
                </a:solidFill>
                <a:latin typeface="Comic Sans MS" panose="030F0702030302020204" pitchFamily="66" charset="0"/>
              </a:rPr>
              <a:t>st</a:t>
            </a:r>
          </a:p>
        </p:txBody>
      </p:sp>
      <p:sp>
        <p:nvSpPr>
          <p:cNvPr id="22562" name="Rectangle 33">
            <a:extLst>
              <a:ext uri="{FF2B5EF4-FFF2-40B4-BE49-F238E27FC236}">
                <a16:creationId xmlns:a16="http://schemas.microsoft.com/office/drawing/2014/main" id="{260C9C3D-EA7D-401F-BE09-5D1757074F18}"/>
              </a:ext>
            </a:extLst>
          </p:cNvPr>
          <p:cNvSpPr>
            <a:spLocks noChangeAspect="1" noChangeArrowheads="1"/>
          </p:cNvSpPr>
          <p:nvPr/>
        </p:nvSpPr>
        <p:spPr bwMode="auto">
          <a:xfrm>
            <a:off x="6723063" y="3810000"/>
            <a:ext cx="992187"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2</a:t>
            </a:r>
            <a:r>
              <a:rPr kumimoji="0" lang="en-US" altLang="zh-CN" sz="1600" baseline="30000">
                <a:solidFill>
                  <a:srgbClr val="00FF00"/>
                </a:solidFill>
                <a:latin typeface="Comic Sans MS" panose="030F0702030302020204" pitchFamily="66" charset="0"/>
              </a:rPr>
              <a:t>nd</a:t>
            </a:r>
          </a:p>
        </p:txBody>
      </p:sp>
      <p:sp>
        <p:nvSpPr>
          <p:cNvPr id="22563" name="Rectangle 34">
            <a:extLst>
              <a:ext uri="{FF2B5EF4-FFF2-40B4-BE49-F238E27FC236}">
                <a16:creationId xmlns:a16="http://schemas.microsoft.com/office/drawing/2014/main" id="{CBD471BD-F578-449F-B9CF-0D2643CAECCF}"/>
              </a:ext>
            </a:extLst>
          </p:cNvPr>
          <p:cNvSpPr>
            <a:spLocks noChangeAspect="1" noChangeArrowheads="1"/>
          </p:cNvSpPr>
          <p:nvPr/>
        </p:nvSpPr>
        <p:spPr bwMode="auto">
          <a:xfrm>
            <a:off x="7715250" y="3810000"/>
            <a:ext cx="990600" cy="411163"/>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3</a:t>
            </a:r>
            <a:r>
              <a:rPr kumimoji="0" lang="en-US" altLang="zh-CN" sz="1600" baseline="30000">
                <a:solidFill>
                  <a:srgbClr val="00FF00"/>
                </a:solidFill>
                <a:latin typeface="Comic Sans MS" panose="030F0702030302020204" pitchFamily="66" charset="0"/>
              </a:rPr>
              <a:t>rd</a:t>
            </a:r>
          </a:p>
        </p:txBody>
      </p:sp>
      <p:sp>
        <p:nvSpPr>
          <p:cNvPr id="22564" name="Rectangle 35">
            <a:extLst>
              <a:ext uri="{FF2B5EF4-FFF2-40B4-BE49-F238E27FC236}">
                <a16:creationId xmlns:a16="http://schemas.microsoft.com/office/drawing/2014/main" id="{661D4B51-5347-4F1F-95A9-2519C7A62B3F}"/>
              </a:ext>
            </a:extLst>
          </p:cNvPr>
          <p:cNvSpPr>
            <a:spLocks noChangeAspect="1" noChangeArrowheads="1"/>
          </p:cNvSpPr>
          <p:nvPr/>
        </p:nvSpPr>
        <p:spPr bwMode="auto">
          <a:xfrm>
            <a:off x="4724400" y="5453063"/>
            <a:ext cx="3962400" cy="414337"/>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Women’s Preference Profile</a:t>
            </a:r>
            <a:endParaRPr kumimoji="0" lang="en-US" altLang="zh-CN" sz="1400" i="1">
              <a:solidFill>
                <a:schemeClr val="bg1"/>
              </a:solidFill>
              <a:latin typeface="Comic Sans MS" panose="030F0702030302020204" pitchFamily="66" charset="0"/>
            </a:endParaRPr>
          </a:p>
        </p:txBody>
      </p:sp>
      <p:sp>
        <p:nvSpPr>
          <p:cNvPr id="22565" name="Text Box 36">
            <a:extLst>
              <a:ext uri="{FF2B5EF4-FFF2-40B4-BE49-F238E27FC236}">
                <a16:creationId xmlns:a16="http://schemas.microsoft.com/office/drawing/2014/main" id="{75631411-453C-4AB9-807D-5AB9A0FFBBC7}"/>
              </a:ext>
            </a:extLst>
          </p:cNvPr>
          <p:cNvSpPr txBox="1">
            <a:spLocks noChangeArrowheads="1"/>
          </p:cNvSpPr>
          <p:nvPr/>
        </p:nvSpPr>
        <p:spPr bwMode="auto">
          <a:xfrm>
            <a:off x="1557338" y="3319463"/>
            <a:ext cx="581025"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favorite</a:t>
            </a:r>
          </a:p>
        </p:txBody>
      </p:sp>
      <p:sp>
        <p:nvSpPr>
          <p:cNvPr id="22566" name="Text Box 37">
            <a:extLst>
              <a:ext uri="{FF2B5EF4-FFF2-40B4-BE49-F238E27FC236}">
                <a16:creationId xmlns:a16="http://schemas.microsoft.com/office/drawing/2014/main" id="{CB969E86-8F0E-48AC-AB72-5CC1373CB1FD}"/>
              </a:ext>
            </a:extLst>
          </p:cNvPr>
          <p:cNvSpPr txBox="1">
            <a:spLocks noChangeArrowheads="1"/>
          </p:cNvSpPr>
          <p:nvPr/>
        </p:nvSpPr>
        <p:spPr bwMode="auto">
          <a:xfrm>
            <a:off x="3373438" y="3319463"/>
            <a:ext cx="976312"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least favorite</a:t>
            </a:r>
          </a:p>
        </p:txBody>
      </p:sp>
      <p:sp>
        <p:nvSpPr>
          <p:cNvPr id="22567" name="Text Box 38">
            <a:extLst>
              <a:ext uri="{FF2B5EF4-FFF2-40B4-BE49-F238E27FC236}">
                <a16:creationId xmlns:a16="http://schemas.microsoft.com/office/drawing/2014/main" id="{4DAD5A1F-43B6-4D75-81FB-66ACFDF46B94}"/>
              </a:ext>
            </a:extLst>
          </p:cNvPr>
          <p:cNvSpPr txBox="1">
            <a:spLocks noChangeArrowheads="1"/>
          </p:cNvSpPr>
          <p:nvPr/>
        </p:nvSpPr>
        <p:spPr bwMode="auto">
          <a:xfrm>
            <a:off x="5976938" y="3319463"/>
            <a:ext cx="581025"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favorite</a:t>
            </a:r>
          </a:p>
        </p:txBody>
      </p:sp>
      <p:sp>
        <p:nvSpPr>
          <p:cNvPr id="22568" name="Line 39">
            <a:extLst>
              <a:ext uri="{FF2B5EF4-FFF2-40B4-BE49-F238E27FC236}">
                <a16:creationId xmlns:a16="http://schemas.microsoft.com/office/drawing/2014/main" id="{13D0C795-6CAD-405C-801D-F714801F90E6}"/>
              </a:ext>
            </a:extLst>
          </p:cNvPr>
          <p:cNvSpPr>
            <a:spLocks noChangeShapeType="1"/>
          </p:cNvSpPr>
          <p:nvPr/>
        </p:nvSpPr>
        <p:spPr bwMode="auto">
          <a:xfrm>
            <a:off x="6248400" y="3548063"/>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2569" name="Line 40">
            <a:extLst>
              <a:ext uri="{FF2B5EF4-FFF2-40B4-BE49-F238E27FC236}">
                <a16:creationId xmlns:a16="http://schemas.microsoft.com/office/drawing/2014/main" id="{6564E584-03B4-4795-AA73-6426ACE69830}"/>
              </a:ext>
            </a:extLst>
          </p:cNvPr>
          <p:cNvSpPr>
            <a:spLocks noChangeShapeType="1"/>
          </p:cNvSpPr>
          <p:nvPr/>
        </p:nvSpPr>
        <p:spPr bwMode="auto">
          <a:xfrm>
            <a:off x="3830638" y="3548063"/>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2570" name="Line 41">
            <a:extLst>
              <a:ext uri="{FF2B5EF4-FFF2-40B4-BE49-F238E27FC236}">
                <a16:creationId xmlns:a16="http://schemas.microsoft.com/office/drawing/2014/main" id="{B2520175-BF66-4857-A525-53303F60E2B0}"/>
              </a:ext>
            </a:extLst>
          </p:cNvPr>
          <p:cNvSpPr>
            <a:spLocks noChangeShapeType="1"/>
          </p:cNvSpPr>
          <p:nvPr/>
        </p:nvSpPr>
        <p:spPr bwMode="auto">
          <a:xfrm>
            <a:off x="1828800" y="3548063"/>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2571" name="Text Box 42">
            <a:extLst>
              <a:ext uri="{FF2B5EF4-FFF2-40B4-BE49-F238E27FC236}">
                <a16:creationId xmlns:a16="http://schemas.microsoft.com/office/drawing/2014/main" id="{7FFAF8FE-8783-4162-B9D6-E18344E83B4E}"/>
              </a:ext>
            </a:extLst>
          </p:cNvPr>
          <p:cNvSpPr txBox="1">
            <a:spLocks noChangeArrowheads="1"/>
          </p:cNvSpPr>
          <p:nvPr/>
        </p:nvSpPr>
        <p:spPr bwMode="auto">
          <a:xfrm>
            <a:off x="7751763" y="3316288"/>
            <a:ext cx="976312"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least favorite</a:t>
            </a:r>
          </a:p>
        </p:txBody>
      </p:sp>
      <p:sp>
        <p:nvSpPr>
          <p:cNvPr id="22572" name="Line 43">
            <a:extLst>
              <a:ext uri="{FF2B5EF4-FFF2-40B4-BE49-F238E27FC236}">
                <a16:creationId xmlns:a16="http://schemas.microsoft.com/office/drawing/2014/main" id="{02DCC1BD-312A-4111-BB81-AB2A4BE45E73}"/>
              </a:ext>
            </a:extLst>
          </p:cNvPr>
          <p:cNvSpPr>
            <a:spLocks noChangeShapeType="1"/>
          </p:cNvSpPr>
          <p:nvPr/>
        </p:nvSpPr>
        <p:spPr bwMode="auto">
          <a:xfrm>
            <a:off x="8208963" y="3544888"/>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5">
            <a:extLst>
              <a:ext uri="{FF2B5EF4-FFF2-40B4-BE49-F238E27FC236}">
                <a16:creationId xmlns:a16="http://schemas.microsoft.com/office/drawing/2014/main" id="{84E4C2C5-9D59-411A-858C-9F55A3C3AE94}"/>
              </a:ext>
            </a:extLst>
          </p:cNvPr>
          <p:cNvSpPr>
            <a:spLocks noGrp="1"/>
          </p:cNvSpPr>
          <p:nvPr>
            <p:ph type="sldNum" sz="quarter" idx="12"/>
          </p:nvPr>
        </p:nvSpPr>
        <p:spPr/>
        <p:txBody>
          <a:bodyPr/>
          <a:lstStyle/>
          <a:p>
            <a:pPr>
              <a:defRPr/>
            </a:pPr>
            <a:fld id="{D52DA6A5-6700-48C2-995B-CA50D7F364FB}" type="slidenum">
              <a:rPr lang="zh-CN" altLang="en-US"/>
              <a:pPr>
                <a:defRPr/>
              </a:pPr>
              <a:t>31</a:t>
            </a:fld>
            <a:endParaRPr lang="en-US" altLang="zh-CN"/>
          </a:p>
        </p:txBody>
      </p:sp>
      <p:sp>
        <p:nvSpPr>
          <p:cNvPr id="23555" name="Rectangle 2">
            <a:extLst>
              <a:ext uri="{FF2B5EF4-FFF2-40B4-BE49-F238E27FC236}">
                <a16:creationId xmlns:a16="http://schemas.microsoft.com/office/drawing/2014/main" id="{E0652855-92ED-4FE6-8B66-619C901BD821}"/>
              </a:ext>
            </a:extLst>
          </p:cNvPr>
          <p:cNvSpPr>
            <a:spLocks noGrp="1" noChangeArrowheads="1"/>
          </p:cNvSpPr>
          <p:nvPr>
            <p:ph type="title"/>
          </p:nvPr>
        </p:nvSpPr>
        <p:spPr/>
        <p:txBody>
          <a:bodyPr/>
          <a:lstStyle/>
          <a:p>
            <a:pPr eaLnBrk="1" hangingPunct="1"/>
            <a:r>
              <a:rPr lang="zh-CN" altLang="en-US"/>
              <a:t>例子</a:t>
            </a:r>
          </a:p>
        </p:txBody>
      </p:sp>
      <p:sp>
        <p:nvSpPr>
          <p:cNvPr id="23556" name="Rectangle 3">
            <a:extLst>
              <a:ext uri="{FF2B5EF4-FFF2-40B4-BE49-F238E27FC236}">
                <a16:creationId xmlns:a16="http://schemas.microsoft.com/office/drawing/2014/main" id="{D4C53B21-316B-4FCA-8C1B-3DAF9F3881F8}"/>
              </a:ext>
            </a:extLst>
          </p:cNvPr>
          <p:cNvSpPr>
            <a:spLocks noGrp="1" noChangeArrowheads="1"/>
          </p:cNvSpPr>
          <p:nvPr>
            <p:ph type="body" idx="1"/>
          </p:nvPr>
        </p:nvSpPr>
        <p:spPr>
          <a:xfrm>
            <a:off x="1143000" y="1981200"/>
            <a:ext cx="7772400" cy="4114800"/>
          </a:xfrm>
        </p:spPr>
        <p:txBody>
          <a:bodyPr/>
          <a:lstStyle/>
          <a:p>
            <a:pPr eaLnBrk="1" hangingPunct="1"/>
            <a:r>
              <a:rPr lang="zh-CN" altLang="en-US"/>
              <a:t>不是，</a:t>
            </a:r>
            <a:r>
              <a:rPr lang="en-US" altLang="zh-CN"/>
              <a:t>Bertha-Xavier</a:t>
            </a:r>
            <a:r>
              <a:rPr lang="zh-CN" altLang="en-US"/>
              <a:t>是更好的配对</a:t>
            </a:r>
          </a:p>
        </p:txBody>
      </p:sp>
      <p:sp>
        <p:nvSpPr>
          <p:cNvPr id="23557" name="Rectangle 4">
            <a:extLst>
              <a:ext uri="{FF2B5EF4-FFF2-40B4-BE49-F238E27FC236}">
                <a16:creationId xmlns:a16="http://schemas.microsoft.com/office/drawing/2014/main" id="{DA6DCCDE-C5FF-4A99-94C4-57A28E613BCB}"/>
              </a:ext>
            </a:extLst>
          </p:cNvPr>
          <p:cNvSpPr>
            <a:spLocks noChangeAspect="1" noChangeArrowheads="1"/>
          </p:cNvSpPr>
          <p:nvPr/>
        </p:nvSpPr>
        <p:spPr bwMode="auto">
          <a:xfrm>
            <a:off x="319088" y="4854575"/>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3558" name="Rectangle 5">
            <a:extLst>
              <a:ext uri="{FF2B5EF4-FFF2-40B4-BE49-F238E27FC236}">
                <a16:creationId xmlns:a16="http://schemas.microsoft.com/office/drawing/2014/main" id="{4CC1821F-3CA1-4BDC-9559-32C4E6984EC5}"/>
              </a:ext>
            </a:extLst>
          </p:cNvPr>
          <p:cNvSpPr>
            <a:spLocks noChangeAspect="1" noChangeArrowheads="1"/>
          </p:cNvSpPr>
          <p:nvPr/>
        </p:nvSpPr>
        <p:spPr bwMode="auto">
          <a:xfrm>
            <a:off x="1311275" y="4854575"/>
            <a:ext cx="992188"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Amy</a:t>
            </a:r>
          </a:p>
        </p:txBody>
      </p:sp>
      <p:sp>
        <p:nvSpPr>
          <p:cNvPr id="23559" name="Rectangle 6">
            <a:extLst>
              <a:ext uri="{FF2B5EF4-FFF2-40B4-BE49-F238E27FC236}">
                <a16:creationId xmlns:a16="http://schemas.microsoft.com/office/drawing/2014/main" id="{C756DB4C-7806-4824-B476-C02050B87004}"/>
              </a:ext>
            </a:extLst>
          </p:cNvPr>
          <p:cNvSpPr>
            <a:spLocks noChangeAspect="1" noChangeArrowheads="1"/>
          </p:cNvSpPr>
          <p:nvPr/>
        </p:nvSpPr>
        <p:spPr bwMode="auto">
          <a:xfrm>
            <a:off x="3295650" y="4854575"/>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3560" name="Rectangle 7">
            <a:extLst>
              <a:ext uri="{FF2B5EF4-FFF2-40B4-BE49-F238E27FC236}">
                <a16:creationId xmlns:a16="http://schemas.microsoft.com/office/drawing/2014/main" id="{00978F0A-D8E5-4A5E-A3B8-178455600A85}"/>
              </a:ext>
            </a:extLst>
          </p:cNvPr>
          <p:cNvSpPr>
            <a:spLocks noChangeAspect="1" noChangeArrowheads="1"/>
          </p:cNvSpPr>
          <p:nvPr/>
        </p:nvSpPr>
        <p:spPr bwMode="auto">
          <a:xfrm>
            <a:off x="2303463" y="4854575"/>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3561" name="Rectangle 8">
            <a:extLst>
              <a:ext uri="{FF2B5EF4-FFF2-40B4-BE49-F238E27FC236}">
                <a16:creationId xmlns:a16="http://schemas.microsoft.com/office/drawing/2014/main" id="{818FF403-1970-40EF-B732-1F8C14C60A9F}"/>
              </a:ext>
            </a:extLst>
          </p:cNvPr>
          <p:cNvSpPr>
            <a:spLocks noChangeAspect="1" noChangeArrowheads="1"/>
          </p:cNvSpPr>
          <p:nvPr/>
        </p:nvSpPr>
        <p:spPr bwMode="auto">
          <a:xfrm>
            <a:off x="319088" y="4440238"/>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Yancey</a:t>
            </a:r>
          </a:p>
        </p:txBody>
      </p:sp>
      <p:sp>
        <p:nvSpPr>
          <p:cNvPr id="23562" name="Rectangle 9">
            <a:extLst>
              <a:ext uri="{FF2B5EF4-FFF2-40B4-BE49-F238E27FC236}">
                <a16:creationId xmlns:a16="http://schemas.microsoft.com/office/drawing/2014/main" id="{21E5092C-3253-49B4-AA1E-6A7169B01D3E}"/>
              </a:ext>
            </a:extLst>
          </p:cNvPr>
          <p:cNvSpPr>
            <a:spLocks noChangeAspect="1" noChangeArrowheads="1"/>
          </p:cNvSpPr>
          <p:nvPr/>
        </p:nvSpPr>
        <p:spPr bwMode="auto">
          <a:xfrm>
            <a:off x="1311275" y="4440238"/>
            <a:ext cx="992188"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Bertha</a:t>
            </a:r>
          </a:p>
        </p:txBody>
      </p:sp>
      <p:sp>
        <p:nvSpPr>
          <p:cNvPr id="23563" name="Rectangle 10">
            <a:extLst>
              <a:ext uri="{FF2B5EF4-FFF2-40B4-BE49-F238E27FC236}">
                <a16:creationId xmlns:a16="http://schemas.microsoft.com/office/drawing/2014/main" id="{4B50C284-64B6-4973-8E15-BEA388A2C6CD}"/>
              </a:ext>
            </a:extLst>
          </p:cNvPr>
          <p:cNvSpPr>
            <a:spLocks noChangeAspect="1" noChangeArrowheads="1"/>
          </p:cNvSpPr>
          <p:nvPr/>
        </p:nvSpPr>
        <p:spPr bwMode="auto">
          <a:xfrm>
            <a:off x="3295650" y="4440238"/>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3564" name="Rectangle 11">
            <a:extLst>
              <a:ext uri="{FF2B5EF4-FFF2-40B4-BE49-F238E27FC236}">
                <a16:creationId xmlns:a16="http://schemas.microsoft.com/office/drawing/2014/main" id="{345472E2-9EC1-4C1C-A1DA-EA635F10EBB6}"/>
              </a:ext>
            </a:extLst>
          </p:cNvPr>
          <p:cNvSpPr>
            <a:spLocks noChangeAspect="1" noChangeArrowheads="1"/>
          </p:cNvSpPr>
          <p:nvPr/>
        </p:nvSpPr>
        <p:spPr bwMode="auto">
          <a:xfrm>
            <a:off x="2303463" y="4440238"/>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Amy</a:t>
            </a:r>
          </a:p>
        </p:txBody>
      </p:sp>
      <p:sp>
        <p:nvSpPr>
          <p:cNvPr id="23565" name="Rectangle 12">
            <a:extLst>
              <a:ext uri="{FF2B5EF4-FFF2-40B4-BE49-F238E27FC236}">
                <a16:creationId xmlns:a16="http://schemas.microsoft.com/office/drawing/2014/main" id="{75A94FCB-A8E6-4274-905E-6969F209FCE0}"/>
              </a:ext>
            </a:extLst>
          </p:cNvPr>
          <p:cNvSpPr>
            <a:spLocks noChangeAspect="1" noChangeArrowheads="1"/>
          </p:cNvSpPr>
          <p:nvPr/>
        </p:nvSpPr>
        <p:spPr bwMode="auto">
          <a:xfrm>
            <a:off x="319088" y="402590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Xavier</a:t>
            </a:r>
          </a:p>
        </p:txBody>
      </p:sp>
      <p:sp>
        <p:nvSpPr>
          <p:cNvPr id="23566" name="Rectangle 13">
            <a:extLst>
              <a:ext uri="{FF2B5EF4-FFF2-40B4-BE49-F238E27FC236}">
                <a16:creationId xmlns:a16="http://schemas.microsoft.com/office/drawing/2014/main" id="{8C3E7B96-503A-4154-B581-50CF40C3AF1A}"/>
              </a:ext>
            </a:extLst>
          </p:cNvPr>
          <p:cNvSpPr>
            <a:spLocks noChangeAspect="1" noChangeArrowheads="1"/>
          </p:cNvSpPr>
          <p:nvPr/>
        </p:nvSpPr>
        <p:spPr bwMode="auto">
          <a:xfrm>
            <a:off x="1311275" y="4025900"/>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Amy</a:t>
            </a:r>
          </a:p>
        </p:txBody>
      </p:sp>
      <p:sp>
        <p:nvSpPr>
          <p:cNvPr id="23567" name="Rectangle 14">
            <a:extLst>
              <a:ext uri="{FF2B5EF4-FFF2-40B4-BE49-F238E27FC236}">
                <a16:creationId xmlns:a16="http://schemas.microsoft.com/office/drawing/2014/main" id="{2637A02E-1F55-4D4F-BCA7-56FDDEA269BC}"/>
              </a:ext>
            </a:extLst>
          </p:cNvPr>
          <p:cNvSpPr>
            <a:spLocks noChangeAspect="1" noChangeArrowheads="1"/>
          </p:cNvSpPr>
          <p:nvPr/>
        </p:nvSpPr>
        <p:spPr bwMode="auto">
          <a:xfrm>
            <a:off x="3295650" y="4025900"/>
            <a:ext cx="990600"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Clare</a:t>
            </a:r>
          </a:p>
        </p:txBody>
      </p:sp>
      <p:sp>
        <p:nvSpPr>
          <p:cNvPr id="23568" name="Rectangle 15">
            <a:extLst>
              <a:ext uri="{FF2B5EF4-FFF2-40B4-BE49-F238E27FC236}">
                <a16:creationId xmlns:a16="http://schemas.microsoft.com/office/drawing/2014/main" id="{24C8869A-4F62-443A-9F8C-99D84598D278}"/>
              </a:ext>
            </a:extLst>
          </p:cNvPr>
          <p:cNvSpPr>
            <a:spLocks noChangeAspect="1" noChangeArrowheads="1"/>
          </p:cNvSpPr>
          <p:nvPr/>
        </p:nvSpPr>
        <p:spPr bwMode="auto">
          <a:xfrm>
            <a:off x="2303463" y="4025900"/>
            <a:ext cx="992187" cy="414338"/>
          </a:xfrm>
          <a:prstGeom prst="rect">
            <a:avLst/>
          </a:prstGeom>
          <a:solidFill>
            <a:srgbClr val="FFFF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3569" name="Rectangle 16">
            <a:extLst>
              <a:ext uri="{FF2B5EF4-FFF2-40B4-BE49-F238E27FC236}">
                <a16:creationId xmlns:a16="http://schemas.microsoft.com/office/drawing/2014/main" id="{E2BF1641-D10F-4794-BC9C-A1B577CD7791}"/>
              </a:ext>
            </a:extLst>
          </p:cNvPr>
          <p:cNvSpPr>
            <a:spLocks noChangeAspect="1" noChangeArrowheads="1"/>
          </p:cNvSpPr>
          <p:nvPr/>
        </p:nvSpPr>
        <p:spPr bwMode="auto">
          <a:xfrm>
            <a:off x="4738688" y="4854575"/>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3570" name="Rectangle 17">
            <a:extLst>
              <a:ext uri="{FF2B5EF4-FFF2-40B4-BE49-F238E27FC236}">
                <a16:creationId xmlns:a16="http://schemas.microsoft.com/office/drawing/2014/main" id="{63CD79FC-C715-4BB4-AF43-46A41EEB70A1}"/>
              </a:ext>
            </a:extLst>
          </p:cNvPr>
          <p:cNvSpPr>
            <a:spLocks noChangeAspect="1" noChangeArrowheads="1"/>
          </p:cNvSpPr>
          <p:nvPr/>
        </p:nvSpPr>
        <p:spPr bwMode="auto">
          <a:xfrm>
            <a:off x="5730875" y="4854575"/>
            <a:ext cx="992188"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Xavier</a:t>
            </a:r>
          </a:p>
        </p:txBody>
      </p:sp>
      <p:sp>
        <p:nvSpPr>
          <p:cNvPr id="23571" name="Rectangle 18">
            <a:extLst>
              <a:ext uri="{FF2B5EF4-FFF2-40B4-BE49-F238E27FC236}">
                <a16:creationId xmlns:a16="http://schemas.microsoft.com/office/drawing/2014/main" id="{2E18F0EA-50D8-469D-A9F8-E0A94AFD6604}"/>
              </a:ext>
            </a:extLst>
          </p:cNvPr>
          <p:cNvSpPr>
            <a:spLocks noChangeAspect="1" noChangeArrowheads="1"/>
          </p:cNvSpPr>
          <p:nvPr/>
        </p:nvSpPr>
        <p:spPr bwMode="auto">
          <a:xfrm>
            <a:off x="7715250" y="4854575"/>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3572" name="Rectangle 19">
            <a:extLst>
              <a:ext uri="{FF2B5EF4-FFF2-40B4-BE49-F238E27FC236}">
                <a16:creationId xmlns:a16="http://schemas.microsoft.com/office/drawing/2014/main" id="{1E0B55F6-4FAF-46B5-9442-0599174E17BC}"/>
              </a:ext>
            </a:extLst>
          </p:cNvPr>
          <p:cNvSpPr>
            <a:spLocks noChangeAspect="1" noChangeArrowheads="1"/>
          </p:cNvSpPr>
          <p:nvPr/>
        </p:nvSpPr>
        <p:spPr bwMode="auto">
          <a:xfrm>
            <a:off x="6723063" y="4854575"/>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Yancey</a:t>
            </a:r>
          </a:p>
        </p:txBody>
      </p:sp>
      <p:sp>
        <p:nvSpPr>
          <p:cNvPr id="23573" name="Rectangle 20">
            <a:extLst>
              <a:ext uri="{FF2B5EF4-FFF2-40B4-BE49-F238E27FC236}">
                <a16:creationId xmlns:a16="http://schemas.microsoft.com/office/drawing/2014/main" id="{893F49EA-BC46-45A6-9E7C-7E6FCFED6985}"/>
              </a:ext>
            </a:extLst>
          </p:cNvPr>
          <p:cNvSpPr>
            <a:spLocks noChangeAspect="1" noChangeArrowheads="1"/>
          </p:cNvSpPr>
          <p:nvPr/>
        </p:nvSpPr>
        <p:spPr bwMode="auto">
          <a:xfrm>
            <a:off x="4738688" y="4440238"/>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3574" name="Rectangle 21">
            <a:extLst>
              <a:ext uri="{FF2B5EF4-FFF2-40B4-BE49-F238E27FC236}">
                <a16:creationId xmlns:a16="http://schemas.microsoft.com/office/drawing/2014/main" id="{E83052F0-C3ED-4C3E-B238-C454D2BC8F68}"/>
              </a:ext>
            </a:extLst>
          </p:cNvPr>
          <p:cNvSpPr>
            <a:spLocks noChangeAspect="1" noChangeArrowheads="1"/>
          </p:cNvSpPr>
          <p:nvPr/>
        </p:nvSpPr>
        <p:spPr bwMode="auto">
          <a:xfrm>
            <a:off x="5730875" y="4440238"/>
            <a:ext cx="992188" cy="414337"/>
          </a:xfrm>
          <a:prstGeom prst="rect">
            <a:avLst/>
          </a:prstGeom>
          <a:solidFill>
            <a:srgbClr val="FFFF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Xavier</a:t>
            </a:r>
          </a:p>
        </p:txBody>
      </p:sp>
      <p:sp>
        <p:nvSpPr>
          <p:cNvPr id="23575" name="Rectangle 22">
            <a:extLst>
              <a:ext uri="{FF2B5EF4-FFF2-40B4-BE49-F238E27FC236}">
                <a16:creationId xmlns:a16="http://schemas.microsoft.com/office/drawing/2014/main" id="{F37D1D6D-469C-479E-B80B-9D5AC99597B0}"/>
              </a:ext>
            </a:extLst>
          </p:cNvPr>
          <p:cNvSpPr>
            <a:spLocks noChangeAspect="1" noChangeArrowheads="1"/>
          </p:cNvSpPr>
          <p:nvPr/>
        </p:nvSpPr>
        <p:spPr bwMode="auto">
          <a:xfrm>
            <a:off x="7715250" y="4440238"/>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3576" name="Rectangle 23">
            <a:extLst>
              <a:ext uri="{FF2B5EF4-FFF2-40B4-BE49-F238E27FC236}">
                <a16:creationId xmlns:a16="http://schemas.microsoft.com/office/drawing/2014/main" id="{CC660650-1494-4BC6-B874-7C763C4E132A}"/>
              </a:ext>
            </a:extLst>
          </p:cNvPr>
          <p:cNvSpPr>
            <a:spLocks noChangeAspect="1" noChangeArrowheads="1"/>
          </p:cNvSpPr>
          <p:nvPr/>
        </p:nvSpPr>
        <p:spPr bwMode="auto">
          <a:xfrm>
            <a:off x="6723063" y="4440238"/>
            <a:ext cx="992187"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Yancey</a:t>
            </a:r>
          </a:p>
        </p:txBody>
      </p:sp>
      <p:sp>
        <p:nvSpPr>
          <p:cNvPr id="23577" name="Rectangle 24">
            <a:extLst>
              <a:ext uri="{FF2B5EF4-FFF2-40B4-BE49-F238E27FC236}">
                <a16:creationId xmlns:a16="http://schemas.microsoft.com/office/drawing/2014/main" id="{0FD9A208-6B6C-4779-91CD-7C7318BF778B}"/>
              </a:ext>
            </a:extLst>
          </p:cNvPr>
          <p:cNvSpPr>
            <a:spLocks noChangeAspect="1" noChangeArrowheads="1"/>
          </p:cNvSpPr>
          <p:nvPr/>
        </p:nvSpPr>
        <p:spPr bwMode="auto">
          <a:xfrm>
            <a:off x="4738688" y="402590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Amy</a:t>
            </a:r>
          </a:p>
        </p:txBody>
      </p:sp>
      <p:sp>
        <p:nvSpPr>
          <p:cNvPr id="23578" name="Rectangle 25">
            <a:extLst>
              <a:ext uri="{FF2B5EF4-FFF2-40B4-BE49-F238E27FC236}">
                <a16:creationId xmlns:a16="http://schemas.microsoft.com/office/drawing/2014/main" id="{633B14A3-8B50-4F11-A0A7-5CC2943F47DE}"/>
              </a:ext>
            </a:extLst>
          </p:cNvPr>
          <p:cNvSpPr>
            <a:spLocks noChangeAspect="1" noChangeArrowheads="1"/>
          </p:cNvSpPr>
          <p:nvPr/>
        </p:nvSpPr>
        <p:spPr bwMode="auto">
          <a:xfrm>
            <a:off x="5730875" y="4025900"/>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Yancey</a:t>
            </a:r>
          </a:p>
        </p:txBody>
      </p:sp>
      <p:sp>
        <p:nvSpPr>
          <p:cNvPr id="23579" name="Rectangle 26">
            <a:extLst>
              <a:ext uri="{FF2B5EF4-FFF2-40B4-BE49-F238E27FC236}">
                <a16:creationId xmlns:a16="http://schemas.microsoft.com/office/drawing/2014/main" id="{7F89DBC2-E18A-4844-B9A3-E5A1F3304EBC}"/>
              </a:ext>
            </a:extLst>
          </p:cNvPr>
          <p:cNvSpPr>
            <a:spLocks noChangeAspect="1" noChangeArrowheads="1"/>
          </p:cNvSpPr>
          <p:nvPr/>
        </p:nvSpPr>
        <p:spPr bwMode="auto">
          <a:xfrm>
            <a:off x="7715250" y="4025900"/>
            <a:ext cx="990600"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Zeus</a:t>
            </a:r>
          </a:p>
        </p:txBody>
      </p:sp>
      <p:sp>
        <p:nvSpPr>
          <p:cNvPr id="23580" name="Rectangle 27">
            <a:extLst>
              <a:ext uri="{FF2B5EF4-FFF2-40B4-BE49-F238E27FC236}">
                <a16:creationId xmlns:a16="http://schemas.microsoft.com/office/drawing/2014/main" id="{9426A180-9508-4299-9D1C-62C06C98AE67}"/>
              </a:ext>
            </a:extLst>
          </p:cNvPr>
          <p:cNvSpPr>
            <a:spLocks noChangeAspect="1" noChangeArrowheads="1"/>
          </p:cNvSpPr>
          <p:nvPr/>
        </p:nvSpPr>
        <p:spPr bwMode="auto">
          <a:xfrm>
            <a:off x="6723063" y="4025900"/>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Xavier</a:t>
            </a:r>
          </a:p>
        </p:txBody>
      </p:sp>
      <p:sp>
        <p:nvSpPr>
          <p:cNvPr id="23581" name="Rectangle 28">
            <a:extLst>
              <a:ext uri="{FF2B5EF4-FFF2-40B4-BE49-F238E27FC236}">
                <a16:creationId xmlns:a16="http://schemas.microsoft.com/office/drawing/2014/main" id="{AD4CA8A7-C8F4-44C3-8832-8E0BEA1E7F3D}"/>
              </a:ext>
            </a:extLst>
          </p:cNvPr>
          <p:cNvSpPr>
            <a:spLocks noChangeAspect="1" noChangeArrowheads="1"/>
          </p:cNvSpPr>
          <p:nvPr/>
        </p:nvSpPr>
        <p:spPr bwMode="auto">
          <a:xfrm>
            <a:off x="1311275" y="3614738"/>
            <a:ext cx="992188"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1</a:t>
            </a:r>
            <a:r>
              <a:rPr kumimoji="0" lang="en-US" altLang="zh-CN" sz="1600" baseline="30000">
                <a:solidFill>
                  <a:srgbClr val="00FF00"/>
                </a:solidFill>
                <a:latin typeface="Comic Sans MS" panose="030F0702030302020204" pitchFamily="66" charset="0"/>
              </a:rPr>
              <a:t>st</a:t>
            </a:r>
          </a:p>
        </p:txBody>
      </p:sp>
      <p:sp>
        <p:nvSpPr>
          <p:cNvPr id="23582" name="Rectangle 29">
            <a:extLst>
              <a:ext uri="{FF2B5EF4-FFF2-40B4-BE49-F238E27FC236}">
                <a16:creationId xmlns:a16="http://schemas.microsoft.com/office/drawing/2014/main" id="{E0198D54-3B3D-41B1-9096-60805989D0AC}"/>
              </a:ext>
            </a:extLst>
          </p:cNvPr>
          <p:cNvSpPr>
            <a:spLocks noChangeAspect="1" noChangeArrowheads="1"/>
          </p:cNvSpPr>
          <p:nvPr/>
        </p:nvSpPr>
        <p:spPr bwMode="auto">
          <a:xfrm>
            <a:off x="2303463" y="3614738"/>
            <a:ext cx="992187"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2</a:t>
            </a:r>
            <a:r>
              <a:rPr kumimoji="0" lang="en-US" altLang="zh-CN" sz="1600" baseline="30000">
                <a:solidFill>
                  <a:srgbClr val="00FF00"/>
                </a:solidFill>
                <a:latin typeface="Comic Sans MS" panose="030F0702030302020204" pitchFamily="66" charset="0"/>
              </a:rPr>
              <a:t>nd</a:t>
            </a:r>
          </a:p>
        </p:txBody>
      </p:sp>
      <p:sp>
        <p:nvSpPr>
          <p:cNvPr id="23583" name="Rectangle 30">
            <a:extLst>
              <a:ext uri="{FF2B5EF4-FFF2-40B4-BE49-F238E27FC236}">
                <a16:creationId xmlns:a16="http://schemas.microsoft.com/office/drawing/2014/main" id="{FD72AE00-188E-41ED-85C4-B58A1FEEBE42}"/>
              </a:ext>
            </a:extLst>
          </p:cNvPr>
          <p:cNvSpPr>
            <a:spLocks noChangeAspect="1" noChangeArrowheads="1"/>
          </p:cNvSpPr>
          <p:nvPr/>
        </p:nvSpPr>
        <p:spPr bwMode="auto">
          <a:xfrm>
            <a:off x="3295650" y="3614738"/>
            <a:ext cx="990600"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3</a:t>
            </a:r>
            <a:r>
              <a:rPr kumimoji="0" lang="en-US" altLang="zh-CN" sz="1600" baseline="30000">
                <a:solidFill>
                  <a:srgbClr val="00FF00"/>
                </a:solidFill>
                <a:latin typeface="Comic Sans MS" panose="030F0702030302020204" pitchFamily="66" charset="0"/>
              </a:rPr>
              <a:t>rd</a:t>
            </a:r>
          </a:p>
        </p:txBody>
      </p:sp>
      <p:sp>
        <p:nvSpPr>
          <p:cNvPr id="23584" name="Rectangle 31">
            <a:extLst>
              <a:ext uri="{FF2B5EF4-FFF2-40B4-BE49-F238E27FC236}">
                <a16:creationId xmlns:a16="http://schemas.microsoft.com/office/drawing/2014/main" id="{1EFF7236-40C9-4496-B574-8DF473F181F0}"/>
              </a:ext>
            </a:extLst>
          </p:cNvPr>
          <p:cNvSpPr>
            <a:spLocks noChangeAspect="1" noChangeArrowheads="1"/>
          </p:cNvSpPr>
          <p:nvPr/>
        </p:nvSpPr>
        <p:spPr bwMode="auto">
          <a:xfrm>
            <a:off x="5730875" y="3614738"/>
            <a:ext cx="992188"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1</a:t>
            </a:r>
            <a:r>
              <a:rPr kumimoji="0" lang="en-US" altLang="zh-CN" sz="1600" baseline="30000">
                <a:solidFill>
                  <a:srgbClr val="00FF00"/>
                </a:solidFill>
                <a:latin typeface="Comic Sans MS" panose="030F0702030302020204" pitchFamily="66" charset="0"/>
              </a:rPr>
              <a:t>st</a:t>
            </a:r>
          </a:p>
        </p:txBody>
      </p:sp>
      <p:sp>
        <p:nvSpPr>
          <p:cNvPr id="23585" name="Rectangle 32">
            <a:extLst>
              <a:ext uri="{FF2B5EF4-FFF2-40B4-BE49-F238E27FC236}">
                <a16:creationId xmlns:a16="http://schemas.microsoft.com/office/drawing/2014/main" id="{D06CF4D4-BDB9-40EF-A668-4B0840E9CCF3}"/>
              </a:ext>
            </a:extLst>
          </p:cNvPr>
          <p:cNvSpPr>
            <a:spLocks noChangeAspect="1" noChangeArrowheads="1"/>
          </p:cNvSpPr>
          <p:nvPr/>
        </p:nvSpPr>
        <p:spPr bwMode="auto">
          <a:xfrm>
            <a:off x="6723063" y="3614738"/>
            <a:ext cx="992187"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2</a:t>
            </a:r>
            <a:r>
              <a:rPr kumimoji="0" lang="en-US" altLang="zh-CN" sz="1600" baseline="30000">
                <a:solidFill>
                  <a:srgbClr val="00FF00"/>
                </a:solidFill>
                <a:latin typeface="Comic Sans MS" panose="030F0702030302020204" pitchFamily="66" charset="0"/>
              </a:rPr>
              <a:t>nd</a:t>
            </a:r>
          </a:p>
        </p:txBody>
      </p:sp>
      <p:sp>
        <p:nvSpPr>
          <p:cNvPr id="23586" name="Rectangle 33">
            <a:extLst>
              <a:ext uri="{FF2B5EF4-FFF2-40B4-BE49-F238E27FC236}">
                <a16:creationId xmlns:a16="http://schemas.microsoft.com/office/drawing/2014/main" id="{5E98ECBA-A2FA-4C2E-BBB9-B6C396EA9CA5}"/>
              </a:ext>
            </a:extLst>
          </p:cNvPr>
          <p:cNvSpPr>
            <a:spLocks noChangeAspect="1" noChangeArrowheads="1"/>
          </p:cNvSpPr>
          <p:nvPr/>
        </p:nvSpPr>
        <p:spPr bwMode="auto">
          <a:xfrm>
            <a:off x="7715250" y="3614738"/>
            <a:ext cx="990600"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3</a:t>
            </a:r>
            <a:r>
              <a:rPr kumimoji="0" lang="en-US" altLang="zh-CN" sz="1600" baseline="30000">
                <a:solidFill>
                  <a:srgbClr val="00FF00"/>
                </a:solidFill>
                <a:latin typeface="Comic Sans MS" panose="030F0702030302020204" pitchFamily="66" charset="0"/>
              </a:rPr>
              <a:t>rd</a:t>
            </a:r>
          </a:p>
        </p:txBody>
      </p:sp>
      <p:sp>
        <p:nvSpPr>
          <p:cNvPr id="23587" name="Text Box 34">
            <a:extLst>
              <a:ext uri="{FF2B5EF4-FFF2-40B4-BE49-F238E27FC236}">
                <a16:creationId xmlns:a16="http://schemas.microsoft.com/office/drawing/2014/main" id="{8932618C-AD28-4E93-88B9-B111C64166F3}"/>
              </a:ext>
            </a:extLst>
          </p:cNvPr>
          <p:cNvSpPr txBox="1">
            <a:spLocks noChangeArrowheads="1"/>
          </p:cNvSpPr>
          <p:nvPr/>
        </p:nvSpPr>
        <p:spPr bwMode="auto">
          <a:xfrm>
            <a:off x="1557338" y="3124200"/>
            <a:ext cx="5842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favorite</a:t>
            </a:r>
          </a:p>
        </p:txBody>
      </p:sp>
      <p:sp>
        <p:nvSpPr>
          <p:cNvPr id="23588" name="Text Box 35">
            <a:extLst>
              <a:ext uri="{FF2B5EF4-FFF2-40B4-BE49-F238E27FC236}">
                <a16:creationId xmlns:a16="http://schemas.microsoft.com/office/drawing/2014/main" id="{FB5256AE-E0B0-4BC6-8B80-DA3542CD969B}"/>
              </a:ext>
            </a:extLst>
          </p:cNvPr>
          <p:cNvSpPr txBox="1">
            <a:spLocks noChangeArrowheads="1"/>
          </p:cNvSpPr>
          <p:nvPr/>
        </p:nvSpPr>
        <p:spPr bwMode="auto">
          <a:xfrm>
            <a:off x="3373438" y="3124200"/>
            <a:ext cx="9906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least favorite</a:t>
            </a:r>
          </a:p>
        </p:txBody>
      </p:sp>
      <p:sp>
        <p:nvSpPr>
          <p:cNvPr id="23589" name="Text Box 36">
            <a:extLst>
              <a:ext uri="{FF2B5EF4-FFF2-40B4-BE49-F238E27FC236}">
                <a16:creationId xmlns:a16="http://schemas.microsoft.com/office/drawing/2014/main" id="{F1C9978E-B68A-4DA9-985E-7A1A1AE5AC22}"/>
              </a:ext>
            </a:extLst>
          </p:cNvPr>
          <p:cNvSpPr txBox="1">
            <a:spLocks noChangeArrowheads="1"/>
          </p:cNvSpPr>
          <p:nvPr/>
        </p:nvSpPr>
        <p:spPr bwMode="auto">
          <a:xfrm>
            <a:off x="5976938" y="3124200"/>
            <a:ext cx="5842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favorite</a:t>
            </a:r>
          </a:p>
        </p:txBody>
      </p:sp>
      <p:sp>
        <p:nvSpPr>
          <p:cNvPr id="23590" name="Line 37">
            <a:extLst>
              <a:ext uri="{FF2B5EF4-FFF2-40B4-BE49-F238E27FC236}">
                <a16:creationId xmlns:a16="http://schemas.microsoft.com/office/drawing/2014/main" id="{01B28C7A-71AA-4C4D-9DC3-C967EE767EB7}"/>
              </a:ext>
            </a:extLst>
          </p:cNvPr>
          <p:cNvSpPr>
            <a:spLocks noChangeShapeType="1"/>
          </p:cNvSpPr>
          <p:nvPr/>
        </p:nvSpPr>
        <p:spPr bwMode="auto">
          <a:xfrm>
            <a:off x="6248400" y="3352800"/>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3591" name="Line 38">
            <a:extLst>
              <a:ext uri="{FF2B5EF4-FFF2-40B4-BE49-F238E27FC236}">
                <a16:creationId xmlns:a16="http://schemas.microsoft.com/office/drawing/2014/main" id="{146CA270-3543-4F11-B54C-89A85E1C1163}"/>
              </a:ext>
            </a:extLst>
          </p:cNvPr>
          <p:cNvSpPr>
            <a:spLocks noChangeShapeType="1"/>
          </p:cNvSpPr>
          <p:nvPr/>
        </p:nvSpPr>
        <p:spPr bwMode="auto">
          <a:xfrm>
            <a:off x="3830638" y="3352800"/>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3592" name="Line 39">
            <a:extLst>
              <a:ext uri="{FF2B5EF4-FFF2-40B4-BE49-F238E27FC236}">
                <a16:creationId xmlns:a16="http://schemas.microsoft.com/office/drawing/2014/main" id="{64253018-C593-42A0-A1E2-99C62172BBDA}"/>
              </a:ext>
            </a:extLst>
          </p:cNvPr>
          <p:cNvSpPr>
            <a:spLocks noChangeShapeType="1"/>
          </p:cNvSpPr>
          <p:nvPr/>
        </p:nvSpPr>
        <p:spPr bwMode="auto">
          <a:xfrm>
            <a:off x="1828800" y="3352800"/>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3593" name="Text Box 40">
            <a:extLst>
              <a:ext uri="{FF2B5EF4-FFF2-40B4-BE49-F238E27FC236}">
                <a16:creationId xmlns:a16="http://schemas.microsoft.com/office/drawing/2014/main" id="{ED5A3C6B-83CC-4C4C-A232-11CA97759D1C}"/>
              </a:ext>
            </a:extLst>
          </p:cNvPr>
          <p:cNvSpPr txBox="1">
            <a:spLocks noChangeArrowheads="1"/>
          </p:cNvSpPr>
          <p:nvPr/>
        </p:nvSpPr>
        <p:spPr bwMode="auto">
          <a:xfrm>
            <a:off x="7751763" y="3121025"/>
            <a:ext cx="9906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least favorite</a:t>
            </a:r>
          </a:p>
        </p:txBody>
      </p:sp>
      <p:sp>
        <p:nvSpPr>
          <p:cNvPr id="23594" name="Line 41">
            <a:extLst>
              <a:ext uri="{FF2B5EF4-FFF2-40B4-BE49-F238E27FC236}">
                <a16:creationId xmlns:a16="http://schemas.microsoft.com/office/drawing/2014/main" id="{76F25B7A-59F3-4256-BD0C-A260650880E2}"/>
              </a:ext>
            </a:extLst>
          </p:cNvPr>
          <p:cNvSpPr>
            <a:spLocks noChangeShapeType="1"/>
          </p:cNvSpPr>
          <p:nvPr/>
        </p:nvSpPr>
        <p:spPr bwMode="auto">
          <a:xfrm>
            <a:off x="8208963" y="3349625"/>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3595" name="Rectangle 42">
            <a:extLst>
              <a:ext uri="{FF2B5EF4-FFF2-40B4-BE49-F238E27FC236}">
                <a16:creationId xmlns:a16="http://schemas.microsoft.com/office/drawing/2014/main" id="{E7C95776-A5FC-4DCD-9CAB-E1FD2290D73B}"/>
              </a:ext>
            </a:extLst>
          </p:cNvPr>
          <p:cNvSpPr>
            <a:spLocks noChangeAspect="1" noChangeArrowheads="1"/>
          </p:cNvSpPr>
          <p:nvPr/>
        </p:nvSpPr>
        <p:spPr bwMode="auto">
          <a:xfrm>
            <a:off x="304800" y="5257800"/>
            <a:ext cx="3962400" cy="414338"/>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Men’s Preference Profile</a:t>
            </a:r>
            <a:endParaRPr kumimoji="0" lang="en-US" altLang="zh-CN" sz="1400" i="1">
              <a:solidFill>
                <a:schemeClr val="bg1"/>
              </a:solidFill>
              <a:latin typeface="Comic Sans MS" panose="030F0702030302020204" pitchFamily="66" charset="0"/>
            </a:endParaRPr>
          </a:p>
        </p:txBody>
      </p:sp>
      <p:sp>
        <p:nvSpPr>
          <p:cNvPr id="23596" name="Rectangle 43">
            <a:extLst>
              <a:ext uri="{FF2B5EF4-FFF2-40B4-BE49-F238E27FC236}">
                <a16:creationId xmlns:a16="http://schemas.microsoft.com/office/drawing/2014/main" id="{A873FE99-1A1C-41BD-860A-B388165D1895}"/>
              </a:ext>
            </a:extLst>
          </p:cNvPr>
          <p:cNvSpPr>
            <a:spLocks noChangeAspect="1" noChangeArrowheads="1"/>
          </p:cNvSpPr>
          <p:nvPr/>
        </p:nvSpPr>
        <p:spPr bwMode="auto">
          <a:xfrm>
            <a:off x="4724400" y="5257800"/>
            <a:ext cx="3962400" cy="414338"/>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Women’s Preference Profile</a:t>
            </a:r>
            <a:endParaRPr kumimoji="0" lang="en-US" altLang="zh-CN" sz="1400" i="1">
              <a:solidFill>
                <a:schemeClr val="bg1"/>
              </a:solidFill>
              <a:latin typeface="Comic Sans MS" panose="030F0702030302020204" pitchFamily="66"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灯片编号占位符 5">
            <a:extLst>
              <a:ext uri="{FF2B5EF4-FFF2-40B4-BE49-F238E27FC236}">
                <a16:creationId xmlns:a16="http://schemas.microsoft.com/office/drawing/2014/main" id="{03886345-EA5B-48DA-8D66-8C94A2B2EBEA}"/>
              </a:ext>
            </a:extLst>
          </p:cNvPr>
          <p:cNvSpPr>
            <a:spLocks noGrp="1"/>
          </p:cNvSpPr>
          <p:nvPr>
            <p:ph type="sldNum" sz="quarter" idx="12"/>
          </p:nvPr>
        </p:nvSpPr>
        <p:spPr/>
        <p:txBody>
          <a:bodyPr/>
          <a:lstStyle/>
          <a:p>
            <a:pPr>
              <a:defRPr/>
            </a:pPr>
            <a:fld id="{643416EA-976C-452F-A725-E6A26BBD6371}" type="slidenum">
              <a:rPr lang="zh-CN" altLang="en-US"/>
              <a:pPr>
                <a:defRPr/>
              </a:pPr>
              <a:t>32</a:t>
            </a:fld>
            <a:endParaRPr lang="en-US" altLang="zh-CN"/>
          </a:p>
        </p:txBody>
      </p:sp>
      <p:sp>
        <p:nvSpPr>
          <p:cNvPr id="24579" name="Rectangle 2">
            <a:extLst>
              <a:ext uri="{FF2B5EF4-FFF2-40B4-BE49-F238E27FC236}">
                <a16:creationId xmlns:a16="http://schemas.microsoft.com/office/drawing/2014/main" id="{99BAAFCC-C45E-4199-80AF-94ACDB3DCC00}"/>
              </a:ext>
            </a:extLst>
          </p:cNvPr>
          <p:cNvSpPr>
            <a:spLocks noGrp="1" noChangeArrowheads="1"/>
          </p:cNvSpPr>
          <p:nvPr>
            <p:ph type="title"/>
          </p:nvPr>
        </p:nvSpPr>
        <p:spPr/>
        <p:txBody>
          <a:bodyPr/>
          <a:lstStyle/>
          <a:p>
            <a:pPr eaLnBrk="1" hangingPunct="1"/>
            <a:r>
              <a:rPr lang="zh-CN" altLang="en-US"/>
              <a:t>例子</a:t>
            </a:r>
          </a:p>
        </p:txBody>
      </p:sp>
      <p:sp>
        <p:nvSpPr>
          <p:cNvPr id="24580" name="Rectangle 3">
            <a:extLst>
              <a:ext uri="{FF2B5EF4-FFF2-40B4-BE49-F238E27FC236}">
                <a16:creationId xmlns:a16="http://schemas.microsoft.com/office/drawing/2014/main" id="{CD919C54-8A2D-46D4-8140-503D023704BA}"/>
              </a:ext>
            </a:extLst>
          </p:cNvPr>
          <p:cNvSpPr>
            <a:spLocks noGrp="1" noChangeArrowheads="1"/>
          </p:cNvSpPr>
          <p:nvPr>
            <p:ph type="body" idx="1"/>
          </p:nvPr>
        </p:nvSpPr>
        <p:spPr>
          <a:xfrm>
            <a:off x="1219200" y="1981200"/>
            <a:ext cx="7772400" cy="4114800"/>
          </a:xfrm>
        </p:spPr>
        <p:txBody>
          <a:bodyPr/>
          <a:lstStyle/>
          <a:p>
            <a:pPr eaLnBrk="1" hangingPunct="1"/>
            <a:r>
              <a:rPr lang="en-US" altLang="zh-CN"/>
              <a:t>X-A, Y-B, Z-C </a:t>
            </a:r>
            <a:r>
              <a:rPr lang="zh-CN" altLang="en-US"/>
              <a:t>是稳定匹配吗?</a:t>
            </a:r>
          </a:p>
          <a:p>
            <a:pPr eaLnBrk="1" hangingPunct="1"/>
            <a:endParaRPr lang="zh-CN" altLang="en-US"/>
          </a:p>
          <a:p>
            <a:pPr eaLnBrk="1" hangingPunct="1">
              <a:buFont typeface="Wingdings" panose="05000000000000000000" pitchFamily="2" charset="2"/>
              <a:buNone/>
            </a:pPr>
            <a:endParaRPr lang="zh-CN" altLang="en-US"/>
          </a:p>
        </p:txBody>
      </p:sp>
      <p:sp>
        <p:nvSpPr>
          <p:cNvPr id="24581" name="Rectangle 4">
            <a:extLst>
              <a:ext uri="{FF2B5EF4-FFF2-40B4-BE49-F238E27FC236}">
                <a16:creationId xmlns:a16="http://schemas.microsoft.com/office/drawing/2014/main" id="{EB399E5C-59A6-462E-964E-8822702F17AD}"/>
              </a:ext>
            </a:extLst>
          </p:cNvPr>
          <p:cNvSpPr>
            <a:spLocks noChangeAspect="1" noChangeArrowheads="1"/>
          </p:cNvSpPr>
          <p:nvPr/>
        </p:nvSpPr>
        <p:spPr bwMode="auto">
          <a:xfrm>
            <a:off x="319088" y="478155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4582" name="Rectangle 5">
            <a:extLst>
              <a:ext uri="{FF2B5EF4-FFF2-40B4-BE49-F238E27FC236}">
                <a16:creationId xmlns:a16="http://schemas.microsoft.com/office/drawing/2014/main" id="{CA1847BF-83C5-42F6-B8D4-CBD269EFE8E6}"/>
              </a:ext>
            </a:extLst>
          </p:cNvPr>
          <p:cNvSpPr>
            <a:spLocks noChangeAspect="1" noChangeArrowheads="1"/>
          </p:cNvSpPr>
          <p:nvPr/>
        </p:nvSpPr>
        <p:spPr bwMode="auto">
          <a:xfrm>
            <a:off x="1311275" y="4781550"/>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Amy</a:t>
            </a:r>
          </a:p>
        </p:txBody>
      </p:sp>
      <p:sp>
        <p:nvSpPr>
          <p:cNvPr id="24583" name="Rectangle 6">
            <a:extLst>
              <a:ext uri="{FF2B5EF4-FFF2-40B4-BE49-F238E27FC236}">
                <a16:creationId xmlns:a16="http://schemas.microsoft.com/office/drawing/2014/main" id="{EAB650E5-1C75-41F4-881E-7AC74752CEEA}"/>
              </a:ext>
            </a:extLst>
          </p:cNvPr>
          <p:cNvSpPr>
            <a:spLocks noChangeAspect="1" noChangeArrowheads="1"/>
          </p:cNvSpPr>
          <p:nvPr/>
        </p:nvSpPr>
        <p:spPr bwMode="auto">
          <a:xfrm>
            <a:off x="3295650" y="4781550"/>
            <a:ext cx="990600"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bg2"/>
                </a:solidFill>
                <a:latin typeface="Comic Sans MS" panose="030F0702030302020204" pitchFamily="66" charset="0"/>
              </a:rPr>
              <a:t>Clare</a:t>
            </a:r>
          </a:p>
        </p:txBody>
      </p:sp>
      <p:sp>
        <p:nvSpPr>
          <p:cNvPr id="24584" name="Rectangle 7">
            <a:extLst>
              <a:ext uri="{FF2B5EF4-FFF2-40B4-BE49-F238E27FC236}">
                <a16:creationId xmlns:a16="http://schemas.microsoft.com/office/drawing/2014/main" id="{5C4874B8-B83A-492D-92D8-E04A5FF4B235}"/>
              </a:ext>
            </a:extLst>
          </p:cNvPr>
          <p:cNvSpPr>
            <a:spLocks noChangeAspect="1" noChangeArrowheads="1"/>
          </p:cNvSpPr>
          <p:nvPr/>
        </p:nvSpPr>
        <p:spPr bwMode="auto">
          <a:xfrm>
            <a:off x="2303463" y="4781550"/>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4585" name="Rectangle 8">
            <a:extLst>
              <a:ext uri="{FF2B5EF4-FFF2-40B4-BE49-F238E27FC236}">
                <a16:creationId xmlns:a16="http://schemas.microsoft.com/office/drawing/2014/main" id="{CF59495E-639E-4EA4-AF0B-6BC49921169C}"/>
              </a:ext>
            </a:extLst>
          </p:cNvPr>
          <p:cNvSpPr>
            <a:spLocks noChangeAspect="1" noChangeArrowheads="1"/>
          </p:cNvSpPr>
          <p:nvPr/>
        </p:nvSpPr>
        <p:spPr bwMode="auto">
          <a:xfrm>
            <a:off x="319088" y="4367213"/>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Yancey</a:t>
            </a:r>
          </a:p>
        </p:txBody>
      </p:sp>
      <p:sp>
        <p:nvSpPr>
          <p:cNvPr id="24586" name="Rectangle 9">
            <a:extLst>
              <a:ext uri="{FF2B5EF4-FFF2-40B4-BE49-F238E27FC236}">
                <a16:creationId xmlns:a16="http://schemas.microsoft.com/office/drawing/2014/main" id="{FE733544-6268-46B9-9220-0580836A858F}"/>
              </a:ext>
            </a:extLst>
          </p:cNvPr>
          <p:cNvSpPr>
            <a:spLocks noChangeAspect="1" noChangeArrowheads="1"/>
          </p:cNvSpPr>
          <p:nvPr/>
        </p:nvSpPr>
        <p:spPr bwMode="auto">
          <a:xfrm>
            <a:off x="1311275" y="4367213"/>
            <a:ext cx="992188"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kumimoji="0" lang="en-US" altLang="zh-CN" dirty="0">
                <a:solidFill>
                  <a:schemeClr val="bg2"/>
                </a:solidFill>
              </a:rPr>
              <a:t>Bertha</a:t>
            </a:r>
          </a:p>
        </p:txBody>
      </p:sp>
      <p:sp>
        <p:nvSpPr>
          <p:cNvPr id="24587" name="Rectangle 10">
            <a:extLst>
              <a:ext uri="{FF2B5EF4-FFF2-40B4-BE49-F238E27FC236}">
                <a16:creationId xmlns:a16="http://schemas.microsoft.com/office/drawing/2014/main" id="{67219939-F535-4183-BB4D-87508EC26824}"/>
              </a:ext>
            </a:extLst>
          </p:cNvPr>
          <p:cNvSpPr>
            <a:spLocks noChangeAspect="1" noChangeArrowheads="1"/>
          </p:cNvSpPr>
          <p:nvPr/>
        </p:nvSpPr>
        <p:spPr bwMode="auto">
          <a:xfrm>
            <a:off x="3295650" y="4367213"/>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4588" name="Rectangle 11">
            <a:extLst>
              <a:ext uri="{FF2B5EF4-FFF2-40B4-BE49-F238E27FC236}">
                <a16:creationId xmlns:a16="http://schemas.microsoft.com/office/drawing/2014/main" id="{6FDB7010-1A66-44DB-AF26-398065989A62}"/>
              </a:ext>
            </a:extLst>
          </p:cNvPr>
          <p:cNvSpPr>
            <a:spLocks noChangeAspect="1" noChangeArrowheads="1"/>
          </p:cNvSpPr>
          <p:nvPr/>
        </p:nvSpPr>
        <p:spPr bwMode="auto">
          <a:xfrm>
            <a:off x="2303463" y="4367213"/>
            <a:ext cx="992187"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Amy</a:t>
            </a:r>
          </a:p>
        </p:txBody>
      </p:sp>
      <p:sp>
        <p:nvSpPr>
          <p:cNvPr id="24589" name="Rectangle 12">
            <a:extLst>
              <a:ext uri="{FF2B5EF4-FFF2-40B4-BE49-F238E27FC236}">
                <a16:creationId xmlns:a16="http://schemas.microsoft.com/office/drawing/2014/main" id="{D6BACCB7-0499-437D-9FB7-F6785DCABF74}"/>
              </a:ext>
            </a:extLst>
          </p:cNvPr>
          <p:cNvSpPr>
            <a:spLocks noChangeAspect="1" noChangeArrowheads="1"/>
          </p:cNvSpPr>
          <p:nvPr/>
        </p:nvSpPr>
        <p:spPr bwMode="auto">
          <a:xfrm>
            <a:off x="319088" y="3952875"/>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rgbClr val="00FF00"/>
                </a:solidFill>
                <a:latin typeface="Comic Sans MS" panose="030F0702030302020204" pitchFamily="66" charset="0"/>
              </a:rPr>
              <a:t>Xavier</a:t>
            </a:r>
          </a:p>
        </p:txBody>
      </p:sp>
      <p:sp>
        <p:nvSpPr>
          <p:cNvPr id="24590" name="Rectangle 13">
            <a:extLst>
              <a:ext uri="{FF2B5EF4-FFF2-40B4-BE49-F238E27FC236}">
                <a16:creationId xmlns:a16="http://schemas.microsoft.com/office/drawing/2014/main" id="{A40FEF5D-A6E7-45FE-9825-4A28665FFC61}"/>
              </a:ext>
            </a:extLst>
          </p:cNvPr>
          <p:cNvSpPr>
            <a:spLocks noChangeAspect="1" noChangeArrowheads="1"/>
          </p:cNvSpPr>
          <p:nvPr/>
        </p:nvSpPr>
        <p:spPr bwMode="auto">
          <a:xfrm>
            <a:off x="1311275" y="3952875"/>
            <a:ext cx="992188"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bg2"/>
                </a:solidFill>
                <a:latin typeface="Comic Sans MS" panose="030F0702030302020204" pitchFamily="66" charset="0"/>
              </a:rPr>
              <a:t>Amy</a:t>
            </a:r>
          </a:p>
        </p:txBody>
      </p:sp>
      <p:sp>
        <p:nvSpPr>
          <p:cNvPr id="24591" name="Rectangle 14">
            <a:extLst>
              <a:ext uri="{FF2B5EF4-FFF2-40B4-BE49-F238E27FC236}">
                <a16:creationId xmlns:a16="http://schemas.microsoft.com/office/drawing/2014/main" id="{374C226E-34E5-40E2-A688-D2AF115EF371}"/>
              </a:ext>
            </a:extLst>
          </p:cNvPr>
          <p:cNvSpPr>
            <a:spLocks noChangeAspect="1" noChangeArrowheads="1"/>
          </p:cNvSpPr>
          <p:nvPr/>
        </p:nvSpPr>
        <p:spPr bwMode="auto">
          <a:xfrm>
            <a:off x="3295650" y="3952875"/>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4592" name="Rectangle 15">
            <a:extLst>
              <a:ext uri="{FF2B5EF4-FFF2-40B4-BE49-F238E27FC236}">
                <a16:creationId xmlns:a16="http://schemas.microsoft.com/office/drawing/2014/main" id="{AC52D087-8049-42BA-A122-4CFAB1CB5FA0}"/>
              </a:ext>
            </a:extLst>
          </p:cNvPr>
          <p:cNvSpPr>
            <a:spLocks noChangeAspect="1" noChangeArrowheads="1"/>
          </p:cNvSpPr>
          <p:nvPr/>
        </p:nvSpPr>
        <p:spPr bwMode="auto">
          <a:xfrm>
            <a:off x="2303463" y="3952875"/>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4593" name="Rectangle 16">
            <a:extLst>
              <a:ext uri="{FF2B5EF4-FFF2-40B4-BE49-F238E27FC236}">
                <a16:creationId xmlns:a16="http://schemas.microsoft.com/office/drawing/2014/main" id="{4BB02855-57B3-4701-9A7D-9FBCF4D8D6DD}"/>
              </a:ext>
            </a:extLst>
          </p:cNvPr>
          <p:cNvSpPr>
            <a:spLocks noChangeAspect="1" noChangeArrowheads="1"/>
          </p:cNvSpPr>
          <p:nvPr/>
        </p:nvSpPr>
        <p:spPr bwMode="auto">
          <a:xfrm>
            <a:off x="4738688" y="4781550"/>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Clare</a:t>
            </a:r>
          </a:p>
        </p:txBody>
      </p:sp>
      <p:sp>
        <p:nvSpPr>
          <p:cNvPr id="24594" name="Rectangle 17">
            <a:extLst>
              <a:ext uri="{FF2B5EF4-FFF2-40B4-BE49-F238E27FC236}">
                <a16:creationId xmlns:a16="http://schemas.microsoft.com/office/drawing/2014/main" id="{2F659F6D-05B0-4B96-958D-5C6DC118D77C}"/>
              </a:ext>
            </a:extLst>
          </p:cNvPr>
          <p:cNvSpPr>
            <a:spLocks noChangeAspect="1" noChangeArrowheads="1"/>
          </p:cNvSpPr>
          <p:nvPr/>
        </p:nvSpPr>
        <p:spPr bwMode="auto">
          <a:xfrm>
            <a:off x="5730875" y="4781550"/>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Xavier</a:t>
            </a:r>
          </a:p>
        </p:txBody>
      </p:sp>
      <p:sp>
        <p:nvSpPr>
          <p:cNvPr id="24595" name="Rectangle 18">
            <a:extLst>
              <a:ext uri="{FF2B5EF4-FFF2-40B4-BE49-F238E27FC236}">
                <a16:creationId xmlns:a16="http://schemas.microsoft.com/office/drawing/2014/main" id="{48AD8077-82D6-4751-917E-F7DD28227DF6}"/>
              </a:ext>
            </a:extLst>
          </p:cNvPr>
          <p:cNvSpPr>
            <a:spLocks noChangeAspect="1" noChangeArrowheads="1"/>
          </p:cNvSpPr>
          <p:nvPr/>
        </p:nvSpPr>
        <p:spPr bwMode="auto">
          <a:xfrm>
            <a:off x="7715250" y="4781550"/>
            <a:ext cx="990600"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bg2"/>
                </a:solidFill>
                <a:latin typeface="Comic Sans MS" panose="030F0702030302020204" pitchFamily="66" charset="0"/>
              </a:rPr>
              <a:t>Zeus</a:t>
            </a:r>
          </a:p>
        </p:txBody>
      </p:sp>
      <p:sp>
        <p:nvSpPr>
          <p:cNvPr id="24596" name="Rectangle 19">
            <a:extLst>
              <a:ext uri="{FF2B5EF4-FFF2-40B4-BE49-F238E27FC236}">
                <a16:creationId xmlns:a16="http://schemas.microsoft.com/office/drawing/2014/main" id="{5124D81F-E951-42AF-9505-9683FF7F9DA6}"/>
              </a:ext>
            </a:extLst>
          </p:cNvPr>
          <p:cNvSpPr>
            <a:spLocks noChangeAspect="1" noChangeArrowheads="1"/>
          </p:cNvSpPr>
          <p:nvPr/>
        </p:nvSpPr>
        <p:spPr bwMode="auto">
          <a:xfrm>
            <a:off x="6723063" y="4781550"/>
            <a:ext cx="992187"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Yancey</a:t>
            </a:r>
          </a:p>
        </p:txBody>
      </p:sp>
      <p:sp>
        <p:nvSpPr>
          <p:cNvPr id="24597" name="Rectangle 20">
            <a:extLst>
              <a:ext uri="{FF2B5EF4-FFF2-40B4-BE49-F238E27FC236}">
                <a16:creationId xmlns:a16="http://schemas.microsoft.com/office/drawing/2014/main" id="{9201FC1E-954C-4FEA-981A-A01121894BC0}"/>
              </a:ext>
            </a:extLst>
          </p:cNvPr>
          <p:cNvSpPr>
            <a:spLocks noChangeAspect="1" noChangeArrowheads="1"/>
          </p:cNvSpPr>
          <p:nvPr/>
        </p:nvSpPr>
        <p:spPr bwMode="auto">
          <a:xfrm>
            <a:off x="4738688" y="4367213"/>
            <a:ext cx="992187" cy="4143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Bertha</a:t>
            </a:r>
          </a:p>
        </p:txBody>
      </p:sp>
      <p:sp>
        <p:nvSpPr>
          <p:cNvPr id="24598" name="Rectangle 21">
            <a:extLst>
              <a:ext uri="{FF2B5EF4-FFF2-40B4-BE49-F238E27FC236}">
                <a16:creationId xmlns:a16="http://schemas.microsoft.com/office/drawing/2014/main" id="{87610593-3F79-49A0-A1B4-630C14F1B503}"/>
              </a:ext>
            </a:extLst>
          </p:cNvPr>
          <p:cNvSpPr>
            <a:spLocks noChangeAspect="1" noChangeArrowheads="1"/>
          </p:cNvSpPr>
          <p:nvPr/>
        </p:nvSpPr>
        <p:spPr bwMode="auto">
          <a:xfrm>
            <a:off x="5730875" y="4367213"/>
            <a:ext cx="992188"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Xavier</a:t>
            </a:r>
          </a:p>
        </p:txBody>
      </p:sp>
      <p:sp>
        <p:nvSpPr>
          <p:cNvPr id="24599" name="Rectangle 22">
            <a:extLst>
              <a:ext uri="{FF2B5EF4-FFF2-40B4-BE49-F238E27FC236}">
                <a16:creationId xmlns:a16="http://schemas.microsoft.com/office/drawing/2014/main" id="{BA48532C-752C-4733-9B4C-8BA0512930CE}"/>
              </a:ext>
            </a:extLst>
          </p:cNvPr>
          <p:cNvSpPr>
            <a:spLocks noChangeAspect="1" noChangeArrowheads="1"/>
          </p:cNvSpPr>
          <p:nvPr/>
        </p:nvSpPr>
        <p:spPr bwMode="auto">
          <a:xfrm>
            <a:off x="7715250" y="4367213"/>
            <a:ext cx="990600" cy="4143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4600" name="Rectangle 23">
            <a:extLst>
              <a:ext uri="{FF2B5EF4-FFF2-40B4-BE49-F238E27FC236}">
                <a16:creationId xmlns:a16="http://schemas.microsoft.com/office/drawing/2014/main" id="{C0EDDF2D-3E0A-4A1D-8593-A12F0875F8D3}"/>
              </a:ext>
            </a:extLst>
          </p:cNvPr>
          <p:cNvSpPr>
            <a:spLocks noChangeAspect="1" noChangeArrowheads="1"/>
          </p:cNvSpPr>
          <p:nvPr/>
        </p:nvSpPr>
        <p:spPr bwMode="auto">
          <a:xfrm>
            <a:off x="6723063" y="4367213"/>
            <a:ext cx="992187" cy="414337"/>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bg2"/>
                </a:solidFill>
                <a:latin typeface="Comic Sans MS" panose="030F0702030302020204" pitchFamily="66" charset="0"/>
              </a:rPr>
              <a:t>Yancey</a:t>
            </a:r>
          </a:p>
        </p:txBody>
      </p:sp>
      <p:sp>
        <p:nvSpPr>
          <p:cNvPr id="24601" name="Rectangle 24">
            <a:extLst>
              <a:ext uri="{FF2B5EF4-FFF2-40B4-BE49-F238E27FC236}">
                <a16:creationId xmlns:a16="http://schemas.microsoft.com/office/drawing/2014/main" id="{1218743D-8D93-41F0-B396-195A333A9A2A}"/>
              </a:ext>
            </a:extLst>
          </p:cNvPr>
          <p:cNvSpPr>
            <a:spLocks noChangeAspect="1" noChangeArrowheads="1"/>
          </p:cNvSpPr>
          <p:nvPr/>
        </p:nvSpPr>
        <p:spPr bwMode="auto">
          <a:xfrm>
            <a:off x="4738688" y="3952875"/>
            <a:ext cx="992187" cy="4143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Amy</a:t>
            </a:r>
          </a:p>
        </p:txBody>
      </p:sp>
      <p:sp>
        <p:nvSpPr>
          <p:cNvPr id="24602" name="Rectangle 25">
            <a:extLst>
              <a:ext uri="{FF2B5EF4-FFF2-40B4-BE49-F238E27FC236}">
                <a16:creationId xmlns:a16="http://schemas.microsoft.com/office/drawing/2014/main" id="{219C3F59-A46B-4164-90DC-FC343D4741AA}"/>
              </a:ext>
            </a:extLst>
          </p:cNvPr>
          <p:cNvSpPr>
            <a:spLocks noChangeAspect="1" noChangeArrowheads="1"/>
          </p:cNvSpPr>
          <p:nvPr/>
        </p:nvSpPr>
        <p:spPr bwMode="auto">
          <a:xfrm>
            <a:off x="5730875" y="3952875"/>
            <a:ext cx="992188"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Yancey</a:t>
            </a:r>
          </a:p>
        </p:txBody>
      </p:sp>
      <p:sp>
        <p:nvSpPr>
          <p:cNvPr id="24603" name="Rectangle 26">
            <a:extLst>
              <a:ext uri="{FF2B5EF4-FFF2-40B4-BE49-F238E27FC236}">
                <a16:creationId xmlns:a16="http://schemas.microsoft.com/office/drawing/2014/main" id="{E904FDBA-6D98-402C-A538-EC9C6EB9B675}"/>
              </a:ext>
            </a:extLst>
          </p:cNvPr>
          <p:cNvSpPr>
            <a:spLocks noChangeAspect="1" noChangeArrowheads="1"/>
          </p:cNvSpPr>
          <p:nvPr/>
        </p:nvSpPr>
        <p:spPr bwMode="auto">
          <a:xfrm>
            <a:off x="7715250" y="3952875"/>
            <a:ext cx="990600" cy="4143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rgbClr val="00FF00"/>
                </a:solidFill>
                <a:latin typeface="Comic Sans MS" panose="030F0702030302020204" pitchFamily="66" charset="0"/>
              </a:rPr>
              <a:t>Zeus</a:t>
            </a:r>
          </a:p>
        </p:txBody>
      </p:sp>
      <p:sp>
        <p:nvSpPr>
          <p:cNvPr id="24604" name="Rectangle 27">
            <a:extLst>
              <a:ext uri="{FF2B5EF4-FFF2-40B4-BE49-F238E27FC236}">
                <a16:creationId xmlns:a16="http://schemas.microsoft.com/office/drawing/2014/main" id="{960D1632-D5DA-45C5-A64A-492B8CBEFF41}"/>
              </a:ext>
            </a:extLst>
          </p:cNvPr>
          <p:cNvSpPr>
            <a:spLocks noChangeAspect="1" noChangeArrowheads="1"/>
          </p:cNvSpPr>
          <p:nvPr/>
        </p:nvSpPr>
        <p:spPr bwMode="auto">
          <a:xfrm>
            <a:off x="6723063" y="3952875"/>
            <a:ext cx="992187" cy="414338"/>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bg2"/>
                </a:solidFill>
                <a:latin typeface="Comic Sans MS" panose="030F0702030302020204" pitchFamily="66" charset="0"/>
              </a:rPr>
              <a:t>Xavier</a:t>
            </a:r>
          </a:p>
        </p:txBody>
      </p:sp>
      <p:sp>
        <p:nvSpPr>
          <p:cNvPr id="24605" name="Rectangle 28">
            <a:extLst>
              <a:ext uri="{FF2B5EF4-FFF2-40B4-BE49-F238E27FC236}">
                <a16:creationId xmlns:a16="http://schemas.microsoft.com/office/drawing/2014/main" id="{64F62AE9-4B7D-4EBD-88F2-754BDC41D263}"/>
              </a:ext>
            </a:extLst>
          </p:cNvPr>
          <p:cNvSpPr>
            <a:spLocks noChangeAspect="1" noChangeArrowheads="1"/>
          </p:cNvSpPr>
          <p:nvPr/>
        </p:nvSpPr>
        <p:spPr bwMode="auto">
          <a:xfrm>
            <a:off x="1311275" y="3541713"/>
            <a:ext cx="992188"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1</a:t>
            </a:r>
            <a:r>
              <a:rPr kumimoji="0" lang="en-US" altLang="zh-CN" sz="1600" baseline="30000">
                <a:solidFill>
                  <a:srgbClr val="00FF00"/>
                </a:solidFill>
                <a:latin typeface="Comic Sans MS" panose="030F0702030302020204" pitchFamily="66" charset="0"/>
              </a:rPr>
              <a:t>st</a:t>
            </a:r>
          </a:p>
        </p:txBody>
      </p:sp>
      <p:sp>
        <p:nvSpPr>
          <p:cNvPr id="24606" name="Rectangle 29">
            <a:extLst>
              <a:ext uri="{FF2B5EF4-FFF2-40B4-BE49-F238E27FC236}">
                <a16:creationId xmlns:a16="http://schemas.microsoft.com/office/drawing/2014/main" id="{732FCA14-1B79-4F0A-9FFC-1B68EF257DB3}"/>
              </a:ext>
            </a:extLst>
          </p:cNvPr>
          <p:cNvSpPr>
            <a:spLocks noChangeAspect="1" noChangeArrowheads="1"/>
          </p:cNvSpPr>
          <p:nvPr/>
        </p:nvSpPr>
        <p:spPr bwMode="auto">
          <a:xfrm>
            <a:off x="2303463" y="3541713"/>
            <a:ext cx="992187"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2</a:t>
            </a:r>
            <a:r>
              <a:rPr kumimoji="0" lang="en-US" altLang="zh-CN" sz="1600" baseline="30000">
                <a:solidFill>
                  <a:srgbClr val="00FF00"/>
                </a:solidFill>
                <a:latin typeface="Comic Sans MS" panose="030F0702030302020204" pitchFamily="66" charset="0"/>
              </a:rPr>
              <a:t>nd</a:t>
            </a:r>
          </a:p>
        </p:txBody>
      </p:sp>
      <p:sp>
        <p:nvSpPr>
          <p:cNvPr id="24607" name="Rectangle 30">
            <a:extLst>
              <a:ext uri="{FF2B5EF4-FFF2-40B4-BE49-F238E27FC236}">
                <a16:creationId xmlns:a16="http://schemas.microsoft.com/office/drawing/2014/main" id="{D22BD41D-2743-43E5-BD2E-5868B86E7ADA}"/>
              </a:ext>
            </a:extLst>
          </p:cNvPr>
          <p:cNvSpPr>
            <a:spLocks noChangeAspect="1" noChangeArrowheads="1"/>
          </p:cNvSpPr>
          <p:nvPr/>
        </p:nvSpPr>
        <p:spPr bwMode="auto">
          <a:xfrm>
            <a:off x="3295650" y="3541713"/>
            <a:ext cx="990600"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3</a:t>
            </a:r>
            <a:r>
              <a:rPr kumimoji="0" lang="en-US" altLang="zh-CN" sz="1600" baseline="30000">
                <a:solidFill>
                  <a:srgbClr val="00FF00"/>
                </a:solidFill>
                <a:latin typeface="Comic Sans MS" panose="030F0702030302020204" pitchFamily="66" charset="0"/>
              </a:rPr>
              <a:t>rd</a:t>
            </a:r>
          </a:p>
        </p:txBody>
      </p:sp>
      <p:sp>
        <p:nvSpPr>
          <p:cNvPr id="24608" name="Rectangle 31">
            <a:extLst>
              <a:ext uri="{FF2B5EF4-FFF2-40B4-BE49-F238E27FC236}">
                <a16:creationId xmlns:a16="http://schemas.microsoft.com/office/drawing/2014/main" id="{F5E7EB8C-72DA-40D0-8C70-17A7C4BB28A0}"/>
              </a:ext>
            </a:extLst>
          </p:cNvPr>
          <p:cNvSpPr>
            <a:spLocks noChangeAspect="1" noChangeArrowheads="1"/>
          </p:cNvSpPr>
          <p:nvPr/>
        </p:nvSpPr>
        <p:spPr bwMode="auto">
          <a:xfrm>
            <a:off x="5730875" y="3541713"/>
            <a:ext cx="992188"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1</a:t>
            </a:r>
            <a:r>
              <a:rPr kumimoji="0" lang="en-US" altLang="zh-CN" sz="1600" baseline="30000">
                <a:solidFill>
                  <a:srgbClr val="00FF00"/>
                </a:solidFill>
                <a:latin typeface="Comic Sans MS" panose="030F0702030302020204" pitchFamily="66" charset="0"/>
              </a:rPr>
              <a:t>st</a:t>
            </a:r>
          </a:p>
        </p:txBody>
      </p:sp>
      <p:sp>
        <p:nvSpPr>
          <p:cNvPr id="24609" name="Rectangle 32">
            <a:extLst>
              <a:ext uri="{FF2B5EF4-FFF2-40B4-BE49-F238E27FC236}">
                <a16:creationId xmlns:a16="http://schemas.microsoft.com/office/drawing/2014/main" id="{58F5BB25-C5B6-479A-A69F-A83E09E1DE10}"/>
              </a:ext>
            </a:extLst>
          </p:cNvPr>
          <p:cNvSpPr>
            <a:spLocks noChangeAspect="1" noChangeArrowheads="1"/>
          </p:cNvSpPr>
          <p:nvPr/>
        </p:nvSpPr>
        <p:spPr bwMode="auto">
          <a:xfrm>
            <a:off x="6723063" y="3541713"/>
            <a:ext cx="992187"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2</a:t>
            </a:r>
            <a:r>
              <a:rPr kumimoji="0" lang="en-US" altLang="zh-CN" sz="1600" baseline="30000">
                <a:solidFill>
                  <a:srgbClr val="00FF00"/>
                </a:solidFill>
                <a:latin typeface="Comic Sans MS" panose="030F0702030302020204" pitchFamily="66" charset="0"/>
              </a:rPr>
              <a:t>nd</a:t>
            </a:r>
          </a:p>
        </p:txBody>
      </p:sp>
      <p:sp>
        <p:nvSpPr>
          <p:cNvPr id="24610" name="Rectangle 33">
            <a:extLst>
              <a:ext uri="{FF2B5EF4-FFF2-40B4-BE49-F238E27FC236}">
                <a16:creationId xmlns:a16="http://schemas.microsoft.com/office/drawing/2014/main" id="{B3049447-A485-42FE-8459-657488B1753D}"/>
              </a:ext>
            </a:extLst>
          </p:cNvPr>
          <p:cNvSpPr>
            <a:spLocks noChangeAspect="1" noChangeArrowheads="1"/>
          </p:cNvSpPr>
          <p:nvPr/>
        </p:nvSpPr>
        <p:spPr bwMode="auto">
          <a:xfrm>
            <a:off x="7715250" y="3541713"/>
            <a:ext cx="990600" cy="411162"/>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600">
                <a:solidFill>
                  <a:srgbClr val="00FF00"/>
                </a:solidFill>
                <a:latin typeface="Comic Sans MS" panose="030F0702030302020204" pitchFamily="66" charset="0"/>
              </a:rPr>
              <a:t>3</a:t>
            </a:r>
            <a:r>
              <a:rPr kumimoji="0" lang="en-US" altLang="zh-CN" sz="1600" baseline="30000">
                <a:solidFill>
                  <a:srgbClr val="00FF00"/>
                </a:solidFill>
                <a:latin typeface="Comic Sans MS" panose="030F0702030302020204" pitchFamily="66" charset="0"/>
              </a:rPr>
              <a:t>rd</a:t>
            </a:r>
          </a:p>
        </p:txBody>
      </p:sp>
      <p:sp>
        <p:nvSpPr>
          <p:cNvPr id="24611" name="Text Box 34">
            <a:extLst>
              <a:ext uri="{FF2B5EF4-FFF2-40B4-BE49-F238E27FC236}">
                <a16:creationId xmlns:a16="http://schemas.microsoft.com/office/drawing/2014/main" id="{FC1646A1-942B-4DA3-BE18-6BD631FC9C64}"/>
              </a:ext>
            </a:extLst>
          </p:cNvPr>
          <p:cNvSpPr txBox="1">
            <a:spLocks noChangeArrowheads="1"/>
          </p:cNvSpPr>
          <p:nvPr/>
        </p:nvSpPr>
        <p:spPr bwMode="auto">
          <a:xfrm>
            <a:off x="1557338" y="3051175"/>
            <a:ext cx="581025"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favorite</a:t>
            </a:r>
          </a:p>
        </p:txBody>
      </p:sp>
      <p:sp>
        <p:nvSpPr>
          <p:cNvPr id="24612" name="Text Box 35">
            <a:extLst>
              <a:ext uri="{FF2B5EF4-FFF2-40B4-BE49-F238E27FC236}">
                <a16:creationId xmlns:a16="http://schemas.microsoft.com/office/drawing/2014/main" id="{5E362556-2FF6-4C26-A295-EF295271FF4B}"/>
              </a:ext>
            </a:extLst>
          </p:cNvPr>
          <p:cNvSpPr txBox="1">
            <a:spLocks noChangeArrowheads="1"/>
          </p:cNvSpPr>
          <p:nvPr/>
        </p:nvSpPr>
        <p:spPr bwMode="auto">
          <a:xfrm>
            <a:off x="3373438" y="3051175"/>
            <a:ext cx="976312"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least favorite</a:t>
            </a:r>
          </a:p>
        </p:txBody>
      </p:sp>
      <p:sp>
        <p:nvSpPr>
          <p:cNvPr id="24613" name="Text Box 36">
            <a:extLst>
              <a:ext uri="{FF2B5EF4-FFF2-40B4-BE49-F238E27FC236}">
                <a16:creationId xmlns:a16="http://schemas.microsoft.com/office/drawing/2014/main" id="{BD4A7C26-731E-4502-AE1B-11BA718B9D80}"/>
              </a:ext>
            </a:extLst>
          </p:cNvPr>
          <p:cNvSpPr txBox="1">
            <a:spLocks noChangeArrowheads="1"/>
          </p:cNvSpPr>
          <p:nvPr/>
        </p:nvSpPr>
        <p:spPr bwMode="auto">
          <a:xfrm>
            <a:off x="5976938" y="3051175"/>
            <a:ext cx="581025"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favorite</a:t>
            </a:r>
          </a:p>
        </p:txBody>
      </p:sp>
      <p:sp>
        <p:nvSpPr>
          <p:cNvPr id="24614" name="Line 37">
            <a:extLst>
              <a:ext uri="{FF2B5EF4-FFF2-40B4-BE49-F238E27FC236}">
                <a16:creationId xmlns:a16="http://schemas.microsoft.com/office/drawing/2014/main" id="{ACEF604C-743D-4E47-BAD7-F66BDFAFB53D}"/>
              </a:ext>
            </a:extLst>
          </p:cNvPr>
          <p:cNvSpPr>
            <a:spLocks noChangeShapeType="1"/>
          </p:cNvSpPr>
          <p:nvPr/>
        </p:nvSpPr>
        <p:spPr bwMode="auto">
          <a:xfrm>
            <a:off x="6248400" y="3279775"/>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4615" name="Line 38">
            <a:extLst>
              <a:ext uri="{FF2B5EF4-FFF2-40B4-BE49-F238E27FC236}">
                <a16:creationId xmlns:a16="http://schemas.microsoft.com/office/drawing/2014/main" id="{7209991B-FF64-4DE3-8BFD-D8C9CD6DADFB}"/>
              </a:ext>
            </a:extLst>
          </p:cNvPr>
          <p:cNvSpPr>
            <a:spLocks noChangeShapeType="1"/>
          </p:cNvSpPr>
          <p:nvPr/>
        </p:nvSpPr>
        <p:spPr bwMode="auto">
          <a:xfrm>
            <a:off x="3830638" y="3279775"/>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4616" name="Line 39">
            <a:extLst>
              <a:ext uri="{FF2B5EF4-FFF2-40B4-BE49-F238E27FC236}">
                <a16:creationId xmlns:a16="http://schemas.microsoft.com/office/drawing/2014/main" id="{CB463B9D-BEEB-4FD7-9AB0-B09F73C79ADA}"/>
              </a:ext>
            </a:extLst>
          </p:cNvPr>
          <p:cNvSpPr>
            <a:spLocks noChangeShapeType="1"/>
          </p:cNvSpPr>
          <p:nvPr/>
        </p:nvSpPr>
        <p:spPr bwMode="auto">
          <a:xfrm>
            <a:off x="1828800" y="3279775"/>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4617" name="Text Box 40">
            <a:extLst>
              <a:ext uri="{FF2B5EF4-FFF2-40B4-BE49-F238E27FC236}">
                <a16:creationId xmlns:a16="http://schemas.microsoft.com/office/drawing/2014/main" id="{80277A3D-BC1C-41FE-B676-BE59BB90B294}"/>
              </a:ext>
            </a:extLst>
          </p:cNvPr>
          <p:cNvSpPr txBox="1">
            <a:spLocks noChangeArrowheads="1"/>
          </p:cNvSpPr>
          <p:nvPr/>
        </p:nvSpPr>
        <p:spPr bwMode="auto">
          <a:xfrm>
            <a:off x="7751763" y="3048000"/>
            <a:ext cx="976312"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defTabSz="1019175">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509588" indent="-285750" defTabSz="1019175">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019175" indent="-228600" defTabSz="1019175">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528763" indent="-228600" defTabSz="1019175">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38350" indent="-228600" defTabSz="1019175">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4955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527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099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67150" indent="-228600" defTabSz="1019175"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least favorite</a:t>
            </a:r>
          </a:p>
        </p:txBody>
      </p:sp>
      <p:sp>
        <p:nvSpPr>
          <p:cNvPr id="24618" name="Line 41">
            <a:extLst>
              <a:ext uri="{FF2B5EF4-FFF2-40B4-BE49-F238E27FC236}">
                <a16:creationId xmlns:a16="http://schemas.microsoft.com/office/drawing/2014/main" id="{74416B79-BF4D-44C7-ACFC-9A788C5DAB39}"/>
              </a:ext>
            </a:extLst>
          </p:cNvPr>
          <p:cNvSpPr>
            <a:spLocks noChangeShapeType="1"/>
          </p:cNvSpPr>
          <p:nvPr/>
        </p:nvSpPr>
        <p:spPr bwMode="auto">
          <a:xfrm>
            <a:off x="8208963" y="3276600"/>
            <a:ext cx="0" cy="15240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24619" name="Rectangle 42">
            <a:extLst>
              <a:ext uri="{FF2B5EF4-FFF2-40B4-BE49-F238E27FC236}">
                <a16:creationId xmlns:a16="http://schemas.microsoft.com/office/drawing/2014/main" id="{66AAFFED-3E3F-49EE-A002-59A21EDEFD65}"/>
              </a:ext>
            </a:extLst>
          </p:cNvPr>
          <p:cNvSpPr>
            <a:spLocks noChangeAspect="1" noChangeArrowheads="1"/>
          </p:cNvSpPr>
          <p:nvPr/>
        </p:nvSpPr>
        <p:spPr bwMode="auto">
          <a:xfrm>
            <a:off x="304800" y="5184775"/>
            <a:ext cx="3962400" cy="414338"/>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Men’s Preference Profile</a:t>
            </a:r>
            <a:endParaRPr kumimoji="0" lang="en-US" altLang="zh-CN" sz="1400" i="1">
              <a:solidFill>
                <a:schemeClr val="bg1"/>
              </a:solidFill>
              <a:latin typeface="Comic Sans MS" panose="030F0702030302020204" pitchFamily="66" charset="0"/>
            </a:endParaRPr>
          </a:p>
        </p:txBody>
      </p:sp>
      <p:sp>
        <p:nvSpPr>
          <p:cNvPr id="24620" name="Rectangle 43">
            <a:extLst>
              <a:ext uri="{FF2B5EF4-FFF2-40B4-BE49-F238E27FC236}">
                <a16:creationId xmlns:a16="http://schemas.microsoft.com/office/drawing/2014/main" id="{5E58AA43-135F-470B-B8C4-232FCE53D272}"/>
              </a:ext>
            </a:extLst>
          </p:cNvPr>
          <p:cNvSpPr>
            <a:spLocks noChangeAspect="1" noChangeArrowheads="1"/>
          </p:cNvSpPr>
          <p:nvPr/>
        </p:nvSpPr>
        <p:spPr bwMode="auto">
          <a:xfrm>
            <a:off x="4724400" y="5184775"/>
            <a:ext cx="3962400" cy="414338"/>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Women’s Preference Profile</a:t>
            </a:r>
            <a:endParaRPr kumimoji="0" lang="en-US" altLang="zh-CN" sz="1400" i="1">
              <a:solidFill>
                <a:schemeClr val="bg1"/>
              </a:solidFill>
              <a:latin typeface="Comic Sans MS" panose="030F0702030302020204" pitchFamily="66" charset="0"/>
            </a:endParaRPr>
          </a:p>
        </p:txBody>
      </p:sp>
      <p:sp>
        <p:nvSpPr>
          <p:cNvPr id="27693" name="Text Box 45">
            <a:extLst>
              <a:ext uri="{FF2B5EF4-FFF2-40B4-BE49-F238E27FC236}">
                <a16:creationId xmlns:a16="http://schemas.microsoft.com/office/drawing/2014/main" id="{CCB98C9E-0475-4FE4-8AEE-B588480AEC75}"/>
              </a:ext>
            </a:extLst>
          </p:cNvPr>
          <p:cNvSpPr txBox="1">
            <a:spLocks noChangeArrowheads="1"/>
          </p:cNvSpPr>
          <p:nvPr/>
        </p:nvSpPr>
        <p:spPr bwMode="auto">
          <a:xfrm>
            <a:off x="1219200" y="6019800"/>
            <a:ext cx="2438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chemeClr val="hlink"/>
                </a:solidFill>
              </a:rPr>
              <a:t>Yes!!!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93"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6AB0897-57D3-4FDC-90BE-0D72831BDB06}"/>
              </a:ext>
            </a:extLst>
          </p:cNvPr>
          <p:cNvSpPr>
            <a:spLocks noGrp="1"/>
          </p:cNvSpPr>
          <p:nvPr>
            <p:ph type="sldNum" sz="quarter" idx="12"/>
          </p:nvPr>
        </p:nvSpPr>
        <p:spPr/>
        <p:txBody>
          <a:bodyPr/>
          <a:lstStyle/>
          <a:p>
            <a:pPr>
              <a:defRPr/>
            </a:pPr>
            <a:fld id="{3F75ABA4-BE96-48B8-932D-9396336EC5B4}" type="slidenum">
              <a:rPr lang="zh-CN" altLang="en-US"/>
              <a:pPr>
                <a:defRPr/>
              </a:pPr>
              <a:t>33</a:t>
            </a:fld>
            <a:endParaRPr lang="en-US" altLang="zh-CN"/>
          </a:p>
        </p:txBody>
      </p:sp>
      <p:sp>
        <p:nvSpPr>
          <p:cNvPr id="25603" name="Rectangle 2050">
            <a:extLst>
              <a:ext uri="{FF2B5EF4-FFF2-40B4-BE49-F238E27FC236}">
                <a16:creationId xmlns:a16="http://schemas.microsoft.com/office/drawing/2014/main" id="{D1FEB9C8-5F62-4812-B049-6F7BCC6E3F1F}"/>
              </a:ext>
            </a:extLst>
          </p:cNvPr>
          <p:cNvSpPr>
            <a:spLocks noGrp="1" noChangeArrowheads="1"/>
          </p:cNvSpPr>
          <p:nvPr>
            <p:ph type="title"/>
          </p:nvPr>
        </p:nvSpPr>
        <p:spPr/>
        <p:txBody>
          <a:bodyPr/>
          <a:lstStyle/>
          <a:p>
            <a:pPr eaLnBrk="1" hangingPunct="1"/>
            <a:r>
              <a:rPr lang="zh-CN" altLang="en-US"/>
              <a:t>算法</a:t>
            </a:r>
          </a:p>
        </p:txBody>
      </p:sp>
      <p:sp>
        <p:nvSpPr>
          <p:cNvPr id="80899" name="Rectangle 2051">
            <a:extLst>
              <a:ext uri="{FF2B5EF4-FFF2-40B4-BE49-F238E27FC236}">
                <a16:creationId xmlns:a16="http://schemas.microsoft.com/office/drawing/2014/main" id="{AB75500D-9349-4CF5-8728-3A2E3AE34A5D}"/>
              </a:ext>
            </a:extLst>
          </p:cNvPr>
          <p:cNvSpPr>
            <a:spLocks noGrp="1" noChangeArrowheads="1"/>
          </p:cNvSpPr>
          <p:nvPr>
            <p:ph type="body" idx="1"/>
          </p:nvPr>
        </p:nvSpPr>
        <p:spPr/>
        <p:txBody>
          <a:bodyPr/>
          <a:lstStyle/>
          <a:p>
            <a:pPr eaLnBrk="1" hangingPunct="1">
              <a:buFont typeface="Wingdings" panose="05000000000000000000" pitchFamily="2" charset="2"/>
              <a:buNone/>
            </a:pPr>
            <a:endParaRPr lang="zh-CN" altLang="en-US" b="1" dirty="0"/>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r>
              <a:rPr lang="zh-CN" altLang="en-US" dirty="0"/>
              <a:t>下面我们按照</a:t>
            </a:r>
            <a:r>
              <a:rPr lang="zh-CN" altLang="en-US" b="1" i="1" dirty="0"/>
              <a:t>优先选择</a:t>
            </a:r>
            <a:r>
              <a:rPr lang="zh-CN" altLang="en-US" dirty="0"/>
              <a:t>的思路，尝试给出一个算法</a:t>
            </a:r>
          </a:p>
          <a:p>
            <a:pPr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899">
                                            <p:txEl>
                                              <p:pRg st="2" end="2"/>
                                            </p:txEl>
                                          </p:spTgt>
                                        </p:tgtEl>
                                        <p:attrNameLst>
                                          <p:attrName>style.visibility</p:attrName>
                                        </p:attrNameLst>
                                      </p:cBhvr>
                                      <p:to>
                                        <p:strVal val="visible"/>
                                      </p:to>
                                    </p:set>
                                    <p:anim calcmode="lin" valueType="num">
                                      <p:cBhvr additive="base">
                                        <p:cTn id="7" dur="500" fill="hold"/>
                                        <p:tgtEl>
                                          <p:spTgt spid="80899">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89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E41C6FA-278E-4945-A464-856EE7BA79D4}"/>
              </a:ext>
            </a:extLst>
          </p:cNvPr>
          <p:cNvSpPr>
            <a:spLocks noGrp="1"/>
          </p:cNvSpPr>
          <p:nvPr>
            <p:ph type="sldNum" sz="quarter" idx="12"/>
          </p:nvPr>
        </p:nvSpPr>
        <p:spPr/>
        <p:txBody>
          <a:bodyPr/>
          <a:lstStyle/>
          <a:p>
            <a:pPr>
              <a:defRPr/>
            </a:pPr>
            <a:fld id="{52644FDB-63FA-4CC9-9A73-B6327F74D943}" type="slidenum">
              <a:rPr lang="zh-CN" altLang="en-US"/>
              <a:pPr>
                <a:defRPr/>
              </a:pPr>
              <a:t>34</a:t>
            </a:fld>
            <a:endParaRPr lang="en-US" altLang="zh-CN"/>
          </a:p>
        </p:txBody>
      </p:sp>
      <p:sp>
        <p:nvSpPr>
          <p:cNvPr id="26627" name="Rectangle 2">
            <a:extLst>
              <a:ext uri="{FF2B5EF4-FFF2-40B4-BE49-F238E27FC236}">
                <a16:creationId xmlns:a16="http://schemas.microsoft.com/office/drawing/2014/main" id="{5091F7E9-4D51-4F75-BFE8-E991C9DC8DD8}"/>
              </a:ext>
            </a:extLst>
          </p:cNvPr>
          <p:cNvSpPr>
            <a:spLocks noGrp="1" noChangeArrowheads="1"/>
          </p:cNvSpPr>
          <p:nvPr>
            <p:ph type="title"/>
          </p:nvPr>
        </p:nvSpPr>
        <p:spPr/>
        <p:txBody>
          <a:bodyPr/>
          <a:lstStyle/>
          <a:p>
            <a:pPr eaLnBrk="1" hangingPunct="1"/>
            <a:r>
              <a:rPr lang="zh-CN" altLang="en-US"/>
              <a:t>算法</a:t>
            </a:r>
          </a:p>
        </p:txBody>
      </p:sp>
      <p:sp>
        <p:nvSpPr>
          <p:cNvPr id="31747" name="Rectangle 3">
            <a:extLst>
              <a:ext uri="{FF2B5EF4-FFF2-40B4-BE49-F238E27FC236}">
                <a16:creationId xmlns:a16="http://schemas.microsoft.com/office/drawing/2014/main" id="{F5D0D25B-0D1A-45D0-800E-DE18E6E4278D}"/>
              </a:ext>
            </a:extLst>
          </p:cNvPr>
          <p:cNvSpPr>
            <a:spLocks noGrp="1" noChangeArrowheads="1"/>
          </p:cNvSpPr>
          <p:nvPr>
            <p:ph type="body" idx="1"/>
          </p:nvPr>
        </p:nvSpPr>
        <p:spPr>
          <a:xfrm>
            <a:off x="933768" y="1985169"/>
            <a:ext cx="7772400" cy="4114800"/>
          </a:xfrm>
        </p:spPr>
        <p:txBody>
          <a:bodyPr/>
          <a:lstStyle/>
          <a:p>
            <a:pPr eaLnBrk="1" hangingPunct="1"/>
            <a:r>
              <a:rPr lang="zh-CN" altLang="en-US" dirty="0"/>
              <a:t>初始，每个人都是自由的。一个</a:t>
            </a:r>
            <a:r>
              <a:rPr lang="zh-CN" altLang="en-US" b="1" dirty="0"/>
              <a:t>自由</a:t>
            </a:r>
            <a:r>
              <a:rPr lang="zh-CN" altLang="en-US" dirty="0"/>
              <a:t>的男人</a:t>
            </a:r>
            <a:r>
              <a:rPr lang="en-US" altLang="zh-CN" dirty="0"/>
              <a:t>m</a:t>
            </a:r>
            <a:r>
              <a:rPr lang="zh-CN" altLang="en-US" dirty="0"/>
              <a:t>选择他的优先表上排名最高的女人</a:t>
            </a:r>
            <a:r>
              <a:rPr lang="en-US" altLang="zh-CN" dirty="0"/>
              <a:t>w,</a:t>
            </a:r>
            <a:r>
              <a:rPr lang="zh-CN" altLang="en-US" dirty="0"/>
              <a:t>发起邀请，那么 (</a:t>
            </a:r>
            <a:r>
              <a:rPr lang="en-US" altLang="zh-CN" dirty="0" err="1"/>
              <a:t>m,w</a:t>
            </a:r>
            <a:r>
              <a:rPr lang="en-US" altLang="zh-CN" dirty="0"/>
              <a:t>)</a:t>
            </a:r>
            <a:r>
              <a:rPr lang="zh-CN" altLang="en-US" dirty="0"/>
              <a:t>进入</a:t>
            </a:r>
            <a:r>
              <a:rPr lang="zh-CN" altLang="en-US" b="1" dirty="0"/>
              <a:t>中间状态</a:t>
            </a:r>
            <a:r>
              <a:rPr lang="zh-CN" altLang="en-US" dirty="0"/>
              <a:t>：</a:t>
            </a:r>
            <a:r>
              <a:rPr lang="zh-CN" altLang="en-US" b="1" i="1" dirty="0"/>
              <a:t>约会</a:t>
            </a:r>
            <a:r>
              <a:rPr lang="zh-CN" altLang="en-US" dirty="0"/>
              <a:t>。</a:t>
            </a:r>
          </a:p>
          <a:p>
            <a:pPr eaLnBrk="1" hangingPunct="1"/>
            <a:r>
              <a:rPr lang="zh-CN" altLang="en-US" dirty="0"/>
              <a:t>如果又有另一个男人</a:t>
            </a:r>
            <a:r>
              <a:rPr lang="en-US" altLang="zh-CN" dirty="0"/>
              <a:t>m</a:t>
            </a:r>
            <a:r>
              <a:rPr lang="en-US" altLang="zh-CN" dirty="0">
                <a:latin typeface="Times New Roman" panose="02020603050405020304" pitchFamily="18" charset="0"/>
              </a:rPr>
              <a:t>’</a:t>
            </a:r>
            <a:r>
              <a:rPr lang="zh-CN" altLang="en-US" dirty="0"/>
              <a:t>发起邀请，那么女人</a:t>
            </a:r>
            <a:r>
              <a:rPr lang="en-US" altLang="zh-CN" dirty="0"/>
              <a:t>w</a:t>
            </a:r>
            <a:r>
              <a:rPr lang="zh-CN" altLang="en-US" dirty="0"/>
              <a:t>决定,选择</a:t>
            </a:r>
            <a:r>
              <a:rPr lang="en-US" altLang="zh-CN" dirty="0"/>
              <a:t>m,</a:t>
            </a:r>
            <a:r>
              <a:rPr lang="zh-CN" altLang="en-US" dirty="0"/>
              <a:t>还是</a:t>
            </a:r>
            <a:r>
              <a:rPr lang="en-US" altLang="zh-CN" dirty="0"/>
              <a:t>m</a:t>
            </a:r>
            <a:r>
              <a:rPr lang="en-US" altLang="zh-CN" dirty="0">
                <a:latin typeface="Times New Roman" panose="02020603050405020304" pitchFamily="18" charset="0"/>
              </a:rPr>
              <a:t>’</a:t>
            </a:r>
            <a:r>
              <a:rPr lang="zh-CN" altLang="en-US" dirty="0"/>
              <a:t>。如果</a:t>
            </a:r>
            <a:r>
              <a:rPr lang="en-US" altLang="zh-CN" dirty="0"/>
              <a:t>m</a:t>
            </a:r>
            <a:r>
              <a:rPr lang="zh-CN" altLang="en-US" dirty="0"/>
              <a:t>优先，那么约会状态不变。否则(</a:t>
            </a:r>
            <a:r>
              <a:rPr lang="en-US" altLang="zh-CN" dirty="0" err="1"/>
              <a:t>m</a:t>
            </a:r>
            <a:r>
              <a:rPr lang="en-US" altLang="zh-CN" dirty="0" err="1">
                <a:latin typeface="Times New Roman" panose="02020603050405020304" pitchFamily="18" charset="0"/>
              </a:rPr>
              <a:t>’</a:t>
            </a:r>
            <a:r>
              <a:rPr lang="en-US" altLang="zh-CN" dirty="0" err="1"/>
              <a:t>,w</a:t>
            </a:r>
            <a:r>
              <a:rPr lang="en-US" altLang="zh-CN" dirty="0"/>
              <a:t>)</a:t>
            </a:r>
            <a:r>
              <a:rPr lang="zh-CN" altLang="en-US" dirty="0"/>
              <a:t>变成约会状态，</a:t>
            </a:r>
            <a:r>
              <a:rPr lang="en-US" altLang="zh-CN" dirty="0"/>
              <a:t>m</a:t>
            </a:r>
            <a:r>
              <a:rPr lang="zh-CN" altLang="en-US" dirty="0"/>
              <a:t>变成自由状态。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CB7039B-C827-4AB8-A2E2-C6C9EBEB568F}"/>
              </a:ext>
            </a:extLst>
          </p:cNvPr>
          <p:cNvSpPr>
            <a:spLocks noGrp="1"/>
          </p:cNvSpPr>
          <p:nvPr>
            <p:ph type="sldNum" sz="quarter" idx="12"/>
          </p:nvPr>
        </p:nvSpPr>
        <p:spPr/>
        <p:txBody>
          <a:bodyPr/>
          <a:lstStyle/>
          <a:p>
            <a:pPr>
              <a:defRPr/>
            </a:pPr>
            <a:fld id="{9BE418C4-6E12-43F7-9D5E-FF5D980B3924}" type="slidenum">
              <a:rPr lang="zh-CN" altLang="en-US"/>
              <a:pPr>
                <a:defRPr/>
              </a:pPr>
              <a:t>35</a:t>
            </a:fld>
            <a:endParaRPr lang="en-US" altLang="zh-CN"/>
          </a:p>
        </p:txBody>
      </p:sp>
      <p:sp>
        <p:nvSpPr>
          <p:cNvPr id="27651" name="Rectangle 1026">
            <a:extLst>
              <a:ext uri="{FF2B5EF4-FFF2-40B4-BE49-F238E27FC236}">
                <a16:creationId xmlns:a16="http://schemas.microsoft.com/office/drawing/2014/main" id="{1CECFA1F-EA93-4750-B0E7-32D583F1F235}"/>
              </a:ext>
            </a:extLst>
          </p:cNvPr>
          <p:cNvSpPr>
            <a:spLocks noGrp="1" noChangeArrowheads="1"/>
          </p:cNvSpPr>
          <p:nvPr>
            <p:ph type="title"/>
          </p:nvPr>
        </p:nvSpPr>
        <p:spPr/>
        <p:txBody>
          <a:bodyPr/>
          <a:lstStyle/>
          <a:p>
            <a:pPr eaLnBrk="1" hangingPunct="1"/>
            <a:r>
              <a:rPr lang="zh-CN" altLang="en-US"/>
              <a:t>算法</a:t>
            </a:r>
          </a:p>
        </p:txBody>
      </p:sp>
      <p:sp>
        <p:nvSpPr>
          <p:cNvPr id="27652" name="Rectangle 1027">
            <a:extLst>
              <a:ext uri="{FF2B5EF4-FFF2-40B4-BE49-F238E27FC236}">
                <a16:creationId xmlns:a16="http://schemas.microsoft.com/office/drawing/2014/main" id="{03E3B5A7-5B08-484F-99F2-22192A39BD2B}"/>
              </a:ext>
            </a:extLst>
          </p:cNvPr>
          <p:cNvSpPr>
            <a:spLocks noGrp="1" noChangeArrowheads="1"/>
          </p:cNvSpPr>
          <p:nvPr>
            <p:ph type="body" idx="1"/>
          </p:nvPr>
        </p:nvSpPr>
        <p:spPr>
          <a:xfrm>
            <a:off x="685800" y="2125662"/>
            <a:ext cx="7772400" cy="4114800"/>
          </a:xfrm>
        </p:spPr>
        <p:txBody>
          <a:bodyPr/>
          <a:lstStyle/>
          <a:p>
            <a:pPr eaLnBrk="1" hangingPunct="1"/>
            <a:r>
              <a:rPr lang="zh-CN" altLang="en-US" dirty="0"/>
              <a:t>循环往复；最后，当没有人处于自由状态，那么所有的约会被定为最后的结果，返回最终的匹配。</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D4567A6F-5F8C-4CEE-BB03-9520092E73E4}"/>
              </a:ext>
            </a:extLst>
          </p:cNvPr>
          <p:cNvSpPr>
            <a:spLocks noGrp="1"/>
          </p:cNvSpPr>
          <p:nvPr>
            <p:ph type="sldNum" sz="quarter" idx="12"/>
          </p:nvPr>
        </p:nvSpPr>
        <p:spPr/>
        <p:txBody>
          <a:bodyPr/>
          <a:lstStyle/>
          <a:p>
            <a:pPr>
              <a:defRPr/>
            </a:pPr>
            <a:fld id="{1E923247-3BEC-43BA-82E6-4A38A17BC64C}" type="slidenum">
              <a:rPr lang="zh-CN" altLang="en-US"/>
              <a:pPr>
                <a:defRPr/>
              </a:pPr>
              <a:t>36</a:t>
            </a:fld>
            <a:endParaRPr lang="en-US" altLang="zh-CN"/>
          </a:p>
        </p:txBody>
      </p:sp>
      <p:sp>
        <p:nvSpPr>
          <p:cNvPr id="28675" name="Rectangle 2">
            <a:extLst>
              <a:ext uri="{FF2B5EF4-FFF2-40B4-BE49-F238E27FC236}">
                <a16:creationId xmlns:a16="http://schemas.microsoft.com/office/drawing/2014/main" id="{241641C5-CCF2-4107-B1C3-AF3D62D4554F}"/>
              </a:ext>
            </a:extLst>
          </p:cNvPr>
          <p:cNvSpPr>
            <a:spLocks noGrp="1" noChangeArrowheads="1"/>
          </p:cNvSpPr>
          <p:nvPr>
            <p:ph type="title"/>
          </p:nvPr>
        </p:nvSpPr>
        <p:spPr>
          <a:xfrm>
            <a:off x="1066800" y="457200"/>
            <a:ext cx="7793038" cy="1143000"/>
          </a:xfrm>
        </p:spPr>
        <p:txBody>
          <a:bodyPr/>
          <a:lstStyle/>
          <a:p>
            <a:pPr eaLnBrk="1" hangingPunct="1"/>
            <a:r>
              <a:rPr lang="zh-CN" altLang="en-US"/>
              <a:t>算法</a:t>
            </a:r>
          </a:p>
        </p:txBody>
      </p:sp>
      <p:sp>
        <p:nvSpPr>
          <p:cNvPr id="28676" name="Rectangle 3">
            <a:extLst>
              <a:ext uri="{FF2B5EF4-FFF2-40B4-BE49-F238E27FC236}">
                <a16:creationId xmlns:a16="http://schemas.microsoft.com/office/drawing/2014/main" id="{6DB43966-FAC1-476B-BFB6-1AF876A7DB20}"/>
              </a:ext>
            </a:extLst>
          </p:cNvPr>
          <p:cNvSpPr>
            <a:spLocks noGrp="1" noChangeArrowheads="1"/>
          </p:cNvSpPr>
          <p:nvPr>
            <p:ph type="body" idx="1"/>
          </p:nvPr>
        </p:nvSpPr>
        <p:spPr>
          <a:xfrm>
            <a:off x="946418" y="1772816"/>
            <a:ext cx="7772400" cy="4114800"/>
          </a:xfrm>
        </p:spPr>
        <p:txBody>
          <a:bodyPr/>
          <a:lstStyle/>
          <a:p>
            <a:pPr eaLnBrk="1" hangingPunct="1"/>
            <a:r>
              <a:rPr lang="zh-CN" altLang="en-US" dirty="0"/>
              <a:t>邀请-拒绝算法.  </a:t>
            </a:r>
            <a:r>
              <a:rPr lang="zh-CN" altLang="en-US" dirty="0">
                <a:solidFill>
                  <a:schemeClr val="hlink"/>
                </a:solidFill>
              </a:rPr>
              <a:t>[</a:t>
            </a:r>
            <a:r>
              <a:rPr lang="en-US" altLang="zh-CN" dirty="0">
                <a:solidFill>
                  <a:schemeClr val="hlink"/>
                </a:solidFill>
              </a:rPr>
              <a:t>Gale-Shapley 1962]</a:t>
            </a:r>
            <a:r>
              <a:rPr lang="en-US" altLang="zh-CN" dirty="0"/>
              <a:t>  </a:t>
            </a:r>
            <a:r>
              <a:rPr lang="zh-CN" altLang="en-US" dirty="0"/>
              <a:t>找到稳定匹配</a:t>
            </a:r>
            <a:r>
              <a:rPr lang="zh-CN" altLang="en-US" b="1" dirty="0"/>
              <a:t>符合直觉</a:t>
            </a:r>
            <a:r>
              <a:rPr lang="zh-CN" altLang="en-US" dirty="0"/>
              <a:t>的算法</a:t>
            </a:r>
          </a:p>
          <a:p>
            <a:pPr eaLnBrk="1" hangingPunct="1"/>
            <a:endParaRPr lang="zh-CN" altLang="en-US" dirty="0"/>
          </a:p>
        </p:txBody>
      </p:sp>
      <p:sp>
        <p:nvSpPr>
          <p:cNvPr id="28677" name="Text Box 6">
            <a:extLst>
              <a:ext uri="{FF2B5EF4-FFF2-40B4-BE49-F238E27FC236}">
                <a16:creationId xmlns:a16="http://schemas.microsoft.com/office/drawing/2014/main" id="{C6C9082F-1E2F-437B-921B-927C2E573A21}"/>
              </a:ext>
            </a:extLst>
          </p:cNvPr>
          <p:cNvSpPr txBox="1">
            <a:spLocks noChangeArrowheads="1"/>
          </p:cNvSpPr>
          <p:nvPr/>
        </p:nvSpPr>
        <p:spPr bwMode="auto">
          <a:xfrm>
            <a:off x="0" y="3159109"/>
            <a:ext cx="9144000" cy="3416961"/>
          </a:xfrm>
          <a:prstGeom prst="rect">
            <a:avLst/>
          </a:prstGeom>
          <a:solidFill>
            <a:srgbClr val="C0C0C0"/>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182880" tIns="91440" rIns="137160" bIns="9144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nSpc>
                <a:spcPts val="2300"/>
              </a:lnSpc>
              <a:spcBef>
                <a:spcPct val="0"/>
              </a:spcBef>
              <a:buClrTx/>
              <a:buSzTx/>
              <a:buFontTx/>
              <a:buNone/>
            </a:pPr>
            <a:r>
              <a:rPr kumimoji="0" lang="en-US" altLang="zh-CN" sz="1600" b="1" dirty="0">
                <a:latin typeface="Courier New" panose="02070309020205020404" pitchFamily="49" charset="0"/>
              </a:rPr>
              <a:t>Initialize each person to be free.</a:t>
            </a:r>
          </a:p>
          <a:p>
            <a:pPr>
              <a:lnSpc>
                <a:spcPts val="2300"/>
              </a:lnSpc>
              <a:spcBef>
                <a:spcPct val="0"/>
              </a:spcBef>
              <a:buClrTx/>
              <a:buSzTx/>
              <a:buFontTx/>
              <a:buNone/>
            </a:pPr>
            <a:r>
              <a:rPr kumimoji="0" lang="en-US" altLang="zh-CN" sz="1600" b="1" dirty="0">
                <a:latin typeface="Courier New" panose="02070309020205020404" pitchFamily="49" charset="0"/>
              </a:rPr>
              <a:t>while (some man is free and hasn't proposed to every woman) {</a:t>
            </a:r>
          </a:p>
          <a:p>
            <a:pPr>
              <a:lnSpc>
                <a:spcPts val="2300"/>
              </a:lnSpc>
              <a:spcBef>
                <a:spcPct val="0"/>
              </a:spcBef>
              <a:buClrTx/>
              <a:buSzTx/>
              <a:buFontTx/>
              <a:buNone/>
            </a:pPr>
            <a:r>
              <a:rPr kumimoji="0" lang="en-US" altLang="zh-CN" sz="1600" b="1" dirty="0">
                <a:latin typeface="Courier New" panose="02070309020205020404" pitchFamily="49" charset="0"/>
              </a:rPr>
              <a:t>    Choose such a man m</a:t>
            </a:r>
          </a:p>
          <a:p>
            <a:pPr>
              <a:lnSpc>
                <a:spcPts val="2300"/>
              </a:lnSpc>
              <a:spcBef>
                <a:spcPct val="0"/>
              </a:spcBef>
              <a:buClrTx/>
              <a:buSzTx/>
              <a:buFontTx/>
              <a:buNone/>
            </a:pPr>
            <a:r>
              <a:rPr kumimoji="0" lang="en-US" altLang="zh-CN" sz="1600" b="1" dirty="0">
                <a:latin typeface="Courier New" panose="02070309020205020404" pitchFamily="49" charset="0"/>
              </a:rPr>
              <a:t>    </a:t>
            </a:r>
            <a:r>
              <a:rPr lang="en-US" altLang="zh-CN" sz="1600" b="1" dirty="0">
                <a:latin typeface="Courier New" panose="02070309020205020404" pitchFamily="49" charset="0"/>
              </a:rPr>
              <a:t>w = 1</a:t>
            </a:r>
            <a:r>
              <a:rPr lang="en-US" altLang="zh-CN" sz="1600" b="1" baseline="30000" dirty="0">
                <a:latin typeface="Courier New" panose="02070309020205020404" pitchFamily="49" charset="0"/>
              </a:rPr>
              <a:t>st</a:t>
            </a:r>
            <a:r>
              <a:rPr lang="en-US" altLang="zh-CN" sz="1600" b="1" dirty="0">
                <a:latin typeface="Courier New" panose="02070309020205020404" pitchFamily="49" charset="0"/>
              </a:rPr>
              <a:t> woman on m's list to whom m has not yet proposed</a:t>
            </a:r>
          </a:p>
          <a:p>
            <a:pPr>
              <a:lnSpc>
                <a:spcPts val="2300"/>
              </a:lnSpc>
              <a:spcBef>
                <a:spcPct val="0"/>
              </a:spcBef>
              <a:buClrTx/>
              <a:buSzTx/>
              <a:buFontTx/>
              <a:buNone/>
            </a:pPr>
            <a:r>
              <a:rPr lang="en-US" altLang="zh-CN" sz="1600" b="1" dirty="0">
                <a:latin typeface="Courier New" panose="02070309020205020404" pitchFamily="49" charset="0"/>
              </a:rPr>
              <a:t>    if (w is free)</a:t>
            </a:r>
          </a:p>
          <a:p>
            <a:pPr>
              <a:lnSpc>
                <a:spcPts val="2300"/>
              </a:lnSpc>
              <a:spcBef>
                <a:spcPct val="0"/>
              </a:spcBef>
              <a:buClrTx/>
              <a:buSzTx/>
              <a:buFontTx/>
              <a:buNone/>
            </a:pPr>
            <a:r>
              <a:rPr lang="en-US" altLang="zh-CN" sz="1600" b="1" dirty="0">
                <a:latin typeface="Courier New" panose="02070309020205020404" pitchFamily="49" charset="0"/>
              </a:rPr>
              <a:t>        assign m and w to be engaged</a:t>
            </a:r>
          </a:p>
          <a:p>
            <a:pPr>
              <a:lnSpc>
                <a:spcPts val="2300"/>
              </a:lnSpc>
              <a:spcBef>
                <a:spcPct val="0"/>
              </a:spcBef>
              <a:buClrTx/>
              <a:buSzTx/>
              <a:buFontTx/>
              <a:buNone/>
            </a:pPr>
            <a:r>
              <a:rPr lang="en-US" altLang="zh-CN" sz="1600" b="1" dirty="0">
                <a:latin typeface="Courier New" panose="02070309020205020404" pitchFamily="49" charset="0"/>
              </a:rPr>
              <a:t>    else if (w prefers m to m')</a:t>
            </a:r>
          </a:p>
          <a:p>
            <a:pPr>
              <a:lnSpc>
                <a:spcPts val="2300"/>
              </a:lnSpc>
              <a:spcBef>
                <a:spcPct val="0"/>
              </a:spcBef>
              <a:buClrTx/>
              <a:buSzTx/>
              <a:buFontTx/>
              <a:buNone/>
            </a:pPr>
            <a:r>
              <a:rPr lang="en-US" altLang="zh-CN" sz="1600" b="1" dirty="0">
                <a:latin typeface="Courier New" panose="02070309020205020404" pitchFamily="49" charset="0"/>
              </a:rPr>
              <a:t>        assign m and w to be engaged, and m' to be free</a:t>
            </a:r>
          </a:p>
          <a:p>
            <a:pPr>
              <a:lnSpc>
                <a:spcPts val="2300"/>
              </a:lnSpc>
              <a:spcBef>
                <a:spcPct val="0"/>
              </a:spcBef>
              <a:buClrTx/>
              <a:buSzTx/>
              <a:buFontTx/>
              <a:buNone/>
            </a:pPr>
            <a:r>
              <a:rPr lang="en-US" altLang="zh-CN" sz="1600" b="1" dirty="0">
                <a:latin typeface="Courier New" panose="02070309020205020404" pitchFamily="49" charset="0"/>
              </a:rPr>
              <a:t>    else</a:t>
            </a:r>
          </a:p>
          <a:p>
            <a:pPr>
              <a:lnSpc>
                <a:spcPts val="2300"/>
              </a:lnSpc>
              <a:spcBef>
                <a:spcPct val="0"/>
              </a:spcBef>
              <a:buClrTx/>
              <a:buSzTx/>
              <a:buFontTx/>
              <a:buNone/>
            </a:pPr>
            <a:r>
              <a:rPr lang="en-US" altLang="zh-CN" sz="1600" b="1" dirty="0">
                <a:latin typeface="Courier New" panose="02070309020205020404" pitchFamily="49" charset="0"/>
              </a:rPr>
              <a:t>        w rejects m</a:t>
            </a:r>
          </a:p>
          <a:p>
            <a:pPr>
              <a:lnSpc>
                <a:spcPts val="2300"/>
              </a:lnSpc>
              <a:spcBef>
                <a:spcPct val="0"/>
              </a:spcBef>
              <a:buClrTx/>
              <a:buSzTx/>
              <a:buFontTx/>
              <a:buNone/>
            </a:pPr>
            <a:r>
              <a:rPr lang="en-US" altLang="zh-CN" sz="1600" b="1" dirty="0">
                <a:latin typeface="Courier New" panose="02070309020205020404" pitchFamily="49"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68CD698-964F-44D1-9D26-62F7845C0002}"/>
              </a:ext>
            </a:extLst>
          </p:cNvPr>
          <p:cNvSpPr>
            <a:spLocks noGrp="1"/>
          </p:cNvSpPr>
          <p:nvPr>
            <p:ph type="sldNum" sz="quarter" idx="12"/>
          </p:nvPr>
        </p:nvSpPr>
        <p:spPr/>
        <p:txBody>
          <a:bodyPr/>
          <a:lstStyle/>
          <a:p>
            <a:pPr>
              <a:defRPr/>
            </a:pPr>
            <a:fld id="{FBA9FACB-8ADC-4C94-9C3A-7BCAE6450155}" type="slidenum">
              <a:rPr lang="zh-CN" altLang="en-US"/>
              <a:pPr>
                <a:defRPr/>
              </a:pPr>
              <a:t>37</a:t>
            </a:fld>
            <a:endParaRPr lang="en-US" altLang="zh-CN"/>
          </a:p>
        </p:txBody>
      </p:sp>
      <p:sp>
        <p:nvSpPr>
          <p:cNvPr id="29699" name="Rectangle 2">
            <a:extLst>
              <a:ext uri="{FF2B5EF4-FFF2-40B4-BE49-F238E27FC236}">
                <a16:creationId xmlns:a16="http://schemas.microsoft.com/office/drawing/2014/main" id="{9F8A10F8-E656-4978-9148-2324E362D466}"/>
              </a:ext>
            </a:extLst>
          </p:cNvPr>
          <p:cNvSpPr>
            <a:spLocks noGrp="1" noChangeArrowheads="1"/>
          </p:cNvSpPr>
          <p:nvPr>
            <p:ph type="title"/>
          </p:nvPr>
        </p:nvSpPr>
        <p:spPr/>
        <p:txBody>
          <a:bodyPr/>
          <a:lstStyle/>
          <a:p>
            <a:pPr eaLnBrk="1" hangingPunct="1"/>
            <a:r>
              <a:rPr lang="zh-CN" altLang="en-US"/>
              <a:t>算法</a:t>
            </a:r>
          </a:p>
        </p:txBody>
      </p:sp>
      <p:pic>
        <p:nvPicPr>
          <p:cNvPr id="11" name="图片 10">
            <a:extLst>
              <a:ext uri="{FF2B5EF4-FFF2-40B4-BE49-F238E27FC236}">
                <a16:creationId xmlns:a16="http://schemas.microsoft.com/office/drawing/2014/main" id="{65A47097-5953-6287-B385-07161072D64C}"/>
              </a:ext>
            </a:extLst>
          </p:cNvPr>
          <p:cNvPicPr>
            <a:picLocks noChangeAspect="1"/>
          </p:cNvPicPr>
          <p:nvPr/>
        </p:nvPicPr>
        <p:blipFill>
          <a:blip r:embed="rId2"/>
          <a:stretch>
            <a:fillRect/>
          </a:stretch>
        </p:blipFill>
        <p:spPr>
          <a:xfrm>
            <a:off x="122530" y="2420888"/>
            <a:ext cx="8898939" cy="2760238"/>
          </a:xfrm>
          <a:prstGeom prst="rect">
            <a:avLst/>
          </a:prstGeom>
        </p:spPr>
      </p:pic>
      <p:cxnSp>
        <p:nvCxnSpPr>
          <p:cNvPr id="13" name="直接箭头连接符 12">
            <a:extLst>
              <a:ext uri="{FF2B5EF4-FFF2-40B4-BE49-F238E27FC236}">
                <a16:creationId xmlns:a16="http://schemas.microsoft.com/office/drawing/2014/main" id="{D8529EC2-CBFB-0B4B-1C8A-C4FF437ED1B5}"/>
              </a:ext>
            </a:extLst>
          </p:cNvPr>
          <p:cNvCxnSpPr/>
          <p:nvPr/>
        </p:nvCxnSpPr>
        <p:spPr bwMode="auto">
          <a:xfrm>
            <a:off x="4154251" y="2780928"/>
            <a:ext cx="835496" cy="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16" name="图片 15">
            <a:extLst>
              <a:ext uri="{FF2B5EF4-FFF2-40B4-BE49-F238E27FC236}">
                <a16:creationId xmlns:a16="http://schemas.microsoft.com/office/drawing/2014/main" id="{7F1F364A-D54A-C75E-59A5-1A9F0B6D2F43}"/>
              </a:ext>
            </a:extLst>
          </p:cNvPr>
          <p:cNvPicPr>
            <a:picLocks noChangeAspect="1"/>
          </p:cNvPicPr>
          <p:nvPr/>
        </p:nvPicPr>
        <p:blipFill>
          <a:blip r:embed="rId3"/>
          <a:stretch>
            <a:fillRect/>
          </a:stretch>
        </p:blipFill>
        <p:spPr>
          <a:xfrm>
            <a:off x="4298911" y="2567550"/>
            <a:ext cx="546177" cy="501409"/>
          </a:xfrm>
          <a:prstGeom prst="rect">
            <a:avLst/>
          </a:prstGeom>
        </p:spPr>
      </p:pic>
      <p:cxnSp>
        <p:nvCxnSpPr>
          <p:cNvPr id="17" name="直接箭头连接符 16">
            <a:extLst>
              <a:ext uri="{FF2B5EF4-FFF2-40B4-BE49-F238E27FC236}">
                <a16:creationId xmlns:a16="http://schemas.microsoft.com/office/drawing/2014/main" id="{BEEA18F8-5B95-1207-981A-A7EAF42A4503}"/>
              </a:ext>
            </a:extLst>
          </p:cNvPr>
          <p:cNvCxnSpPr/>
          <p:nvPr/>
        </p:nvCxnSpPr>
        <p:spPr bwMode="auto">
          <a:xfrm>
            <a:off x="4154251" y="3772474"/>
            <a:ext cx="835496" cy="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18" name="图片 17">
            <a:extLst>
              <a:ext uri="{FF2B5EF4-FFF2-40B4-BE49-F238E27FC236}">
                <a16:creationId xmlns:a16="http://schemas.microsoft.com/office/drawing/2014/main" id="{277603E1-2D93-AB42-25ED-EEA4121883D5}"/>
              </a:ext>
            </a:extLst>
          </p:cNvPr>
          <p:cNvPicPr>
            <a:picLocks noChangeAspect="1"/>
          </p:cNvPicPr>
          <p:nvPr/>
        </p:nvPicPr>
        <p:blipFill>
          <a:blip r:embed="rId3"/>
          <a:stretch>
            <a:fillRect/>
          </a:stretch>
        </p:blipFill>
        <p:spPr>
          <a:xfrm>
            <a:off x="4298910" y="3550302"/>
            <a:ext cx="546177" cy="501409"/>
          </a:xfrm>
          <a:prstGeom prst="rect">
            <a:avLst/>
          </a:prstGeom>
        </p:spPr>
      </p:pic>
      <p:cxnSp>
        <p:nvCxnSpPr>
          <p:cNvPr id="20" name="直接连接符 19">
            <a:extLst>
              <a:ext uri="{FF2B5EF4-FFF2-40B4-BE49-F238E27FC236}">
                <a16:creationId xmlns:a16="http://schemas.microsoft.com/office/drawing/2014/main" id="{521AB947-0E46-EED1-C126-B0BF37E83D9C}"/>
              </a:ext>
            </a:extLst>
          </p:cNvPr>
          <p:cNvCxnSpPr/>
          <p:nvPr/>
        </p:nvCxnSpPr>
        <p:spPr bwMode="auto">
          <a:xfrm>
            <a:off x="323528" y="2636912"/>
            <a:ext cx="432048" cy="288032"/>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直接连接符 23">
            <a:extLst>
              <a:ext uri="{FF2B5EF4-FFF2-40B4-BE49-F238E27FC236}">
                <a16:creationId xmlns:a16="http://schemas.microsoft.com/office/drawing/2014/main" id="{EEEEE559-2EAD-71E7-25CE-B2BE148A983C}"/>
              </a:ext>
            </a:extLst>
          </p:cNvPr>
          <p:cNvCxnSpPr/>
          <p:nvPr/>
        </p:nvCxnSpPr>
        <p:spPr bwMode="auto">
          <a:xfrm>
            <a:off x="323528" y="3645025"/>
            <a:ext cx="432048" cy="288032"/>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5" name="直接箭头连接符 24">
            <a:extLst>
              <a:ext uri="{FF2B5EF4-FFF2-40B4-BE49-F238E27FC236}">
                <a16:creationId xmlns:a16="http://schemas.microsoft.com/office/drawing/2014/main" id="{B714CB92-4295-04B7-7757-3D4C0E70A0D5}"/>
              </a:ext>
            </a:extLst>
          </p:cNvPr>
          <p:cNvCxnSpPr/>
          <p:nvPr/>
        </p:nvCxnSpPr>
        <p:spPr bwMode="auto">
          <a:xfrm flipV="1">
            <a:off x="4154250" y="2924944"/>
            <a:ext cx="893206" cy="1872208"/>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7" name="直接连接符 26">
            <a:extLst>
              <a:ext uri="{FF2B5EF4-FFF2-40B4-BE49-F238E27FC236}">
                <a16:creationId xmlns:a16="http://schemas.microsoft.com/office/drawing/2014/main" id="{0C4F053B-2B7F-3BB5-7776-28C78E57EF8D}"/>
              </a:ext>
            </a:extLst>
          </p:cNvPr>
          <p:cNvCxnSpPr/>
          <p:nvPr/>
        </p:nvCxnSpPr>
        <p:spPr bwMode="auto">
          <a:xfrm>
            <a:off x="288404" y="4660238"/>
            <a:ext cx="432048" cy="288032"/>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 name="直接箭头连接符 27">
            <a:extLst>
              <a:ext uri="{FF2B5EF4-FFF2-40B4-BE49-F238E27FC236}">
                <a16:creationId xmlns:a16="http://schemas.microsoft.com/office/drawing/2014/main" id="{38BF074B-DDF8-5F15-56AC-5CE95749D194}"/>
              </a:ext>
            </a:extLst>
          </p:cNvPr>
          <p:cNvCxnSpPr/>
          <p:nvPr/>
        </p:nvCxnSpPr>
        <p:spPr bwMode="auto">
          <a:xfrm flipV="1">
            <a:off x="4119126" y="3933057"/>
            <a:ext cx="870621" cy="864095"/>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1" name="直接连接符 30">
            <a:extLst>
              <a:ext uri="{FF2B5EF4-FFF2-40B4-BE49-F238E27FC236}">
                <a16:creationId xmlns:a16="http://schemas.microsoft.com/office/drawing/2014/main" id="{DE6AB761-2490-49B8-2EE7-EEBC6489EA5D}"/>
              </a:ext>
            </a:extLst>
          </p:cNvPr>
          <p:cNvCxnSpPr/>
          <p:nvPr/>
        </p:nvCxnSpPr>
        <p:spPr bwMode="auto">
          <a:xfrm>
            <a:off x="1259632" y="4653136"/>
            <a:ext cx="432048" cy="288032"/>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 name="直接箭头连接符 31">
            <a:extLst>
              <a:ext uri="{FF2B5EF4-FFF2-40B4-BE49-F238E27FC236}">
                <a16:creationId xmlns:a16="http://schemas.microsoft.com/office/drawing/2014/main" id="{3A7FCA63-9225-F1F0-3EC6-1AEA6E2A1941}"/>
              </a:ext>
            </a:extLst>
          </p:cNvPr>
          <p:cNvCxnSpPr/>
          <p:nvPr/>
        </p:nvCxnSpPr>
        <p:spPr bwMode="auto">
          <a:xfrm>
            <a:off x="4154250" y="4797152"/>
            <a:ext cx="835496" cy="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33" name="图片 32">
            <a:extLst>
              <a:ext uri="{FF2B5EF4-FFF2-40B4-BE49-F238E27FC236}">
                <a16:creationId xmlns:a16="http://schemas.microsoft.com/office/drawing/2014/main" id="{F1196533-8CFD-537B-1534-1AE9D413A1FE}"/>
              </a:ext>
            </a:extLst>
          </p:cNvPr>
          <p:cNvPicPr>
            <a:picLocks noChangeAspect="1"/>
          </p:cNvPicPr>
          <p:nvPr/>
        </p:nvPicPr>
        <p:blipFill>
          <a:blip r:embed="rId3"/>
          <a:stretch>
            <a:fillRect/>
          </a:stretch>
        </p:blipFill>
        <p:spPr>
          <a:xfrm>
            <a:off x="4324783" y="4546448"/>
            <a:ext cx="546177" cy="5014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13"/>
                                        </p:tgtEl>
                                      </p:cBhvr>
                                    </p:animEffect>
                                    <p:set>
                                      <p:cBhvr>
                                        <p:cTn id="11" dur="1" fill="hold">
                                          <p:stCondLst>
                                            <p:cond delay="499"/>
                                          </p:stCondLst>
                                        </p:cTn>
                                        <p:tgtEl>
                                          <p:spTgt spid="13"/>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animEffect transition="in" filter="fade">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500"/>
                                        <p:tgtEl>
                                          <p:spTgt spid="25"/>
                                        </p:tgtEl>
                                      </p:cBhvr>
                                    </p:animEffect>
                                    <p:set>
                                      <p:cBhvr>
                                        <p:cTn id="53" dur="1" fill="hold">
                                          <p:stCondLst>
                                            <p:cond delay="499"/>
                                          </p:stCondLst>
                                        </p:cTn>
                                        <p:tgtEl>
                                          <p:spTgt spid="25"/>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28"/>
                                        </p:tgtEl>
                                      </p:cBhvr>
                                    </p:animEffect>
                                    <p:set>
                                      <p:cBhvr>
                                        <p:cTn id="67" dur="1" fill="hold">
                                          <p:stCondLst>
                                            <p:cond delay="499"/>
                                          </p:stCondLst>
                                        </p:cTn>
                                        <p:tgtEl>
                                          <p:spTgt spid="28"/>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wipe(left)">
                                      <p:cBhvr>
                                        <p:cTn id="76" dur="500"/>
                                        <p:tgtEl>
                                          <p:spTgt spid="3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nodeType="clickEffect">
                                  <p:stCondLst>
                                    <p:cond delay="0"/>
                                  </p:stCondLst>
                                  <p:childTnLst>
                                    <p:animEffect transition="out" filter="fade">
                                      <p:cBhvr>
                                        <p:cTn id="80" dur="500"/>
                                        <p:tgtEl>
                                          <p:spTgt spid="32"/>
                                        </p:tgtEl>
                                      </p:cBhvr>
                                    </p:animEffect>
                                    <p:set>
                                      <p:cBhvr>
                                        <p:cTn id="81" dur="1" fill="hold">
                                          <p:stCondLst>
                                            <p:cond delay="499"/>
                                          </p:stCondLst>
                                        </p:cTn>
                                        <p:tgtEl>
                                          <p:spTgt spid="32"/>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nodeType="clickEffect">
                                  <p:stCondLst>
                                    <p:cond delay="0"/>
                                  </p:stCondLst>
                                  <p:childTnLst>
                                    <p:set>
                                      <p:cBhvr>
                                        <p:cTn id="85" dur="1" fill="hold">
                                          <p:stCondLst>
                                            <p:cond delay="0"/>
                                          </p:stCondLst>
                                        </p:cTn>
                                        <p:tgtEl>
                                          <p:spTgt spid="33"/>
                                        </p:tgtEl>
                                        <p:attrNameLst>
                                          <p:attrName>style.visibility</p:attrName>
                                        </p:attrNameLst>
                                      </p:cBhvr>
                                      <p:to>
                                        <p:strVal val="visible"/>
                                      </p:to>
                                    </p:set>
                                    <p:anim calcmode="lin" valueType="num">
                                      <p:cBhvr>
                                        <p:cTn id="86" dur="500" fill="hold"/>
                                        <p:tgtEl>
                                          <p:spTgt spid="33"/>
                                        </p:tgtEl>
                                        <p:attrNameLst>
                                          <p:attrName>ppt_w</p:attrName>
                                        </p:attrNameLst>
                                      </p:cBhvr>
                                      <p:tavLst>
                                        <p:tav tm="0">
                                          <p:val>
                                            <p:fltVal val="0"/>
                                          </p:val>
                                        </p:tav>
                                        <p:tav tm="100000">
                                          <p:val>
                                            <p:strVal val="#ppt_w"/>
                                          </p:val>
                                        </p:tav>
                                      </p:tavLst>
                                    </p:anim>
                                    <p:anim calcmode="lin" valueType="num">
                                      <p:cBhvr>
                                        <p:cTn id="87" dur="500" fill="hold"/>
                                        <p:tgtEl>
                                          <p:spTgt spid="33"/>
                                        </p:tgtEl>
                                        <p:attrNameLst>
                                          <p:attrName>ppt_h</p:attrName>
                                        </p:attrNameLst>
                                      </p:cBhvr>
                                      <p:tavLst>
                                        <p:tav tm="0">
                                          <p:val>
                                            <p:fltVal val="0"/>
                                          </p:val>
                                        </p:tav>
                                        <p:tav tm="100000">
                                          <p:val>
                                            <p:strVal val="#ppt_h"/>
                                          </p:val>
                                        </p:tav>
                                      </p:tavLst>
                                    </p:anim>
                                    <p:animEffect transition="in" filter="fade">
                                      <p:cBhvr>
                                        <p:cTn id="8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64780-C8A1-7FC0-B032-6488903555E2}"/>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5A32973-8E8A-C0A7-EC74-588DF8BF8B1D}"/>
              </a:ext>
            </a:extLst>
          </p:cNvPr>
          <p:cNvSpPr>
            <a:spLocks noGrp="1"/>
          </p:cNvSpPr>
          <p:nvPr>
            <p:ph type="sldNum" sz="quarter" idx="12"/>
          </p:nvPr>
        </p:nvSpPr>
        <p:spPr/>
        <p:txBody>
          <a:bodyPr/>
          <a:lstStyle/>
          <a:p>
            <a:pPr>
              <a:defRPr/>
            </a:pPr>
            <a:fld id="{FBA9FACB-8ADC-4C94-9C3A-7BCAE6450155}" type="slidenum">
              <a:rPr lang="zh-CN" altLang="en-US"/>
              <a:pPr>
                <a:defRPr/>
              </a:pPr>
              <a:t>38</a:t>
            </a:fld>
            <a:endParaRPr lang="en-US" altLang="zh-CN"/>
          </a:p>
        </p:txBody>
      </p:sp>
      <p:sp>
        <p:nvSpPr>
          <p:cNvPr id="29699" name="Rectangle 2">
            <a:extLst>
              <a:ext uri="{FF2B5EF4-FFF2-40B4-BE49-F238E27FC236}">
                <a16:creationId xmlns:a16="http://schemas.microsoft.com/office/drawing/2014/main" id="{D0C6FFFF-BA11-53D4-2BC1-2C1E217E40C4}"/>
              </a:ext>
            </a:extLst>
          </p:cNvPr>
          <p:cNvSpPr>
            <a:spLocks noGrp="1" noChangeArrowheads="1"/>
          </p:cNvSpPr>
          <p:nvPr>
            <p:ph type="title"/>
          </p:nvPr>
        </p:nvSpPr>
        <p:spPr/>
        <p:txBody>
          <a:bodyPr/>
          <a:lstStyle/>
          <a:p>
            <a:pPr eaLnBrk="1" hangingPunct="1"/>
            <a:r>
              <a:rPr lang="zh-CN" altLang="en-US"/>
              <a:t>算法</a:t>
            </a:r>
          </a:p>
        </p:txBody>
      </p:sp>
      <p:sp>
        <p:nvSpPr>
          <p:cNvPr id="29700" name="Rectangle 3">
            <a:extLst>
              <a:ext uri="{FF2B5EF4-FFF2-40B4-BE49-F238E27FC236}">
                <a16:creationId xmlns:a16="http://schemas.microsoft.com/office/drawing/2014/main" id="{F5D3DCD0-5CDF-5BF7-862D-4F686C5EE33F}"/>
              </a:ext>
            </a:extLst>
          </p:cNvPr>
          <p:cNvSpPr>
            <a:spLocks noGrp="1" noChangeArrowheads="1"/>
          </p:cNvSpPr>
          <p:nvPr>
            <p:ph type="body" idx="1"/>
          </p:nvPr>
        </p:nvSpPr>
        <p:spPr/>
        <p:txBody>
          <a:bodyPr/>
          <a:lstStyle/>
          <a:p>
            <a:pPr eaLnBrk="1" hangingPunct="1"/>
            <a:r>
              <a:rPr lang="zh-CN" altLang="en-US"/>
              <a:t>正确性？</a:t>
            </a:r>
          </a:p>
          <a:p>
            <a:pPr eaLnBrk="1" hangingPunct="1"/>
            <a:endParaRPr lang="zh-CN" altLang="en-US"/>
          </a:p>
          <a:p>
            <a:pPr eaLnBrk="1" hangingPunct="1"/>
            <a:r>
              <a:rPr lang="zh-CN" altLang="en-US"/>
              <a:t>有穷性？</a:t>
            </a:r>
          </a:p>
          <a:p>
            <a:pPr eaLnBrk="1" hangingPunct="1"/>
            <a:endParaRPr lang="en-US" altLang="zh-CN"/>
          </a:p>
          <a:p>
            <a:pPr eaLnBrk="1" hangingPunct="1"/>
            <a:r>
              <a:rPr lang="zh-CN" altLang="en-US"/>
              <a:t>输出？</a:t>
            </a:r>
          </a:p>
        </p:txBody>
      </p:sp>
    </p:spTree>
    <p:extLst>
      <p:ext uri="{BB962C8B-B14F-4D97-AF65-F5344CB8AC3E}">
        <p14:creationId xmlns:p14="http://schemas.microsoft.com/office/powerpoint/2010/main" val="3592580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C0B05D4-931D-48B7-9F77-811B88B485BA}"/>
              </a:ext>
            </a:extLst>
          </p:cNvPr>
          <p:cNvSpPr>
            <a:spLocks noGrp="1"/>
          </p:cNvSpPr>
          <p:nvPr>
            <p:ph type="sldNum" sz="quarter" idx="12"/>
          </p:nvPr>
        </p:nvSpPr>
        <p:spPr/>
        <p:txBody>
          <a:bodyPr/>
          <a:lstStyle/>
          <a:p>
            <a:pPr>
              <a:defRPr/>
            </a:pPr>
            <a:fld id="{005F9B19-A95F-4581-BC69-D3FD9E1ED0E7}" type="slidenum">
              <a:rPr lang="zh-CN" altLang="en-US"/>
              <a:pPr>
                <a:defRPr/>
              </a:pPr>
              <a:t>39</a:t>
            </a:fld>
            <a:endParaRPr lang="en-US" altLang="zh-CN"/>
          </a:p>
        </p:txBody>
      </p:sp>
      <p:sp>
        <p:nvSpPr>
          <p:cNvPr id="33795" name="Rectangle 2">
            <a:extLst>
              <a:ext uri="{FF2B5EF4-FFF2-40B4-BE49-F238E27FC236}">
                <a16:creationId xmlns:a16="http://schemas.microsoft.com/office/drawing/2014/main" id="{8E4199BC-79EE-48B3-8C98-62D8B2D49C8E}"/>
              </a:ext>
            </a:extLst>
          </p:cNvPr>
          <p:cNvSpPr>
            <a:spLocks noGrp="1" noChangeArrowheads="1"/>
          </p:cNvSpPr>
          <p:nvPr>
            <p:ph type="title"/>
          </p:nvPr>
        </p:nvSpPr>
        <p:spPr/>
        <p:txBody>
          <a:bodyPr/>
          <a:lstStyle/>
          <a:p>
            <a:pPr eaLnBrk="1" hangingPunct="1"/>
            <a:r>
              <a:rPr lang="zh-CN" altLang="en-US"/>
              <a:t>分析算法</a:t>
            </a:r>
          </a:p>
        </p:txBody>
      </p:sp>
      <p:sp>
        <p:nvSpPr>
          <p:cNvPr id="93187" name="Rectangle 3">
            <a:extLst>
              <a:ext uri="{FF2B5EF4-FFF2-40B4-BE49-F238E27FC236}">
                <a16:creationId xmlns:a16="http://schemas.microsoft.com/office/drawing/2014/main" id="{6060A817-04AD-4686-B81B-D4114D99B526}"/>
              </a:ext>
            </a:extLst>
          </p:cNvPr>
          <p:cNvSpPr>
            <a:spLocks noGrp="1" noChangeArrowheads="1"/>
          </p:cNvSpPr>
          <p:nvPr>
            <p:ph type="body" idx="1"/>
          </p:nvPr>
        </p:nvSpPr>
        <p:spPr/>
        <p:txBody>
          <a:bodyPr/>
          <a:lstStyle/>
          <a:p>
            <a:pPr eaLnBrk="1" hangingPunct="1">
              <a:buFont typeface="Wingdings" panose="05000000000000000000" pitchFamily="2" charset="2"/>
              <a:buNone/>
            </a:pPr>
            <a:endParaRPr lang="zh-CN" altLang="en-US"/>
          </a:p>
          <a:p>
            <a:pPr eaLnBrk="1" hangingPunct="1"/>
            <a:r>
              <a:rPr lang="en-US" altLang="zh-CN"/>
              <a:t>G-S</a:t>
            </a:r>
            <a:r>
              <a:rPr lang="zh-CN" altLang="en-US"/>
              <a:t>算法会在有限步内停止吗？</a:t>
            </a:r>
          </a:p>
          <a:p>
            <a:pPr eaLnBrk="1" hangingPunct="1"/>
            <a:endParaRPr lang="zh-CN" altLang="en-US"/>
          </a:p>
          <a:p>
            <a:pPr eaLnBrk="1" hangingPunct="1"/>
            <a:r>
              <a:rPr lang="zh-CN" altLang="en-US"/>
              <a:t>这是一个有效的算法吗？需要多少计算步骤？</a:t>
            </a:r>
          </a:p>
          <a:p>
            <a:pPr eaLnBrk="1" hangingPunct="1">
              <a:buFont typeface="Wingdings" panose="05000000000000000000" pitchFamily="2" charset="2"/>
              <a:buNone/>
            </a:pPr>
            <a:r>
              <a:rPr lang="zh-CN" altLang="en-US"/>
              <a:t>   </a:t>
            </a:r>
          </a:p>
        </p:txBody>
      </p:sp>
    </p:spTree>
    <p:extLst>
      <p:ext uri="{BB962C8B-B14F-4D97-AF65-F5344CB8AC3E}">
        <p14:creationId xmlns:p14="http://schemas.microsoft.com/office/powerpoint/2010/main" val="28153344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187">
                                            <p:txEl>
                                              <p:pRg st="1" end="1"/>
                                            </p:txEl>
                                          </p:spTgt>
                                        </p:tgtEl>
                                        <p:attrNameLst>
                                          <p:attrName>style.visibility</p:attrName>
                                        </p:attrNameLst>
                                      </p:cBhvr>
                                      <p:to>
                                        <p:strVal val="visible"/>
                                      </p:to>
                                    </p:set>
                                    <p:anim calcmode="lin" valueType="num">
                                      <p:cBhvr additive="base">
                                        <p:cTn id="7" dur="500" fill="hold"/>
                                        <p:tgtEl>
                                          <p:spTgt spid="93187">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3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3187">
                                            <p:txEl>
                                              <p:pRg st="3" end="3"/>
                                            </p:txEl>
                                          </p:spTgt>
                                        </p:tgtEl>
                                        <p:attrNameLst>
                                          <p:attrName>style.visibility</p:attrName>
                                        </p:attrNameLst>
                                      </p:cBhvr>
                                      <p:to>
                                        <p:strVal val="visible"/>
                                      </p:to>
                                    </p:set>
                                    <p:anim calcmode="lin" valueType="num">
                                      <p:cBhvr additive="base">
                                        <p:cTn id="13" dur="500" fill="hold"/>
                                        <p:tgtEl>
                                          <p:spTgt spid="93187">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31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3187">
                                            <p:txEl>
                                              <p:pRg st="4" end="4"/>
                                            </p:txEl>
                                          </p:spTgt>
                                        </p:tgtEl>
                                        <p:attrNameLst>
                                          <p:attrName>style.visibility</p:attrName>
                                        </p:attrNameLst>
                                      </p:cBhvr>
                                      <p:to>
                                        <p:strVal val="visible"/>
                                      </p:to>
                                    </p:set>
                                    <p:anim calcmode="lin" valueType="num">
                                      <p:cBhvr additive="base">
                                        <p:cTn id="19" dur="500" fill="hold"/>
                                        <p:tgtEl>
                                          <p:spTgt spid="9318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318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BA81D5B-843A-4D9D-805D-2B3B76C90D38}"/>
              </a:ext>
            </a:extLst>
          </p:cNvPr>
          <p:cNvSpPr>
            <a:spLocks noGrp="1"/>
          </p:cNvSpPr>
          <p:nvPr>
            <p:ph type="sldNum" sz="quarter" idx="12"/>
          </p:nvPr>
        </p:nvSpPr>
        <p:spPr/>
        <p:txBody>
          <a:bodyPr/>
          <a:lstStyle/>
          <a:p>
            <a:pPr>
              <a:defRPr/>
            </a:pPr>
            <a:fld id="{51AAF17C-2831-4DF6-A62B-FE11DE4FD03D}" type="slidenum">
              <a:rPr lang="zh-CN" altLang="en-US"/>
              <a:pPr>
                <a:defRPr/>
              </a:pPr>
              <a:t>40</a:t>
            </a:fld>
            <a:endParaRPr lang="en-US" altLang="zh-CN"/>
          </a:p>
        </p:txBody>
      </p:sp>
      <p:sp>
        <p:nvSpPr>
          <p:cNvPr id="34819" name="Rectangle 2">
            <a:extLst>
              <a:ext uri="{FF2B5EF4-FFF2-40B4-BE49-F238E27FC236}">
                <a16:creationId xmlns:a16="http://schemas.microsoft.com/office/drawing/2014/main" id="{F66D66C6-3C9F-4772-8D40-5E25083B91C7}"/>
              </a:ext>
            </a:extLst>
          </p:cNvPr>
          <p:cNvSpPr>
            <a:spLocks noGrp="1" noChangeArrowheads="1"/>
          </p:cNvSpPr>
          <p:nvPr>
            <p:ph type="title"/>
          </p:nvPr>
        </p:nvSpPr>
        <p:spPr/>
        <p:txBody>
          <a:bodyPr/>
          <a:lstStyle/>
          <a:p>
            <a:pPr eaLnBrk="1" hangingPunct="1"/>
            <a:r>
              <a:rPr lang="zh-CN" altLang="en-US"/>
              <a:t>分析算法</a:t>
            </a:r>
          </a:p>
        </p:txBody>
      </p:sp>
      <p:sp>
        <p:nvSpPr>
          <p:cNvPr id="2" name="Rectangle 3">
            <a:extLst>
              <a:ext uri="{FF2B5EF4-FFF2-40B4-BE49-F238E27FC236}">
                <a16:creationId xmlns:a16="http://schemas.microsoft.com/office/drawing/2014/main" id="{2DBBBF1F-8B87-4DEE-9119-C9B567022748}"/>
              </a:ext>
            </a:extLst>
          </p:cNvPr>
          <p:cNvSpPr>
            <a:spLocks noGrp="1" noChangeArrowheads="1"/>
          </p:cNvSpPr>
          <p:nvPr>
            <p:ph type="body" idx="1"/>
          </p:nvPr>
        </p:nvSpPr>
        <p:spPr>
          <a:xfrm>
            <a:off x="685800" y="2011477"/>
            <a:ext cx="7772400" cy="4114800"/>
          </a:xfrm>
        </p:spPr>
        <p:txBody>
          <a:bodyPr/>
          <a:lstStyle/>
          <a:p>
            <a:pPr eaLnBrk="1" hangingPunct="1">
              <a:buFont typeface="Wingdings" panose="05000000000000000000" pitchFamily="2" charset="2"/>
              <a:buNone/>
            </a:pPr>
            <a:r>
              <a:rPr lang="zh-CN" altLang="en-US" dirty="0"/>
              <a:t>观察</a:t>
            </a:r>
          </a:p>
          <a:p>
            <a:pPr eaLnBrk="1" hangingPunct="1"/>
            <a:r>
              <a:rPr lang="zh-CN" altLang="en-US" dirty="0"/>
              <a:t>命题1  </a:t>
            </a:r>
            <a:r>
              <a:rPr lang="en-US" altLang="zh-CN" dirty="0"/>
              <a:t>w</a:t>
            </a:r>
            <a:r>
              <a:rPr lang="zh-CN" altLang="en-US" dirty="0"/>
              <a:t>从接受第一次邀请开始保持约会状态，与她约会的一系列伴侣(依照</a:t>
            </a:r>
            <a:r>
              <a:rPr lang="en-US" altLang="zh-CN" dirty="0"/>
              <a:t>w</a:t>
            </a:r>
            <a:r>
              <a:rPr lang="zh-CN" altLang="en-US" dirty="0"/>
              <a:t>的优先表</a:t>
            </a:r>
            <a:r>
              <a:rPr lang="en-US" altLang="zh-CN" dirty="0"/>
              <a:t>)</a:t>
            </a:r>
            <a:r>
              <a:rPr lang="zh-CN" altLang="en-US" dirty="0">
                <a:solidFill>
                  <a:schemeClr val="hlink"/>
                </a:solidFill>
              </a:rPr>
              <a:t>越来越好</a:t>
            </a:r>
            <a:r>
              <a:rPr lang="zh-CN" altLang="en-US" dirty="0"/>
              <a:t>。</a:t>
            </a:r>
          </a:p>
          <a:p>
            <a:pPr eaLnBrk="1" hangingPunct="1"/>
            <a:r>
              <a:rPr lang="zh-CN" altLang="en-US" dirty="0"/>
              <a:t>命题2  </a:t>
            </a:r>
            <a:r>
              <a:rPr lang="en-US" altLang="zh-CN" dirty="0"/>
              <a:t>m</a:t>
            </a:r>
            <a:r>
              <a:rPr lang="zh-CN" altLang="en-US" dirty="0"/>
              <a:t>提出邀请的一系列女人(按照</a:t>
            </a:r>
            <a:r>
              <a:rPr lang="en-US" altLang="zh-CN" dirty="0"/>
              <a:t>m</a:t>
            </a:r>
            <a:r>
              <a:rPr lang="zh-CN" altLang="en-US" dirty="0"/>
              <a:t>的优先表)变得</a:t>
            </a:r>
            <a:r>
              <a:rPr lang="zh-CN" altLang="en-US" dirty="0">
                <a:solidFill>
                  <a:schemeClr val="hlink"/>
                </a:solidFill>
              </a:rPr>
              <a:t>越来越差</a:t>
            </a:r>
            <a:r>
              <a:rPr lang="zh-CN" altLang="en-US" dirty="0"/>
              <a:t>。</a:t>
            </a:r>
          </a:p>
        </p:txBody>
      </p:sp>
    </p:spTree>
    <p:extLst>
      <p:ext uri="{BB962C8B-B14F-4D97-AF65-F5344CB8AC3E}">
        <p14:creationId xmlns:p14="http://schemas.microsoft.com/office/powerpoint/2010/main" val="1886879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D0C5570-389B-437A-A3FE-2F61DCABC6F2}"/>
              </a:ext>
            </a:extLst>
          </p:cNvPr>
          <p:cNvSpPr>
            <a:spLocks noGrp="1"/>
          </p:cNvSpPr>
          <p:nvPr>
            <p:ph type="sldNum" sz="quarter" idx="12"/>
          </p:nvPr>
        </p:nvSpPr>
        <p:spPr/>
        <p:txBody>
          <a:bodyPr/>
          <a:lstStyle/>
          <a:p>
            <a:pPr>
              <a:defRPr/>
            </a:pPr>
            <a:fld id="{C81EBD83-0B76-48A1-86B1-410FC2B7EE9F}" type="slidenum">
              <a:rPr lang="zh-CN" altLang="en-US"/>
              <a:pPr>
                <a:defRPr/>
              </a:pPr>
              <a:t>41</a:t>
            </a:fld>
            <a:endParaRPr lang="en-US" altLang="zh-CN"/>
          </a:p>
        </p:txBody>
      </p:sp>
      <p:sp>
        <p:nvSpPr>
          <p:cNvPr id="35843" name="Rectangle 2">
            <a:extLst>
              <a:ext uri="{FF2B5EF4-FFF2-40B4-BE49-F238E27FC236}">
                <a16:creationId xmlns:a16="http://schemas.microsoft.com/office/drawing/2014/main" id="{246BB9A7-43CB-4D08-B7F7-77D0A112493C}"/>
              </a:ext>
            </a:extLst>
          </p:cNvPr>
          <p:cNvSpPr>
            <a:spLocks noGrp="1" noChangeArrowheads="1"/>
          </p:cNvSpPr>
          <p:nvPr>
            <p:ph type="title"/>
          </p:nvPr>
        </p:nvSpPr>
        <p:spPr>
          <a:xfrm>
            <a:off x="1143000" y="609600"/>
            <a:ext cx="7793038" cy="1143000"/>
          </a:xfrm>
        </p:spPr>
        <p:txBody>
          <a:bodyPr/>
          <a:lstStyle/>
          <a:p>
            <a:pPr eaLnBrk="1" hangingPunct="1"/>
            <a:r>
              <a:rPr lang="zh-CN" altLang="en-US"/>
              <a:t>分析算法</a:t>
            </a:r>
          </a:p>
        </p:txBody>
      </p:sp>
      <p:sp>
        <p:nvSpPr>
          <p:cNvPr id="2" name="Rectangle 3">
            <a:extLst>
              <a:ext uri="{FF2B5EF4-FFF2-40B4-BE49-F238E27FC236}">
                <a16:creationId xmlns:a16="http://schemas.microsoft.com/office/drawing/2014/main" id="{596E4BAC-E73A-43BD-BB76-7C7849905D04}"/>
              </a:ext>
            </a:extLst>
          </p:cNvPr>
          <p:cNvSpPr>
            <a:spLocks noGrp="1" noChangeArrowheads="1"/>
          </p:cNvSpPr>
          <p:nvPr>
            <p:ph type="body" idx="1"/>
          </p:nvPr>
        </p:nvSpPr>
        <p:spPr>
          <a:xfrm>
            <a:off x="755576" y="1981200"/>
            <a:ext cx="7772400" cy="4114800"/>
          </a:xfrm>
        </p:spPr>
        <p:txBody>
          <a:bodyPr/>
          <a:lstStyle/>
          <a:p>
            <a:pPr eaLnBrk="1" hangingPunct="1"/>
            <a:r>
              <a:rPr lang="zh-CN" altLang="en-US" sz="2800" dirty="0"/>
              <a:t>命题3  </a:t>
            </a:r>
            <a:r>
              <a:rPr lang="en-US" altLang="zh-CN" sz="2800" dirty="0"/>
              <a:t>G-S</a:t>
            </a:r>
            <a:r>
              <a:rPr lang="zh-CN" altLang="en-US" sz="2800" dirty="0"/>
              <a:t>算法在至多</a:t>
            </a:r>
            <a:r>
              <a:rPr lang="en-US" altLang="zh-CN" sz="2800" dirty="0"/>
              <a:t>n</a:t>
            </a:r>
            <a:r>
              <a:rPr lang="en-US" altLang="zh-CN" sz="2800" baseline="30000" dirty="0"/>
              <a:t>2</a:t>
            </a:r>
            <a:r>
              <a:rPr lang="zh-CN" altLang="en-US" sz="2800" dirty="0"/>
              <a:t>次</a:t>
            </a:r>
            <a:r>
              <a:rPr lang="en-US" altLang="zh-CN" sz="2800" dirty="0"/>
              <a:t>While</a:t>
            </a:r>
            <a:r>
              <a:rPr lang="zh-CN" altLang="en-US" sz="2800" dirty="0"/>
              <a:t>循环的迭代后终止。</a:t>
            </a:r>
          </a:p>
          <a:p>
            <a:pPr marL="0" indent="0" eaLnBrk="1" hangingPunct="1">
              <a:buNone/>
            </a:pPr>
            <a:r>
              <a:rPr lang="zh-CN" altLang="en-US" sz="2800" dirty="0"/>
              <a:t>证明： 需要定义一个</a:t>
            </a:r>
            <a:r>
              <a:rPr lang="zh-CN" altLang="en-US" sz="2800" b="1" dirty="0"/>
              <a:t>逐步进展</a:t>
            </a:r>
            <a:r>
              <a:rPr lang="zh-CN" altLang="en-US" sz="2800" dirty="0"/>
              <a:t>的度量。</a:t>
            </a:r>
          </a:p>
          <a:p>
            <a:pPr eaLnBrk="1" hangingPunct="1">
              <a:buFont typeface="Wingdings" panose="05000000000000000000" pitchFamily="2" charset="2"/>
              <a:buNone/>
            </a:pPr>
            <a:r>
              <a:rPr lang="zh-CN" altLang="en-US" sz="2800" dirty="0"/>
              <a:t>观察算法，每次迭代由什么组成？</a:t>
            </a:r>
            <a:endParaRPr lang="en-US" altLang="zh-CN" sz="2800" dirty="0"/>
          </a:p>
          <a:p>
            <a:pPr eaLnBrk="1" hangingPunct="1">
              <a:buFont typeface="Wingdings" panose="05000000000000000000" pitchFamily="2" charset="2"/>
              <a:buNone/>
            </a:pPr>
            <a:r>
              <a:rPr lang="zh-CN" altLang="en-US" sz="2800" dirty="0"/>
              <a:t>定义</a:t>
            </a:r>
            <a:r>
              <a:rPr lang="en-US" altLang="zh-CN" sz="2800" dirty="0"/>
              <a:t>P(t): </a:t>
            </a:r>
            <a:r>
              <a:rPr lang="zh-CN" altLang="en-US" sz="2800" dirty="0"/>
              <a:t>迭代</a:t>
            </a:r>
            <a:r>
              <a:rPr lang="en-US" altLang="zh-CN" sz="2800" dirty="0"/>
              <a:t>t</a:t>
            </a:r>
            <a:r>
              <a:rPr lang="zh-CN" altLang="en-US" sz="2800" dirty="0"/>
              <a:t>结束时，</a:t>
            </a:r>
            <a:r>
              <a:rPr lang="en-US" altLang="zh-CN" sz="2800" dirty="0"/>
              <a:t>m</a:t>
            </a:r>
            <a:r>
              <a:rPr lang="zh-CN" altLang="en-US" sz="2800" dirty="0"/>
              <a:t>已经向</a:t>
            </a:r>
            <a:r>
              <a:rPr lang="en-US" altLang="zh-CN" sz="2800" dirty="0"/>
              <a:t>w</a:t>
            </a:r>
            <a:r>
              <a:rPr lang="zh-CN" altLang="en-US" sz="2800" dirty="0"/>
              <a:t>发出过邀请的那些</a:t>
            </a:r>
            <a:r>
              <a:rPr lang="zh-CN" altLang="en-US" sz="2800" dirty="0">
                <a:solidFill>
                  <a:srgbClr val="FF0000"/>
                </a:solidFill>
              </a:rPr>
              <a:t>(</a:t>
            </a:r>
            <a:r>
              <a:rPr lang="en-US" altLang="zh-CN" sz="2800" dirty="0" err="1">
                <a:solidFill>
                  <a:srgbClr val="FF0000"/>
                </a:solidFill>
              </a:rPr>
              <a:t>m,w</a:t>
            </a:r>
            <a:r>
              <a:rPr lang="en-US" altLang="zh-CN" sz="2800" dirty="0">
                <a:solidFill>
                  <a:srgbClr val="FF0000"/>
                </a:solidFill>
              </a:rPr>
              <a:t>)</a:t>
            </a:r>
            <a:r>
              <a:rPr lang="zh-CN" altLang="en-US" sz="2800" dirty="0">
                <a:solidFill>
                  <a:srgbClr val="FF0000"/>
                </a:solidFill>
              </a:rPr>
              <a:t>的集合</a:t>
            </a:r>
            <a:r>
              <a:rPr lang="zh-CN" altLang="en-US" sz="2800" dirty="0"/>
              <a:t>。</a:t>
            </a:r>
          </a:p>
          <a:p>
            <a:pPr eaLnBrk="1" hangingPunct="1">
              <a:buFont typeface="Wingdings" panose="05000000000000000000" pitchFamily="2" charset="2"/>
              <a:buNone/>
            </a:pPr>
            <a:r>
              <a:rPr lang="zh-CN" altLang="en-US" sz="2800" dirty="0"/>
              <a:t>可知</a:t>
            </a:r>
            <a:r>
              <a:rPr lang="en-US" altLang="zh-CN" sz="2800" dirty="0"/>
              <a:t>P(t)</a:t>
            </a:r>
            <a:r>
              <a:rPr lang="zh-CN" altLang="en-US" sz="2800" dirty="0"/>
              <a:t>大小严格递增，且(</a:t>
            </a:r>
            <a:r>
              <a:rPr lang="en-US" altLang="zh-CN" sz="2800" dirty="0" err="1"/>
              <a:t>m,w</a:t>
            </a:r>
            <a:r>
              <a:rPr lang="en-US" altLang="zh-CN" sz="2800" dirty="0"/>
              <a:t>)</a:t>
            </a:r>
            <a:r>
              <a:rPr lang="zh-CN" altLang="en-US" sz="2800" dirty="0"/>
              <a:t>只存在</a:t>
            </a:r>
            <a:r>
              <a:rPr lang="en-US" altLang="zh-CN" sz="2800" dirty="0"/>
              <a:t>n</a:t>
            </a:r>
            <a:r>
              <a:rPr lang="en-US" altLang="zh-CN" sz="2800" baseline="30000" dirty="0"/>
              <a:t>2</a:t>
            </a:r>
            <a:r>
              <a:rPr lang="zh-CN" altLang="en-US" sz="2800" dirty="0"/>
              <a:t>种可能。</a:t>
            </a:r>
          </a:p>
        </p:txBody>
      </p:sp>
    </p:spTree>
    <p:extLst>
      <p:ext uri="{BB962C8B-B14F-4D97-AF65-F5344CB8AC3E}">
        <p14:creationId xmlns:p14="http://schemas.microsoft.com/office/powerpoint/2010/main" val="3550522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8F7219-4738-482D-92B4-C8FD2D4C3DE2}"/>
              </a:ext>
            </a:extLst>
          </p:cNvPr>
          <p:cNvSpPr>
            <a:spLocks noGrp="1"/>
          </p:cNvSpPr>
          <p:nvPr>
            <p:ph type="sldNum" sz="quarter" idx="12"/>
          </p:nvPr>
        </p:nvSpPr>
        <p:spPr/>
        <p:txBody>
          <a:bodyPr/>
          <a:lstStyle/>
          <a:p>
            <a:pPr>
              <a:defRPr/>
            </a:pPr>
            <a:fld id="{C43DEC6E-E9B8-4BFB-942D-E6D3DADCB73D}" type="slidenum">
              <a:rPr lang="zh-CN" altLang="en-US"/>
              <a:pPr>
                <a:defRPr/>
              </a:pPr>
              <a:t>42</a:t>
            </a:fld>
            <a:endParaRPr lang="en-US" altLang="zh-CN"/>
          </a:p>
        </p:txBody>
      </p:sp>
      <p:sp>
        <p:nvSpPr>
          <p:cNvPr id="30723" name="Rectangle 2">
            <a:extLst>
              <a:ext uri="{FF2B5EF4-FFF2-40B4-BE49-F238E27FC236}">
                <a16:creationId xmlns:a16="http://schemas.microsoft.com/office/drawing/2014/main" id="{9802CCE8-10FC-4E31-B50E-E721A7C86772}"/>
              </a:ext>
            </a:extLst>
          </p:cNvPr>
          <p:cNvSpPr>
            <a:spLocks noGrp="1" noChangeArrowheads="1"/>
          </p:cNvSpPr>
          <p:nvPr>
            <p:ph type="title"/>
          </p:nvPr>
        </p:nvSpPr>
        <p:spPr/>
        <p:txBody>
          <a:bodyPr/>
          <a:lstStyle/>
          <a:p>
            <a:pPr eaLnBrk="1" hangingPunct="1"/>
            <a:r>
              <a:rPr lang="zh-CN" altLang="en-US"/>
              <a:t>分析算法</a:t>
            </a:r>
          </a:p>
        </p:txBody>
      </p:sp>
      <p:sp>
        <p:nvSpPr>
          <p:cNvPr id="33795" name="Rectangle 3">
            <a:extLst>
              <a:ext uri="{FF2B5EF4-FFF2-40B4-BE49-F238E27FC236}">
                <a16:creationId xmlns:a16="http://schemas.microsoft.com/office/drawing/2014/main" id="{C0C43CF7-873F-471A-B866-22FE724CC5AC}"/>
              </a:ext>
            </a:extLst>
          </p:cNvPr>
          <p:cNvSpPr>
            <a:spLocks noGrp="1" noChangeArrowheads="1"/>
          </p:cNvSpPr>
          <p:nvPr>
            <p:ph type="body" idx="1"/>
          </p:nvPr>
        </p:nvSpPr>
        <p:spPr/>
        <p:txBody>
          <a:bodyPr/>
          <a:lstStyle/>
          <a:p>
            <a:pPr eaLnBrk="1" hangingPunct="1"/>
            <a:r>
              <a:rPr lang="en-US" altLang="zh-CN" dirty="0"/>
              <a:t>G-S</a:t>
            </a:r>
            <a:r>
              <a:rPr lang="zh-CN" altLang="en-US" dirty="0"/>
              <a:t>算法叙述比较简单</a:t>
            </a:r>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r>
              <a:rPr lang="en-US" altLang="zh-CN" dirty="0"/>
              <a:t>G-S</a:t>
            </a:r>
            <a:r>
              <a:rPr lang="zh-CN" altLang="en-US" dirty="0"/>
              <a:t>算法是否会输出一个正确结果？</a:t>
            </a:r>
          </a:p>
          <a:p>
            <a:pPr eaLnBrk="1" hangingPunct="1">
              <a:buClr>
                <a:schemeClr val="hlink"/>
              </a:buClr>
              <a:buFont typeface="Wingdings" panose="05000000000000000000" pitchFamily="2" charset="2"/>
              <a:buChar char="ü"/>
            </a:pPr>
            <a:r>
              <a:rPr lang="zh-CN" altLang="en-US" dirty="0"/>
              <a:t>是否</a:t>
            </a:r>
            <a:r>
              <a:rPr lang="en-US" altLang="zh-CN" dirty="0"/>
              <a:t>G-S</a:t>
            </a:r>
            <a:r>
              <a:rPr lang="zh-CN" altLang="en-US" dirty="0"/>
              <a:t>算法返回一个</a:t>
            </a:r>
            <a:r>
              <a:rPr lang="zh-CN" altLang="en-US" b="1" dirty="0"/>
              <a:t>完美匹配</a:t>
            </a:r>
            <a:r>
              <a:rPr lang="zh-CN" altLang="en-US" dirty="0"/>
              <a:t>？</a:t>
            </a:r>
          </a:p>
          <a:p>
            <a:pPr eaLnBrk="1" hangingPunct="1">
              <a:buClr>
                <a:schemeClr val="hlink"/>
              </a:buClr>
              <a:buFont typeface="Wingdings" panose="05000000000000000000" pitchFamily="2" charset="2"/>
              <a:buChar char="ü"/>
            </a:pPr>
            <a:r>
              <a:rPr lang="zh-CN" altLang="en-US" dirty="0"/>
              <a:t>是否</a:t>
            </a:r>
            <a:r>
              <a:rPr lang="en-US" altLang="zh-CN" dirty="0"/>
              <a:t>G-S</a:t>
            </a:r>
            <a:r>
              <a:rPr lang="zh-CN" altLang="en-US" dirty="0"/>
              <a:t>算法返回一个</a:t>
            </a:r>
            <a:r>
              <a:rPr lang="zh-CN" altLang="en-US" b="1" dirty="0"/>
              <a:t>稳定匹配</a:t>
            </a:r>
            <a:r>
              <a:rPr lang="zh-CN" altLang="en-US" dirty="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944FC63-62C3-490C-93AE-6AB26F450B7B}"/>
              </a:ext>
            </a:extLst>
          </p:cNvPr>
          <p:cNvSpPr>
            <a:spLocks noGrp="1"/>
          </p:cNvSpPr>
          <p:nvPr>
            <p:ph type="sldNum" sz="quarter" idx="12"/>
          </p:nvPr>
        </p:nvSpPr>
        <p:spPr/>
        <p:txBody>
          <a:bodyPr/>
          <a:lstStyle/>
          <a:p>
            <a:pPr>
              <a:defRPr/>
            </a:pPr>
            <a:fld id="{E3C85107-AE6E-44D8-8D78-54D4B96A7FCC}" type="slidenum">
              <a:rPr lang="zh-CN" altLang="en-US"/>
              <a:pPr>
                <a:defRPr/>
              </a:pPr>
              <a:t>43</a:t>
            </a:fld>
            <a:endParaRPr lang="en-US" altLang="zh-CN"/>
          </a:p>
        </p:txBody>
      </p:sp>
      <p:sp>
        <p:nvSpPr>
          <p:cNvPr id="31747" name="Rectangle 2">
            <a:extLst>
              <a:ext uri="{FF2B5EF4-FFF2-40B4-BE49-F238E27FC236}">
                <a16:creationId xmlns:a16="http://schemas.microsoft.com/office/drawing/2014/main" id="{13217028-B71E-4F4B-8A22-9DC03A157EE2}"/>
              </a:ext>
            </a:extLst>
          </p:cNvPr>
          <p:cNvSpPr>
            <a:spLocks noGrp="1" noChangeArrowheads="1"/>
          </p:cNvSpPr>
          <p:nvPr>
            <p:ph type="title"/>
          </p:nvPr>
        </p:nvSpPr>
        <p:spPr/>
        <p:txBody>
          <a:bodyPr/>
          <a:lstStyle/>
          <a:p>
            <a:pPr eaLnBrk="1" hangingPunct="1"/>
            <a:r>
              <a:rPr lang="zh-CN" altLang="en-US"/>
              <a:t>分析算法</a:t>
            </a:r>
          </a:p>
        </p:txBody>
      </p:sp>
      <p:sp>
        <p:nvSpPr>
          <p:cNvPr id="31748" name="Rectangle 3">
            <a:extLst>
              <a:ext uri="{FF2B5EF4-FFF2-40B4-BE49-F238E27FC236}">
                <a16:creationId xmlns:a16="http://schemas.microsoft.com/office/drawing/2014/main" id="{BE4DEB76-B468-4872-AC61-19EA4268EDA5}"/>
              </a:ext>
            </a:extLst>
          </p:cNvPr>
          <p:cNvSpPr>
            <a:spLocks noGrp="1" noChangeArrowheads="1"/>
          </p:cNvSpPr>
          <p:nvPr>
            <p:ph type="body" idx="1"/>
          </p:nvPr>
        </p:nvSpPr>
        <p:spPr>
          <a:xfrm>
            <a:off x="285842" y="2096858"/>
            <a:ext cx="8712968" cy="4684941"/>
          </a:xfrm>
        </p:spPr>
        <p:txBody>
          <a:bodyPr/>
          <a:lstStyle/>
          <a:p>
            <a:pPr eaLnBrk="1" hangingPunct="1">
              <a:lnSpc>
                <a:spcPct val="110000"/>
              </a:lnSpc>
            </a:pPr>
            <a:r>
              <a:rPr lang="zh-CN" altLang="en-US" dirty="0"/>
              <a:t>命题4 如果男人</a:t>
            </a:r>
            <a:r>
              <a:rPr lang="en-US" altLang="zh-CN" dirty="0"/>
              <a:t>m</a:t>
            </a:r>
            <a:r>
              <a:rPr lang="zh-CN" altLang="en-US" dirty="0"/>
              <a:t>在算法执行的某点是自由的，那么存在一个他还没有发出过邀请的女人。</a:t>
            </a:r>
            <a:endParaRPr lang="en-US" altLang="zh-CN" dirty="0"/>
          </a:p>
          <a:p>
            <a:pPr algn="just" eaLnBrk="1" hangingPunct="1">
              <a:lnSpc>
                <a:spcPct val="110000"/>
              </a:lnSpc>
            </a:pPr>
            <a:r>
              <a:rPr lang="zh-CN" altLang="en-US" dirty="0"/>
              <a:t>证明：假设存在一个点</a:t>
            </a:r>
            <a:r>
              <a:rPr lang="en-US" altLang="zh-CN" dirty="0"/>
              <a:t>,</a:t>
            </a:r>
            <a:r>
              <a:rPr lang="zh-CN" altLang="en-US" dirty="0"/>
              <a:t>此刻</a:t>
            </a:r>
            <a:r>
              <a:rPr lang="en-US" altLang="zh-CN" dirty="0"/>
              <a:t>m</a:t>
            </a:r>
            <a:r>
              <a:rPr lang="zh-CN" altLang="en-US" dirty="0"/>
              <a:t>是自由的，但是已经向每个女人都求过婚了。那么根据命题</a:t>
            </a:r>
            <a:r>
              <a:rPr lang="en-US" altLang="zh-CN" dirty="0"/>
              <a:t>1,n</a:t>
            </a:r>
            <a:r>
              <a:rPr lang="zh-CN" altLang="en-US" dirty="0"/>
              <a:t>个女人中的每个人在这个时间点上是约会状态</a:t>
            </a:r>
            <a:r>
              <a:rPr lang="en-US" altLang="zh-CN" dirty="0"/>
              <a:t>,</a:t>
            </a:r>
            <a:r>
              <a:rPr lang="zh-CN" altLang="en-US" dirty="0"/>
              <a:t>由于约会的对的集合构成一个匹配</a:t>
            </a:r>
            <a:r>
              <a:rPr lang="en-US" altLang="zh-CN" dirty="0"/>
              <a:t>,</a:t>
            </a:r>
            <a:r>
              <a:rPr lang="zh-CN" altLang="en-US" dirty="0"/>
              <a:t>在这个时间点上一定也有</a:t>
            </a:r>
            <a:r>
              <a:rPr lang="en-US" altLang="zh-CN" dirty="0"/>
              <a:t>n</a:t>
            </a:r>
            <a:r>
              <a:rPr lang="zh-CN" altLang="en-US" dirty="0"/>
              <a:t>个约会的男人。但是</a:t>
            </a:r>
            <a:r>
              <a:rPr lang="en-US" altLang="zh-CN" dirty="0"/>
              <a:t>,</a:t>
            </a:r>
            <a:r>
              <a:rPr lang="zh-CN" altLang="en-US" dirty="0"/>
              <a:t>总共只有</a:t>
            </a:r>
            <a:r>
              <a:rPr lang="en-US" altLang="zh-CN" dirty="0"/>
              <a:t>n</a:t>
            </a:r>
            <a:r>
              <a:rPr lang="zh-CN" altLang="en-US" dirty="0"/>
              <a:t>个男人</a:t>
            </a:r>
            <a:r>
              <a:rPr lang="en-US" altLang="zh-CN" dirty="0"/>
              <a:t>,</a:t>
            </a:r>
            <a:r>
              <a:rPr lang="zh-CN" altLang="en-US" dirty="0"/>
              <a:t>且</a:t>
            </a:r>
            <a:r>
              <a:rPr lang="en-US" altLang="zh-CN" dirty="0"/>
              <a:t>m</a:t>
            </a:r>
            <a:r>
              <a:rPr lang="zh-CN" altLang="en-US" dirty="0"/>
              <a:t>不在约会</a:t>
            </a:r>
            <a:r>
              <a:rPr lang="en-US" altLang="zh-CN" dirty="0"/>
              <a:t>,</a:t>
            </a:r>
            <a:r>
              <a:rPr lang="zh-CN" altLang="en-US" dirty="0"/>
              <a:t>与假设矛盾。</a:t>
            </a:r>
          </a:p>
          <a:p>
            <a:pPr eaLnBrk="1" hangingPunct="1">
              <a:lnSpc>
                <a:spcPct val="110000"/>
              </a:lnSpc>
            </a:pP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51C9C-945D-EC1F-2457-CBD5758FA334}"/>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D118976-3735-4F88-A919-1571E0295CAA}"/>
              </a:ext>
            </a:extLst>
          </p:cNvPr>
          <p:cNvSpPr>
            <a:spLocks noGrp="1"/>
          </p:cNvSpPr>
          <p:nvPr>
            <p:ph type="sldNum" sz="quarter" idx="12"/>
          </p:nvPr>
        </p:nvSpPr>
        <p:spPr/>
        <p:txBody>
          <a:bodyPr/>
          <a:lstStyle/>
          <a:p>
            <a:pPr>
              <a:defRPr/>
            </a:pPr>
            <a:fld id="{E3C85107-AE6E-44D8-8D78-54D4B96A7FCC}" type="slidenum">
              <a:rPr lang="zh-CN" altLang="en-US"/>
              <a:pPr>
                <a:defRPr/>
              </a:pPr>
              <a:t>44</a:t>
            </a:fld>
            <a:endParaRPr lang="en-US" altLang="zh-CN"/>
          </a:p>
        </p:txBody>
      </p:sp>
      <p:sp>
        <p:nvSpPr>
          <p:cNvPr id="31747" name="Rectangle 2">
            <a:extLst>
              <a:ext uri="{FF2B5EF4-FFF2-40B4-BE49-F238E27FC236}">
                <a16:creationId xmlns:a16="http://schemas.microsoft.com/office/drawing/2014/main" id="{9C7832D6-BFEE-770B-915B-BABB9C31C648}"/>
              </a:ext>
            </a:extLst>
          </p:cNvPr>
          <p:cNvSpPr>
            <a:spLocks noGrp="1" noChangeArrowheads="1"/>
          </p:cNvSpPr>
          <p:nvPr>
            <p:ph type="title"/>
          </p:nvPr>
        </p:nvSpPr>
        <p:spPr/>
        <p:txBody>
          <a:bodyPr/>
          <a:lstStyle/>
          <a:p>
            <a:pPr eaLnBrk="1" hangingPunct="1"/>
            <a:r>
              <a:rPr lang="zh-CN" altLang="en-US"/>
              <a:t>分析算法</a:t>
            </a:r>
          </a:p>
        </p:txBody>
      </p:sp>
      <p:sp>
        <p:nvSpPr>
          <p:cNvPr id="31748" name="Rectangle 3">
            <a:extLst>
              <a:ext uri="{FF2B5EF4-FFF2-40B4-BE49-F238E27FC236}">
                <a16:creationId xmlns:a16="http://schemas.microsoft.com/office/drawing/2014/main" id="{829EFC42-75E6-79AA-DECE-14AB7EF31A92}"/>
              </a:ext>
            </a:extLst>
          </p:cNvPr>
          <p:cNvSpPr>
            <a:spLocks noGrp="1" noChangeArrowheads="1"/>
          </p:cNvSpPr>
          <p:nvPr>
            <p:ph type="body" idx="1"/>
          </p:nvPr>
        </p:nvSpPr>
        <p:spPr>
          <a:xfrm>
            <a:off x="539552" y="2017713"/>
            <a:ext cx="8415536" cy="4114800"/>
          </a:xfrm>
        </p:spPr>
        <p:txBody>
          <a:bodyPr/>
          <a:lstStyle/>
          <a:p>
            <a:pPr eaLnBrk="1" hangingPunct="1"/>
            <a:r>
              <a:rPr lang="zh-CN" altLang="en-US" dirty="0"/>
              <a:t>命题5 终止时，</a:t>
            </a:r>
            <a:r>
              <a:rPr lang="en-US" altLang="zh-CN" dirty="0"/>
              <a:t>G-S</a:t>
            </a:r>
            <a:r>
              <a:rPr lang="zh-CN" altLang="en-US" dirty="0"/>
              <a:t>算法返回的集合</a:t>
            </a:r>
            <a:r>
              <a:rPr lang="en-US" altLang="zh-CN" dirty="0"/>
              <a:t>S</a:t>
            </a:r>
            <a:r>
              <a:rPr lang="zh-CN" altLang="en-US" dirty="0"/>
              <a:t>是一个完美匹配。</a:t>
            </a:r>
            <a:endParaRPr lang="en-US" altLang="zh-CN" dirty="0"/>
          </a:p>
          <a:p>
            <a:pPr eaLnBrk="1" hangingPunct="1"/>
            <a:r>
              <a:rPr lang="zh-CN" altLang="en-US" dirty="0"/>
              <a:t>证明：约会的对的集合总是构成一个匹配</a:t>
            </a:r>
            <a:r>
              <a:rPr lang="en-US" altLang="zh-CN" dirty="0"/>
              <a:t>,</a:t>
            </a:r>
            <a:r>
              <a:rPr lang="zh-CN" altLang="en-US" dirty="0"/>
              <a:t>我们假设算法终止时有自由的男人。在终止时一定是</a:t>
            </a:r>
            <a:r>
              <a:rPr lang="en-US" altLang="zh-CN" dirty="0"/>
              <a:t>m</a:t>
            </a:r>
            <a:r>
              <a:rPr lang="zh-CN" altLang="en-US" dirty="0"/>
              <a:t>已经向每个女人求过婚，否则</a:t>
            </a:r>
            <a:r>
              <a:rPr lang="en-US" altLang="zh-CN" dirty="0"/>
              <a:t>While</a:t>
            </a:r>
            <a:r>
              <a:rPr lang="zh-CN" altLang="en-US" dirty="0"/>
              <a:t>循环不会结束。但是，这与命题</a:t>
            </a:r>
            <a:r>
              <a:rPr lang="en-US" altLang="zh-CN" dirty="0"/>
              <a:t>4</a:t>
            </a:r>
            <a:r>
              <a:rPr lang="zh-CN" altLang="en-US" dirty="0"/>
              <a:t>矛盾（</a:t>
            </a:r>
            <a:r>
              <a:rPr lang="zh-CN" altLang="en-US" dirty="0">
                <a:solidFill>
                  <a:srgbClr val="FF0000"/>
                </a:solidFill>
              </a:rPr>
              <a:t>不可能存在一个自由的且向每个女人都求过婚的男人</a:t>
            </a:r>
            <a:r>
              <a:rPr lang="zh-CN" altLang="en-US" dirty="0"/>
              <a:t>）。</a:t>
            </a:r>
            <a:endParaRPr lang="en-US" altLang="zh-CN" dirty="0"/>
          </a:p>
        </p:txBody>
      </p:sp>
    </p:spTree>
    <p:extLst>
      <p:ext uri="{BB962C8B-B14F-4D97-AF65-F5344CB8AC3E}">
        <p14:creationId xmlns:p14="http://schemas.microsoft.com/office/powerpoint/2010/main" val="2922782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20D7DF5-5C90-4CB9-A2E2-2CE3673973E9}"/>
              </a:ext>
            </a:extLst>
          </p:cNvPr>
          <p:cNvSpPr>
            <a:spLocks noGrp="1"/>
          </p:cNvSpPr>
          <p:nvPr>
            <p:ph type="sldNum" sz="quarter" idx="12"/>
          </p:nvPr>
        </p:nvSpPr>
        <p:spPr/>
        <p:txBody>
          <a:bodyPr/>
          <a:lstStyle/>
          <a:p>
            <a:pPr>
              <a:defRPr/>
            </a:pPr>
            <a:fld id="{D9CFFA23-FEE5-4B18-9431-D3C85D50A3D5}" type="slidenum">
              <a:rPr lang="zh-CN" altLang="en-US"/>
              <a:pPr>
                <a:defRPr/>
              </a:pPr>
              <a:t>45</a:t>
            </a:fld>
            <a:endParaRPr lang="en-US" altLang="zh-CN"/>
          </a:p>
        </p:txBody>
      </p:sp>
      <p:sp>
        <p:nvSpPr>
          <p:cNvPr id="32771" name="Rectangle 2">
            <a:extLst>
              <a:ext uri="{FF2B5EF4-FFF2-40B4-BE49-F238E27FC236}">
                <a16:creationId xmlns:a16="http://schemas.microsoft.com/office/drawing/2014/main" id="{EF8674C1-DC33-4F36-ABE1-7BD6A66C54AB}"/>
              </a:ext>
            </a:extLst>
          </p:cNvPr>
          <p:cNvSpPr>
            <a:spLocks noGrp="1" noChangeArrowheads="1"/>
          </p:cNvSpPr>
          <p:nvPr>
            <p:ph type="title"/>
          </p:nvPr>
        </p:nvSpPr>
        <p:spPr/>
        <p:txBody>
          <a:bodyPr/>
          <a:lstStyle/>
          <a:p>
            <a:pPr eaLnBrk="1" hangingPunct="1"/>
            <a:r>
              <a:rPr lang="zh-CN" altLang="en-US"/>
              <a:t>分析算法</a:t>
            </a:r>
          </a:p>
        </p:txBody>
      </p:sp>
      <p:sp>
        <p:nvSpPr>
          <p:cNvPr id="32772" name="Rectangle 3">
            <a:extLst>
              <a:ext uri="{FF2B5EF4-FFF2-40B4-BE49-F238E27FC236}">
                <a16:creationId xmlns:a16="http://schemas.microsoft.com/office/drawing/2014/main" id="{EECB50D9-E16F-4E9D-A113-3B7268C3A5AB}"/>
              </a:ext>
            </a:extLst>
          </p:cNvPr>
          <p:cNvSpPr>
            <a:spLocks noGrp="1" noChangeArrowheads="1"/>
          </p:cNvSpPr>
          <p:nvPr>
            <p:ph type="body" idx="1"/>
          </p:nvPr>
        </p:nvSpPr>
        <p:spPr>
          <a:xfrm>
            <a:off x="390364" y="2018434"/>
            <a:ext cx="8363272" cy="4114800"/>
          </a:xfrm>
        </p:spPr>
        <p:txBody>
          <a:bodyPr/>
          <a:lstStyle/>
          <a:p>
            <a:pPr eaLnBrk="1" hangingPunct="1">
              <a:lnSpc>
                <a:spcPct val="90000"/>
              </a:lnSpc>
            </a:pPr>
            <a:r>
              <a:rPr lang="zh-CN" altLang="en-US" dirty="0"/>
              <a:t>命题6 考虑</a:t>
            </a:r>
            <a:r>
              <a:rPr lang="en-US" altLang="zh-CN" dirty="0"/>
              <a:t>G-S</a:t>
            </a:r>
            <a:r>
              <a:rPr lang="zh-CN" altLang="en-US" dirty="0"/>
              <a:t>算法的一次执行，它返回一个集合</a:t>
            </a:r>
            <a:r>
              <a:rPr lang="en-US" altLang="zh-CN" dirty="0"/>
              <a:t>S, </a:t>
            </a:r>
            <a:r>
              <a:rPr lang="zh-CN" altLang="en-US" dirty="0"/>
              <a:t>那么</a:t>
            </a:r>
            <a:r>
              <a:rPr lang="en-US" altLang="zh-CN" dirty="0"/>
              <a:t>S</a:t>
            </a:r>
            <a:r>
              <a:rPr lang="zh-CN" altLang="en-US" dirty="0"/>
              <a:t>是一个稳定匹配。</a:t>
            </a:r>
          </a:p>
          <a:p>
            <a:pPr marL="0" indent="0" algn="just" eaLnBrk="1" hangingPunct="1">
              <a:lnSpc>
                <a:spcPct val="90000"/>
              </a:lnSpc>
              <a:buNone/>
            </a:pPr>
            <a:r>
              <a:rPr lang="zh-CN" altLang="en-US" dirty="0"/>
              <a:t>证明：假设</a:t>
            </a:r>
            <a:r>
              <a:rPr lang="en-US" altLang="zh-CN" dirty="0"/>
              <a:t>S</a:t>
            </a:r>
            <a:r>
              <a:rPr lang="zh-CN" altLang="en-US" dirty="0"/>
              <a:t>中存在一个不稳定因素(</a:t>
            </a:r>
            <a:r>
              <a:rPr lang="en-US" altLang="zh-CN" dirty="0" err="1"/>
              <a:t>m,w</a:t>
            </a:r>
            <a:r>
              <a:rPr lang="en-US" altLang="zh-CN" dirty="0">
                <a:latin typeface="Times New Roman" panose="02020603050405020304" pitchFamily="18" charset="0"/>
              </a:rPr>
              <a:t>’</a:t>
            </a:r>
            <a:r>
              <a:rPr lang="en-US" altLang="zh-CN" dirty="0"/>
              <a:t>)</a:t>
            </a:r>
            <a:r>
              <a:rPr lang="zh-CN" altLang="en-US" dirty="0"/>
              <a:t>，涉及(</a:t>
            </a:r>
            <a:r>
              <a:rPr lang="en-US" altLang="zh-CN" dirty="0" err="1"/>
              <a:t>m,w</a:t>
            </a:r>
            <a:r>
              <a:rPr lang="en-US" altLang="zh-CN" dirty="0"/>
              <a:t>),(</a:t>
            </a:r>
            <a:r>
              <a:rPr lang="en-US" altLang="zh-CN" dirty="0" err="1"/>
              <a:t>m</a:t>
            </a:r>
            <a:r>
              <a:rPr lang="en-US" altLang="zh-CN" dirty="0" err="1">
                <a:latin typeface="Times New Roman" panose="02020603050405020304" pitchFamily="18" charset="0"/>
              </a:rPr>
              <a:t>’</a:t>
            </a:r>
            <a:r>
              <a:rPr lang="en-US" altLang="zh-CN" dirty="0" err="1"/>
              <a:t>,w</a:t>
            </a:r>
            <a:r>
              <a:rPr lang="en-US" altLang="zh-CN" dirty="0">
                <a:latin typeface="Times New Roman" panose="02020603050405020304" pitchFamily="18" charset="0"/>
              </a:rPr>
              <a:t>’</a:t>
            </a:r>
            <a:r>
              <a:rPr lang="en-US" altLang="zh-CN" dirty="0"/>
              <a:t>); m</a:t>
            </a:r>
            <a:r>
              <a:rPr lang="zh-CN" altLang="en-US" dirty="0"/>
              <a:t>偏爱</a:t>
            </a:r>
            <a:r>
              <a:rPr lang="en-US" altLang="zh-CN" dirty="0"/>
              <a:t>w</a:t>
            </a:r>
            <a:r>
              <a:rPr lang="en-US" altLang="zh-CN" dirty="0">
                <a:latin typeface="Times New Roman" panose="02020603050405020304" pitchFamily="18" charset="0"/>
              </a:rPr>
              <a:t>’</a:t>
            </a:r>
            <a:r>
              <a:rPr lang="en-US" altLang="zh-CN" dirty="0"/>
              <a:t>, w</a:t>
            </a:r>
            <a:r>
              <a:rPr lang="en-US" altLang="zh-CN" dirty="0">
                <a:latin typeface="Times New Roman" panose="02020603050405020304" pitchFamily="18" charset="0"/>
              </a:rPr>
              <a:t>’</a:t>
            </a:r>
            <a:r>
              <a:rPr lang="zh-CN" altLang="en-US" dirty="0"/>
              <a:t>偏爱</a:t>
            </a:r>
            <a:r>
              <a:rPr lang="en-US" altLang="zh-CN" dirty="0"/>
              <a:t>m</a:t>
            </a:r>
            <a:r>
              <a:rPr lang="zh-CN" altLang="en-US" dirty="0"/>
              <a:t>。</a:t>
            </a:r>
            <a:endParaRPr lang="en-US" altLang="zh-CN" dirty="0"/>
          </a:p>
          <a:p>
            <a:pPr marL="0" algn="just" eaLnBrk="1" hangingPunct="1">
              <a:lnSpc>
                <a:spcPct val="90000"/>
              </a:lnSpc>
              <a:buFont typeface="Wingdings" panose="05000000000000000000" pitchFamily="2" charset="2"/>
              <a:buNone/>
            </a:pPr>
            <a:r>
              <a:rPr lang="zh-CN" altLang="en-US" dirty="0"/>
              <a:t>那么</a:t>
            </a:r>
            <a:r>
              <a:rPr lang="en-US" altLang="zh-CN" dirty="0"/>
              <a:t>m</a:t>
            </a:r>
            <a:r>
              <a:rPr lang="zh-CN" altLang="en-US" dirty="0"/>
              <a:t>最后一次邀请向</a:t>
            </a:r>
            <a:r>
              <a:rPr lang="en-US" altLang="zh-CN" dirty="0"/>
              <a:t>w</a:t>
            </a:r>
            <a:r>
              <a:rPr lang="zh-CN" altLang="en-US" dirty="0"/>
              <a:t>发出；在此之前, </a:t>
            </a:r>
            <a:r>
              <a:rPr lang="en-US" altLang="zh-CN" dirty="0"/>
              <a:t>m</a:t>
            </a:r>
            <a:r>
              <a:rPr lang="zh-CN" altLang="en-US" dirty="0"/>
              <a:t>向</a:t>
            </a:r>
            <a:r>
              <a:rPr lang="en-US" altLang="zh-CN" dirty="0"/>
              <a:t>w</a:t>
            </a:r>
            <a:r>
              <a:rPr lang="en-US" altLang="zh-CN" dirty="0">
                <a:latin typeface="Times New Roman" panose="02020603050405020304" pitchFamily="18" charset="0"/>
              </a:rPr>
              <a:t>’</a:t>
            </a:r>
            <a:r>
              <a:rPr lang="zh-CN" altLang="en-US" dirty="0"/>
              <a:t>一定发出过邀请，但是被</a:t>
            </a:r>
            <a:r>
              <a:rPr lang="en-US" altLang="zh-CN" dirty="0"/>
              <a:t>w</a:t>
            </a:r>
            <a:r>
              <a:rPr lang="en-US" altLang="zh-CN" dirty="0">
                <a:latin typeface="Times New Roman" panose="02020603050405020304" pitchFamily="18" charset="0"/>
              </a:rPr>
              <a:t>’</a:t>
            </a:r>
            <a:r>
              <a:rPr lang="zh-CN" altLang="en-US" dirty="0"/>
              <a:t>拒绝，那么</a:t>
            </a:r>
            <a:r>
              <a:rPr lang="en-US" altLang="zh-CN" dirty="0"/>
              <a:t>w</a:t>
            </a:r>
            <a:r>
              <a:rPr lang="en-US" altLang="zh-CN" dirty="0">
                <a:latin typeface="Times New Roman" panose="02020603050405020304" pitchFamily="18" charset="0"/>
              </a:rPr>
              <a:t>’</a:t>
            </a:r>
            <a:r>
              <a:rPr lang="zh-CN" altLang="en-US" dirty="0"/>
              <a:t>一定选择了比</a:t>
            </a:r>
            <a:r>
              <a:rPr lang="en-US" altLang="zh-CN" dirty="0"/>
              <a:t>m</a:t>
            </a:r>
            <a:r>
              <a:rPr lang="zh-CN" altLang="en-US" dirty="0"/>
              <a:t>更好的对象，无论如何</a:t>
            </a:r>
            <a:r>
              <a:rPr lang="en-US" altLang="zh-CN" dirty="0"/>
              <a:t>w</a:t>
            </a:r>
            <a:r>
              <a:rPr lang="en-US" altLang="zh-CN" dirty="0">
                <a:latin typeface="Times New Roman" panose="02020603050405020304" pitchFamily="18" charset="0"/>
              </a:rPr>
              <a:t>’</a:t>
            </a:r>
            <a:r>
              <a:rPr lang="zh-CN" altLang="en-US" dirty="0"/>
              <a:t>都不可能与</a:t>
            </a:r>
            <a:r>
              <a:rPr lang="en-US" altLang="zh-CN" dirty="0"/>
              <a:t>m</a:t>
            </a:r>
            <a:r>
              <a:rPr lang="zh-CN" altLang="en-US" dirty="0"/>
              <a:t>配对。与假设矛盾。</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F569F9E-A05C-463A-BF73-63AB5E9AFC2A}"/>
              </a:ext>
            </a:extLst>
          </p:cNvPr>
          <p:cNvSpPr>
            <a:spLocks noGrp="1"/>
          </p:cNvSpPr>
          <p:nvPr>
            <p:ph type="sldNum" sz="quarter" idx="12"/>
          </p:nvPr>
        </p:nvSpPr>
        <p:spPr/>
        <p:txBody>
          <a:bodyPr/>
          <a:lstStyle/>
          <a:p>
            <a:pPr>
              <a:defRPr/>
            </a:pPr>
            <a:fld id="{D7639EAC-1DB2-41A3-AF3D-E5952089F964}" type="slidenum">
              <a:rPr lang="zh-CN" altLang="en-US"/>
              <a:pPr>
                <a:defRPr/>
              </a:pPr>
              <a:t>46</a:t>
            </a:fld>
            <a:endParaRPr lang="en-US" altLang="zh-CN"/>
          </a:p>
        </p:txBody>
      </p:sp>
      <p:sp>
        <p:nvSpPr>
          <p:cNvPr id="36867" name="Rectangle 2">
            <a:extLst>
              <a:ext uri="{FF2B5EF4-FFF2-40B4-BE49-F238E27FC236}">
                <a16:creationId xmlns:a16="http://schemas.microsoft.com/office/drawing/2014/main" id="{22047E45-88D7-4DDD-ACF8-0B4722C99452}"/>
              </a:ext>
            </a:extLst>
          </p:cNvPr>
          <p:cNvSpPr>
            <a:spLocks noGrp="1" noChangeArrowheads="1"/>
          </p:cNvSpPr>
          <p:nvPr>
            <p:ph type="title"/>
          </p:nvPr>
        </p:nvSpPr>
        <p:spPr/>
        <p:txBody>
          <a:bodyPr/>
          <a:lstStyle/>
          <a:p>
            <a:pPr eaLnBrk="1" hangingPunct="1"/>
            <a:r>
              <a:rPr lang="zh-CN" altLang="en-US"/>
              <a:t>分析算法</a:t>
            </a:r>
          </a:p>
        </p:txBody>
      </p:sp>
      <p:sp>
        <p:nvSpPr>
          <p:cNvPr id="36868" name="Rectangle 3">
            <a:extLst>
              <a:ext uri="{FF2B5EF4-FFF2-40B4-BE49-F238E27FC236}">
                <a16:creationId xmlns:a16="http://schemas.microsoft.com/office/drawing/2014/main" id="{7F23430D-7D87-4C12-91D0-2290070B2AE5}"/>
              </a:ext>
            </a:extLst>
          </p:cNvPr>
          <p:cNvSpPr>
            <a:spLocks noGrp="1" noChangeArrowheads="1"/>
          </p:cNvSpPr>
          <p:nvPr>
            <p:ph type="body" idx="1"/>
          </p:nvPr>
        </p:nvSpPr>
        <p:spPr/>
        <p:txBody>
          <a:bodyPr/>
          <a:lstStyle/>
          <a:p>
            <a:pPr eaLnBrk="1" hangingPunct="1"/>
            <a:r>
              <a:rPr lang="zh-CN" altLang="en-US"/>
              <a:t>如何能够有效的实现</a:t>
            </a:r>
            <a:r>
              <a:rPr lang="en-US" altLang="zh-CN"/>
              <a:t>G-S</a:t>
            </a:r>
            <a:r>
              <a:rPr lang="zh-CN" altLang="en-US"/>
              <a:t>算法？</a:t>
            </a:r>
          </a:p>
          <a:p>
            <a:pPr eaLnBrk="1" hangingPunct="1">
              <a:buFont typeface="Wingdings" panose="05000000000000000000" pitchFamily="2" charset="2"/>
              <a:buNone/>
            </a:pPr>
            <a:endParaRPr lang="zh-CN" altLang="en-US"/>
          </a:p>
          <a:p>
            <a:pPr eaLnBrk="1" hangingPunct="1"/>
            <a:r>
              <a:rPr lang="zh-CN" altLang="en-US"/>
              <a:t>若存在多个，</a:t>
            </a:r>
            <a:r>
              <a:rPr lang="en-US" altLang="zh-CN"/>
              <a:t>G-S</a:t>
            </a:r>
            <a:r>
              <a:rPr lang="zh-CN" altLang="en-US"/>
              <a:t>算法找到的是哪一个稳定匹配？</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18F34D5-1C9D-467C-8D20-6DE5AEDD66CD}"/>
              </a:ext>
            </a:extLst>
          </p:cNvPr>
          <p:cNvSpPr>
            <a:spLocks noGrp="1"/>
          </p:cNvSpPr>
          <p:nvPr>
            <p:ph type="sldNum" sz="quarter" idx="12"/>
          </p:nvPr>
        </p:nvSpPr>
        <p:spPr/>
        <p:txBody>
          <a:bodyPr/>
          <a:lstStyle/>
          <a:p>
            <a:pPr>
              <a:defRPr/>
            </a:pPr>
            <a:fld id="{B0D9C59C-FC1E-4A1A-BC63-52255982E484}" type="slidenum">
              <a:rPr lang="zh-CN" altLang="en-US"/>
              <a:pPr>
                <a:defRPr/>
              </a:pPr>
              <a:t>47</a:t>
            </a:fld>
            <a:endParaRPr lang="en-US" altLang="zh-CN"/>
          </a:p>
        </p:txBody>
      </p:sp>
      <p:sp>
        <p:nvSpPr>
          <p:cNvPr id="37891" name="Rectangle 2">
            <a:extLst>
              <a:ext uri="{FF2B5EF4-FFF2-40B4-BE49-F238E27FC236}">
                <a16:creationId xmlns:a16="http://schemas.microsoft.com/office/drawing/2014/main" id="{2A2855D2-08CF-465D-BA0C-3AC32BF917C2}"/>
              </a:ext>
            </a:extLst>
          </p:cNvPr>
          <p:cNvSpPr>
            <a:spLocks noGrp="1" noChangeArrowheads="1"/>
          </p:cNvSpPr>
          <p:nvPr>
            <p:ph type="title"/>
          </p:nvPr>
        </p:nvSpPr>
        <p:spPr/>
        <p:txBody>
          <a:bodyPr/>
          <a:lstStyle/>
          <a:p>
            <a:pPr eaLnBrk="1" hangingPunct="1"/>
            <a:r>
              <a:rPr lang="zh-CN" altLang="en-US"/>
              <a:t>实现算法</a:t>
            </a:r>
          </a:p>
        </p:txBody>
      </p:sp>
      <p:sp>
        <p:nvSpPr>
          <p:cNvPr id="37892" name="Rectangle 3">
            <a:extLst>
              <a:ext uri="{FF2B5EF4-FFF2-40B4-BE49-F238E27FC236}">
                <a16:creationId xmlns:a16="http://schemas.microsoft.com/office/drawing/2014/main" id="{154F3C2E-2F21-42D6-8B4A-76632530CA1B}"/>
              </a:ext>
            </a:extLst>
          </p:cNvPr>
          <p:cNvSpPr>
            <a:spLocks noGrp="1" noChangeArrowheads="1"/>
          </p:cNvSpPr>
          <p:nvPr>
            <p:ph type="body" idx="1"/>
          </p:nvPr>
        </p:nvSpPr>
        <p:spPr/>
        <p:txBody>
          <a:bodyPr/>
          <a:lstStyle/>
          <a:p>
            <a:pPr marL="0" indent="0" eaLnBrk="1" hangingPunct="1">
              <a:buNone/>
            </a:pPr>
            <a:r>
              <a:rPr lang="zh-CN" altLang="en-US" dirty="0"/>
              <a:t>要点：</a:t>
            </a:r>
          </a:p>
          <a:p>
            <a:pPr eaLnBrk="1" hangingPunct="1"/>
            <a:r>
              <a:rPr lang="en-US" altLang="zh-CN" dirty="0"/>
              <a:t>M={1,</a:t>
            </a:r>
            <a:r>
              <a:rPr lang="en-US" altLang="zh-CN" dirty="0">
                <a:latin typeface="Times New Roman" panose="02020603050405020304" pitchFamily="18" charset="0"/>
              </a:rPr>
              <a:t>…</a:t>
            </a:r>
            <a:r>
              <a:rPr lang="en-US" altLang="zh-CN" dirty="0"/>
              <a:t>, n};W={1,</a:t>
            </a:r>
            <a:r>
              <a:rPr lang="en-US" altLang="zh-CN" dirty="0">
                <a:latin typeface="Times New Roman" panose="02020603050405020304" pitchFamily="18" charset="0"/>
              </a:rPr>
              <a:t>…</a:t>
            </a:r>
            <a:r>
              <a:rPr lang="en-US" altLang="zh-CN" dirty="0"/>
              <a:t>,n};</a:t>
            </a:r>
          </a:p>
          <a:p>
            <a:pPr eaLnBrk="1" hangingPunct="1"/>
            <a:r>
              <a:rPr lang="zh-CN" altLang="en-US" dirty="0"/>
              <a:t>用两个数组来记录约会的对象；</a:t>
            </a:r>
          </a:p>
          <a:p>
            <a:pPr eaLnBrk="1" hangingPunct="1"/>
            <a:r>
              <a:rPr lang="zh-CN" altLang="en-US" dirty="0"/>
              <a:t>用一个数组来记录每一个男人在自己优先表的位置（提出邀请的次数）；</a:t>
            </a:r>
          </a:p>
          <a:p>
            <a:pPr eaLnBrk="1" hangingPunct="1">
              <a:buFont typeface="Wingdings" panose="05000000000000000000" pitchFamily="2" charset="2"/>
              <a:buNone/>
            </a:pPr>
            <a:endParaRPr lang="en-US"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灯片编号占位符 5">
            <a:extLst>
              <a:ext uri="{FF2B5EF4-FFF2-40B4-BE49-F238E27FC236}">
                <a16:creationId xmlns:a16="http://schemas.microsoft.com/office/drawing/2014/main" id="{84443C73-3073-4CAB-B992-DB8217BA65B7}"/>
              </a:ext>
            </a:extLst>
          </p:cNvPr>
          <p:cNvSpPr>
            <a:spLocks noGrp="1"/>
          </p:cNvSpPr>
          <p:nvPr>
            <p:ph type="sldNum" sz="quarter" idx="12"/>
          </p:nvPr>
        </p:nvSpPr>
        <p:spPr/>
        <p:txBody>
          <a:bodyPr/>
          <a:lstStyle/>
          <a:p>
            <a:pPr>
              <a:defRPr/>
            </a:pPr>
            <a:fld id="{ADCA4C28-5526-45DE-AF33-8FF1A1EF968C}" type="slidenum">
              <a:rPr lang="zh-CN" altLang="en-US"/>
              <a:pPr>
                <a:defRPr/>
              </a:pPr>
              <a:t>48</a:t>
            </a:fld>
            <a:endParaRPr lang="en-US" altLang="zh-CN"/>
          </a:p>
        </p:txBody>
      </p:sp>
      <p:sp>
        <p:nvSpPr>
          <p:cNvPr id="38915" name="Rectangle 2">
            <a:extLst>
              <a:ext uri="{FF2B5EF4-FFF2-40B4-BE49-F238E27FC236}">
                <a16:creationId xmlns:a16="http://schemas.microsoft.com/office/drawing/2014/main" id="{B0F713A0-0469-40A0-A100-7DDBDD2086CE}"/>
              </a:ext>
            </a:extLst>
          </p:cNvPr>
          <p:cNvSpPr>
            <a:spLocks noGrp="1" noChangeArrowheads="1"/>
          </p:cNvSpPr>
          <p:nvPr>
            <p:ph type="title"/>
          </p:nvPr>
        </p:nvSpPr>
        <p:spPr/>
        <p:txBody>
          <a:bodyPr/>
          <a:lstStyle/>
          <a:p>
            <a:pPr eaLnBrk="1" hangingPunct="1"/>
            <a:r>
              <a:rPr lang="zh-CN" altLang="en-US"/>
              <a:t>实现算法</a:t>
            </a:r>
          </a:p>
        </p:txBody>
      </p:sp>
      <p:sp>
        <p:nvSpPr>
          <p:cNvPr id="38916" name="Rectangle 3">
            <a:extLst>
              <a:ext uri="{FF2B5EF4-FFF2-40B4-BE49-F238E27FC236}">
                <a16:creationId xmlns:a16="http://schemas.microsoft.com/office/drawing/2014/main" id="{597E00AA-8575-4F3F-A325-DA74E3C390F1}"/>
              </a:ext>
            </a:extLst>
          </p:cNvPr>
          <p:cNvSpPr>
            <a:spLocks noGrp="1" noChangeArrowheads="1"/>
          </p:cNvSpPr>
          <p:nvPr>
            <p:ph type="body" idx="1"/>
          </p:nvPr>
        </p:nvSpPr>
        <p:spPr>
          <a:xfrm>
            <a:off x="1066800" y="1219200"/>
            <a:ext cx="7772400" cy="4114800"/>
          </a:xfrm>
        </p:spPr>
        <p:txBody>
          <a:bodyPr/>
          <a:lstStyle/>
          <a:p>
            <a:pPr eaLnBrk="1" hangingPunct="1">
              <a:buFont typeface="Wingdings" panose="05000000000000000000" pitchFamily="2" charset="2"/>
              <a:buNone/>
            </a:pPr>
            <a:endParaRPr lang="en-US" altLang="zh-CN" sz="2800" dirty="0"/>
          </a:p>
          <a:p>
            <a:pPr eaLnBrk="1" hangingPunct="1"/>
            <a:r>
              <a:rPr lang="zh-CN" altLang="en-US" sz="2800" dirty="0"/>
              <a:t>女人如何判断接收/拒绝邀请？</a:t>
            </a:r>
          </a:p>
          <a:p>
            <a:pPr eaLnBrk="1" hangingPunct="1">
              <a:buFont typeface="Wingdings" panose="05000000000000000000" pitchFamily="2" charset="2"/>
              <a:buNone/>
            </a:pPr>
            <a:r>
              <a:rPr lang="zh-CN" altLang="en-US" sz="2800" dirty="0"/>
              <a:t>   女人对自己的优先表做预处理，</a:t>
            </a:r>
            <a:r>
              <a:rPr lang="zh-CN" altLang="en-US" sz="2800" dirty="0">
                <a:solidFill>
                  <a:schemeClr val="hlink"/>
                </a:solidFill>
              </a:rPr>
              <a:t>反向变换</a:t>
            </a:r>
            <a:r>
              <a:rPr lang="zh-CN" altLang="en-US" sz="2800" dirty="0"/>
              <a:t>；</a:t>
            </a:r>
          </a:p>
          <a:p>
            <a:pPr eaLnBrk="1" hangingPunct="1">
              <a:buFont typeface="Wingdings" panose="05000000000000000000" pitchFamily="2" charset="2"/>
              <a:buNone/>
            </a:pPr>
            <a:r>
              <a:rPr lang="zh-CN" altLang="en-US" sz="2800" dirty="0"/>
              <a:t>    这样以后判别的时候就是</a:t>
            </a:r>
            <a:r>
              <a:rPr lang="zh-CN" altLang="en-US" sz="2800" b="1" dirty="0"/>
              <a:t>常数阶</a:t>
            </a:r>
            <a:r>
              <a:rPr lang="zh-CN" altLang="en-US" sz="2800" dirty="0"/>
              <a:t>的代价；</a:t>
            </a:r>
          </a:p>
        </p:txBody>
      </p:sp>
      <p:sp>
        <p:nvSpPr>
          <p:cNvPr id="38917" name="Text Box 4">
            <a:extLst>
              <a:ext uri="{FF2B5EF4-FFF2-40B4-BE49-F238E27FC236}">
                <a16:creationId xmlns:a16="http://schemas.microsoft.com/office/drawing/2014/main" id="{F03C5E2A-A4BF-494E-8C69-56F37B4D81B9}"/>
              </a:ext>
            </a:extLst>
          </p:cNvPr>
          <p:cNvSpPr txBox="1">
            <a:spLocks noChangeArrowheads="1"/>
          </p:cNvSpPr>
          <p:nvPr/>
        </p:nvSpPr>
        <p:spPr bwMode="auto">
          <a:xfrm>
            <a:off x="790149" y="5416121"/>
            <a:ext cx="3290888" cy="692150"/>
          </a:xfrm>
          <a:prstGeom prst="rect">
            <a:avLst/>
          </a:prstGeom>
          <a:solidFill>
            <a:srgbClr val="C0C0C0"/>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91440" rIns="137160" bIns="9144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nSpc>
                <a:spcPts val="2000"/>
              </a:lnSpc>
              <a:spcBef>
                <a:spcPct val="0"/>
              </a:spcBef>
              <a:buClrTx/>
              <a:buSzTx/>
              <a:buFontTx/>
              <a:buNone/>
            </a:pPr>
            <a:r>
              <a:rPr kumimoji="0" lang="en-US" altLang="zh-CN" sz="1600" b="1" dirty="0">
                <a:solidFill>
                  <a:srgbClr val="003399"/>
                </a:solidFill>
                <a:latin typeface="Courier New" panose="02070309020205020404" pitchFamily="49" charset="0"/>
              </a:rPr>
              <a:t>for</a:t>
            </a:r>
            <a:r>
              <a:rPr kumimoji="0" lang="en-US" altLang="zh-CN" sz="1600" b="1" dirty="0">
                <a:solidFill>
                  <a:schemeClr val="bg2"/>
                </a:solidFill>
                <a:latin typeface="Courier New" panose="02070309020205020404" pitchFamily="49" charset="0"/>
              </a:rPr>
              <a:t> </a:t>
            </a:r>
            <a:r>
              <a:rPr kumimoji="0" lang="en-US" altLang="zh-CN" sz="1600" b="1" dirty="0" err="1">
                <a:solidFill>
                  <a:schemeClr val="bg2"/>
                </a:solidFill>
                <a:latin typeface="Courier New" panose="02070309020205020404" pitchFamily="49" charset="0"/>
              </a:rPr>
              <a:t>i</a:t>
            </a:r>
            <a:r>
              <a:rPr kumimoji="0" lang="en-US" altLang="zh-CN" sz="1600" b="1" dirty="0">
                <a:solidFill>
                  <a:schemeClr val="bg2"/>
                </a:solidFill>
                <a:latin typeface="Courier New" panose="02070309020205020404" pitchFamily="49" charset="0"/>
              </a:rPr>
              <a:t> = 1 to n</a:t>
            </a:r>
          </a:p>
          <a:p>
            <a:pPr>
              <a:lnSpc>
                <a:spcPts val="2000"/>
              </a:lnSpc>
              <a:spcBef>
                <a:spcPct val="0"/>
              </a:spcBef>
              <a:buClrTx/>
              <a:buSzTx/>
              <a:buFontTx/>
              <a:buNone/>
            </a:pPr>
            <a:r>
              <a:rPr kumimoji="0" lang="en-US" altLang="zh-CN" sz="1600" b="1" dirty="0">
                <a:solidFill>
                  <a:schemeClr val="bg2"/>
                </a:solidFill>
                <a:latin typeface="Courier New" panose="02070309020205020404" pitchFamily="49" charset="0"/>
              </a:rPr>
              <a:t>   inverse[</a:t>
            </a:r>
            <a:r>
              <a:rPr kumimoji="0" lang="en-US" altLang="zh-CN" sz="1600" b="1" dirty="0" err="1">
                <a:solidFill>
                  <a:schemeClr val="bg2"/>
                </a:solidFill>
                <a:latin typeface="Courier New" panose="02070309020205020404" pitchFamily="49" charset="0"/>
              </a:rPr>
              <a:t>pref</a:t>
            </a:r>
            <a:r>
              <a:rPr kumimoji="0" lang="en-US" altLang="zh-CN" sz="1600" b="1" dirty="0">
                <a:solidFill>
                  <a:schemeClr val="bg2"/>
                </a:solidFill>
                <a:latin typeface="Courier New" panose="02070309020205020404" pitchFamily="49" charset="0"/>
              </a:rPr>
              <a:t>[</a:t>
            </a:r>
            <a:r>
              <a:rPr kumimoji="0" lang="en-US" altLang="zh-CN" sz="1600" b="1" dirty="0" err="1">
                <a:solidFill>
                  <a:schemeClr val="bg2"/>
                </a:solidFill>
                <a:latin typeface="Courier New" panose="02070309020205020404" pitchFamily="49" charset="0"/>
              </a:rPr>
              <a:t>i</a:t>
            </a:r>
            <a:r>
              <a:rPr kumimoji="0" lang="en-US" altLang="zh-CN" sz="1600" b="1" dirty="0">
                <a:solidFill>
                  <a:schemeClr val="bg2"/>
                </a:solidFill>
                <a:latin typeface="Courier New" panose="02070309020205020404" pitchFamily="49" charset="0"/>
              </a:rPr>
              <a:t>]] = </a:t>
            </a:r>
            <a:r>
              <a:rPr kumimoji="0" lang="en-US" altLang="zh-CN" sz="1600" b="1" dirty="0" err="1">
                <a:solidFill>
                  <a:schemeClr val="bg2"/>
                </a:solidFill>
                <a:latin typeface="Courier New" panose="02070309020205020404" pitchFamily="49" charset="0"/>
              </a:rPr>
              <a:t>i</a:t>
            </a:r>
            <a:endParaRPr lang="en-US" altLang="zh-CN" sz="1600" b="1" dirty="0">
              <a:latin typeface="Courier New" panose="02070309020205020404" pitchFamily="49" charset="0"/>
            </a:endParaRPr>
          </a:p>
        </p:txBody>
      </p:sp>
      <p:grpSp>
        <p:nvGrpSpPr>
          <p:cNvPr id="38918" name="Group 5">
            <a:extLst>
              <a:ext uri="{FF2B5EF4-FFF2-40B4-BE49-F238E27FC236}">
                <a16:creationId xmlns:a16="http://schemas.microsoft.com/office/drawing/2014/main" id="{09888490-6CAB-4116-9CEB-83FCA71F5CC5}"/>
              </a:ext>
            </a:extLst>
          </p:cNvPr>
          <p:cNvGrpSpPr>
            <a:grpSpLocks/>
          </p:cNvGrpSpPr>
          <p:nvPr/>
        </p:nvGrpSpPr>
        <p:grpSpPr bwMode="auto">
          <a:xfrm>
            <a:off x="685800" y="3505200"/>
            <a:ext cx="5238750" cy="1714500"/>
            <a:chOff x="599" y="1858"/>
            <a:chExt cx="3896" cy="1275"/>
          </a:xfrm>
        </p:grpSpPr>
        <p:sp>
          <p:nvSpPr>
            <p:cNvPr id="38922" name="Rectangle 6">
              <a:extLst>
                <a:ext uri="{FF2B5EF4-FFF2-40B4-BE49-F238E27FC236}">
                  <a16:creationId xmlns:a16="http://schemas.microsoft.com/office/drawing/2014/main" id="{E73427E8-6729-4A69-B51C-D988041BD44F}"/>
                </a:ext>
              </a:extLst>
            </p:cNvPr>
            <p:cNvSpPr>
              <a:spLocks noChangeArrowheads="1"/>
            </p:cNvSpPr>
            <p:nvPr/>
          </p:nvSpPr>
          <p:spPr bwMode="auto">
            <a:xfrm>
              <a:off x="605" y="2104"/>
              <a:ext cx="758" cy="244"/>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rgbClr val="00FF00"/>
                  </a:solidFill>
                  <a:latin typeface="Comic Sans MS" panose="030F0702030302020204" pitchFamily="66" charset="0"/>
                </a:rPr>
                <a:t>Pref</a:t>
              </a:r>
            </a:p>
          </p:txBody>
        </p:sp>
        <p:sp>
          <p:nvSpPr>
            <p:cNvPr id="38923" name="Rectangle 7">
              <a:extLst>
                <a:ext uri="{FF2B5EF4-FFF2-40B4-BE49-F238E27FC236}">
                  <a16:creationId xmlns:a16="http://schemas.microsoft.com/office/drawing/2014/main" id="{E4D7B536-E8FF-45EB-B4B0-8B7DAD3C0ECC}"/>
                </a:ext>
              </a:extLst>
            </p:cNvPr>
            <p:cNvSpPr>
              <a:spLocks noChangeArrowheads="1"/>
            </p:cNvSpPr>
            <p:nvPr/>
          </p:nvSpPr>
          <p:spPr bwMode="auto">
            <a:xfrm>
              <a:off x="1363" y="1859"/>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1</a:t>
              </a:r>
              <a:r>
                <a:rPr kumimoji="0" lang="en-US" altLang="zh-CN" sz="1400" baseline="30000">
                  <a:solidFill>
                    <a:srgbClr val="00FF00"/>
                  </a:solidFill>
                  <a:latin typeface="Comic Sans MS" panose="030F0702030302020204" pitchFamily="66" charset="0"/>
                </a:rPr>
                <a:t>st</a:t>
              </a:r>
            </a:p>
          </p:txBody>
        </p:sp>
        <p:sp>
          <p:nvSpPr>
            <p:cNvPr id="38924" name="Rectangle 8">
              <a:extLst>
                <a:ext uri="{FF2B5EF4-FFF2-40B4-BE49-F238E27FC236}">
                  <a16:creationId xmlns:a16="http://schemas.microsoft.com/office/drawing/2014/main" id="{36800E79-024F-4C93-8E72-CEB9F425D69D}"/>
                </a:ext>
              </a:extLst>
            </p:cNvPr>
            <p:cNvSpPr>
              <a:spLocks noChangeArrowheads="1"/>
            </p:cNvSpPr>
            <p:nvPr/>
          </p:nvSpPr>
          <p:spPr bwMode="auto">
            <a:xfrm>
              <a:off x="1363" y="2104"/>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8</a:t>
              </a:r>
            </a:p>
          </p:txBody>
        </p:sp>
        <p:sp>
          <p:nvSpPr>
            <p:cNvPr id="38925" name="Rectangle 9">
              <a:extLst>
                <a:ext uri="{FF2B5EF4-FFF2-40B4-BE49-F238E27FC236}">
                  <a16:creationId xmlns:a16="http://schemas.microsoft.com/office/drawing/2014/main" id="{C4ECE0F8-8D7E-456B-AA96-1EA711FB0E7F}"/>
                </a:ext>
              </a:extLst>
            </p:cNvPr>
            <p:cNvSpPr>
              <a:spLocks noChangeArrowheads="1"/>
            </p:cNvSpPr>
            <p:nvPr/>
          </p:nvSpPr>
          <p:spPr bwMode="auto">
            <a:xfrm>
              <a:off x="1755" y="1859"/>
              <a:ext cx="390"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2</a:t>
              </a:r>
              <a:r>
                <a:rPr kumimoji="0" lang="en-US" altLang="zh-CN" sz="1400" baseline="30000">
                  <a:solidFill>
                    <a:srgbClr val="00FF00"/>
                  </a:solidFill>
                  <a:latin typeface="Comic Sans MS" panose="030F0702030302020204" pitchFamily="66" charset="0"/>
                </a:rPr>
                <a:t>nd</a:t>
              </a:r>
            </a:p>
          </p:txBody>
        </p:sp>
        <p:sp>
          <p:nvSpPr>
            <p:cNvPr id="38926" name="Rectangle 10">
              <a:extLst>
                <a:ext uri="{FF2B5EF4-FFF2-40B4-BE49-F238E27FC236}">
                  <a16:creationId xmlns:a16="http://schemas.microsoft.com/office/drawing/2014/main" id="{B021B4B9-2A1F-480F-90C7-D6A4324CABE4}"/>
                </a:ext>
              </a:extLst>
            </p:cNvPr>
            <p:cNvSpPr>
              <a:spLocks noChangeArrowheads="1"/>
            </p:cNvSpPr>
            <p:nvPr/>
          </p:nvSpPr>
          <p:spPr bwMode="auto">
            <a:xfrm>
              <a:off x="2145" y="2104"/>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7</a:t>
              </a:r>
            </a:p>
          </p:txBody>
        </p:sp>
        <p:sp>
          <p:nvSpPr>
            <p:cNvPr id="38927" name="Rectangle 11">
              <a:extLst>
                <a:ext uri="{FF2B5EF4-FFF2-40B4-BE49-F238E27FC236}">
                  <a16:creationId xmlns:a16="http://schemas.microsoft.com/office/drawing/2014/main" id="{784F2FC1-E4F2-464F-A7D1-F10365B68F45}"/>
                </a:ext>
              </a:extLst>
            </p:cNvPr>
            <p:cNvSpPr>
              <a:spLocks noChangeArrowheads="1"/>
            </p:cNvSpPr>
            <p:nvPr/>
          </p:nvSpPr>
          <p:spPr bwMode="auto">
            <a:xfrm>
              <a:off x="2145" y="1859"/>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3</a:t>
              </a:r>
              <a:r>
                <a:rPr kumimoji="0" lang="en-US" altLang="zh-CN" sz="1400" baseline="30000">
                  <a:solidFill>
                    <a:srgbClr val="00FF00"/>
                  </a:solidFill>
                  <a:latin typeface="Comic Sans MS" panose="030F0702030302020204" pitchFamily="66" charset="0"/>
                </a:rPr>
                <a:t>rd</a:t>
              </a:r>
            </a:p>
          </p:txBody>
        </p:sp>
        <p:sp>
          <p:nvSpPr>
            <p:cNvPr id="38928" name="Rectangle 12">
              <a:extLst>
                <a:ext uri="{FF2B5EF4-FFF2-40B4-BE49-F238E27FC236}">
                  <a16:creationId xmlns:a16="http://schemas.microsoft.com/office/drawing/2014/main" id="{CC6E3156-6B67-430D-8BC9-7486CF31D910}"/>
                </a:ext>
              </a:extLst>
            </p:cNvPr>
            <p:cNvSpPr>
              <a:spLocks noChangeArrowheads="1"/>
            </p:cNvSpPr>
            <p:nvPr/>
          </p:nvSpPr>
          <p:spPr bwMode="auto">
            <a:xfrm>
              <a:off x="1755" y="2104"/>
              <a:ext cx="390" cy="244"/>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3</a:t>
              </a:r>
            </a:p>
          </p:txBody>
        </p:sp>
        <p:sp>
          <p:nvSpPr>
            <p:cNvPr id="38929" name="Rectangle 13">
              <a:extLst>
                <a:ext uri="{FF2B5EF4-FFF2-40B4-BE49-F238E27FC236}">
                  <a16:creationId xmlns:a16="http://schemas.microsoft.com/office/drawing/2014/main" id="{98D0A243-CAFE-4861-A15F-DCA83BFEC8D3}"/>
                </a:ext>
              </a:extLst>
            </p:cNvPr>
            <p:cNvSpPr>
              <a:spLocks noChangeArrowheads="1"/>
            </p:cNvSpPr>
            <p:nvPr/>
          </p:nvSpPr>
          <p:spPr bwMode="auto">
            <a:xfrm>
              <a:off x="2537" y="1859"/>
              <a:ext cx="391"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4</a:t>
              </a:r>
              <a:r>
                <a:rPr kumimoji="0" lang="en-US" altLang="zh-CN" sz="1400" baseline="30000">
                  <a:solidFill>
                    <a:srgbClr val="00FF00"/>
                  </a:solidFill>
                  <a:latin typeface="Comic Sans MS" panose="030F0702030302020204" pitchFamily="66" charset="0"/>
                </a:rPr>
                <a:t>th</a:t>
              </a:r>
            </a:p>
          </p:txBody>
        </p:sp>
        <p:sp>
          <p:nvSpPr>
            <p:cNvPr id="38930" name="Rectangle 14">
              <a:extLst>
                <a:ext uri="{FF2B5EF4-FFF2-40B4-BE49-F238E27FC236}">
                  <a16:creationId xmlns:a16="http://schemas.microsoft.com/office/drawing/2014/main" id="{9C618309-5C88-4466-95DB-8BD3D9347CB4}"/>
                </a:ext>
              </a:extLst>
            </p:cNvPr>
            <p:cNvSpPr>
              <a:spLocks noChangeArrowheads="1"/>
            </p:cNvSpPr>
            <p:nvPr/>
          </p:nvSpPr>
          <p:spPr bwMode="auto">
            <a:xfrm>
              <a:off x="2928" y="2104"/>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4</a:t>
              </a:r>
            </a:p>
          </p:txBody>
        </p:sp>
        <p:sp>
          <p:nvSpPr>
            <p:cNvPr id="38931" name="Rectangle 15">
              <a:extLst>
                <a:ext uri="{FF2B5EF4-FFF2-40B4-BE49-F238E27FC236}">
                  <a16:creationId xmlns:a16="http://schemas.microsoft.com/office/drawing/2014/main" id="{FEA08FCB-3832-420B-BFE0-87BD39F8A96B}"/>
                </a:ext>
              </a:extLst>
            </p:cNvPr>
            <p:cNvSpPr>
              <a:spLocks noChangeArrowheads="1"/>
            </p:cNvSpPr>
            <p:nvPr/>
          </p:nvSpPr>
          <p:spPr bwMode="auto">
            <a:xfrm>
              <a:off x="2928" y="1859"/>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5</a:t>
              </a:r>
              <a:r>
                <a:rPr kumimoji="0" lang="en-US" altLang="zh-CN" sz="1400" baseline="30000">
                  <a:solidFill>
                    <a:srgbClr val="00FF00"/>
                  </a:solidFill>
                  <a:latin typeface="Comic Sans MS" panose="030F0702030302020204" pitchFamily="66" charset="0"/>
                </a:rPr>
                <a:t>th</a:t>
              </a:r>
            </a:p>
          </p:txBody>
        </p:sp>
        <p:sp>
          <p:nvSpPr>
            <p:cNvPr id="38932" name="Rectangle 16">
              <a:extLst>
                <a:ext uri="{FF2B5EF4-FFF2-40B4-BE49-F238E27FC236}">
                  <a16:creationId xmlns:a16="http://schemas.microsoft.com/office/drawing/2014/main" id="{429AF179-5126-4D0F-97F9-DC0D2976B7A1}"/>
                </a:ext>
              </a:extLst>
            </p:cNvPr>
            <p:cNvSpPr>
              <a:spLocks noChangeArrowheads="1"/>
            </p:cNvSpPr>
            <p:nvPr/>
          </p:nvSpPr>
          <p:spPr bwMode="auto">
            <a:xfrm>
              <a:off x="2537" y="2104"/>
              <a:ext cx="391"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1</a:t>
              </a:r>
            </a:p>
          </p:txBody>
        </p:sp>
        <p:sp>
          <p:nvSpPr>
            <p:cNvPr id="38933" name="Rectangle 17">
              <a:extLst>
                <a:ext uri="{FF2B5EF4-FFF2-40B4-BE49-F238E27FC236}">
                  <a16:creationId xmlns:a16="http://schemas.microsoft.com/office/drawing/2014/main" id="{C2CF8459-3465-4BBD-8A50-CB563F4460CF}"/>
                </a:ext>
              </a:extLst>
            </p:cNvPr>
            <p:cNvSpPr>
              <a:spLocks noChangeArrowheads="1"/>
            </p:cNvSpPr>
            <p:nvPr/>
          </p:nvSpPr>
          <p:spPr bwMode="auto">
            <a:xfrm>
              <a:off x="3321" y="2103"/>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5</a:t>
              </a:r>
            </a:p>
          </p:txBody>
        </p:sp>
        <p:sp>
          <p:nvSpPr>
            <p:cNvPr id="38934" name="Rectangle 18">
              <a:extLst>
                <a:ext uri="{FF2B5EF4-FFF2-40B4-BE49-F238E27FC236}">
                  <a16:creationId xmlns:a16="http://schemas.microsoft.com/office/drawing/2014/main" id="{C5B30AED-6FC5-472E-B9C8-18BB0E322920}"/>
                </a:ext>
              </a:extLst>
            </p:cNvPr>
            <p:cNvSpPr>
              <a:spLocks noChangeArrowheads="1"/>
            </p:cNvSpPr>
            <p:nvPr/>
          </p:nvSpPr>
          <p:spPr bwMode="auto">
            <a:xfrm>
              <a:off x="4103" y="2103"/>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2</a:t>
              </a:r>
            </a:p>
          </p:txBody>
        </p:sp>
        <p:sp>
          <p:nvSpPr>
            <p:cNvPr id="38935" name="Rectangle 19">
              <a:extLst>
                <a:ext uri="{FF2B5EF4-FFF2-40B4-BE49-F238E27FC236}">
                  <a16:creationId xmlns:a16="http://schemas.microsoft.com/office/drawing/2014/main" id="{DBD59450-F6A1-4E86-BCC3-9CB2D0F9A31E}"/>
                </a:ext>
              </a:extLst>
            </p:cNvPr>
            <p:cNvSpPr>
              <a:spLocks noChangeArrowheads="1"/>
            </p:cNvSpPr>
            <p:nvPr/>
          </p:nvSpPr>
          <p:spPr bwMode="auto">
            <a:xfrm>
              <a:off x="3713" y="2103"/>
              <a:ext cx="390" cy="244"/>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6</a:t>
              </a:r>
            </a:p>
          </p:txBody>
        </p:sp>
        <p:sp>
          <p:nvSpPr>
            <p:cNvPr id="38936" name="Rectangle 20">
              <a:extLst>
                <a:ext uri="{FF2B5EF4-FFF2-40B4-BE49-F238E27FC236}">
                  <a16:creationId xmlns:a16="http://schemas.microsoft.com/office/drawing/2014/main" id="{96760540-B1F5-492F-BDDB-CE1569970688}"/>
                </a:ext>
              </a:extLst>
            </p:cNvPr>
            <p:cNvSpPr>
              <a:spLocks noChangeArrowheads="1"/>
            </p:cNvSpPr>
            <p:nvPr/>
          </p:nvSpPr>
          <p:spPr bwMode="auto">
            <a:xfrm>
              <a:off x="3320" y="1858"/>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6</a:t>
              </a:r>
              <a:r>
                <a:rPr kumimoji="0" lang="en-US" altLang="zh-CN" sz="1400" baseline="30000">
                  <a:solidFill>
                    <a:srgbClr val="00FF00"/>
                  </a:solidFill>
                  <a:latin typeface="Comic Sans MS" panose="030F0702030302020204" pitchFamily="66" charset="0"/>
                </a:rPr>
                <a:t>th</a:t>
              </a:r>
            </a:p>
          </p:txBody>
        </p:sp>
        <p:sp>
          <p:nvSpPr>
            <p:cNvPr id="38937" name="Rectangle 21">
              <a:extLst>
                <a:ext uri="{FF2B5EF4-FFF2-40B4-BE49-F238E27FC236}">
                  <a16:creationId xmlns:a16="http://schemas.microsoft.com/office/drawing/2014/main" id="{654ABBDC-FB8B-4006-BE76-00176DA51DFD}"/>
                </a:ext>
              </a:extLst>
            </p:cNvPr>
            <p:cNvSpPr>
              <a:spLocks noChangeArrowheads="1"/>
            </p:cNvSpPr>
            <p:nvPr/>
          </p:nvSpPr>
          <p:spPr bwMode="auto">
            <a:xfrm>
              <a:off x="3712" y="1858"/>
              <a:ext cx="390"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7</a:t>
              </a:r>
              <a:r>
                <a:rPr kumimoji="0" lang="en-US" altLang="zh-CN" sz="1400" baseline="30000">
                  <a:solidFill>
                    <a:srgbClr val="00FF00"/>
                  </a:solidFill>
                  <a:latin typeface="Comic Sans MS" panose="030F0702030302020204" pitchFamily="66" charset="0"/>
                </a:rPr>
                <a:t>th</a:t>
              </a:r>
            </a:p>
          </p:txBody>
        </p:sp>
        <p:sp>
          <p:nvSpPr>
            <p:cNvPr id="38938" name="Rectangle 22">
              <a:extLst>
                <a:ext uri="{FF2B5EF4-FFF2-40B4-BE49-F238E27FC236}">
                  <a16:creationId xmlns:a16="http://schemas.microsoft.com/office/drawing/2014/main" id="{F8FD4CFB-2676-4354-A100-ECCDFF8D8A99}"/>
                </a:ext>
              </a:extLst>
            </p:cNvPr>
            <p:cNvSpPr>
              <a:spLocks noChangeArrowheads="1"/>
            </p:cNvSpPr>
            <p:nvPr/>
          </p:nvSpPr>
          <p:spPr bwMode="auto">
            <a:xfrm>
              <a:off x="4102" y="1858"/>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8</a:t>
              </a:r>
              <a:r>
                <a:rPr kumimoji="0" lang="en-US" altLang="zh-CN" sz="1400" baseline="30000">
                  <a:solidFill>
                    <a:srgbClr val="00FF00"/>
                  </a:solidFill>
                  <a:latin typeface="Comic Sans MS" panose="030F0702030302020204" pitchFamily="66" charset="0"/>
                </a:rPr>
                <a:t>th</a:t>
              </a:r>
            </a:p>
          </p:txBody>
        </p:sp>
        <p:sp>
          <p:nvSpPr>
            <p:cNvPr id="38939" name="Rectangle 23">
              <a:extLst>
                <a:ext uri="{FF2B5EF4-FFF2-40B4-BE49-F238E27FC236}">
                  <a16:creationId xmlns:a16="http://schemas.microsoft.com/office/drawing/2014/main" id="{5097EBBD-ADD9-4142-A473-17B2D9577095}"/>
                </a:ext>
              </a:extLst>
            </p:cNvPr>
            <p:cNvSpPr>
              <a:spLocks noChangeArrowheads="1"/>
            </p:cNvSpPr>
            <p:nvPr/>
          </p:nvSpPr>
          <p:spPr bwMode="auto">
            <a:xfrm>
              <a:off x="599" y="2889"/>
              <a:ext cx="758" cy="244"/>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rgbClr val="00FF00"/>
                  </a:solidFill>
                  <a:latin typeface="Comic Sans MS" panose="030F0702030302020204" pitchFamily="66" charset="0"/>
                </a:rPr>
                <a:t>Inverse</a:t>
              </a:r>
            </a:p>
          </p:txBody>
        </p:sp>
        <p:sp>
          <p:nvSpPr>
            <p:cNvPr id="38940" name="Rectangle 24">
              <a:extLst>
                <a:ext uri="{FF2B5EF4-FFF2-40B4-BE49-F238E27FC236}">
                  <a16:creationId xmlns:a16="http://schemas.microsoft.com/office/drawing/2014/main" id="{A1CABE36-AA9F-4CAB-BB6B-8B4E33ACF2EF}"/>
                </a:ext>
              </a:extLst>
            </p:cNvPr>
            <p:cNvSpPr>
              <a:spLocks noChangeArrowheads="1"/>
            </p:cNvSpPr>
            <p:nvPr/>
          </p:nvSpPr>
          <p:spPr bwMode="auto">
            <a:xfrm>
              <a:off x="1357" y="2889"/>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4</a:t>
              </a:r>
              <a:r>
                <a:rPr lang="en-US" altLang="zh-CN" sz="1400" baseline="30000">
                  <a:solidFill>
                    <a:srgbClr val="00FF00"/>
                  </a:solidFill>
                  <a:latin typeface="Comic Sans MS" panose="030F0702030302020204" pitchFamily="66" charset="0"/>
                </a:rPr>
                <a:t>th</a:t>
              </a:r>
              <a:endParaRPr lang="en-US" altLang="zh-CN" sz="1400">
                <a:solidFill>
                  <a:srgbClr val="00FF00"/>
                </a:solidFill>
                <a:latin typeface="Comic Sans MS" panose="030F0702030302020204" pitchFamily="66" charset="0"/>
              </a:endParaRPr>
            </a:p>
          </p:txBody>
        </p:sp>
        <p:sp>
          <p:nvSpPr>
            <p:cNvPr id="38941" name="Rectangle 25">
              <a:extLst>
                <a:ext uri="{FF2B5EF4-FFF2-40B4-BE49-F238E27FC236}">
                  <a16:creationId xmlns:a16="http://schemas.microsoft.com/office/drawing/2014/main" id="{2657449F-F04C-4113-BB62-5CAA77261143}"/>
                </a:ext>
              </a:extLst>
            </p:cNvPr>
            <p:cNvSpPr>
              <a:spLocks noChangeArrowheads="1"/>
            </p:cNvSpPr>
            <p:nvPr/>
          </p:nvSpPr>
          <p:spPr bwMode="auto">
            <a:xfrm>
              <a:off x="2139" y="2889"/>
              <a:ext cx="392" cy="244"/>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2</a:t>
              </a:r>
              <a:r>
                <a:rPr lang="en-US" altLang="zh-CN" sz="1400" baseline="30000">
                  <a:solidFill>
                    <a:srgbClr val="00FF00"/>
                  </a:solidFill>
                  <a:latin typeface="Comic Sans MS" panose="030F0702030302020204" pitchFamily="66" charset="0"/>
                </a:rPr>
                <a:t>nd</a:t>
              </a:r>
            </a:p>
          </p:txBody>
        </p:sp>
        <p:sp>
          <p:nvSpPr>
            <p:cNvPr id="38942" name="Rectangle 26">
              <a:extLst>
                <a:ext uri="{FF2B5EF4-FFF2-40B4-BE49-F238E27FC236}">
                  <a16:creationId xmlns:a16="http://schemas.microsoft.com/office/drawing/2014/main" id="{1BF54E1E-337A-4324-9739-FF2A3CEB6044}"/>
                </a:ext>
              </a:extLst>
            </p:cNvPr>
            <p:cNvSpPr>
              <a:spLocks noChangeArrowheads="1"/>
            </p:cNvSpPr>
            <p:nvPr/>
          </p:nvSpPr>
          <p:spPr bwMode="auto">
            <a:xfrm>
              <a:off x="1749" y="2889"/>
              <a:ext cx="390"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8</a:t>
              </a:r>
              <a:r>
                <a:rPr lang="en-US" altLang="zh-CN" sz="1400" baseline="30000">
                  <a:solidFill>
                    <a:srgbClr val="00FF00"/>
                  </a:solidFill>
                  <a:latin typeface="Comic Sans MS" panose="030F0702030302020204" pitchFamily="66" charset="0"/>
                </a:rPr>
                <a:t>th</a:t>
              </a:r>
            </a:p>
          </p:txBody>
        </p:sp>
        <p:sp>
          <p:nvSpPr>
            <p:cNvPr id="38943" name="Rectangle 27">
              <a:extLst>
                <a:ext uri="{FF2B5EF4-FFF2-40B4-BE49-F238E27FC236}">
                  <a16:creationId xmlns:a16="http://schemas.microsoft.com/office/drawing/2014/main" id="{5EDDB8D2-4067-435D-BE3A-FE07CABEA53F}"/>
                </a:ext>
              </a:extLst>
            </p:cNvPr>
            <p:cNvSpPr>
              <a:spLocks noChangeArrowheads="1"/>
            </p:cNvSpPr>
            <p:nvPr/>
          </p:nvSpPr>
          <p:spPr bwMode="auto">
            <a:xfrm>
              <a:off x="2922" y="2889"/>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6</a:t>
              </a:r>
              <a:r>
                <a:rPr lang="en-US" altLang="zh-CN" sz="1400" baseline="30000">
                  <a:solidFill>
                    <a:srgbClr val="00FF00"/>
                  </a:solidFill>
                  <a:latin typeface="Comic Sans MS" panose="030F0702030302020204" pitchFamily="66" charset="0"/>
                </a:rPr>
                <a:t>th</a:t>
              </a:r>
            </a:p>
          </p:txBody>
        </p:sp>
        <p:sp>
          <p:nvSpPr>
            <p:cNvPr id="38944" name="Rectangle 28">
              <a:extLst>
                <a:ext uri="{FF2B5EF4-FFF2-40B4-BE49-F238E27FC236}">
                  <a16:creationId xmlns:a16="http://schemas.microsoft.com/office/drawing/2014/main" id="{CB20508B-3AD7-4941-A545-24AEA7DFC8B3}"/>
                </a:ext>
              </a:extLst>
            </p:cNvPr>
            <p:cNvSpPr>
              <a:spLocks noChangeArrowheads="1"/>
            </p:cNvSpPr>
            <p:nvPr/>
          </p:nvSpPr>
          <p:spPr bwMode="auto">
            <a:xfrm>
              <a:off x="2531" y="2889"/>
              <a:ext cx="391"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5</a:t>
              </a:r>
              <a:r>
                <a:rPr lang="en-US" altLang="zh-CN" sz="1400" baseline="30000">
                  <a:solidFill>
                    <a:srgbClr val="00FF00"/>
                  </a:solidFill>
                  <a:latin typeface="Comic Sans MS" panose="030F0702030302020204" pitchFamily="66" charset="0"/>
                </a:rPr>
                <a:t>th</a:t>
              </a:r>
            </a:p>
          </p:txBody>
        </p:sp>
        <p:sp>
          <p:nvSpPr>
            <p:cNvPr id="38945" name="Rectangle 29">
              <a:extLst>
                <a:ext uri="{FF2B5EF4-FFF2-40B4-BE49-F238E27FC236}">
                  <a16:creationId xmlns:a16="http://schemas.microsoft.com/office/drawing/2014/main" id="{00EF6A1E-4E54-4247-96EC-9767302928C4}"/>
                </a:ext>
              </a:extLst>
            </p:cNvPr>
            <p:cNvSpPr>
              <a:spLocks noChangeArrowheads="1"/>
            </p:cNvSpPr>
            <p:nvPr/>
          </p:nvSpPr>
          <p:spPr bwMode="auto">
            <a:xfrm>
              <a:off x="3315" y="2888"/>
              <a:ext cx="392" cy="244"/>
            </a:xfrm>
            <a:prstGeom prst="rect">
              <a:avLst/>
            </a:prstGeom>
            <a:solidFill>
              <a:schemeClr val="accent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7</a:t>
              </a:r>
              <a:r>
                <a:rPr lang="en-US" altLang="zh-CN" sz="1400" baseline="30000">
                  <a:solidFill>
                    <a:srgbClr val="00FF00"/>
                  </a:solidFill>
                  <a:latin typeface="Comic Sans MS" panose="030F0702030302020204" pitchFamily="66" charset="0"/>
                </a:rPr>
                <a:t>th</a:t>
              </a:r>
            </a:p>
          </p:txBody>
        </p:sp>
        <p:sp>
          <p:nvSpPr>
            <p:cNvPr id="38946" name="Rectangle 30">
              <a:extLst>
                <a:ext uri="{FF2B5EF4-FFF2-40B4-BE49-F238E27FC236}">
                  <a16:creationId xmlns:a16="http://schemas.microsoft.com/office/drawing/2014/main" id="{757C5ADC-5CE9-4E10-8A9F-21E879DF3265}"/>
                </a:ext>
              </a:extLst>
            </p:cNvPr>
            <p:cNvSpPr>
              <a:spLocks noChangeArrowheads="1"/>
            </p:cNvSpPr>
            <p:nvPr/>
          </p:nvSpPr>
          <p:spPr bwMode="auto">
            <a:xfrm>
              <a:off x="4097" y="2888"/>
              <a:ext cx="392"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1</a:t>
              </a:r>
              <a:r>
                <a:rPr lang="en-US" altLang="zh-CN" sz="1400" baseline="30000">
                  <a:solidFill>
                    <a:srgbClr val="00FF00"/>
                  </a:solidFill>
                  <a:latin typeface="Comic Sans MS" panose="030F0702030302020204" pitchFamily="66" charset="0"/>
                </a:rPr>
                <a:t>st</a:t>
              </a:r>
            </a:p>
          </p:txBody>
        </p:sp>
        <p:sp>
          <p:nvSpPr>
            <p:cNvPr id="38947" name="Rectangle 31">
              <a:extLst>
                <a:ext uri="{FF2B5EF4-FFF2-40B4-BE49-F238E27FC236}">
                  <a16:creationId xmlns:a16="http://schemas.microsoft.com/office/drawing/2014/main" id="{88F8C0F8-0E91-4F1E-AE04-CF33FE6BC41A}"/>
                </a:ext>
              </a:extLst>
            </p:cNvPr>
            <p:cNvSpPr>
              <a:spLocks noChangeArrowheads="1"/>
            </p:cNvSpPr>
            <p:nvPr/>
          </p:nvSpPr>
          <p:spPr bwMode="auto">
            <a:xfrm>
              <a:off x="3707" y="2888"/>
              <a:ext cx="390" cy="244"/>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rgbClr val="00FF00"/>
                  </a:solidFill>
                  <a:latin typeface="Comic Sans MS" panose="030F0702030302020204" pitchFamily="66" charset="0"/>
                </a:rPr>
                <a:t>3</a:t>
              </a:r>
              <a:r>
                <a:rPr lang="en-US" altLang="zh-CN" sz="1400" baseline="30000">
                  <a:solidFill>
                    <a:srgbClr val="00FF00"/>
                  </a:solidFill>
                  <a:latin typeface="Comic Sans MS" panose="030F0702030302020204" pitchFamily="66" charset="0"/>
                </a:rPr>
                <a:t>rd</a:t>
              </a:r>
            </a:p>
          </p:txBody>
        </p:sp>
        <p:sp>
          <p:nvSpPr>
            <p:cNvPr id="38948" name="Rectangle 32">
              <a:extLst>
                <a:ext uri="{FF2B5EF4-FFF2-40B4-BE49-F238E27FC236}">
                  <a16:creationId xmlns:a16="http://schemas.microsoft.com/office/drawing/2014/main" id="{E7DF7654-21AE-4E15-8798-6828277A7012}"/>
                </a:ext>
              </a:extLst>
            </p:cNvPr>
            <p:cNvSpPr>
              <a:spLocks noChangeArrowheads="1"/>
            </p:cNvSpPr>
            <p:nvPr/>
          </p:nvSpPr>
          <p:spPr bwMode="auto">
            <a:xfrm>
              <a:off x="1358" y="2644"/>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1</a:t>
              </a:r>
              <a:endParaRPr kumimoji="0" lang="zh-CN" altLang="en-US" sz="1400" baseline="30000">
                <a:solidFill>
                  <a:srgbClr val="00FF00"/>
                </a:solidFill>
                <a:latin typeface="Comic Sans MS" panose="030F0702030302020204" pitchFamily="66" charset="0"/>
              </a:endParaRPr>
            </a:p>
          </p:txBody>
        </p:sp>
        <p:sp>
          <p:nvSpPr>
            <p:cNvPr id="38949" name="Rectangle 33">
              <a:extLst>
                <a:ext uri="{FF2B5EF4-FFF2-40B4-BE49-F238E27FC236}">
                  <a16:creationId xmlns:a16="http://schemas.microsoft.com/office/drawing/2014/main" id="{78738EA0-76E8-4FB3-8109-F187562C58C4}"/>
                </a:ext>
              </a:extLst>
            </p:cNvPr>
            <p:cNvSpPr>
              <a:spLocks noChangeArrowheads="1"/>
            </p:cNvSpPr>
            <p:nvPr/>
          </p:nvSpPr>
          <p:spPr bwMode="auto">
            <a:xfrm>
              <a:off x="1750" y="2644"/>
              <a:ext cx="390"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2</a:t>
              </a:r>
              <a:endParaRPr kumimoji="0" lang="zh-CN" altLang="en-US" sz="1400" baseline="30000">
                <a:solidFill>
                  <a:srgbClr val="00FF00"/>
                </a:solidFill>
                <a:latin typeface="Comic Sans MS" panose="030F0702030302020204" pitchFamily="66" charset="0"/>
              </a:endParaRPr>
            </a:p>
          </p:txBody>
        </p:sp>
        <p:sp>
          <p:nvSpPr>
            <p:cNvPr id="38950" name="Rectangle 34">
              <a:extLst>
                <a:ext uri="{FF2B5EF4-FFF2-40B4-BE49-F238E27FC236}">
                  <a16:creationId xmlns:a16="http://schemas.microsoft.com/office/drawing/2014/main" id="{29C3F5BC-207B-43BF-A725-E285AF22ED4F}"/>
                </a:ext>
              </a:extLst>
            </p:cNvPr>
            <p:cNvSpPr>
              <a:spLocks noChangeArrowheads="1"/>
            </p:cNvSpPr>
            <p:nvPr/>
          </p:nvSpPr>
          <p:spPr bwMode="auto">
            <a:xfrm>
              <a:off x="2140" y="2644"/>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3</a:t>
              </a:r>
              <a:endParaRPr kumimoji="0" lang="zh-CN" altLang="en-US" sz="1400" baseline="30000">
                <a:solidFill>
                  <a:srgbClr val="00FF00"/>
                </a:solidFill>
                <a:latin typeface="Comic Sans MS" panose="030F0702030302020204" pitchFamily="66" charset="0"/>
              </a:endParaRPr>
            </a:p>
          </p:txBody>
        </p:sp>
        <p:sp>
          <p:nvSpPr>
            <p:cNvPr id="38951" name="Rectangle 35">
              <a:extLst>
                <a:ext uri="{FF2B5EF4-FFF2-40B4-BE49-F238E27FC236}">
                  <a16:creationId xmlns:a16="http://schemas.microsoft.com/office/drawing/2014/main" id="{C1A33519-1A89-40BE-9346-F02B2739B8E4}"/>
                </a:ext>
              </a:extLst>
            </p:cNvPr>
            <p:cNvSpPr>
              <a:spLocks noChangeArrowheads="1"/>
            </p:cNvSpPr>
            <p:nvPr/>
          </p:nvSpPr>
          <p:spPr bwMode="auto">
            <a:xfrm>
              <a:off x="2532" y="2644"/>
              <a:ext cx="391"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4</a:t>
              </a:r>
              <a:endParaRPr kumimoji="0" lang="zh-CN" altLang="en-US" sz="1400" baseline="30000">
                <a:solidFill>
                  <a:srgbClr val="00FF00"/>
                </a:solidFill>
                <a:latin typeface="Comic Sans MS" panose="030F0702030302020204" pitchFamily="66" charset="0"/>
              </a:endParaRPr>
            </a:p>
          </p:txBody>
        </p:sp>
        <p:sp>
          <p:nvSpPr>
            <p:cNvPr id="38952" name="Rectangle 36">
              <a:extLst>
                <a:ext uri="{FF2B5EF4-FFF2-40B4-BE49-F238E27FC236}">
                  <a16:creationId xmlns:a16="http://schemas.microsoft.com/office/drawing/2014/main" id="{2D58DD5B-7E3A-4E4C-AA1B-971CE4EFBCA6}"/>
                </a:ext>
              </a:extLst>
            </p:cNvPr>
            <p:cNvSpPr>
              <a:spLocks noChangeArrowheads="1"/>
            </p:cNvSpPr>
            <p:nvPr/>
          </p:nvSpPr>
          <p:spPr bwMode="auto">
            <a:xfrm>
              <a:off x="2923" y="2644"/>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5</a:t>
              </a:r>
              <a:endParaRPr kumimoji="0" lang="zh-CN" altLang="en-US" sz="1400" baseline="30000">
                <a:solidFill>
                  <a:srgbClr val="00FF00"/>
                </a:solidFill>
                <a:latin typeface="Comic Sans MS" panose="030F0702030302020204" pitchFamily="66" charset="0"/>
              </a:endParaRPr>
            </a:p>
          </p:txBody>
        </p:sp>
        <p:sp>
          <p:nvSpPr>
            <p:cNvPr id="38953" name="Rectangle 37">
              <a:extLst>
                <a:ext uri="{FF2B5EF4-FFF2-40B4-BE49-F238E27FC236}">
                  <a16:creationId xmlns:a16="http://schemas.microsoft.com/office/drawing/2014/main" id="{66F82F1F-560E-4C11-8333-126DD7A5CF24}"/>
                </a:ext>
              </a:extLst>
            </p:cNvPr>
            <p:cNvSpPr>
              <a:spLocks noChangeArrowheads="1"/>
            </p:cNvSpPr>
            <p:nvPr/>
          </p:nvSpPr>
          <p:spPr bwMode="auto">
            <a:xfrm>
              <a:off x="3315" y="2643"/>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6</a:t>
              </a:r>
              <a:endParaRPr kumimoji="0" lang="zh-CN" altLang="en-US" sz="1400" baseline="30000">
                <a:solidFill>
                  <a:srgbClr val="00FF00"/>
                </a:solidFill>
                <a:latin typeface="Comic Sans MS" panose="030F0702030302020204" pitchFamily="66" charset="0"/>
              </a:endParaRPr>
            </a:p>
          </p:txBody>
        </p:sp>
        <p:sp>
          <p:nvSpPr>
            <p:cNvPr id="38954" name="Rectangle 38">
              <a:extLst>
                <a:ext uri="{FF2B5EF4-FFF2-40B4-BE49-F238E27FC236}">
                  <a16:creationId xmlns:a16="http://schemas.microsoft.com/office/drawing/2014/main" id="{6DFB78F3-43A4-43B5-B7A1-4F61809F1508}"/>
                </a:ext>
              </a:extLst>
            </p:cNvPr>
            <p:cNvSpPr>
              <a:spLocks noChangeArrowheads="1"/>
            </p:cNvSpPr>
            <p:nvPr/>
          </p:nvSpPr>
          <p:spPr bwMode="auto">
            <a:xfrm>
              <a:off x="3707" y="2643"/>
              <a:ext cx="390"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7</a:t>
              </a:r>
              <a:endParaRPr kumimoji="0" lang="zh-CN" altLang="en-US" sz="1400" baseline="30000">
                <a:solidFill>
                  <a:srgbClr val="00FF00"/>
                </a:solidFill>
                <a:latin typeface="Comic Sans MS" panose="030F0702030302020204" pitchFamily="66" charset="0"/>
              </a:endParaRPr>
            </a:p>
          </p:txBody>
        </p:sp>
        <p:sp>
          <p:nvSpPr>
            <p:cNvPr id="38955" name="Rectangle 39">
              <a:extLst>
                <a:ext uri="{FF2B5EF4-FFF2-40B4-BE49-F238E27FC236}">
                  <a16:creationId xmlns:a16="http://schemas.microsoft.com/office/drawing/2014/main" id="{08C620D2-E757-455E-A101-3E6666A145D9}"/>
                </a:ext>
              </a:extLst>
            </p:cNvPr>
            <p:cNvSpPr>
              <a:spLocks noChangeArrowheads="1"/>
            </p:cNvSpPr>
            <p:nvPr/>
          </p:nvSpPr>
          <p:spPr bwMode="auto">
            <a:xfrm>
              <a:off x="4097" y="2643"/>
              <a:ext cx="392" cy="24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rgbClr val="00FF00"/>
                  </a:solidFill>
                  <a:latin typeface="Comic Sans MS" panose="030F0702030302020204" pitchFamily="66" charset="0"/>
                </a:rPr>
                <a:t>8</a:t>
              </a:r>
              <a:endParaRPr kumimoji="0" lang="zh-CN" altLang="en-US" sz="1400" baseline="30000">
                <a:solidFill>
                  <a:srgbClr val="00FF00"/>
                </a:solidFill>
                <a:latin typeface="Comic Sans MS" panose="030F0702030302020204" pitchFamily="66" charset="0"/>
              </a:endParaRPr>
            </a:p>
          </p:txBody>
        </p:sp>
        <p:sp>
          <p:nvSpPr>
            <p:cNvPr id="38956" name="Rectangle 40">
              <a:extLst>
                <a:ext uri="{FF2B5EF4-FFF2-40B4-BE49-F238E27FC236}">
                  <a16:creationId xmlns:a16="http://schemas.microsoft.com/office/drawing/2014/main" id="{094E9F5F-AF27-46B0-B28B-ECF748592F5F}"/>
                </a:ext>
              </a:extLst>
            </p:cNvPr>
            <p:cNvSpPr>
              <a:spLocks noChangeArrowheads="1"/>
            </p:cNvSpPr>
            <p:nvPr/>
          </p:nvSpPr>
          <p:spPr bwMode="auto">
            <a:xfrm>
              <a:off x="604" y="1860"/>
              <a:ext cx="758" cy="24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rgbClr val="00FF00"/>
                  </a:solidFill>
                  <a:latin typeface="Comic Sans MS" panose="030F0702030302020204" pitchFamily="66" charset="0"/>
                </a:rPr>
                <a:t>Amy</a:t>
              </a:r>
            </a:p>
          </p:txBody>
        </p:sp>
        <p:sp>
          <p:nvSpPr>
            <p:cNvPr id="38957" name="Rectangle 41">
              <a:extLst>
                <a:ext uri="{FF2B5EF4-FFF2-40B4-BE49-F238E27FC236}">
                  <a16:creationId xmlns:a16="http://schemas.microsoft.com/office/drawing/2014/main" id="{5C70FE38-88DF-41C4-A258-4C233949BFA3}"/>
                </a:ext>
              </a:extLst>
            </p:cNvPr>
            <p:cNvSpPr>
              <a:spLocks noChangeArrowheads="1"/>
            </p:cNvSpPr>
            <p:nvPr/>
          </p:nvSpPr>
          <p:spPr bwMode="auto">
            <a:xfrm>
              <a:off x="600" y="2647"/>
              <a:ext cx="758" cy="244"/>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rgbClr val="00FF00"/>
                  </a:solidFill>
                  <a:latin typeface="Comic Sans MS" panose="030F0702030302020204" pitchFamily="66" charset="0"/>
                </a:rPr>
                <a:t>Amy</a:t>
              </a:r>
            </a:p>
          </p:txBody>
        </p:sp>
      </p:grpSp>
      <p:sp>
        <p:nvSpPr>
          <p:cNvPr id="38919" name="Rectangle 42">
            <a:extLst>
              <a:ext uri="{FF2B5EF4-FFF2-40B4-BE49-F238E27FC236}">
                <a16:creationId xmlns:a16="http://schemas.microsoft.com/office/drawing/2014/main" id="{1E207331-C1D7-4651-9857-402AFAE3E47D}"/>
              </a:ext>
            </a:extLst>
          </p:cNvPr>
          <p:cNvSpPr>
            <a:spLocks noChangeArrowheads="1"/>
          </p:cNvSpPr>
          <p:nvPr/>
        </p:nvSpPr>
        <p:spPr bwMode="auto">
          <a:xfrm>
            <a:off x="5047456" y="5405477"/>
            <a:ext cx="3077766"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600" dirty="0">
                <a:latin typeface="Comic Sans MS" panose="030F0702030302020204" pitchFamily="66" charset="0"/>
              </a:rPr>
              <a:t>since </a:t>
            </a:r>
            <a:r>
              <a:rPr lang="en-US" altLang="zh-CN" sz="1400" dirty="0">
                <a:latin typeface="Courier New" panose="02070309020205020404" pitchFamily="49" charset="0"/>
              </a:rPr>
              <a:t>inverse[3]</a:t>
            </a:r>
            <a:r>
              <a:rPr lang="en-US" altLang="zh-CN" sz="1600" dirty="0">
                <a:latin typeface="Comic Sans MS" panose="030F0702030302020204" pitchFamily="66" charset="0"/>
              </a:rPr>
              <a:t> &lt; </a:t>
            </a:r>
            <a:r>
              <a:rPr lang="en-US" altLang="zh-CN" sz="1400" dirty="0">
                <a:latin typeface="Courier New" panose="02070309020205020404" pitchFamily="49" charset="0"/>
              </a:rPr>
              <a:t>inverse[6]</a:t>
            </a:r>
          </a:p>
          <a:p>
            <a:pPr>
              <a:spcBef>
                <a:spcPct val="0"/>
              </a:spcBef>
              <a:buClrTx/>
              <a:buSzTx/>
              <a:buFontTx/>
              <a:buNone/>
            </a:pPr>
            <a:r>
              <a:rPr lang="en-US" altLang="zh-CN" sz="1600" dirty="0">
                <a:latin typeface="Comic Sans MS" panose="030F0702030302020204" pitchFamily="66" charset="0"/>
              </a:rPr>
              <a:t>Amy prefers man 3 to 6</a:t>
            </a:r>
            <a:br>
              <a:rPr lang="en-US" altLang="zh-CN" sz="1600" dirty="0">
                <a:latin typeface="Comic Sans MS" panose="030F0702030302020204" pitchFamily="66" charset="0"/>
              </a:rPr>
            </a:br>
            <a:endParaRPr lang="en-US" altLang="zh-CN" sz="1600" dirty="0">
              <a:latin typeface="Comic Sans MS" panose="030F0702030302020204" pitchFamily="66" charset="0"/>
            </a:endParaRPr>
          </a:p>
        </p:txBody>
      </p:sp>
      <p:sp>
        <p:nvSpPr>
          <p:cNvPr id="38920" name="Rectangle 43">
            <a:extLst>
              <a:ext uri="{FF2B5EF4-FFF2-40B4-BE49-F238E27FC236}">
                <a16:creationId xmlns:a16="http://schemas.microsoft.com/office/drawing/2014/main" id="{5DE7A655-644C-4349-ABF4-74A153A5E3E0}"/>
              </a:ext>
            </a:extLst>
          </p:cNvPr>
          <p:cNvSpPr>
            <a:spLocks noChangeArrowheads="1"/>
          </p:cNvSpPr>
          <p:nvPr/>
        </p:nvSpPr>
        <p:spPr bwMode="auto">
          <a:xfrm>
            <a:off x="5944418" y="6132618"/>
            <a:ext cx="294953"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dirty="0">
                <a:latin typeface="Comic Sans MS" panose="030F0702030302020204" pitchFamily="66" charset="0"/>
              </a:rPr>
              <a:t>2</a:t>
            </a:r>
          </a:p>
        </p:txBody>
      </p:sp>
      <p:sp>
        <p:nvSpPr>
          <p:cNvPr id="38921" name="Rectangle 44">
            <a:extLst>
              <a:ext uri="{FF2B5EF4-FFF2-40B4-BE49-F238E27FC236}">
                <a16:creationId xmlns:a16="http://schemas.microsoft.com/office/drawing/2014/main" id="{AE1CAA5D-7E91-41B4-A759-DEAED667D34C}"/>
              </a:ext>
            </a:extLst>
          </p:cNvPr>
          <p:cNvSpPr>
            <a:spLocks noChangeArrowheads="1"/>
          </p:cNvSpPr>
          <p:nvPr/>
        </p:nvSpPr>
        <p:spPr bwMode="auto">
          <a:xfrm>
            <a:off x="6927081" y="6137381"/>
            <a:ext cx="294953"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7</a:t>
            </a:r>
          </a:p>
        </p:txBody>
      </p:sp>
      <p:sp>
        <p:nvSpPr>
          <p:cNvPr id="2" name="Rectangle 1">
            <a:extLst>
              <a:ext uri="{FF2B5EF4-FFF2-40B4-BE49-F238E27FC236}">
                <a16:creationId xmlns:a16="http://schemas.microsoft.com/office/drawing/2014/main" id="{408DB028-BFB5-35A3-20FE-ABE18BD136CE}"/>
              </a:ext>
            </a:extLst>
          </p:cNvPr>
          <p:cNvSpPr>
            <a:spLocks noChangeArrowheads="1"/>
          </p:cNvSpPr>
          <p:nvPr/>
        </p:nvSpPr>
        <p:spPr bwMode="auto">
          <a:xfrm>
            <a:off x="973364" y="6194816"/>
            <a:ext cx="349454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B15EF2"/>
                </a:solidFill>
                <a:effectLst/>
                <a:latin typeface="Arial Unicode MS"/>
                <a:ea typeface="Menlo"/>
              </a:rPr>
              <a:t>for</a:t>
            </a:r>
            <a:r>
              <a:rPr kumimoji="0" lang="zh-CN" altLang="zh-CN" b="0" i="0" u="none" strike="noStrike" cap="none" normalizeH="0" baseline="0" dirty="0">
                <a:ln>
                  <a:noFill/>
                </a:ln>
                <a:solidFill>
                  <a:schemeClr val="tx1"/>
                </a:solidFill>
                <a:effectLst/>
                <a:latin typeface="Arial Unicode MS"/>
                <a:ea typeface="Menlo"/>
              </a:rPr>
              <a:t> i, man </a:t>
            </a:r>
            <a:r>
              <a:rPr kumimoji="0" lang="zh-CN" altLang="zh-CN" b="0" i="0" u="none" strike="noStrike" cap="none" normalizeH="0" baseline="0" dirty="0">
                <a:ln>
                  <a:noFill/>
                </a:ln>
                <a:solidFill>
                  <a:srgbClr val="B15EF2"/>
                </a:solidFill>
                <a:effectLst/>
                <a:latin typeface="Arial Unicode MS"/>
                <a:ea typeface="Menlo"/>
              </a:rPr>
              <a:t>in</a:t>
            </a:r>
            <a:r>
              <a:rPr kumimoji="0" lang="zh-CN" altLang="zh-CN" b="0" i="0" u="none" strike="noStrike" cap="none" normalizeH="0" baseline="0" dirty="0">
                <a:ln>
                  <a:noFill/>
                </a:ln>
                <a:solidFill>
                  <a:schemeClr val="tx1"/>
                </a:solidFill>
                <a:effectLst/>
                <a:latin typeface="Arial Unicode MS"/>
                <a:ea typeface="Menlo"/>
              </a:rPr>
              <a:t> enumerate(woman_pref): </a:t>
            </a:r>
            <a:endParaRPr kumimoji="0" lang="en-US" altLang="zh-CN" b="0" i="0" u="none" strike="noStrike" cap="none" normalizeH="0" baseline="0" dirty="0">
              <a:ln>
                <a:noFill/>
              </a:ln>
              <a:solidFill>
                <a:schemeClr val="tx1"/>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dirty="0">
                <a:solidFill>
                  <a:schemeClr val="tx1"/>
                </a:solidFill>
                <a:latin typeface="Arial Unicode MS"/>
                <a:ea typeface="Menlo"/>
              </a:rPr>
              <a:t>      </a:t>
            </a:r>
            <a:r>
              <a:rPr kumimoji="0" lang="zh-CN" altLang="zh-CN" b="0" i="0" u="none" strike="noStrike" cap="none" normalizeH="0" baseline="0" dirty="0">
                <a:ln>
                  <a:noFill/>
                </a:ln>
                <a:solidFill>
                  <a:schemeClr val="tx1"/>
                </a:solidFill>
                <a:effectLst/>
                <a:latin typeface="Arial Unicode MS"/>
                <a:ea typeface="Menlo"/>
              </a:rPr>
              <a:t>rank[man] = i</a:t>
            </a:r>
            <a:r>
              <a:rPr kumimoji="0" lang="zh-CN" altLang="zh-CN" sz="1100" b="0" i="0" u="none" strike="noStrike" cap="none" normalizeH="0" baseline="0" dirty="0">
                <a:ln>
                  <a:noFill/>
                </a:ln>
                <a:solidFill>
                  <a:schemeClr val="tx1"/>
                </a:solidFill>
                <a:effectLst/>
              </a:rPr>
              <a:t> </a:t>
            </a:r>
            <a:endParaRPr kumimoji="0" lang="zh-CN" altLang="zh-CN" sz="4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5">
            <a:extLst>
              <a:ext uri="{FF2B5EF4-FFF2-40B4-BE49-F238E27FC236}">
                <a16:creationId xmlns:a16="http://schemas.microsoft.com/office/drawing/2014/main" id="{3DBDB1D2-0B56-4034-B70E-B4805C4BD6B0}"/>
              </a:ext>
            </a:extLst>
          </p:cNvPr>
          <p:cNvSpPr>
            <a:spLocks noGrp="1"/>
          </p:cNvSpPr>
          <p:nvPr>
            <p:ph type="sldNum" sz="quarter" idx="12"/>
          </p:nvPr>
        </p:nvSpPr>
        <p:spPr/>
        <p:txBody>
          <a:bodyPr/>
          <a:lstStyle/>
          <a:p>
            <a:pPr>
              <a:defRPr/>
            </a:pPr>
            <a:fld id="{748FE1A2-1C11-4A23-B8BC-723CC54D5A07}" type="slidenum">
              <a:rPr lang="zh-CN" altLang="en-US"/>
              <a:pPr>
                <a:defRPr/>
              </a:pPr>
              <a:t>49</a:t>
            </a:fld>
            <a:endParaRPr lang="en-US" altLang="zh-CN"/>
          </a:p>
        </p:txBody>
      </p:sp>
      <p:sp>
        <p:nvSpPr>
          <p:cNvPr id="39939" name="Rectangle 2">
            <a:extLst>
              <a:ext uri="{FF2B5EF4-FFF2-40B4-BE49-F238E27FC236}">
                <a16:creationId xmlns:a16="http://schemas.microsoft.com/office/drawing/2014/main" id="{E892158C-7E9A-4165-8804-45D0E025E17B}"/>
              </a:ext>
            </a:extLst>
          </p:cNvPr>
          <p:cNvSpPr>
            <a:spLocks noGrp="1" noChangeArrowheads="1"/>
          </p:cNvSpPr>
          <p:nvPr>
            <p:ph type="title"/>
          </p:nvPr>
        </p:nvSpPr>
        <p:spPr/>
        <p:txBody>
          <a:bodyPr/>
          <a:lstStyle/>
          <a:p>
            <a:pPr eaLnBrk="1" hangingPunct="1"/>
            <a:r>
              <a:rPr lang="zh-CN" altLang="en-US"/>
              <a:t>推广</a:t>
            </a:r>
          </a:p>
        </p:txBody>
      </p:sp>
      <p:sp>
        <p:nvSpPr>
          <p:cNvPr id="39940" name="Rectangle 3">
            <a:extLst>
              <a:ext uri="{FF2B5EF4-FFF2-40B4-BE49-F238E27FC236}">
                <a16:creationId xmlns:a16="http://schemas.microsoft.com/office/drawing/2014/main" id="{CCACB106-E46D-4802-9B04-A1D9093DFC0A}"/>
              </a:ext>
            </a:extLst>
          </p:cNvPr>
          <p:cNvSpPr>
            <a:spLocks noGrp="1" noChangeArrowheads="1"/>
          </p:cNvSpPr>
          <p:nvPr>
            <p:ph type="body" idx="1"/>
          </p:nvPr>
        </p:nvSpPr>
        <p:spPr/>
        <p:txBody>
          <a:bodyPr/>
          <a:lstStyle/>
          <a:p>
            <a:pPr eaLnBrk="1" hangingPunct="1"/>
            <a:r>
              <a:rPr lang="zh-CN" altLang="en-US"/>
              <a:t>具有多个稳定匹配的实例.</a:t>
            </a:r>
          </a:p>
          <a:p>
            <a:pPr lvl="1" eaLnBrk="1" hangingPunct="1"/>
            <a:r>
              <a:rPr lang="en-US" altLang="zh-CN"/>
              <a:t>A-X, B-Y, C-Z.</a:t>
            </a:r>
          </a:p>
          <a:p>
            <a:pPr lvl="1" eaLnBrk="1" hangingPunct="1"/>
            <a:r>
              <a:rPr lang="en-US" altLang="zh-CN"/>
              <a:t>A-Y, B-X, C-Z.</a:t>
            </a:r>
          </a:p>
          <a:p>
            <a:pPr lvl="1" eaLnBrk="1" hangingPunct="1"/>
            <a:endParaRPr lang="en-US" altLang="zh-CN"/>
          </a:p>
          <a:p>
            <a:pPr lvl="1" eaLnBrk="1" hangingPunct="1"/>
            <a:endParaRPr lang="en-US" altLang="zh-CN"/>
          </a:p>
          <a:p>
            <a:pPr lvl="1" eaLnBrk="1" hangingPunct="1"/>
            <a:endParaRPr lang="en-US" altLang="zh-CN"/>
          </a:p>
          <a:p>
            <a:pPr lvl="1" eaLnBrk="1" hangingPunct="1"/>
            <a:endParaRPr lang="en-US" altLang="zh-CN"/>
          </a:p>
        </p:txBody>
      </p:sp>
      <p:sp>
        <p:nvSpPr>
          <p:cNvPr id="39941" name="Rectangle 4">
            <a:extLst>
              <a:ext uri="{FF2B5EF4-FFF2-40B4-BE49-F238E27FC236}">
                <a16:creationId xmlns:a16="http://schemas.microsoft.com/office/drawing/2014/main" id="{9382D361-5213-4F2B-B403-1C25905AEC7C}"/>
              </a:ext>
            </a:extLst>
          </p:cNvPr>
          <p:cNvSpPr>
            <a:spLocks noChangeArrowheads="1"/>
          </p:cNvSpPr>
          <p:nvPr/>
        </p:nvSpPr>
        <p:spPr bwMode="auto">
          <a:xfrm>
            <a:off x="1463675" y="4941888"/>
            <a:ext cx="914400" cy="3508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Zeus</a:t>
            </a:r>
          </a:p>
        </p:txBody>
      </p:sp>
      <p:sp>
        <p:nvSpPr>
          <p:cNvPr id="39942" name="Rectangle 5">
            <a:extLst>
              <a:ext uri="{FF2B5EF4-FFF2-40B4-BE49-F238E27FC236}">
                <a16:creationId xmlns:a16="http://schemas.microsoft.com/office/drawing/2014/main" id="{E7B6A1DA-DC6D-4992-B02C-77FC15D20CB2}"/>
              </a:ext>
            </a:extLst>
          </p:cNvPr>
          <p:cNvSpPr>
            <a:spLocks noChangeArrowheads="1"/>
          </p:cNvSpPr>
          <p:nvPr/>
        </p:nvSpPr>
        <p:spPr bwMode="auto">
          <a:xfrm>
            <a:off x="1463675" y="4589463"/>
            <a:ext cx="914400"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Yancey</a:t>
            </a:r>
          </a:p>
        </p:txBody>
      </p:sp>
      <p:sp>
        <p:nvSpPr>
          <p:cNvPr id="39943" name="Rectangle 6">
            <a:extLst>
              <a:ext uri="{FF2B5EF4-FFF2-40B4-BE49-F238E27FC236}">
                <a16:creationId xmlns:a16="http://schemas.microsoft.com/office/drawing/2014/main" id="{15A1176B-6AD4-48A1-9DB4-844083DBDE64}"/>
              </a:ext>
            </a:extLst>
          </p:cNvPr>
          <p:cNvSpPr>
            <a:spLocks noChangeArrowheads="1"/>
          </p:cNvSpPr>
          <p:nvPr/>
        </p:nvSpPr>
        <p:spPr bwMode="auto">
          <a:xfrm>
            <a:off x="1463675" y="4238625"/>
            <a:ext cx="914400" cy="3508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dirty="0">
                <a:solidFill>
                  <a:schemeClr val="accent2"/>
                </a:solidFill>
                <a:latin typeface="Comic Sans MS" panose="030F0702030302020204" pitchFamily="66" charset="0"/>
              </a:rPr>
              <a:t>Xavier</a:t>
            </a:r>
          </a:p>
        </p:txBody>
      </p:sp>
      <p:sp>
        <p:nvSpPr>
          <p:cNvPr id="39944" name="Rectangle 7">
            <a:extLst>
              <a:ext uri="{FF2B5EF4-FFF2-40B4-BE49-F238E27FC236}">
                <a16:creationId xmlns:a16="http://schemas.microsoft.com/office/drawing/2014/main" id="{5C4A9384-37E0-4918-A57A-0E78602A6E6A}"/>
              </a:ext>
            </a:extLst>
          </p:cNvPr>
          <p:cNvSpPr>
            <a:spLocks noChangeArrowheads="1"/>
          </p:cNvSpPr>
          <p:nvPr/>
        </p:nvSpPr>
        <p:spPr bwMode="auto">
          <a:xfrm>
            <a:off x="2378075" y="4941888"/>
            <a:ext cx="703263" cy="3508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A</a:t>
            </a:r>
          </a:p>
        </p:txBody>
      </p:sp>
      <p:sp>
        <p:nvSpPr>
          <p:cNvPr id="39945" name="Rectangle 8">
            <a:extLst>
              <a:ext uri="{FF2B5EF4-FFF2-40B4-BE49-F238E27FC236}">
                <a16:creationId xmlns:a16="http://schemas.microsoft.com/office/drawing/2014/main" id="{3252EE65-4C02-4743-BD9D-C1FA51821D16}"/>
              </a:ext>
            </a:extLst>
          </p:cNvPr>
          <p:cNvSpPr>
            <a:spLocks noChangeArrowheads="1"/>
          </p:cNvSpPr>
          <p:nvPr/>
        </p:nvSpPr>
        <p:spPr bwMode="auto">
          <a:xfrm>
            <a:off x="2378075" y="4589463"/>
            <a:ext cx="703263" cy="352425"/>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B</a:t>
            </a:r>
          </a:p>
        </p:txBody>
      </p:sp>
      <p:sp>
        <p:nvSpPr>
          <p:cNvPr id="39946" name="Rectangle 9">
            <a:extLst>
              <a:ext uri="{FF2B5EF4-FFF2-40B4-BE49-F238E27FC236}">
                <a16:creationId xmlns:a16="http://schemas.microsoft.com/office/drawing/2014/main" id="{CEAB0D3D-AE62-4078-B93F-2BD30417F6C8}"/>
              </a:ext>
            </a:extLst>
          </p:cNvPr>
          <p:cNvSpPr>
            <a:spLocks noChangeArrowheads="1"/>
          </p:cNvSpPr>
          <p:nvPr/>
        </p:nvSpPr>
        <p:spPr bwMode="auto">
          <a:xfrm>
            <a:off x="2378075" y="4238625"/>
            <a:ext cx="703263" cy="3508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A</a:t>
            </a:r>
          </a:p>
        </p:txBody>
      </p:sp>
      <p:sp>
        <p:nvSpPr>
          <p:cNvPr id="39947" name="Rectangle 10">
            <a:extLst>
              <a:ext uri="{FF2B5EF4-FFF2-40B4-BE49-F238E27FC236}">
                <a16:creationId xmlns:a16="http://schemas.microsoft.com/office/drawing/2014/main" id="{992CBEA7-F5AD-4E83-BA9A-2DEBEFE6360E}"/>
              </a:ext>
            </a:extLst>
          </p:cNvPr>
          <p:cNvSpPr>
            <a:spLocks noChangeArrowheads="1"/>
          </p:cNvSpPr>
          <p:nvPr/>
        </p:nvSpPr>
        <p:spPr bwMode="auto">
          <a:xfrm>
            <a:off x="2378075" y="3886200"/>
            <a:ext cx="703263"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chemeClr val="accent2"/>
                </a:solidFill>
                <a:latin typeface="Comic Sans MS" panose="030F0702030302020204" pitchFamily="66" charset="0"/>
              </a:rPr>
              <a:t>1</a:t>
            </a:r>
            <a:r>
              <a:rPr kumimoji="0" lang="en-US" altLang="zh-CN" sz="1400" baseline="30000">
                <a:solidFill>
                  <a:schemeClr val="accent2"/>
                </a:solidFill>
                <a:latin typeface="Comic Sans MS" panose="030F0702030302020204" pitchFamily="66" charset="0"/>
              </a:rPr>
              <a:t>st</a:t>
            </a:r>
          </a:p>
        </p:txBody>
      </p:sp>
      <p:sp>
        <p:nvSpPr>
          <p:cNvPr id="39948" name="Rectangle 11">
            <a:extLst>
              <a:ext uri="{FF2B5EF4-FFF2-40B4-BE49-F238E27FC236}">
                <a16:creationId xmlns:a16="http://schemas.microsoft.com/office/drawing/2014/main" id="{06F289F6-D0BC-41D0-8DFE-38FBDF634683}"/>
              </a:ext>
            </a:extLst>
          </p:cNvPr>
          <p:cNvSpPr>
            <a:spLocks noChangeArrowheads="1"/>
          </p:cNvSpPr>
          <p:nvPr/>
        </p:nvSpPr>
        <p:spPr bwMode="auto">
          <a:xfrm>
            <a:off x="3081338" y="4941888"/>
            <a:ext cx="703262" cy="3508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B</a:t>
            </a:r>
          </a:p>
        </p:txBody>
      </p:sp>
      <p:sp>
        <p:nvSpPr>
          <p:cNvPr id="39949" name="Rectangle 12">
            <a:extLst>
              <a:ext uri="{FF2B5EF4-FFF2-40B4-BE49-F238E27FC236}">
                <a16:creationId xmlns:a16="http://schemas.microsoft.com/office/drawing/2014/main" id="{D39AB1C1-122B-42EB-A3D1-4ACC46F23BE2}"/>
              </a:ext>
            </a:extLst>
          </p:cNvPr>
          <p:cNvSpPr>
            <a:spLocks noChangeArrowheads="1"/>
          </p:cNvSpPr>
          <p:nvPr/>
        </p:nvSpPr>
        <p:spPr bwMode="auto">
          <a:xfrm>
            <a:off x="3081338" y="4589463"/>
            <a:ext cx="703262" cy="352425"/>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A</a:t>
            </a:r>
          </a:p>
        </p:txBody>
      </p:sp>
      <p:sp>
        <p:nvSpPr>
          <p:cNvPr id="39950" name="Rectangle 13">
            <a:extLst>
              <a:ext uri="{FF2B5EF4-FFF2-40B4-BE49-F238E27FC236}">
                <a16:creationId xmlns:a16="http://schemas.microsoft.com/office/drawing/2014/main" id="{ECFEA722-F20A-4E34-872A-C9EB3D495E26}"/>
              </a:ext>
            </a:extLst>
          </p:cNvPr>
          <p:cNvSpPr>
            <a:spLocks noChangeArrowheads="1"/>
          </p:cNvSpPr>
          <p:nvPr/>
        </p:nvSpPr>
        <p:spPr bwMode="auto">
          <a:xfrm>
            <a:off x="3081338" y="4238625"/>
            <a:ext cx="703262" cy="3508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B</a:t>
            </a:r>
          </a:p>
        </p:txBody>
      </p:sp>
      <p:sp>
        <p:nvSpPr>
          <p:cNvPr id="39951" name="Rectangle 14">
            <a:extLst>
              <a:ext uri="{FF2B5EF4-FFF2-40B4-BE49-F238E27FC236}">
                <a16:creationId xmlns:a16="http://schemas.microsoft.com/office/drawing/2014/main" id="{6375CE29-02BB-484B-ACD4-9BC713C44F06}"/>
              </a:ext>
            </a:extLst>
          </p:cNvPr>
          <p:cNvSpPr>
            <a:spLocks noChangeArrowheads="1"/>
          </p:cNvSpPr>
          <p:nvPr/>
        </p:nvSpPr>
        <p:spPr bwMode="auto">
          <a:xfrm>
            <a:off x="3081338" y="3886200"/>
            <a:ext cx="703262"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chemeClr val="accent2"/>
                </a:solidFill>
                <a:latin typeface="Comic Sans MS" panose="030F0702030302020204" pitchFamily="66" charset="0"/>
              </a:rPr>
              <a:t>2</a:t>
            </a:r>
            <a:r>
              <a:rPr kumimoji="0" lang="en-US" altLang="zh-CN" sz="1400" baseline="30000">
                <a:solidFill>
                  <a:schemeClr val="accent2"/>
                </a:solidFill>
                <a:latin typeface="Comic Sans MS" panose="030F0702030302020204" pitchFamily="66" charset="0"/>
              </a:rPr>
              <a:t>nd</a:t>
            </a:r>
          </a:p>
        </p:txBody>
      </p:sp>
      <p:sp>
        <p:nvSpPr>
          <p:cNvPr id="39952" name="Rectangle 15">
            <a:extLst>
              <a:ext uri="{FF2B5EF4-FFF2-40B4-BE49-F238E27FC236}">
                <a16:creationId xmlns:a16="http://schemas.microsoft.com/office/drawing/2014/main" id="{46129DA8-F1BB-4936-9E63-05135C241B60}"/>
              </a:ext>
            </a:extLst>
          </p:cNvPr>
          <p:cNvSpPr>
            <a:spLocks noChangeArrowheads="1"/>
          </p:cNvSpPr>
          <p:nvPr/>
        </p:nvSpPr>
        <p:spPr bwMode="auto">
          <a:xfrm>
            <a:off x="3784600" y="4941888"/>
            <a:ext cx="703263" cy="3508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C</a:t>
            </a:r>
          </a:p>
        </p:txBody>
      </p:sp>
      <p:sp>
        <p:nvSpPr>
          <p:cNvPr id="39953" name="Rectangle 16">
            <a:extLst>
              <a:ext uri="{FF2B5EF4-FFF2-40B4-BE49-F238E27FC236}">
                <a16:creationId xmlns:a16="http://schemas.microsoft.com/office/drawing/2014/main" id="{1B6046BE-DEC4-43C5-9C62-24F6002BE4A5}"/>
              </a:ext>
            </a:extLst>
          </p:cNvPr>
          <p:cNvSpPr>
            <a:spLocks noChangeArrowheads="1"/>
          </p:cNvSpPr>
          <p:nvPr/>
        </p:nvSpPr>
        <p:spPr bwMode="auto">
          <a:xfrm>
            <a:off x="3784600" y="4589463"/>
            <a:ext cx="703263" cy="352425"/>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C</a:t>
            </a:r>
          </a:p>
        </p:txBody>
      </p:sp>
      <p:sp>
        <p:nvSpPr>
          <p:cNvPr id="39954" name="Rectangle 17">
            <a:extLst>
              <a:ext uri="{FF2B5EF4-FFF2-40B4-BE49-F238E27FC236}">
                <a16:creationId xmlns:a16="http://schemas.microsoft.com/office/drawing/2014/main" id="{F06CD7D7-698E-4A8A-AE37-53FE1FA27517}"/>
              </a:ext>
            </a:extLst>
          </p:cNvPr>
          <p:cNvSpPr>
            <a:spLocks noChangeArrowheads="1"/>
          </p:cNvSpPr>
          <p:nvPr/>
        </p:nvSpPr>
        <p:spPr bwMode="auto">
          <a:xfrm>
            <a:off x="3784600" y="4238625"/>
            <a:ext cx="703263" cy="3508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C</a:t>
            </a:r>
          </a:p>
        </p:txBody>
      </p:sp>
      <p:sp>
        <p:nvSpPr>
          <p:cNvPr id="39955" name="Rectangle 18">
            <a:extLst>
              <a:ext uri="{FF2B5EF4-FFF2-40B4-BE49-F238E27FC236}">
                <a16:creationId xmlns:a16="http://schemas.microsoft.com/office/drawing/2014/main" id="{6279400F-23D3-4017-81DC-6AFDF1778092}"/>
              </a:ext>
            </a:extLst>
          </p:cNvPr>
          <p:cNvSpPr>
            <a:spLocks noChangeArrowheads="1"/>
          </p:cNvSpPr>
          <p:nvPr/>
        </p:nvSpPr>
        <p:spPr bwMode="auto">
          <a:xfrm>
            <a:off x="3784600" y="3886200"/>
            <a:ext cx="703263"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chemeClr val="accent2"/>
                </a:solidFill>
                <a:latin typeface="Comic Sans MS" panose="030F0702030302020204" pitchFamily="66" charset="0"/>
              </a:rPr>
              <a:t>3</a:t>
            </a:r>
            <a:r>
              <a:rPr kumimoji="0" lang="en-US" altLang="zh-CN" sz="1400" baseline="30000">
                <a:solidFill>
                  <a:schemeClr val="accent2"/>
                </a:solidFill>
                <a:latin typeface="Comic Sans MS" panose="030F0702030302020204" pitchFamily="66" charset="0"/>
              </a:rPr>
              <a:t>rd</a:t>
            </a:r>
          </a:p>
        </p:txBody>
      </p:sp>
      <p:sp>
        <p:nvSpPr>
          <p:cNvPr id="39956" name="Rectangle 19">
            <a:extLst>
              <a:ext uri="{FF2B5EF4-FFF2-40B4-BE49-F238E27FC236}">
                <a16:creationId xmlns:a16="http://schemas.microsoft.com/office/drawing/2014/main" id="{7EB3CC97-219F-4BDA-B822-DFB81D54C076}"/>
              </a:ext>
            </a:extLst>
          </p:cNvPr>
          <p:cNvSpPr>
            <a:spLocks noChangeArrowheads="1"/>
          </p:cNvSpPr>
          <p:nvPr/>
        </p:nvSpPr>
        <p:spPr bwMode="auto">
          <a:xfrm>
            <a:off x="5054600" y="4941888"/>
            <a:ext cx="914400" cy="350837"/>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Clare</a:t>
            </a:r>
          </a:p>
        </p:txBody>
      </p:sp>
      <p:sp>
        <p:nvSpPr>
          <p:cNvPr id="39957" name="Rectangle 20">
            <a:extLst>
              <a:ext uri="{FF2B5EF4-FFF2-40B4-BE49-F238E27FC236}">
                <a16:creationId xmlns:a16="http://schemas.microsoft.com/office/drawing/2014/main" id="{DEC4AAB7-C1E4-4BB9-86BA-87789A8DEC27}"/>
              </a:ext>
            </a:extLst>
          </p:cNvPr>
          <p:cNvSpPr>
            <a:spLocks noChangeArrowheads="1"/>
          </p:cNvSpPr>
          <p:nvPr/>
        </p:nvSpPr>
        <p:spPr bwMode="auto">
          <a:xfrm>
            <a:off x="5054600" y="4589463"/>
            <a:ext cx="914400"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Bertha</a:t>
            </a:r>
          </a:p>
        </p:txBody>
      </p:sp>
      <p:sp>
        <p:nvSpPr>
          <p:cNvPr id="39958" name="Rectangle 21">
            <a:extLst>
              <a:ext uri="{FF2B5EF4-FFF2-40B4-BE49-F238E27FC236}">
                <a16:creationId xmlns:a16="http://schemas.microsoft.com/office/drawing/2014/main" id="{FD17C791-7D1C-4A8C-9621-352F74B74416}"/>
              </a:ext>
            </a:extLst>
          </p:cNvPr>
          <p:cNvSpPr>
            <a:spLocks noChangeArrowheads="1"/>
          </p:cNvSpPr>
          <p:nvPr/>
        </p:nvSpPr>
        <p:spPr bwMode="auto">
          <a:xfrm>
            <a:off x="5054600" y="4238625"/>
            <a:ext cx="914400" cy="350838"/>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Amy</a:t>
            </a:r>
          </a:p>
        </p:txBody>
      </p:sp>
      <p:sp>
        <p:nvSpPr>
          <p:cNvPr id="39959" name="Rectangle 22">
            <a:extLst>
              <a:ext uri="{FF2B5EF4-FFF2-40B4-BE49-F238E27FC236}">
                <a16:creationId xmlns:a16="http://schemas.microsoft.com/office/drawing/2014/main" id="{B5C5CF62-5AE4-4777-A0F7-5BC7DD9E881D}"/>
              </a:ext>
            </a:extLst>
          </p:cNvPr>
          <p:cNvSpPr>
            <a:spLocks noChangeArrowheads="1"/>
          </p:cNvSpPr>
          <p:nvPr/>
        </p:nvSpPr>
        <p:spPr bwMode="auto">
          <a:xfrm>
            <a:off x="5969000" y="4941888"/>
            <a:ext cx="703263" cy="3508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X</a:t>
            </a:r>
          </a:p>
        </p:txBody>
      </p:sp>
      <p:sp>
        <p:nvSpPr>
          <p:cNvPr id="39960" name="Rectangle 23">
            <a:extLst>
              <a:ext uri="{FF2B5EF4-FFF2-40B4-BE49-F238E27FC236}">
                <a16:creationId xmlns:a16="http://schemas.microsoft.com/office/drawing/2014/main" id="{2775B7E1-4405-4A05-9A05-82124C1CD6C7}"/>
              </a:ext>
            </a:extLst>
          </p:cNvPr>
          <p:cNvSpPr>
            <a:spLocks noChangeArrowheads="1"/>
          </p:cNvSpPr>
          <p:nvPr/>
        </p:nvSpPr>
        <p:spPr bwMode="auto">
          <a:xfrm>
            <a:off x="5969000" y="4589463"/>
            <a:ext cx="703263" cy="352425"/>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X</a:t>
            </a:r>
          </a:p>
        </p:txBody>
      </p:sp>
      <p:sp>
        <p:nvSpPr>
          <p:cNvPr id="39961" name="Rectangle 24">
            <a:extLst>
              <a:ext uri="{FF2B5EF4-FFF2-40B4-BE49-F238E27FC236}">
                <a16:creationId xmlns:a16="http://schemas.microsoft.com/office/drawing/2014/main" id="{82228E2A-62A3-4873-A078-4D30FDED45B3}"/>
              </a:ext>
            </a:extLst>
          </p:cNvPr>
          <p:cNvSpPr>
            <a:spLocks noChangeArrowheads="1"/>
          </p:cNvSpPr>
          <p:nvPr/>
        </p:nvSpPr>
        <p:spPr bwMode="auto">
          <a:xfrm>
            <a:off x="5969000" y="4238625"/>
            <a:ext cx="703263" cy="3508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Y</a:t>
            </a:r>
          </a:p>
        </p:txBody>
      </p:sp>
      <p:sp>
        <p:nvSpPr>
          <p:cNvPr id="39962" name="Rectangle 25">
            <a:extLst>
              <a:ext uri="{FF2B5EF4-FFF2-40B4-BE49-F238E27FC236}">
                <a16:creationId xmlns:a16="http://schemas.microsoft.com/office/drawing/2014/main" id="{1518482B-67FE-45EB-AE03-D00BA3F892A7}"/>
              </a:ext>
            </a:extLst>
          </p:cNvPr>
          <p:cNvSpPr>
            <a:spLocks noChangeArrowheads="1"/>
          </p:cNvSpPr>
          <p:nvPr/>
        </p:nvSpPr>
        <p:spPr bwMode="auto">
          <a:xfrm>
            <a:off x="5969000" y="3886200"/>
            <a:ext cx="703263"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chemeClr val="accent2"/>
                </a:solidFill>
                <a:latin typeface="Comic Sans MS" panose="030F0702030302020204" pitchFamily="66" charset="0"/>
              </a:rPr>
              <a:t>1</a:t>
            </a:r>
            <a:r>
              <a:rPr kumimoji="0" lang="en-US" altLang="zh-CN" sz="1400" baseline="30000">
                <a:solidFill>
                  <a:schemeClr val="accent2"/>
                </a:solidFill>
                <a:latin typeface="Comic Sans MS" panose="030F0702030302020204" pitchFamily="66" charset="0"/>
              </a:rPr>
              <a:t>st</a:t>
            </a:r>
          </a:p>
        </p:txBody>
      </p:sp>
      <p:sp>
        <p:nvSpPr>
          <p:cNvPr id="39963" name="Rectangle 26">
            <a:extLst>
              <a:ext uri="{FF2B5EF4-FFF2-40B4-BE49-F238E27FC236}">
                <a16:creationId xmlns:a16="http://schemas.microsoft.com/office/drawing/2014/main" id="{8E49C660-E9D3-4681-A735-E9B65DA75473}"/>
              </a:ext>
            </a:extLst>
          </p:cNvPr>
          <p:cNvSpPr>
            <a:spLocks noChangeArrowheads="1"/>
          </p:cNvSpPr>
          <p:nvPr/>
        </p:nvSpPr>
        <p:spPr bwMode="auto">
          <a:xfrm>
            <a:off x="6672263" y="4941888"/>
            <a:ext cx="703262" cy="3508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Y</a:t>
            </a:r>
          </a:p>
        </p:txBody>
      </p:sp>
      <p:sp>
        <p:nvSpPr>
          <p:cNvPr id="39964" name="Rectangle 27">
            <a:extLst>
              <a:ext uri="{FF2B5EF4-FFF2-40B4-BE49-F238E27FC236}">
                <a16:creationId xmlns:a16="http://schemas.microsoft.com/office/drawing/2014/main" id="{C7581B3C-F103-449B-B8E7-7398623D4848}"/>
              </a:ext>
            </a:extLst>
          </p:cNvPr>
          <p:cNvSpPr>
            <a:spLocks noChangeArrowheads="1"/>
          </p:cNvSpPr>
          <p:nvPr/>
        </p:nvSpPr>
        <p:spPr bwMode="auto">
          <a:xfrm>
            <a:off x="6672263" y="4589463"/>
            <a:ext cx="703262" cy="352425"/>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Y</a:t>
            </a:r>
          </a:p>
        </p:txBody>
      </p:sp>
      <p:sp>
        <p:nvSpPr>
          <p:cNvPr id="39965" name="Rectangle 28">
            <a:extLst>
              <a:ext uri="{FF2B5EF4-FFF2-40B4-BE49-F238E27FC236}">
                <a16:creationId xmlns:a16="http://schemas.microsoft.com/office/drawing/2014/main" id="{6AC66322-7C89-4A68-9C48-DD9FD0C6FF28}"/>
              </a:ext>
            </a:extLst>
          </p:cNvPr>
          <p:cNvSpPr>
            <a:spLocks noChangeArrowheads="1"/>
          </p:cNvSpPr>
          <p:nvPr/>
        </p:nvSpPr>
        <p:spPr bwMode="auto">
          <a:xfrm>
            <a:off x="6672263" y="4238625"/>
            <a:ext cx="703262" cy="3508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X</a:t>
            </a:r>
          </a:p>
        </p:txBody>
      </p:sp>
      <p:sp>
        <p:nvSpPr>
          <p:cNvPr id="39966" name="Rectangle 29">
            <a:extLst>
              <a:ext uri="{FF2B5EF4-FFF2-40B4-BE49-F238E27FC236}">
                <a16:creationId xmlns:a16="http://schemas.microsoft.com/office/drawing/2014/main" id="{E3A03FD9-E63B-4C1E-B8A8-A29A837E6256}"/>
              </a:ext>
            </a:extLst>
          </p:cNvPr>
          <p:cNvSpPr>
            <a:spLocks noChangeArrowheads="1"/>
          </p:cNvSpPr>
          <p:nvPr/>
        </p:nvSpPr>
        <p:spPr bwMode="auto">
          <a:xfrm>
            <a:off x="6672263" y="3886200"/>
            <a:ext cx="703262"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chemeClr val="accent2"/>
                </a:solidFill>
                <a:latin typeface="Comic Sans MS" panose="030F0702030302020204" pitchFamily="66" charset="0"/>
              </a:rPr>
              <a:t>2</a:t>
            </a:r>
            <a:r>
              <a:rPr kumimoji="0" lang="en-US" altLang="zh-CN" sz="1400" baseline="30000">
                <a:solidFill>
                  <a:schemeClr val="accent2"/>
                </a:solidFill>
                <a:latin typeface="Comic Sans MS" panose="030F0702030302020204" pitchFamily="66" charset="0"/>
              </a:rPr>
              <a:t>nd</a:t>
            </a:r>
          </a:p>
        </p:txBody>
      </p:sp>
      <p:sp>
        <p:nvSpPr>
          <p:cNvPr id="39967" name="Rectangle 30">
            <a:extLst>
              <a:ext uri="{FF2B5EF4-FFF2-40B4-BE49-F238E27FC236}">
                <a16:creationId xmlns:a16="http://schemas.microsoft.com/office/drawing/2014/main" id="{68B4A28B-D4E8-439D-AE6E-FA1693CBA450}"/>
              </a:ext>
            </a:extLst>
          </p:cNvPr>
          <p:cNvSpPr>
            <a:spLocks noChangeArrowheads="1"/>
          </p:cNvSpPr>
          <p:nvPr/>
        </p:nvSpPr>
        <p:spPr bwMode="auto">
          <a:xfrm>
            <a:off x="7375525" y="4941888"/>
            <a:ext cx="703263" cy="35083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Z</a:t>
            </a:r>
          </a:p>
        </p:txBody>
      </p:sp>
      <p:sp>
        <p:nvSpPr>
          <p:cNvPr id="39968" name="Rectangle 31">
            <a:extLst>
              <a:ext uri="{FF2B5EF4-FFF2-40B4-BE49-F238E27FC236}">
                <a16:creationId xmlns:a16="http://schemas.microsoft.com/office/drawing/2014/main" id="{2FD64F3D-7EF5-45E1-B0FE-B8A72DF58EF4}"/>
              </a:ext>
            </a:extLst>
          </p:cNvPr>
          <p:cNvSpPr>
            <a:spLocks noChangeArrowheads="1"/>
          </p:cNvSpPr>
          <p:nvPr/>
        </p:nvSpPr>
        <p:spPr bwMode="auto">
          <a:xfrm>
            <a:off x="7375525" y="4589463"/>
            <a:ext cx="703263" cy="352425"/>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Z</a:t>
            </a:r>
          </a:p>
        </p:txBody>
      </p:sp>
      <p:sp>
        <p:nvSpPr>
          <p:cNvPr id="39969" name="Rectangle 32">
            <a:extLst>
              <a:ext uri="{FF2B5EF4-FFF2-40B4-BE49-F238E27FC236}">
                <a16:creationId xmlns:a16="http://schemas.microsoft.com/office/drawing/2014/main" id="{98760AF6-2F91-4922-B7AC-E70FEAD4502E}"/>
              </a:ext>
            </a:extLst>
          </p:cNvPr>
          <p:cNvSpPr>
            <a:spLocks noChangeArrowheads="1"/>
          </p:cNvSpPr>
          <p:nvPr/>
        </p:nvSpPr>
        <p:spPr bwMode="auto">
          <a:xfrm>
            <a:off x="7375525" y="4238625"/>
            <a:ext cx="703263" cy="35083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accent2"/>
                </a:solidFill>
                <a:latin typeface="Comic Sans MS" panose="030F0702030302020204" pitchFamily="66" charset="0"/>
              </a:rPr>
              <a:t>Z</a:t>
            </a:r>
          </a:p>
        </p:txBody>
      </p:sp>
      <p:sp>
        <p:nvSpPr>
          <p:cNvPr id="39970" name="Rectangle 33">
            <a:extLst>
              <a:ext uri="{FF2B5EF4-FFF2-40B4-BE49-F238E27FC236}">
                <a16:creationId xmlns:a16="http://schemas.microsoft.com/office/drawing/2014/main" id="{9A66ABAF-0F07-4BA1-BBFD-6761A9816CD8}"/>
              </a:ext>
            </a:extLst>
          </p:cNvPr>
          <p:cNvSpPr>
            <a:spLocks noChangeArrowheads="1"/>
          </p:cNvSpPr>
          <p:nvPr/>
        </p:nvSpPr>
        <p:spPr bwMode="auto">
          <a:xfrm>
            <a:off x="7375525" y="3886200"/>
            <a:ext cx="703263" cy="352425"/>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solidFill>
                  <a:schemeClr val="accent2"/>
                </a:solidFill>
                <a:latin typeface="Comic Sans MS" panose="030F0702030302020204" pitchFamily="66" charset="0"/>
              </a:rPr>
              <a:t>3</a:t>
            </a:r>
            <a:r>
              <a:rPr kumimoji="0" lang="en-US" altLang="zh-CN" sz="1400" baseline="30000">
                <a:solidFill>
                  <a:schemeClr val="accent2"/>
                </a:solidFill>
                <a:latin typeface="Comic Sans MS" panose="030F0702030302020204" pitchFamily="66" charset="0"/>
              </a:rPr>
              <a:t>rd</a:t>
            </a:r>
          </a:p>
        </p:txBody>
      </p:sp>
      <p:sp>
        <p:nvSpPr>
          <p:cNvPr id="42019" name="Text Box 35">
            <a:extLst>
              <a:ext uri="{FF2B5EF4-FFF2-40B4-BE49-F238E27FC236}">
                <a16:creationId xmlns:a16="http://schemas.microsoft.com/office/drawing/2014/main" id="{7E358279-942D-44E7-B05C-11F570603867}"/>
              </a:ext>
            </a:extLst>
          </p:cNvPr>
          <p:cNvSpPr txBox="1">
            <a:spLocks noChangeArrowheads="1"/>
          </p:cNvSpPr>
          <p:nvPr/>
        </p:nvSpPr>
        <p:spPr bwMode="auto">
          <a:xfrm>
            <a:off x="1676400" y="5943600"/>
            <a:ext cx="6400800" cy="4762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91440" rIns="137160" bIns="9144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nSpc>
                <a:spcPts val="2300"/>
              </a:lnSpc>
              <a:spcBef>
                <a:spcPct val="50000"/>
              </a:spcBef>
              <a:buClrTx/>
              <a:buSzTx/>
              <a:buFontTx/>
              <a:buNone/>
            </a:pPr>
            <a:r>
              <a:rPr lang="en-US" altLang="zh-CN">
                <a:solidFill>
                  <a:schemeClr val="hlink"/>
                </a:solidFill>
              </a:rPr>
              <a:t>A-X, B-Y, C-Z</a:t>
            </a:r>
            <a:endParaRPr lang="zh-CN" altLang="en-US">
              <a:solidFill>
                <a:schemeClr val="hlink"/>
              </a:solidFill>
            </a:endParaRPr>
          </a:p>
        </p:txBody>
      </p:sp>
      <p:sp>
        <p:nvSpPr>
          <p:cNvPr id="42020" name="Rectangle 36">
            <a:extLst>
              <a:ext uri="{FF2B5EF4-FFF2-40B4-BE49-F238E27FC236}">
                <a16:creationId xmlns:a16="http://schemas.microsoft.com/office/drawing/2014/main" id="{A926982A-1AA8-45EB-B95E-C5771ED08EE9}"/>
              </a:ext>
            </a:extLst>
          </p:cNvPr>
          <p:cNvSpPr>
            <a:spLocks noChangeArrowheads="1"/>
          </p:cNvSpPr>
          <p:nvPr/>
        </p:nvSpPr>
        <p:spPr bwMode="auto">
          <a:xfrm>
            <a:off x="1219200" y="5410200"/>
            <a:ext cx="4905375" cy="476250"/>
          </a:xfrm>
          <a:prstGeom prst="rect">
            <a:avLst/>
          </a:prstGeom>
          <a:noFill/>
          <a:ln>
            <a:noFill/>
          </a:ln>
          <a:effectLst/>
          <a:extLst>
            <a:ext uri="{909E8E84-426E-40DD-AFC4-6F175D3DCCD1}">
              <a14:hiddenFill xmlns:a14="http://schemas.microsoft.com/office/drawing/2010/main">
                <a:solidFill>
                  <a:srgbClr val="003399"/>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lvl="1" algn="ctr" eaLnBrk="1" hangingPunct="1">
              <a:lnSpc>
                <a:spcPct val="90000"/>
              </a:lnSpc>
              <a:buNone/>
            </a:pPr>
            <a:r>
              <a:rPr lang="en-US" altLang="zh-CN" dirty="0">
                <a:solidFill>
                  <a:schemeClr val="hlink"/>
                </a:solidFill>
              </a:rPr>
              <a:t>？G-S</a:t>
            </a:r>
            <a:r>
              <a:rPr lang="zh-CN" altLang="en-US" dirty="0">
                <a:solidFill>
                  <a:schemeClr val="hlink"/>
                </a:solidFill>
              </a:rPr>
              <a:t>算法生成的是那一个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020"/>
                                        </p:tgtEl>
                                        <p:attrNameLst>
                                          <p:attrName>style.visibility</p:attrName>
                                        </p:attrNameLst>
                                      </p:cBhvr>
                                      <p:to>
                                        <p:strVal val="visible"/>
                                      </p:to>
                                    </p:set>
                                    <p:anim calcmode="lin" valueType="num">
                                      <p:cBhvr additive="base">
                                        <p:cTn id="7" dur="500" fill="hold"/>
                                        <p:tgtEl>
                                          <p:spTgt spid="42020"/>
                                        </p:tgtEl>
                                        <p:attrNameLst>
                                          <p:attrName>ppt_x</p:attrName>
                                        </p:attrNameLst>
                                      </p:cBhvr>
                                      <p:tavLst>
                                        <p:tav tm="0">
                                          <p:val>
                                            <p:strVal val="0-#ppt_w/2"/>
                                          </p:val>
                                        </p:tav>
                                        <p:tav tm="100000">
                                          <p:val>
                                            <p:strVal val="#ppt_x"/>
                                          </p:val>
                                        </p:tav>
                                      </p:tavLst>
                                    </p:anim>
                                    <p:anim calcmode="lin" valueType="num">
                                      <p:cBhvr additive="base">
                                        <p:cTn id="8" dur="500" fill="hold"/>
                                        <p:tgtEl>
                                          <p:spTgt spid="420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42019"/>
                                        </p:tgtEl>
                                        <p:attrNameLst>
                                          <p:attrName>style.visibility</p:attrName>
                                        </p:attrNameLst>
                                      </p:cBhvr>
                                      <p:to>
                                        <p:strVal val="visible"/>
                                      </p:to>
                                    </p:set>
                                    <p:animEffect transition="in" filter="circle(in)">
                                      <p:cBhvr>
                                        <p:cTn id="13" dur="2000"/>
                                        <p:tgtEl>
                                          <p:spTgt spid="42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9" grpId="0"/>
      <p:bldP spid="42020"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8E1FB7E-50DE-4AF9-8134-18BD1AC41AF9}"/>
              </a:ext>
            </a:extLst>
          </p:cNvPr>
          <p:cNvSpPr>
            <a:spLocks noGrp="1"/>
          </p:cNvSpPr>
          <p:nvPr>
            <p:ph type="sldNum" sz="quarter" idx="12"/>
          </p:nvPr>
        </p:nvSpPr>
        <p:spPr/>
        <p:txBody>
          <a:bodyPr/>
          <a:lstStyle/>
          <a:p>
            <a:pPr>
              <a:defRPr/>
            </a:pPr>
            <a:fld id="{B05572A4-C1CC-4C46-84C2-2830F354F2EF}" type="slidenum">
              <a:rPr lang="zh-CN" altLang="en-US"/>
              <a:pPr>
                <a:defRPr/>
              </a:pPr>
              <a:t>50</a:t>
            </a:fld>
            <a:endParaRPr lang="en-US" altLang="zh-CN"/>
          </a:p>
        </p:txBody>
      </p:sp>
      <p:sp>
        <p:nvSpPr>
          <p:cNvPr id="40963" name="Rectangle 2">
            <a:extLst>
              <a:ext uri="{FF2B5EF4-FFF2-40B4-BE49-F238E27FC236}">
                <a16:creationId xmlns:a16="http://schemas.microsoft.com/office/drawing/2014/main" id="{16AA0346-E71D-456F-BB27-C7D2BA264F5B}"/>
              </a:ext>
            </a:extLst>
          </p:cNvPr>
          <p:cNvSpPr>
            <a:spLocks noGrp="1" noChangeArrowheads="1"/>
          </p:cNvSpPr>
          <p:nvPr>
            <p:ph type="title"/>
          </p:nvPr>
        </p:nvSpPr>
        <p:spPr/>
        <p:txBody>
          <a:bodyPr/>
          <a:lstStyle/>
          <a:p>
            <a:pPr eaLnBrk="1" hangingPunct="1"/>
            <a:r>
              <a:rPr lang="zh-CN" altLang="en-US"/>
              <a:t>推广</a:t>
            </a:r>
          </a:p>
        </p:txBody>
      </p:sp>
      <p:sp>
        <p:nvSpPr>
          <p:cNvPr id="40964" name="Rectangle 3">
            <a:extLst>
              <a:ext uri="{FF2B5EF4-FFF2-40B4-BE49-F238E27FC236}">
                <a16:creationId xmlns:a16="http://schemas.microsoft.com/office/drawing/2014/main" id="{EE23B3CB-D135-4E53-8FAF-49EFA476042F}"/>
              </a:ext>
            </a:extLst>
          </p:cNvPr>
          <p:cNvSpPr>
            <a:spLocks noGrp="1" noChangeArrowheads="1"/>
          </p:cNvSpPr>
          <p:nvPr>
            <p:ph type="body" idx="1"/>
          </p:nvPr>
        </p:nvSpPr>
        <p:spPr>
          <a:xfrm>
            <a:off x="1182688" y="2017713"/>
            <a:ext cx="7133728" cy="4114800"/>
          </a:xfrm>
        </p:spPr>
        <p:txBody>
          <a:bodyPr/>
          <a:lstStyle/>
          <a:p>
            <a:pPr eaLnBrk="1" hangingPunct="1"/>
            <a:r>
              <a:rPr lang="zh-CN" altLang="en-US" dirty="0"/>
              <a:t>关注的问题：</a:t>
            </a:r>
          </a:p>
          <a:p>
            <a:pPr eaLnBrk="1" hangingPunct="1">
              <a:buFont typeface="Wingdings" panose="05000000000000000000" pitchFamily="2" charset="2"/>
              <a:buNone/>
            </a:pPr>
            <a:endParaRPr lang="zh-CN" altLang="en-US" dirty="0"/>
          </a:p>
          <a:p>
            <a:pPr marL="0" indent="0" eaLnBrk="1" hangingPunct="1">
              <a:buNone/>
            </a:pPr>
            <a:r>
              <a:rPr lang="en-US" altLang="zh-CN" dirty="0"/>
              <a:t>G-S</a:t>
            </a:r>
            <a:r>
              <a:rPr lang="zh-CN" altLang="en-US" dirty="0"/>
              <a:t>算法的执行步骤与自由的男人的选择有关，如果</a:t>
            </a:r>
            <a:r>
              <a:rPr lang="zh-CN" altLang="en-US" b="1" dirty="0"/>
              <a:t>选择不同</a:t>
            </a:r>
            <a:r>
              <a:rPr lang="zh-CN" altLang="en-US" dirty="0"/>
              <a:t>，那么</a:t>
            </a:r>
            <a:r>
              <a:rPr lang="en-US" altLang="zh-CN" dirty="0"/>
              <a:t>G-S</a:t>
            </a:r>
            <a:r>
              <a:rPr lang="zh-CN" altLang="en-US" dirty="0"/>
              <a:t>算法所有的执行会得到同样的匹配吗？</a:t>
            </a:r>
          </a:p>
          <a:p>
            <a:pPr eaLnBrk="1" hangingPunct="1"/>
            <a:endParaRPr lang="zh-CN" altLang="en-US" dirty="0"/>
          </a:p>
        </p:txBody>
      </p:sp>
      <p:sp>
        <p:nvSpPr>
          <p:cNvPr id="3" name="文本框 2">
            <a:extLst>
              <a:ext uri="{FF2B5EF4-FFF2-40B4-BE49-F238E27FC236}">
                <a16:creationId xmlns:a16="http://schemas.microsoft.com/office/drawing/2014/main" id="{AD20E042-A65F-6AA6-BBCB-DDD7F8823747}"/>
              </a:ext>
            </a:extLst>
          </p:cNvPr>
          <p:cNvSpPr txBox="1"/>
          <p:nvPr/>
        </p:nvSpPr>
        <p:spPr>
          <a:xfrm>
            <a:off x="1727684" y="5013176"/>
            <a:ext cx="5688632" cy="535531"/>
          </a:xfrm>
          <a:prstGeom prst="rect">
            <a:avLst/>
          </a:prstGeom>
          <a:noFill/>
        </p:spPr>
        <p:txBody>
          <a:bodyPr wrap="square">
            <a:spAutoFit/>
          </a:bodyPr>
          <a:lstStyle/>
          <a:p>
            <a:pPr eaLnBrk="1" hangingPunct="1">
              <a:lnSpc>
                <a:spcPct val="90000"/>
              </a:lnSpc>
            </a:pPr>
            <a:r>
              <a:rPr lang="zh-CN" altLang="en-US" sz="3200" dirty="0">
                <a:solidFill>
                  <a:srgbClr val="FF0000"/>
                </a:solidFill>
              </a:rPr>
              <a:t>所有的执行得到</a:t>
            </a:r>
            <a:r>
              <a:rPr lang="zh-CN" altLang="en-US" sz="3200" b="1" dirty="0">
                <a:solidFill>
                  <a:srgbClr val="FF0000"/>
                </a:solidFill>
              </a:rPr>
              <a:t>同样的匹配</a:t>
            </a:r>
            <a:r>
              <a:rPr lang="zh-CN" altLang="en-US" sz="3200"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A5FEB18-8917-44C3-BE40-E7A77D6B1554}"/>
              </a:ext>
            </a:extLst>
          </p:cNvPr>
          <p:cNvSpPr>
            <a:spLocks noGrp="1"/>
          </p:cNvSpPr>
          <p:nvPr>
            <p:ph type="sldNum" sz="quarter" idx="12"/>
          </p:nvPr>
        </p:nvSpPr>
        <p:spPr/>
        <p:txBody>
          <a:bodyPr/>
          <a:lstStyle/>
          <a:p>
            <a:pPr>
              <a:defRPr/>
            </a:pPr>
            <a:fld id="{98B32A05-00A8-4EBF-896E-978DD112BFDB}" type="slidenum">
              <a:rPr lang="zh-CN" altLang="en-US"/>
              <a:pPr>
                <a:defRPr/>
              </a:pPr>
              <a:t>51</a:t>
            </a:fld>
            <a:endParaRPr lang="en-US" altLang="zh-CN"/>
          </a:p>
        </p:txBody>
      </p:sp>
      <p:sp>
        <p:nvSpPr>
          <p:cNvPr id="44035" name="Rectangle 2">
            <a:extLst>
              <a:ext uri="{FF2B5EF4-FFF2-40B4-BE49-F238E27FC236}">
                <a16:creationId xmlns:a16="http://schemas.microsoft.com/office/drawing/2014/main" id="{117F604E-BB32-4D37-B26C-FCD50C5FA968}"/>
              </a:ext>
            </a:extLst>
          </p:cNvPr>
          <p:cNvSpPr>
            <a:spLocks noGrp="1" noChangeArrowheads="1"/>
          </p:cNvSpPr>
          <p:nvPr>
            <p:ph type="title"/>
          </p:nvPr>
        </p:nvSpPr>
        <p:spPr/>
        <p:txBody>
          <a:bodyPr/>
          <a:lstStyle/>
          <a:p>
            <a:pPr eaLnBrk="1" hangingPunct="1"/>
            <a:r>
              <a:rPr lang="zh-CN" altLang="en-US"/>
              <a:t>推广</a:t>
            </a:r>
          </a:p>
        </p:txBody>
      </p:sp>
      <p:sp>
        <p:nvSpPr>
          <p:cNvPr id="2" name="Rectangle 3">
            <a:extLst>
              <a:ext uri="{FF2B5EF4-FFF2-40B4-BE49-F238E27FC236}">
                <a16:creationId xmlns:a16="http://schemas.microsoft.com/office/drawing/2014/main" id="{A3E7E8E9-4B70-410F-9470-DE51C2F86D07}"/>
              </a:ext>
            </a:extLst>
          </p:cNvPr>
          <p:cNvSpPr>
            <a:spLocks noGrp="1" noChangeArrowheads="1"/>
          </p:cNvSpPr>
          <p:nvPr>
            <p:ph type="body" idx="1"/>
          </p:nvPr>
        </p:nvSpPr>
        <p:spPr>
          <a:xfrm>
            <a:off x="200398" y="2112082"/>
            <a:ext cx="8712968" cy="4114800"/>
          </a:xfrm>
        </p:spPr>
        <p:txBody>
          <a:bodyPr/>
          <a:lstStyle/>
          <a:p>
            <a:pPr marL="0" indent="0" eaLnBrk="1" hangingPunct="1">
              <a:lnSpc>
                <a:spcPct val="90000"/>
              </a:lnSpc>
              <a:buNone/>
            </a:pPr>
            <a:r>
              <a:rPr lang="zh-CN" altLang="en-US" i="1" dirty="0"/>
              <a:t>证明：</a:t>
            </a:r>
            <a:endParaRPr lang="en-US" altLang="zh-CN" i="1" dirty="0"/>
          </a:p>
          <a:p>
            <a:pPr algn="just" eaLnBrk="1" hangingPunct="1">
              <a:lnSpc>
                <a:spcPct val="120000"/>
              </a:lnSpc>
            </a:pPr>
            <a:r>
              <a:rPr lang="zh-CN" altLang="en-US" sz="2800" dirty="0"/>
              <a:t>寻找匹配的唯一特征（每个男人将拥有具体意义下的</a:t>
            </a:r>
            <a:r>
              <a:rPr lang="zh-CN" altLang="en-US" sz="2800" dirty="0">
                <a:solidFill>
                  <a:srgbClr val="FF0000"/>
                </a:solidFill>
              </a:rPr>
              <a:t>最佳伴侣</a:t>
            </a:r>
            <a:r>
              <a:rPr lang="zh-CN" altLang="en-US" sz="2800" dirty="0"/>
              <a:t>来结束），证明所有的执行将导致具有这个特征的匹配。</a:t>
            </a:r>
          </a:p>
          <a:p>
            <a:pPr eaLnBrk="1" hangingPunct="1">
              <a:lnSpc>
                <a:spcPct val="120000"/>
              </a:lnSpc>
            </a:pPr>
            <a:r>
              <a:rPr lang="zh-CN" altLang="en-US" sz="2800" dirty="0"/>
              <a:t>如果存在一个</a:t>
            </a:r>
            <a:r>
              <a:rPr lang="zh-CN" altLang="en-US" sz="2800" b="1" dirty="0"/>
              <a:t>稳定匹配</a:t>
            </a:r>
            <a:r>
              <a:rPr lang="zh-CN" altLang="en-US" sz="2800" dirty="0"/>
              <a:t>包含了(</a:t>
            </a:r>
            <a:r>
              <a:rPr lang="en-US" altLang="zh-CN" sz="2800" dirty="0" err="1"/>
              <a:t>m,w</a:t>
            </a:r>
            <a:r>
              <a:rPr lang="en-US" altLang="zh-CN" sz="2800" dirty="0"/>
              <a:t>)</a:t>
            </a:r>
            <a:r>
              <a:rPr lang="zh-CN" altLang="en-US" sz="2800" dirty="0"/>
              <a:t>对，我们就说女人</a:t>
            </a:r>
            <a:r>
              <a:rPr lang="en-US" altLang="zh-CN" sz="2800" dirty="0"/>
              <a:t>w</a:t>
            </a:r>
            <a:r>
              <a:rPr lang="zh-CN" altLang="en-US" sz="2800" dirty="0"/>
              <a:t>是男人</a:t>
            </a:r>
            <a:r>
              <a:rPr lang="en-US" altLang="zh-CN" sz="2800" dirty="0"/>
              <a:t>m</a:t>
            </a:r>
            <a:r>
              <a:rPr lang="zh-CN" altLang="en-US" sz="2800" dirty="0"/>
              <a:t>的</a:t>
            </a:r>
            <a:r>
              <a:rPr lang="zh-CN" altLang="en-US" sz="2800" dirty="0">
                <a:solidFill>
                  <a:schemeClr val="hlink"/>
                </a:solidFill>
              </a:rPr>
              <a:t>有效伴侣</a:t>
            </a:r>
            <a:r>
              <a:rPr lang="zh-CN" altLang="en-US" sz="2800" dirty="0"/>
              <a:t>。如果</a:t>
            </a:r>
            <a:r>
              <a:rPr lang="en-US" altLang="zh-CN" sz="2800" dirty="0"/>
              <a:t>w</a:t>
            </a:r>
            <a:r>
              <a:rPr lang="zh-CN" altLang="en-US" sz="2800" dirty="0"/>
              <a:t>是</a:t>
            </a:r>
            <a:r>
              <a:rPr lang="en-US" altLang="zh-CN" sz="2800" dirty="0"/>
              <a:t>m</a:t>
            </a:r>
            <a:r>
              <a:rPr lang="zh-CN" altLang="en-US" sz="2800" dirty="0"/>
              <a:t>的有效伴侣，且没有别的在</a:t>
            </a:r>
            <a:r>
              <a:rPr lang="en-US" altLang="zh-CN" sz="2800" dirty="0"/>
              <a:t>m</a:t>
            </a:r>
            <a:r>
              <a:rPr lang="zh-CN" altLang="en-US" sz="2800" dirty="0"/>
              <a:t>的排名中比</a:t>
            </a:r>
            <a:r>
              <a:rPr lang="en-US" altLang="zh-CN" sz="2800" dirty="0"/>
              <a:t>w</a:t>
            </a:r>
            <a:r>
              <a:rPr lang="zh-CN" altLang="en-US" sz="2800" dirty="0"/>
              <a:t>更高的女人是他的有效伴侣，那么</a:t>
            </a:r>
            <a:r>
              <a:rPr lang="en-US" altLang="zh-CN" sz="2800" dirty="0"/>
              <a:t>w</a:t>
            </a:r>
            <a:r>
              <a:rPr lang="zh-CN" altLang="en-US" sz="2800" dirty="0"/>
              <a:t>就是</a:t>
            </a:r>
            <a:r>
              <a:rPr lang="en-US" altLang="zh-CN" sz="2800" dirty="0"/>
              <a:t>m</a:t>
            </a:r>
            <a:r>
              <a:rPr lang="zh-CN" altLang="en-US" sz="2800" dirty="0"/>
              <a:t>的</a:t>
            </a:r>
            <a:r>
              <a:rPr lang="zh-CN" altLang="en-US" sz="2800" dirty="0">
                <a:solidFill>
                  <a:schemeClr val="hlink"/>
                </a:solidFill>
              </a:rPr>
              <a:t>最佳有效伴侣</a:t>
            </a:r>
            <a:r>
              <a:rPr lang="zh-CN" altLang="en-US" sz="2800" dirty="0"/>
              <a:t>，记为</a:t>
            </a:r>
            <a:r>
              <a:rPr lang="en-US" altLang="zh-CN" sz="2800" dirty="0"/>
              <a:t>best(m)。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15A80F3F-DC42-4096-B326-14501B535DEA}"/>
              </a:ext>
            </a:extLst>
          </p:cNvPr>
          <p:cNvSpPr>
            <a:spLocks noGrp="1"/>
          </p:cNvSpPr>
          <p:nvPr>
            <p:ph type="sldNum" sz="quarter" idx="12"/>
          </p:nvPr>
        </p:nvSpPr>
        <p:spPr/>
        <p:txBody>
          <a:bodyPr/>
          <a:lstStyle/>
          <a:p>
            <a:pPr>
              <a:defRPr/>
            </a:pPr>
            <a:fld id="{15943D05-FA65-42B7-ACD6-9027A5985D25}" type="slidenum">
              <a:rPr lang="zh-CN" altLang="en-US"/>
              <a:pPr>
                <a:defRPr/>
              </a:pPr>
              <a:t>52</a:t>
            </a:fld>
            <a:endParaRPr lang="en-US" altLang="zh-CN"/>
          </a:p>
        </p:txBody>
      </p:sp>
      <p:sp>
        <p:nvSpPr>
          <p:cNvPr id="45059" name="Rectangle 2">
            <a:extLst>
              <a:ext uri="{FF2B5EF4-FFF2-40B4-BE49-F238E27FC236}">
                <a16:creationId xmlns:a16="http://schemas.microsoft.com/office/drawing/2014/main" id="{88862C28-98B0-49A2-BF23-09E9FE8879DC}"/>
              </a:ext>
            </a:extLst>
          </p:cNvPr>
          <p:cNvSpPr>
            <a:spLocks noGrp="1" noChangeArrowheads="1"/>
          </p:cNvSpPr>
          <p:nvPr>
            <p:ph type="title"/>
          </p:nvPr>
        </p:nvSpPr>
        <p:spPr/>
        <p:txBody>
          <a:bodyPr/>
          <a:lstStyle/>
          <a:p>
            <a:pPr eaLnBrk="1" hangingPunct="1"/>
            <a:r>
              <a:rPr lang="zh-CN" altLang="en-US"/>
              <a:t>推广</a:t>
            </a:r>
          </a:p>
        </p:txBody>
      </p:sp>
      <p:sp>
        <p:nvSpPr>
          <p:cNvPr id="45060" name="Rectangle 3">
            <a:extLst>
              <a:ext uri="{FF2B5EF4-FFF2-40B4-BE49-F238E27FC236}">
                <a16:creationId xmlns:a16="http://schemas.microsoft.com/office/drawing/2014/main" id="{8B3E0580-94FC-49CD-B148-EF1D27039E3E}"/>
              </a:ext>
            </a:extLst>
          </p:cNvPr>
          <p:cNvSpPr>
            <a:spLocks noGrp="1" noChangeArrowheads="1"/>
          </p:cNvSpPr>
          <p:nvPr>
            <p:ph type="body" idx="1"/>
          </p:nvPr>
        </p:nvSpPr>
        <p:spPr>
          <a:xfrm>
            <a:off x="685800" y="2323356"/>
            <a:ext cx="7772400" cy="4114800"/>
          </a:xfrm>
        </p:spPr>
        <p:txBody>
          <a:bodyPr/>
          <a:lstStyle/>
          <a:p>
            <a:pPr eaLnBrk="1" hangingPunct="1"/>
            <a:r>
              <a:rPr lang="zh-CN" altLang="en-US" dirty="0"/>
              <a:t>定义</a:t>
            </a:r>
            <a:r>
              <a:rPr lang="en-US" altLang="zh-CN" dirty="0"/>
              <a:t>S*={</a:t>
            </a:r>
            <a:r>
              <a:rPr lang="en-US" altLang="zh-CN" dirty="0" err="1"/>
              <a:t>m,best</a:t>
            </a:r>
            <a:r>
              <a:rPr lang="en-US" altLang="zh-CN" dirty="0"/>
              <a:t>(m): m  </a:t>
            </a:r>
            <a:r>
              <a:rPr lang="en-US" altLang="zh-CN" dirty="0">
                <a:cs typeface="Tahoma" panose="020B0604030504040204" pitchFamily="34" charset="0"/>
              </a:rPr>
              <a:t> M</a:t>
            </a:r>
            <a:r>
              <a:rPr lang="en-US" altLang="zh-CN" dirty="0"/>
              <a:t>}</a:t>
            </a:r>
          </a:p>
          <a:p>
            <a:pPr eaLnBrk="1" hangingPunct="1"/>
            <a:endParaRPr lang="en-US" altLang="zh-CN" dirty="0"/>
          </a:p>
          <a:p>
            <a:pPr eaLnBrk="1" hangingPunct="1"/>
            <a:r>
              <a:rPr lang="zh-CN" altLang="en-US" dirty="0"/>
              <a:t>命题7 </a:t>
            </a:r>
            <a:r>
              <a:rPr lang="en-US" altLang="zh-CN" dirty="0"/>
              <a:t>G-S</a:t>
            </a:r>
            <a:r>
              <a:rPr lang="zh-CN" altLang="en-US" dirty="0"/>
              <a:t>算法的每次执行都得到集合</a:t>
            </a:r>
            <a:r>
              <a:rPr lang="en-US" altLang="zh-CN" dirty="0"/>
              <a:t>S*</a:t>
            </a:r>
          </a:p>
          <a:p>
            <a:pPr eaLnBrk="1" hangingPunct="1"/>
            <a:endParaRPr lang="en-US" altLang="zh-CN" dirty="0"/>
          </a:p>
        </p:txBody>
      </p:sp>
      <p:graphicFrame>
        <p:nvGraphicFramePr>
          <p:cNvPr id="45061" name="Object 4">
            <a:extLst>
              <a:ext uri="{FF2B5EF4-FFF2-40B4-BE49-F238E27FC236}">
                <a16:creationId xmlns:a16="http://schemas.microsoft.com/office/drawing/2014/main" id="{02DEADC8-42A4-4239-A9B2-DB8847D38B5F}"/>
              </a:ext>
            </a:extLst>
          </p:cNvPr>
          <p:cNvGraphicFramePr>
            <a:graphicFrameLocks noChangeAspect="1"/>
          </p:cNvGraphicFramePr>
          <p:nvPr>
            <p:extLst>
              <p:ext uri="{D42A27DB-BD31-4B8C-83A1-F6EECF244321}">
                <p14:modId xmlns:p14="http://schemas.microsoft.com/office/powerpoint/2010/main" val="748150158"/>
              </p:ext>
            </p:extLst>
          </p:nvPr>
        </p:nvGraphicFramePr>
        <p:xfrm>
          <a:off x="5364088" y="2420888"/>
          <a:ext cx="381000" cy="381000"/>
        </p:xfrm>
        <a:graphic>
          <a:graphicData uri="http://schemas.openxmlformats.org/presentationml/2006/ole">
            <mc:AlternateContent xmlns:mc="http://schemas.openxmlformats.org/markup-compatibility/2006">
              <mc:Choice xmlns:v="urn:schemas-microsoft-com:vml" Requires="v">
                <p:oleObj name="Equation" r:id="rId3" imgW="126725" imgH="126725" progId="Equation.3">
                  <p:embed/>
                </p:oleObj>
              </mc:Choice>
              <mc:Fallback>
                <p:oleObj name="Equation" r:id="rId3" imgW="126725" imgH="12672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2420888"/>
                        <a:ext cx="381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60CCE-3895-A8E8-8D01-F97DC996F76F}"/>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044A2283-AA2E-42E4-AE8F-E9E6CE3B652A}"/>
              </a:ext>
            </a:extLst>
          </p:cNvPr>
          <p:cNvSpPr>
            <a:spLocks noGrp="1"/>
          </p:cNvSpPr>
          <p:nvPr>
            <p:ph type="sldNum" sz="quarter" idx="12"/>
          </p:nvPr>
        </p:nvSpPr>
        <p:spPr/>
        <p:txBody>
          <a:bodyPr/>
          <a:lstStyle/>
          <a:p>
            <a:pPr>
              <a:defRPr/>
            </a:pPr>
            <a:fld id="{15943D05-FA65-42B7-ACD6-9027A5985D25}" type="slidenum">
              <a:rPr lang="zh-CN" altLang="en-US"/>
              <a:pPr>
                <a:defRPr/>
              </a:pPr>
              <a:t>53</a:t>
            </a:fld>
            <a:endParaRPr lang="en-US" altLang="zh-CN"/>
          </a:p>
        </p:txBody>
      </p:sp>
      <p:sp>
        <p:nvSpPr>
          <p:cNvPr id="45059" name="Rectangle 2">
            <a:extLst>
              <a:ext uri="{FF2B5EF4-FFF2-40B4-BE49-F238E27FC236}">
                <a16:creationId xmlns:a16="http://schemas.microsoft.com/office/drawing/2014/main" id="{7D0ACA21-96DD-9B88-3A1D-0610BEDE71E2}"/>
              </a:ext>
            </a:extLst>
          </p:cNvPr>
          <p:cNvSpPr>
            <a:spLocks noGrp="1" noChangeArrowheads="1"/>
          </p:cNvSpPr>
          <p:nvPr>
            <p:ph type="title"/>
          </p:nvPr>
        </p:nvSpPr>
        <p:spPr/>
        <p:txBody>
          <a:bodyPr/>
          <a:lstStyle/>
          <a:p>
            <a:pPr eaLnBrk="1" hangingPunct="1"/>
            <a:r>
              <a:rPr lang="zh-CN" altLang="en-US"/>
              <a:t>推广</a:t>
            </a:r>
          </a:p>
        </p:txBody>
      </p:sp>
      <p:sp>
        <p:nvSpPr>
          <p:cNvPr id="45060" name="Rectangle 3">
            <a:extLst>
              <a:ext uri="{FF2B5EF4-FFF2-40B4-BE49-F238E27FC236}">
                <a16:creationId xmlns:a16="http://schemas.microsoft.com/office/drawing/2014/main" id="{A572D211-728C-953F-3DAC-8BCDD4F49A07}"/>
              </a:ext>
            </a:extLst>
          </p:cNvPr>
          <p:cNvSpPr>
            <a:spLocks noGrp="1" noChangeArrowheads="1"/>
          </p:cNvSpPr>
          <p:nvPr>
            <p:ph type="body" idx="1"/>
          </p:nvPr>
        </p:nvSpPr>
        <p:spPr>
          <a:xfrm>
            <a:off x="467544" y="1985168"/>
            <a:ext cx="8476431" cy="4612183"/>
          </a:xfrm>
        </p:spPr>
        <p:txBody>
          <a:bodyPr/>
          <a:lstStyle/>
          <a:p>
            <a:pPr marL="0" indent="0">
              <a:buNone/>
            </a:pPr>
            <a:r>
              <a:rPr lang="zh-CN" altLang="en-US" sz="3000" dirty="0"/>
              <a:t>证明：使用反证法</a:t>
            </a:r>
            <a:r>
              <a:rPr lang="en-US" altLang="zh-CN" sz="3000" dirty="0"/>
              <a:t>.</a:t>
            </a:r>
          </a:p>
          <a:p>
            <a:pPr algn="just">
              <a:lnSpc>
                <a:spcPct val="120000"/>
              </a:lnSpc>
            </a:pPr>
            <a:r>
              <a:rPr lang="zh-CN" altLang="en-US" sz="3000" dirty="0"/>
              <a:t>假设</a:t>
            </a:r>
            <a:r>
              <a:rPr lang="en-US" altLang="zh-CN" sz="3000" dirty="0"/>
              <a:t>G-S</a:t>
            </a:r>
            <a:r>
              <a:rPr lang="zh-CN" altLang="en-US" sz="3000" dirty="0"/>
              <a:t>算法的某次执行</a:t>
            </a:r>
            <a:r>
              <a:rPr lang="en-US" altLang="zh-CN" sz="2800" dirty="0"/>
              <a:t>ε</a:t>
            </a:r>
            <a:r>
              <a:rPr lang="zh-CN" altLang="en-US" sz="3000" dirty="0"/>
              <a:t>得到了匹配</a:t>
            </a:r>
            <a:r>
              <a:rPr lang="en-US" altLang="zh-CN" sz="3000" dirty="0"/>
              <a:t>S,</a:t>
            </a:r>
            <a:r>
              <a:rPr lang="zh-CN" altLang="en-US" sz="3000" dirty="0"/>
              <a:t>其中某个男人与一个不是他最佳有效伴侣的女人配对。</a:t>
            </a:r>
            <a:endParaRPr lang="en-US" altLang="zh-CN" sz="3000" dirty="0"/>
          </a:p>
          <a:p>
            <a:pPr algn="just">
              <a:lnSpc>
                <a:spcPct val="120000"/>
              </a:lnSpc>
            </a:pPr>
            <a:r>
              <a:rPr lang="zh-CN" altLang="en-US" sz="3000" dirty="0"/>
              <a:t>因为男人求婚依照优先的递减次序</a:t>
            </a:r>
            <a:r>
              <a:rPr lang="en-US" altLang="zh-CN" sz="3000" dirty="0"/>
              <a:t>,</a:t>
            </a:r>
            <a:r>
              <a:rPr lang="zh-CN" altLang="en-US" sz="3000" dirty="0"/>
              <a:t>这就意味着在算法的执行期间</a:t>
            </a:r>
            <a:r>
              <a:rPr lang="en-US" altLang="zh-CN" sz="3000" dirty="0"/>
              <a:t>,</a:t>
            </a:r>
            <a:r>
              <a:rPr lang="zh-CN" altLang="en-US" sz="3000" dirty="0">
                <a:solidFill>
                  <a:srgbClr val="FF0000"/>
                </a:solidFill>
              </a:rPr>
              <a:t>某个男人被一个有效伴侣拒绝过</a:t>
            </a:r>
            <a:r>
              <a:rPr lang="zh-CN" altLang="en-US" sz="3000" dirty="0"/>
              <a:t>。如</a:t>
            </a:r>
            <a:r>
              <a:rPr lang="en-US" altLang="zh-CN" sz="3000" dirty="0"/>
              <a:t>: m</a:t>
            </a:r>
            <a:r>
              <a:rPr lang="zh-CN" altLang="en-US" sz="3000" dirty="0"/>
              <a:t>被一个有效伴侣</a:t>
            </a:r>
            <a:r>
              <a:rPr lang="en-US" altLang="zh-CN" sz="3000" dirty="0"/>
              <a:t>w</a:t>
            </a:r>
            <a:r>
              <a:rPr lang="zh-CN" altLang="en-US" sz="3000" dirty="0"/>
              <a:t>拒绝</a:t>
            </a:r>
            <a:r>
              <a:rPr lang="en-US" altLang="zh-CN" sz="3000" dirty="0"/>
              <a:t>,</a:t>
            </a:r>
            <a:r>
              <a:rPr lang="zh-CN" altLang="en-US" sz="3000" dirty="0"/>
              <a:t>因为男人求婚依照优先的递减次序</a:t>
            </a:r>
            <a:r>
              <a:rPr lang="en-US" altLang="zh-CN" sz="3000" dirty="0"/>
              <a:t>,</a:t>
            </a:r>
            <a:r>
              <a:rPr lang="zh-CN" altLang="en-US" sz="3000" dirty="0"/>
              <a:t>这是第一次发生这样的拒绝</a:t>
            </a:r>
            <a:r>
              <a:rPr lang="en-US" altLang="zh-CN" sz="3000" dirty="0"/>
              <a:t>,w</a:t>
            </a:r>
            <a:r>
              <a:rPr lang="zh-CN" altLang="en-US" sz="3000" dirty="0"/>
              <a:t>一定是</a:t>
            </a:r>
            <a:r>
              <a:rPr lang="en-US" altLang="zh-CN" sz="3000" dirty="0"/>
              <a:t>m</a:t>
            </a:r>
            <a:r>
              <a:rPr lang="zh-CN" altLang="en-US" sz="3000" dirty="0"/>
              <a:t>的最佳有效伴侣</a:t>
            </a:r>
            <a:r>
              <a:rPr lang="en-US" altLang="zh-CN" sz="3000" dirty="0"/>
              <a:t>best(m).</a:t>
            </a:r>
            <a:endParaRPr lang="zh-CN" altLang="en-US" sz="3000" dirty="0"/>
          </a:p>
          <a:p>
            <a:pPr eaLnBrk="1" hangingPunct="1"/>
            <a:endParaRPr lang="en-US" altLang="zh-CN" sz="3000" dirty="0"/>
          </a:p>
        </p:txBody>
      </p:sp>
      <p:sp>
        <p:nvSpPr>
          <p:cNvPr id="3" name="文本框 2">
            <a:extLst>
              <a:ext uri="{FF2B5EF4-FFF2-40B4-BE49-F238E27FC236}">
                <a16:creationId xmlns:a16="http://schemas.microsoft.com/office/drawing/2014/main" id="{55AC1BAA-B6E7-BABE-C7EC-969C1DE9D2DE}"/>
              </a:ext>
            </a:extLst>
          </p:cNvPr>
          <p:cNvSpPr txBox="1"/>
          <p:nvPr/>
        </p:nvSpPr>
        <p:spPr>
          <a:xfrm>
            <a:off x="2089403" y="263595"/>
            <a:ext cx="6604223" cy="707886"/>
          </a:xfrm>
          <a:prstGeom prst="rect">
            <a:avLst/>
          </a:prstGeom>
          <a:noFill/>
        </p:spPr>
        <p:txBody>
          <a:bodyPr wrap="square">
            <a:spAutoFit/>
          </a:bodyPr>
          <a:lstStyle/>
          <a:p>
            <a:pPr algn="just"/>
            <a:r>
              <a:rPr lang="zh-CN" altLang="en-US" sz="2000" dirty="0">
                <a:solidFill>
                  <a:schemeClr val="tx1"/>
                </a:solidFill>
              </a:rPr>
              <a:t>如果</a:t>
            </a:r>
            <a:r>
              <a:rPr lang="en-US" altLang="zh-CN" sz="2000" dirty="0">
                <a:solidFill>
                  <a:schemeClr val="tx1"/>
                </a:solidFill>
              </a:rPr>
              <a:t>w</a:t>
            </a:r>
            <a:r>
              <a:rPr lang="zh-CN" altLang="en-US" sz="2000" dirty="0">
                <a:solidFill>
                  <a:schemeClr val="tx1"/>
                </a:solidFill>
              </a:rPr>
              <a:t>是</a:t>
            </a:r>
            <a:r>
              <a:rPr lang="en-US" altLang="zh-CN" sz="2000" dirty="0">
                <a:solidFill>
                  <a:schemeClr val="tx1"/>
                </a:solidFill>
              </a:rPr>
              <a:t>m</a:t>
            </a:r>
            <a:r>
              <a:rPr lang="zh-CN" altLang="en-US" sz="2000" dirty="0">
                <a:solidFill>
                  <a:schemeClr val="tx1"/>
                </a:solidFill>
              </a:rPr>
              <a:t>的有效伴侣，且没有别的在</a:t>
            </a:r>
            <a:r>
              <a:rPr lang="en-US" altLang="zh-CN" sz="2000" dirty="0">
                <a:solidFill>
                  <a:schemeClr val="tx1"/>
                </a:solidFill>
              </a:rPr>
              <a:t>m</a:t>
            </a:r>
            <a:r>
              <a:rPr lang="zh-CN" altLang="en-US" sz="2000" dirty="0">
                <a:solidFill>
                  <a:schemeClr val="tx1"/>
                </a:solidFill>
              </a:rPr>
              <a:t>的排名中比</a:t>
            </a:r>
            <a:r>
              <a:rPr lang="en-US" altLang="zh-CN" sz="2000" dirty="0">
                <a:solidFill>
                  <a:schemeClr val="tx1"/>
                </a:solidFill>
              </a:rPr>
              <a:t>w</a:t>
            </a:r>
            <a:r>
              <a:rPr lang="zh-CN" altLang="en-US" sz="2000" dirty="0">
                <a:solidFill>
                  <a:schemeClr val="tx1"/>
                </a:solidFill>
              </a:rPr>
              <a:t>更高的女人是他的有效伴侣，那么</a:t>
            </a:r>
            <a:r>
              <a:rPr lang="en-US" altLang="zh-CN" sz="2000" dirty="0">
                <a:solidFill>
                  <a:schemeClr val="tx1"/>
                </a:solidFill>
              </a:rPr>
              <a:t>w</a:t>
            </a:r>
            <a:r>
              <a:rPr lang="zh-CN" altLang="en-US" sz="2000" dirty="0">
                <a:solidFill>
                  <a:schemeClr val="tx1"/>
                </a:solidFill>
              </a:rPr>
              <a:t>就是</a:t>
            </a:r>
            <a:r>
              <a:rPr lang="en-US" altLang="zh-CN" sz="2000" dirty="0">
                <a:solidFill>
                  <a:schemeClr val="tx1"/>
                </a:solidFill>
              </a:rPr>
              <a:t>m</a:t>
            </a:r>
            <a:r>
              <a:rPr lang="zh-CN" altLang="en-US" sz="2000" dirty="0">
                <a:solidFill>
                  <a:schemeClr val="tx1"/>
                </a:solidFill>
              </a:rPr>
              <a:t>的</a:t>
            </a:r>
            <a:r>
              <a:rPr lang="zh-CN" altLang="en-US" sz="2000" dirty="0">
                <a:solidFill>
                  <a:srgbClr val="FF0000"/>
                </a:solidFill>
              </a:rPr>
              <a:t>最佳有效伴侣</a:t>
            </a:r>
          </a:p>
        </p:txBody>
      </p:sp>
    </p:spTree>
    <p:extLst>
      <p:ext uri="{BB962C8B-B14F-4D97-AF65-F5344CB8AC3E}">
        <p14:creationId xmlns:p14="http://schemas.microsoft.com/office/powerpoint/2010/main" val="2188880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0899A-5AB6-38F5-635C-E6C978AB3318}"/>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5F4E933-EB64-DFF1-67DF-E225CF1670A5}"/>
              </a:ext>
            </a:extLst>
          </p:cNvPr>
          <p:cNvSpPr>
            <a:spLocks noGrp="1"/>
          </p:cNvSpPr>
          <p:nvPr>
            <p:ph type="sldNum" sz="quarter" idx="12"/>
          </p:nvPr>
        </p:nvSpPr>
        <p:spPr/>
        <p:txBody>
          <a:bodyPr/>
          <a:lstStyle/>
          <a:p>
            <a:pPr>
              <a:defRPr/>
            </a:pPr>
            <a:fld id="{15943D05-FA65-42B7-ACD6-9027A5985D25}" type="slidenum">
              <a:rPr lang="zh-CN" altLang="en-US"/>
              <a:pPr>
                <a:defRPr/>
              </a:pPr>
              <a:t>54</a:t>
            </a:fld>
            <a:endParaRPr lang="en-US" altLang="zh-CN"/>
          </a:p>
        </p:txBody>
      </p:sp>
      <p:sp>
        <p:nvSpPr>
          <p:cNvPr id="45059" name="Rectangle 2">
            <a:extLst>
              <a:ext uri="{FF2B5EF4-FFF2-40B4-BE49-F238E27FC236}">
                <a16:creationId xmlns:a16="http://schemas.microsoft.com/office/drawing/2014/main" id="{D81DB4EF-E8F4-8AEC-1121-8310C2C17C02}"/>
              </a:ext>
            </a:extLst>
          </p:cNvPr>
          <p:cNvSpPr>
            <a:spLocks noGrp="1" noChangeArrowheads="1"/>
          </p:cNvSpPr>
          <p:nvPr>
            <p:ph type="title"/>
          </p:nvPr>
        </p:nvSpPr>
        <p:spPr/>
        <p:txBody>
          <a:bodyPr/>
          <a:lstStyle/>
          <a:p>
            <a:pPr eaLnBrk="1" hangingPunct="1"/>
            <a:r>
              <a:rPr lang="zh-CN" altLang="en-US"/>
              <a:t>推广</a:t>
            </a:r>
          </a:p>
        </p:txBody>
      </p:sp>
      <p:sp>
        <p:nvSpPr>
          <p:cNvPr id="45060" name="Rectangle 3">
            <a:extLst>
              <a:ext uri="{FF2B5EF4-FFF2-40B4-BE49-F238E27FC236}">
                <a16:creationId xmlns:a16="http://schemas.microsoft.com/office/drawing/2014/main" id="{AD578887-C631-0D7D-9899-2A14AEE14DA0}"/>
              </a:ext>
            </a:extLst>
          </p:cNvPr>
          <p:cNvSpPr>
            <a:spLocks noGrp="1" noChangeArrowheads="1"/>
          </p:cNvSpPr>
          <p:nvPr>
            <p:ph type="body" idx="1"/>
          </p:nvPr>
        </p:nvSpPr>
        <p:spPr>
          <a:xfrm>
            <a:off x="685800" y="1985169"/>
            <a:ext cx="7772400" cy="4114800"/>
          </a:xfrm>
        </p:spPr>
        <p:txBody>
          <a:bodyPr/>
          <a:lstStyle/>
          <a:p>
            <a:pPr algn="just" eaLnBrk="1" hangingPunct="1"/>
            <a:r>
              <a:rPr lang="en-US" altLang="zh-CN" dirty="0"/>
              <a:t>m</a:t>
            </a:r>
            <a:r>
              <a:rPr lang="zh-CN" altLang="en-US" dirty="0"/>
              <a:t>被</a:t>
            </a:r>
            <a:r>
              <a:rPr lang="en-US" altLang="zh-CN" dirty="0"/>
              <a:t>w</a:t>
            </a:r>
            <a:r>
              <a:rPr lang="zh-CN" altLang="en-US" dirty="0"/>
              <a:t>拒绝已经发生</a:t>
            </a:r>
            <a:r>
              <a:rPr lang="en-US" altLang="zh-CN" dirty="0"/>
              <a:t>,</a:t>
            </a:r>
            <a:r>
              <a:rPr lang="zh-CN" altLang="en-US" dirty="0"/>
              <a:t> </a:t>
            </a:r>
            <a:r>
              <a:rPr lang="en-US" altLang="zh-CN" dirty="0"/>
              <a:t>w</a:t>
            </a:r>
            <a:r>
              <a:rPr lang="zh-CN" altLang="en-US" dirty="0"/>
              <a:t>继续与她更青睐的一个男人</a:t>
            </a:r>
            <a:r>
              <a:rPr lang="en-US" altLang="zh-CN" dirty="0"/>
              <a:t>m’</a:t>
            </a:r>
            <a:r>
              <a:rPr lang="zh-CN" altLang="en-US" dirty="0"/>
              <a:t>的约会。</a:t>
            </a:r>
            <a:endParaRPr lang="en-US" altLang="zh-CN" dirty="0"/>
          </a:p>
          <a:p>
            <a:pPr algn="just" eaLnBrk="1" hangingPunct="1"/>
            <a:r>
              <a:rPr lang="zh-CN" altLang="en-US" dirty="0"/>
              <a:t>因为</a:t>
            </a:r>
            <a:r>
              <a:rPr lang="en-US" altLang="zh-CN" dirty="0"/>
              <a:t>w</a:t>
            </a:r>
            <a:r>
              <a:rPr lang="zh-CN" altLang="en-US" dirty="0"/>
              <a:t>是</a:t>
            </a:r>
            <a:r>
              <a:rPr lang="en-US" altLang="zh-CN" dirty="0"/>
              <a:t>m</a:t>
            </a:r>
            <a:r>
              <a:rPr lang="zh-CN" altLang="en-US" dirty="0"/>
              <a:t>的有效伴侣</a:t>
            </a:r>
            <a:r>
              <a:rPr lang="en-US" altLang="zh-CN" dirty="0"/>
              <a:t>,</a:t>
            </a:r>
            <a:r>
              <a:rPr lang="zh-CN" altLang="en-US" dirty="0"/>
              <a:t>存在一个包含</a:t>
            </a:r>
            <a:r>
              <a:rPr lang="en-US" altLang="zh-CN" dirty="0"/>
              <a:t>(</a:t>
            </a:r>
            <a:r>
              <a:rPr lang="en-US" altLang="zh-CN" dirty="0" err="1"/>
              <a:t>m,w</a:t>
            </a:r>
            <a:r>
              <a:rPr lang="en-US" altLang="zh-CN" dirty="0"/>
              <a:t>)</a:t>
            </a:r>
            <a:r>
              <a:rPr lang="zh-CN" altLang="en-US" dirty="0"/>
              <a:t>对的稳定匹配</a:t>
            </a:r>
            <a:r>
              <a:rPr lang="en-US" altLang="zh-CN" dirty="0"/>
              <a:t>S’</a:t>
            </a:r>
            <a:r>
              <a:rPr lang="zh-CN" altLang="en-US" dirty="0"/>
              <a:t>。</a:t>
            </a:r>
            <a:endParaRPr lang="en-US" altLang="zh-CN" dirty="0"/>
          </a:p>
          <a:p>
            <a:pPr algn="just" eaLnBrk="1" hangingPunct="1"/>
            <a:r>
              <a:rPr lang="zh-CN" altLang="en-US" dirty="0"/>
              <a:t>在这个匹配中</a:t>
            </a:r>
            <a:r>
              <a:rPr lang="en-US" altLang="zh-CN" dirty="0"/>
              <a:t>m’</a:t>
            </a:r>
            <a:r>
              <a:rPr lang="zh-CN" altLang="en-US" dirty="0"/>
              <a:t>与谁配对</a:t>
            </a:r>
            <a:r>
              <a:rPr lang="en-US" altLang="zh-CN" dirty="0"/>
              <a:t>?</a:t>
            </a:r>
            <a:r>
              <a:rPr lang="zh-CN" altLang="en-US" dirty="0"/>
              <a:t>假设是</a:t>
            </a:r>
            <a:r>
              <a:rPr lang="en-US" altLang="zh-CN" dirty="0"/>
              <a:t>w’</a:t>
            </a:r>
            <a:r>
              <a:rPr lang="zh-CN" altLang="en-US" dirty="0"/>
              <a:t>与</a:t>
            </a:r>
            <a:r>
              <a:rPr lang="en-US" altLang="zh-CN" dirty="0"/>
              <a:t>m’</a:t>
            </a:r>
            <a:r>
              <a:rPr lang="zh-CN" altLang="en-US" dirty="0"/>
              <a:t>配对（</a:t>
            </a:r>
            <a:r>
              <a:rPr lang="en-US" altLang="zh-CN" dirty="0" err="1"/>
              <a:t>w’≠w</a:t>
            </a:r>
            <a:r>
              <a:rPr lang="zh-CN" altLang="en-US" dirty="0"/>
              <a:t>）</a:t>
            </a:r>
            <a:r>
              <a:rPr lang="en-US" altLang="zh-CN" dirty="0"/>
              <a:t>.</a:t>
            </a:r>
          </a:p>
          <a:p>
            <a:pPr marL="0" indent="0" algn="just" eaLnBrk="1" hangingPunct="1">
              <a:buNone/>
            </a:pPr>
            <a:r>
              <a:rPr lang="en-US" altLang="zh-CN" dirty="0"/>
              <a:t>   m  w</a:t>
            </a:r>
          </a:p>
          <a:p>
            <a:pPr marL="0" indent="0" algn="just" eaLnBrk="1" hangingPunct="1">
              <a:buNone/>
            </a:pPr>
            <a:r>
              <a:rPr lang="en-US" altLang="zh-CN" dirty="0"/>
              <a:t>   m’  w’</a:t>
            </a:r>
          </a:p>
        </p:txBody>
      </p:sp>
    </p:spTree>
    <p:extLst>
      <p:ext uri="{BB962C8B-B14F-4D97-AF65-F5344CB8AC3E}">
        <p14:creationId xmlns:p14="http://schemas.microsoft.com/office/powerpoint/2010/main" val="1151684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F69F0-45CA-20FF-861F-9AFB5F5F9A16}"/>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FD36BDFC-1CFC-C1BF-9898-787C67362528}"/>
              </a:ext>
            </a:extLst>
          </p:cNvPr>
          <p:cNvSpPr>
            <a:spLocks noGrp="1"/>
          </p:cNvSpPr>
          <p:nvPr>
            <p:ph type="sldNum" sz="quarter" idx="12"/>
          </p:nvPr>
        </p:nvSpPr>
        <p:spPr/>
        <p:txBody>
          <a:bodyPr/>
          <a:lstStyle/>
          <a:p>
            <a:pPr>
              <a:defRPr/>
            </a:pPr>
            <a:fld id="{15943D05-FA65-42B7-ACD6-9027A5985D25}" type="slidenum">
              <a:rPr lang="zh-CN" altLang="en-US"/>
              <a:pPr>
                <a:defRPr/>
              </a:pPr>
              <a:t>55</a:t>
            </a:fld>
            <a:endParaRPr lang="en-US" altLang="zh-CN"/>
          </a:p>
        </p:txBody>
      </p:sp>
      <p:sp>
        <p:nvSpPr>
          <p:cNvPr id="45059" name="Rectangle 2">
            <a:extLst>
              <a:ext uri="{FF2B5EF4-FFF2-40B4-BE49-F238E27FC236}">
                <a16:creationId xmlns:a16="http://schemas.microsoft.com/office/drawing/2014/main" id="{C1F61AE6-5C31-56ED-35FC-ED9E56921EAE}"/>
              </a:ext>
            </a:extLst>
          </p:cNvPr>
          <p:cNvSpPr>
            <a:spLocks noGrp="1" noChangeArrowheads="1"/>
          </p:cNvSpPr>
          <p:nvPr>
            <p:ph type="title"/>
          </p:nvPr>
        </p:nvSpPr>
        <p:spPr/>
        <p:txBody>
          <a:bodyPr/>
          <a:lstStyle/>
          <a:p>
            <a:pPr eaLnBrk="1" hangingPunct="1"/>
            <a:r>
              <a:rPr lang="zh-CN" altLang="en-US"/>
              <a:t>推广</a:t>
            </a:r>
          </a:p>
        </p:txBody>
      </p:sp>
      <p:sp>
        <p:nvSpPr>
          <p:cNvPr id="45060" name="Rectangle 3">
            <a:extLst>
              <a:ext uri="{FF2B5EF4-FFF2-40B4-BE49-F238E27FC236}">
                <a16:creationId xmlns:a16="http://schemas.microsoft.com/office/drawing/2014/main" id="{BB21B04D-7583-1644-4E5D-2A0577707D3E}"/>
              </a:ext>
            </a:extLst>
          </p:cNvPr>
          <p:cNvSpPr>
            <a:spLocks noGrp="1" noChangeArrowheads="1"/>
          </p:cNvSpPr>
          <p:nvPr>
            <p:ph type="body" idx="1"/>
          </p:nvPr>
        </p:nvSpPr>
        <p:spPr>
          <a:xfrm>
            <a:off x="685800" y="1985169"/>
            <a:ext cx="7772400" cy="4114800"/>
          </a:xfrm>
        </p:spPr>
        <p:txBody>
          <a:bodyPr/>
          <a:lstStyle/>
          <a:p>
            <a:pPr algn="just" eaLnBrk="1" hangingPunct="1"/>
            <a:r>
              <a:rPr lang="zh-CN" altLang="en-US" dirty="0"/>
              <a:t>因为</a:t>
            </a:r>
            <a:r>
              <a:rPr lang="en-US" altLang="zh-CN" dirty="0"/>
              <a:t>m</a:t>
            </a:r>
            <a:r>
              <a:rPr lang="zh-CN" altLang="en-US" dirty="0"/>
              <a:t>被</a:t>
            </a:r>
            <a:r>
              <a:rPr lang="en-US" altLang="zh-CN" dirty="0"/>
              <a:t>w</a:t>
            </a:r>
            <a:r>
              <a:rPr lang="zh-CN" altLang="en-US" dirty="0"/>
              <a:t>拒绝是在</a:t>
            </a:r>
            <a:r>
              <a:rPr lang="en-US" altLang="zh-CN" dirty="0"/>
              <a:t>ε</a:t>
            </a:r>
            <a:r>
              <a:rPr lang="zh-CN" altLang="en-US" dirty="0"/>
              <a:t>执行中被一个有效伴侣的第一次拒绝</a:t>
            </a:r>
            <a:r>
              <a:rPr lang="en-US" altLang="zh-CN" dirty="0"/>
              <a:t>,</a:t>
            </a:r>
            <a:r>
              <a:rPr lang="zh-CN" altLang="en-US" dirty="0"/>
              <a:t> </a:t>
            </a:r>
            <a:r>
              <a:rPr lang="en-US" altLang="zh-CN" dirty="0"/>
              <a:t>m’</a:t>
            </a:r>
            <a:r>
              <a:rPr lang="zh-CN" altLang="en-US" dirty="0"/>
              <a:t>开始与</a:t>
            </a:r>
            <a:r>
              <a:rPr lang="en-US" altLang="zh-CN" dirty="0"/>
              <a:t>w</a:t>
            </a:r>
            <a:r>
              <a:rPr lang="zh-CN" altLang="en-US" dirty="0"/>
              <a:t>约会</a:t>
            </a:r>
            <a:r>
              <a:rPr lang="en-US" altLang="zh-CN" dirty="0"/>
              <a:t>,m’</a:t>
            </a:r>
            <a:r>
              <a:rPr lang="zh-CN" altLang="en-US" dirty="0"/>
              <a:t>一定还没有被任何有效伴侣拒绝过。</a:t>
            </a:r>
            <a:endParaRPr lang="en-US" altLang="zh-CN" dirty="0"/>
          </a:p>
          <a:p>
            <a:pPr algn="just" eaLnBrk="1" hangingPunct="1"/>
            <a:r>
              <a:rPr lang="zh-CN" altLang="en-US" dirty="0"/>
              <a:t>由于</a:t>
            </a:r>
            <a:r>
              <a:rPr lang="en-US" altLang="zh-CN" dirty="0"/>
              <a:t>m’</a:t>
            </a:r>
            <a:r>
              <a:rPr lang="zh-CN" altLang="en-US" dirty="0"/>
              <a:t>求婚依照优先表的递减顺序进行</a:t>
            </a:r>
            <a:r>
              <a:rPr lang="en-US" altLang="zh-CN" dirty="0"/>
              <a:t>,w’</a:t>
            </a:r>
            <a:r>
              <a:rPr lang="zh-CN" altLang="en-US" dirty="0"/>
              <a:t>是</a:t>
            </a:r>
            <a:r>
              <a:rPr lang="en-US" altLang="zh-CN" dirty="0"/>
              <a:t>m’</a:t>
            </a:r>
            <a:r>
              <a:rPr lang="zh-CN" altLang="en-US" dirty="0"/>
              <a:t>在稳定匹配</a:t>
            </a:r>
            <a:r>
              <a:rPr lang="en-US" altLang="zh-CN" dirty="0"/>
              <a:t>S’</a:t>
            </a:r>
            <a:r>
              <a:rPr lang="zh-CN" altLang="en-US" dirty="0"/>
              <a:t>的一个有效伴侣</a:t>
            </a:r>
            <a:r>
              <a:rPr lang="en-US" altLang="zh-CN" dirty="0"/>
              <a:t>,</a:t>
            </a:r>
            <a:r>
              <a:rPr lang="zh-CN" altLang="en-US" b="0" i="0" dirty="0">
                <a:effectLst/>
                <a:latin typeface="Inter"/>
              </a:rPr>
              <a:t>因为</a:t>
            </a:r>
            <a:r>
              <a:rPr lang="en-US" altLang="zh-CN" dirty="0"/>
              <a:t>m’</a:t>
            </a:r>
            <a:r>
              <a:rPr lang="zh-CN" altLang="en-US" b="0" i="0" dirty="0">
                <a:effectLst/>
                <a:latin typeface="Inter"/>
              </a:rPr>
              <a:t>在</a:t>
            </a:r>
            <a:r>
              <a:rPr lang="en-US" altLang="zh-CN" dirty="0"/>
              <a:t>m</a:t>
            </a:r>
            <a:r>
              <a:rPr lang="zh-CN" altLang="en-US" b="0" i="0" dirty="0">
                <a:effectLst/>
                <a:latin typeface="Inter"/>
              </a:rPr>
              <a:t>被</a:t>
            </a:r>
            <a:r>
              <a:rPr lang="en-US" altLang="zh-CN" b="0" i="0" dirty="0">
                <a:effectLst/>
                <a:latin typeface="Inter"/>
              </a:rPr>
              <a:t>w</a:t>
            </a:r>
            <a:r>
              <a:rPr lang="zh-CN" altLang="en-US" b="0" i="0" dirty="0">
                <a:effectLst/>
                <a:latin typeface="Inter"/>
              </a:rPr>
              <a:t>拒绝时已经与约会，说明在其优先表中先遇到</a:t>
            </a:r>
            <a:r>
              <a:rPr lang="en-US" altLang="zh-CN" b="0" i="0" dirty="0">
                <a:effectLst/>
                <a:latin typeface="Inter"/>
              </a:rPr>
              <a:t>w</a:t>
            </a:r>
            <a:r>
              <a:rPr lang="zh-CN" altLang="en-US" b="0" i="0" dirty="0">
                <a:effectLst/>
                <a:latin typeface="Inter"/>
              </a:rPr>
              <a:t>并向其求婚，</a:t>
            </a:r>
            <a:r>
              <a:rPr lang="zh-CN" altLang="en-US" dirty="0"/>
              <a:t>一定是</a:t>
            </a:r>
            <a:r>
              <a:rPr lang="en-US" altLang="zh-CN" dirty="0"/>
              <a:t>m’</a:t>
            </a:r>
            <a:r>
              <a:rPr lang="zh-CN" altLang="en-US" dirty="0"/>
              <a:t>更偏爱</a:t>
            </a:r>
            <a:r>
              <a:rPr lang="en-US" altLang="zh-CN" dirty="0"/>
              <a:t>w</a:t>
            </a:r>
            <a:r>
              <a:rPr lang="zh-CN" altLang="en-US" dirty="0"/>
              <a:t>而不爱</a:t>
            </a:r>
            <a:r>
              <a:rPr lang="en-US" altLang="zh-CN" dirty="0"/>
              <a:t>w’</a:t>
            </a:r>
            <a:r>
              <a:rPr lang="zh-CN" altLang="en-US" dirty="0"/>
              <a:t>。</a:t>
            </a:r>
            <a:endParaRPr lang="en-US" altLang="zh-CN" dirty="0"/>
          </a:p>
          <a:p>
            <a:pPr algn="just" eaLnBrk="1" hangingPunct="1"/>
            <a:endParaRPr lang="en-US" altLang="zh-CN" dirty="0"/>
          </a:p>
        </p:txBody>
      </p:sp>
    </p:spTree>
    <p:extLst>
      <p:ext uri="{BB962C8B-B14F-4D97-AF65-F5344CB8AC3E}">
        <p14:creationId xmlns:p14="http://schemas.microsoft.com/office/powerpoint/2010/main" val="41590609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86AF7-3826-A012-C7D5-0D5D4CAE2F83}"/>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7B3E4B9D-8427-EE0E-6D51-1AB3EF54E8B0}"/>
              </a:ext>
            </a:extLst>
          </p:cNvPr>
          <p:cNvSpPr>
            <a:spLocks noGrp="1"/>
          </p:cNvSpPr>
          <p:nvPr>
            <p:ph type="sldNum" sz="quarter" idx="12"/>
          </p:nvPr>
        </p:nvSpPr>
        <p:spPr/>
        <p:txBody>
          <a:bodyPr/>
          <a:lstStyle/>
          <a:p>
            <a:pPr>
              <a:defRPr/>
            </a:pPr>
            <a:fld id="{15943D05-FA65-42B7-ACD6-9027A5985D25}" type="slidenum">
              <a:rPr lang="zh-CN" altLang="en-US"/>
              <a:pPr>
                <a:defRPr/>
              </a:pPr>
              <a:t>56</a:t>
            </a:fld>
            <a:endParaRPr lang="en-US" altLang="zh-CN"/>
          </a:p>
        </p:txBody>
      </p:sp>
      <p:sp>
        <p:nvSpPr>
          <p:cNvPr id="45059" name="Rectangle 2">
            <a:extLst>
              <a:ext uri="{FF2B5EF4-FFF2-40B4-BE49-F238E27FC236}">
                <a16:creationId xmlns:a16="http://schemas.microsoft.com/office/drawing/2014/main" id="{3702AF24-1B18-FDFC-48BD-F40D24E750F5}"/>
              </a:ext>
            </a:extLst>
          </p:cNvPr>
          <p:cNvSpPr>
            <a:spLocks noGrp="1" noChangeArrowheads="1"/>
          </p:cNvSpPr>
          <p:nvPr>
            <p:ph type="title"/>
          </p:nvPr>
        </p:nvSpPr>
        <p:spPr/>
        <p:txBody>
          <a:bodyPr/>
          <a:lstStyle/>
          <a:p>
            <a:pPr eaLnBrk="1" hangingPunct="1"/>
            <a:r>
              <a:rPr lang="zh-CN" altLang="en-US"/>
              <a:t>推广</a:t>
            </a:r>
          </a:p>
        </p:txBody>
      </p:sp>
      <p:sp>
        <p:nvSpPr>
          <p:cNvPr id="45060" name="Rectangle 3">
            <a:extLst>
              <a:ext uri="{FF2B5EF4-FFF2-40B4-BE49-F238E27FC236}">
                <a16:creationId xmlns:a16="http://schemas.microsoft.com/office/drawing/2014/main" id="{2D84C833-7695-91B2-3365-FF8AB39B80E2}"/>
              </a:ext>
            </a:extLst>
          </p:cNvPr>
          <p:cNvSpPr>
            <a:spLocks noGrp="1" noChangeArrowheads="1"/>
          </p:cNvSpPr>
          <p:nvPr>
            <p:ph type="body" idx="1"/>
          </p:nvPr>
        </p:nvSpPr>
        <p:spPr>
          <a:xfrm>
            <a:off x="685800" y="2323356"/>
            <a:ext cx="7772400" cy="4114800"/>
          </a:xfrm>
        </p:spPr>
        <p:txBody>
          <a:bodyPr/>
          <a:lstStyle/>
          <a:p>
            <a:pPr eaLnBrk="1" hangingPunct="1"/>
            <a:r>
              <a:rPr lang="zh-CN" altLang="en-US" dirty="0"/>
              <a:t>我们已经看到</a:t>
            </a:r>
            <a:r>
              <a:rPr lang="en-US" altLang="zh-CN" dirty="0"/>
              <a:t>w</a:t>
            </a:r>
            <a:r>
              <a:rPr lang="zh-CN" altLang="en-US" dirty="0"/>
              <a:t>更偏爱</a:t>
            </a:r>
            <a:r>
              <a:rPr lang="en-US" altLang="zh-CN" dirty="0"/>
              <a:t>m’</a:t>
            </a:r>
            <a:r>
              <a:rPr lang="zh-CN" altLang="en-US" dirty="0"/>
              <a:t>而不爱</a:t>
            </a:r>
            <a:r>
              <a:rPr lang="en-US" altLang="zh-CN" dirty="0"/>
              <a:t>m,</a:t>
            </a:r>
            <a:r>
              <a:rPr lang="zh-CN" altLang="en-US" dirty="0"/>
              <a:t>因为在</a:t>
            </a:r>
            <a:r>
              <a:rPr lang="en-US" altLang="zh-CN" dirty="0"/>
              <a:t>ε</a:t>
            </a:r>
            <a:r>
              <a:rPr lang="zh-CN" altLang="en-US" dirty="0"/>
              <a:t>执行中她拒绝了</a:t>
            </a:r>
            <a:r>
              <a:rPr lang="en-US" altLang="zh-CN" dirty="0"/>
              <a:t>m</a:t>
            </a:r>
            <a:r>
              <a:rPr lang="zh-CN" altLang="en-US" dirty="0"/>
              <a:t>而倾心于</a:t>
            </a:r>
            <a:r>
              <a:rPr lang="en-US" altLang="zh-CN" dirty="0"/>
              <a:t>m’</a:t>
            </a:r>
            <a:r>
              <a:rPr lang="zh-CN" altLang="en-US" dirty="0"/>
              <a:t>。由于</a:t>
            </a:r>
            <a:r>
              <a:rPr lang="en-US" altLang="zh-CN" dirty="0"/>
              <a:t>(</a:t>
            </a:r>
            <a:r>
              <a:rPr lang="en-US" altLang="zh-CN" dirty="0" err="1"/>
              <a:t>m’,w</a:t>
            </a:r>
            <a:r>
              <a:rPr lang="en-US" altLang="zh-CN" dirty="0"/>
              <a:t>)</a:t>
            </a:r>
            <a:r>
              <a:rPr lang="zh-CN" altLang="en-US" dirty="0"/>
              <a:t>∉</a:t>
            </a:r>
            <a:r>
              <a:rPr lang="en-US" altLang="zh-CN" dirty="0"/>
              <a:t>S’,</a:t>
            </a:r>
            <a:r>
              <a:rPr lang="zh-CN" altLang="en-US" dirty="0"/>
              <a:t>从而得到</a:t>
            </a:r>
            <a:r>
              <a:rPr lang="en-US" altLang="zh-CN" dirty="0"/>
              <a:t>(</a:t>
            </a:r>
            <a:r>
              <a:rPr lang="en-US" altLang="zh-CN" dirty="0" err="1"/>
              <a:t>m’,w</a:t>
            </a:r>
            <a:r>
              <a:rPr lang="en-US" altLang="zh-CN" dirty="0"/>
              <a:t>)</a:t>
            </a:r>
            <a:r>
              <a:rPr lang="zh-CN" altLang="en-US" dirty="0"/>
              <a:t>是</a:t>
            </a:r>
            <a:r>
              <a:rPr lang="en-US" altLang="zh-CN" dirty="0"/>
              <a:t>S’</a:t>
            </a:r>
            <a:r>
              <a:rPr lang="zh-CN" altLang="en-US" dirty="0"/>
              <a:t>中的一个不稳定因素。</a:t>
            </a:r>
            <a:endParaRPr lang="en-US" altLang="zh-CN" dirty="0"/>
          </a:p>
          <a:p>
            <a:pPr eaLnBrk="1" hangingPunct="1"/>
            <a:r>
              <a:rPr lang="zh-CN" altLang="en-US" dirty="0"/>
              <a:t>这与我们声称</a:t>
            </a:r>
            <a:r>
              <a:rPr lang="en-US" altLang="zh-CN" dirty="0"/>
              <a:t>S’</a:t>
            </a:r>
            <a:r>
              <a:rPr lang="zh-CN" altLang="en-US" dirty="0"/>
              <a:t>是稳定的相矛盾</a:t>
            </a:r>
            <a:r>
              <a:rPr lang="en-US" altLang="zh-CN" dirty="0"/>
              <a:t>,</a:t>
            </a:r>
            <a:r>
              <a:rPr lang="zh-CN" altLang="en-US" dirty="0"/>
              <a:t>因此与我们的初始假设冲突。</a:t>
            </a:r>
            <a:endParaRPr lang="en-US" altLang="zh-CN" dirty="0"/>
          </a:p>
          <a:p>
            <a:pPr marL="0" indent="0" eaLnBrk="1" hangingPunct="1">
              <a:buNone/>
            </a:pPr>
            <a:endParaRPr lang="en-US" altLang="zh-CN" dirty="0"/>
          </a:p>
          <a:p>
            <a:pPr eaLnBrk="1" hangingPunct="1"/>
            <a:endParaRPr lang="en-US" altLang="zh-CN" dirty="0"/>
          </a:p>
        </p:txBody>
      </p:sp>
    </p:spTree>
    <p:extLst>
      <p:ext uri="{BB962C8B-B14F-4D97-AF65-F5344CB8AC3E}">
        <p14:creationId xmlns:p14="http://schemas.microsoft.com/office/powerpoint/2010/main" val="6845814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F557D55-CB7B-4552-972E-83A15865D9FE}"/>
              </a:ext>
            </a:extLst>
          </p:cNvPr>
          <p:cNvSpPr>
            <a:spLocks noGrp="1"/>
          </p:cNvSpPr>
          <p:nvPr>
            <p:ph type="sldNum" sz="quarter" idx="12"/>
          </p:nvPr>
        </p:nvSpPr>
        <p:spPr/>
        <p:txBody>
          <a:bodyPr/>
          <a:lstStyle/>
          <a:p>
            <a:pPr>
              <a:defRPr/>
            </a:pPr>
            <a:fld id="{114A550F-48B5-49C7-B704-DEDF25C9E2C6}" type="slidenum">
              <a:rPr lang="zh-CN" altLang="en-US"/>
              <a:pPr>
                <a:defRPr/>
              </a:pPr>
              <a:t>57</a:t>
            </a:fld>
            <a:endParaRPr lang="en-US" altLang="zh-CN"/>
          </a:p>
        </p:txBody>
      </p:sp>
      <p:sp>
        <p:nvSpPr>
          <p:cNvPr id="46083" name="Rectangle 2">
            <a:extLst>
              <a:ext uri="{FF2B5EF4-FFF2-40B4-BE49-F238E27FC236}">
                <a16:creationId xmlns:a16="http://schemas.microsoft.com/office/drawing/2014/main" id="{2AEAFBE5-C33B-441C-966B-878A66E03A4E}"/>
              </a:ext>
            </a:extLst>
          </p:cNvPr>
          <p:cNvSpPr>
            <a:spLocks noGrp="1" noChangeArrowheads="1"/>
          </p:cNvSpPr>
          <p:nvPr>
            <p:ph type="title"/>
          </p:nvPr>
        </p:nvSpPr>
        <p:spPr/>
        <p:txBody>
          <a:bodyPr/>
          <a:lstStyle/>
          <a:p>
            <a:pPr eaLnBrk="1" hangingPunct="1"/>
            <a:r>
              <a:rPr lang="zh-CN" altLang="en-US"/>
              <a:t>推广</a:t>
            </a:r>
          </a:p>
        </p:txBody>
      </p:sp>
      <p:sp>
        <p:nvSpPr>
          <p:cNvPr id="46084" name="Rectangle 3">
            <a:extLst>
              <a:ext uri="{FF2B5EF4-FFF2-40B4-BE49-F238E27FC236}">
                <a16:creationId xmlns:a16="http://schemas.microsoft.com/office/drawing/2014/main" id="{C6869151-71FD-431A-B6E7-9C40ED08451E}"/>
              </a:ext>
            </a:extLst>
          </p:cNvPr>
          <p:cNvSpPr>
            <a:spLocks noGrp="1" noChangeArrowheads="1"/>
          </p:cNvSpPr>
          <p:nvPr>
            <p:ph type="body" idx="1"/>
          </p:nvPr>
        </p:nvSpPr>
        <p:spPr>
          <a:xfrm>
            <a:off x="914400" y="1968019"/>
            <a:ext cx="7772400" cy="4114800"/>
          </a:xfrm>
        </p:spPr>
        <p:txBody>
          <a:bodyPr/>
          <a:lstStyle/>
          <a:p>
            <a:pPr eaLnBrk="1" hangingPunct="1"/>
            <a:r>
              <a:rPr lang="zh-CN" altLang="en-US" sz="2800" dirty="0"/>
              <a:t>对男人而言，</a:t>
            </a:r>
            <a:r>
              <a:rPr lang="en-US" altLang="zh-CN" sz="2800" dirty="0"/>
              <a:t>G-S</a:t>
            </a:r>
            <a:r>
              <a:rPr lang="zh-CN" altLang="en-US" sz="2800" dirty="0"/>
              <a:t>算法是理想的。对女人就不是那么有利了。</a:t>
            </a:r>
            <a:endParaRPr lang="en-US" altLang="zh-CN" sz="2800" dirty="0"/>
          </a:p>
          <a:p>
            <a:pPr eaLnBrk="1" hangingPunct="1"/>
            <a:r>
              <a:rPr lang="zh-CN" altLang="en-US" sz="2800" dirty="0"/>
              <a:t>如果存在一个稳定匹配包含了(</a:t>
            </a:r>
            <a:r>
              <a:rPr lang="en-US" altLang="zh-CN" sz="2800" dirty="0" err="1"/>
              <a:t>m,w</a:t>
            </a:r>
            <a:r>
              <a:rPr lang="en-US" altLang="zh-CN" sz="2800" dirty="0"/>
              <a:t>)</a:t>
            </a:r>
            <a:r>
              <a:rPr lang="zh-CN" altLang="en-US" sz="2800" dirty="0"/>
              <a:t>对，我们就说男人</a:t>
            </a:r>
            <a:r>
              <a:rPr lang="en-US" altLang="zh-CN" sz="2800" dirty="0"/>
              <a:t>m</a:t>
            </a:r>
            <a:r>
              <a:rPr lang="zh-CN" altLang="en-US" sz="2800" dirty="0"/>
              <a:t>是女人</a:t>
            </a:r>
            <a:r>
              <a:rPr lang="en-US" altLang="zh-CN" sz="2800" dirty="0"/>
              <a:t>w</a:t>
            </a:r>
            <a:r>
              <a:rPr lang="zh-CN" altLang="en-US" sz="2800" dirty="0"/>
              <a:t>的</a:t>
            </a:r>
            <a:r>
              <a:rPr lang="zh-CN" altLang="en-US" sz="2800" dirty="0">
                <a:solidFill>
                  <a:schemeClr val="hlink"/>
                </a:solidFill>
              </a:rPr>
              <a:t>有效伴侣</a:t>
            </a:r>
            <a:r>
              <a:rPr lang="zh-CN" altLang="en-US" sz="2800" dirty="0"/>
              <a:t>。</a:t>
            </a:r>
            <a:endParaRPr lang="en-US" altLang="zh-CN" sz="2800" dirty="0"/>
          </a:p>
          <a:p>
            <a:pPr eaLnBrk="1" hangingPunct="1"/>
            <a:r>
              <a:rPr lang="zh-CN" altLang="en-US" sz="2800" dirty="0"/>
              <a:t>如果</a:t>
            </a:r>
            <a:r>
              <a:rPr lang="en-US" altLang="zh-CN" sz="2800" dirty="0"/>
              <a:t>w</a:t>
            </a:r>
            <a:r>
              <a:rPr lang="zh-CN" altLang="en-US" sz="2800" dirty="0"/>
              <a:t>是</a:t>
            </a:r>
            <a:r>
              <a:rPr lang="en-US" altLang="zh-CN" sz="2800" dirty="0"/>
              <a:t>m</a:t>
            </a:r>
            <a:r>
              <a:rPr lang="zh-CN" altLang="en-US" sz="2800" dirty="0"/>
              <a:t>的有效伴侣，且没有别的在</a:t>
            </a:r>
            <a:r>
              <a:rPr lang="en-US" altLang="zh-CN" sz="2800" dirty="0"/>
              <a:t>w</a:t>
            </a:r>
            <a:r>
              <a:rPr lang="zh-CN" altLang="en-US" sz="2800" dirty="0"/>
              <a:t>排名中比</a:t>
            </a:r>
            <a:r>
              <a:rPr lang="en-US" altLang="zh-CN" sz="2800" dirty="0"/>
              <a:t>m</a:t>
            </a:r>
            <a:r>
              <a:rPr lang="zh-CN" altLang="en-US" sz="2800" dirty="0"/>
              <a:t>更低的男人是她的有效伴侣，那么</a:t>
            </a:r>
            <a:r>
              <a:rPr lang="en-US" altLang="zh-CN" sz="2800" dirty="0"/>
              <a:t>m</a:t>
            </a:r>
            <a:r>
              <a:rPr lang="zh-CN" altLang="en-US" sz="2800" dirty="0"/>
              <a:t>就是</a:t>
            </a:r>
            <a:r>
              <a:rPr lang="en-US" altLang="zh-CN" sz="2800" dirty="0"/>
              <a:t>w</a:t>
            </a:r>
            <a:r>
              <a:rPr lang="zh-CN" altLang="en-US" sz="2800" dirty="0"/>
              <a:t>的</a:t>
            </a:r>
            <a:r>
              <a:rPr lang="zh-CN" altLang="en-US" sz="2800" dirty="0">
                <a:solidFill>
                  <a:schemeClr val="hlink"/>
                </a:solidFill>
              </a:rPr>
              <a:t>最差有效伴侣</a:t>
            </a:r>
            <a:r>
              <a:rPr lang="zh-CN" altLang="en-US" sz="2800" dirty="0"/>
              <a:t>，记为</a:t>
            </a:r>
            <a:r>
              <a:rPr lang="en-US" altLang="zh-CN" sz="2800" dirty="0"/>
              <a:t>worst(w)。</a:t>
            </a:r>
            <a:endParaRPr lang="zh-CN" alt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E30F931-9A49-493D-992D-0D0D884C0F0C}"/>
              </a:ext>
            </a:extLst>
          </p:cNvPr>
          <p:cNvSpPr>
            <a:spLocks noGrp="1"/>
          </p:cNvSpPr>
          <p:nvPr>
            <p:ph type="sldNum" sz="quarter" idx="12"/>
          </p:nvPr>
        </p:nvSpPr>
        <p:spPr/>
        <p:txBody>
          <a:bodyPr/>
          <a:lstStyle/>
          <a:p>
            <a:pPr>
              <a:defRPr/>
            </a:pPr>
            <a:fld id="{D2E04AA7-5A3C-4FBE-B30F-157E0D80EB82}" type="slidenum">
              <a:rPr lang="zh-CN" altLang="en-US"/>
              <a:pPr>
                <a:defRPr/>
              </a:pPr>
              <a:t>58</a:t>
            </a:fld>
            <a:endParaRPr lang="en-US" altLang="zh-CN"/>
          </a:p>
        </p:txBody>
      </p:sp>
      <p:sp>
        <p:nvSpPr>
          <p:cNvPr id="47107" name="Rectangle 2">
            <a:extLst>
              <a:ext uri="{FF2B5EF4-FFF2-40B4-BE49-F238E27FC236}">
                <a16:creationId xmlns:a16="http://schemas.microsoft.com/office/drawing/2014/main" id="{F32408E5-31C7-4809-AF05-7291E4499E4E}"/>
              </a:ext>
            </a:extLst>
          </p:cNvPr>
          <p:cNvSpPr>
            <a:spLocks noGrp="1" noChangeArrowheads="1"/>
          </p:cNvSpPr>
          <p:nvPr>
            <p:ph type="title"/>
          </p:nvPr>
        </p:nvSpPr>
        <p:spPr/>
        <p:txBody>
          <a:bodyPr/>
          <a:lstStyle/>
          <a:p>
            <a:pPr eaLnBrk="1" hangingPunct="1"/>
            <a:r>
              <a:rPr lang="zh-CN" altLang="en-US"/>
              <a:t>推广</a:t>
            </a:r>
          </a:p>
        </p:txBody>
      </p:sp>
      <p:sp>
        <p:nvSpPr>
          <p:cNvPr id="47108" name="Rectangle 3">
            <a:extLst>
              <a:ext uri="{FF2B5EF4-FFF2-40B4-BE49-F238E27FC236}">
                <a16:creationId xmlns:a16="http://schemas.microsoft.com/office/drawing/2014/main" id="{4F2747F7-6842-4407-AA2C-CD823F602670}"/>
              </a:ext>
            </a:extLst>
          </p:cNvPr>
          <p:cNvSpPr>
            <a:spLocks noGrp="1" noChangeArrowheads="1"/>
          </p:cNvSpPr>
          <p:nvPr>
            <p:ph type="body" idx="1"/>
          </p:nvPr>
        </p:nvSpPr>
        <p:spPr>
          <a:xfrm>
            <a:off x="922338" y="1985169"/>
            <a:ext cx="7772400" cy="4114800"/>
          </a:xfrm>
        </p:spPr>
        <p:txBody>
          <a:bodyPr/>
          <a:lstStyle/>
          <a:p>
            <a:pPr eaLnBrk="1" hangingPunct="1">
              <a:lnSpc>
                <a:spcPct val="90000"/>
              </a:lnSpc>
            </a:pPr>
            <a:r>
              <a:rPr lang="zh-CN" altLang="en-US" dirty="0"/>
              <a:t>命题8 在稳定匹配</a:t>
            </a:r>
            <a:r>
              <a:rPr lang="en-US" altLang="zh-CN" dirty="0"/>
              <a:t>S*</a:t>
            </a:r>
            <a:r>
              <a:rPr lang="zh-CN" altLang="en-US" dirty="0"/>
              <a:t>中每个女人与她最差的有效伴侣配对。</a:t>
            </a:r>
          </a:p>
          <a:p>
            <a:pPr marL="0" indent="0" eaLnBrk="1" hangingPunct="1">
              <a:lnSpc>
                <a:spcPct val="90000"/>
              </a:lnSpc>
              <a:buNone/>
            </a:pPr>
            <a:r>
              <a:rPr lang="zh-CN" altLang="en-US" dirty="0"/>
              <a:t>证明</a:t>
            </a:r>
            <a:r>
              <a:rPr lang="en-US" altLang="zh-CN" dirty="0"/>
              <a:t>:</a:t>
            </a:r>
          </a:p>
          <a:p>
            <a:pPr eaLnBrk="1" hangingPunct="1">
              <a:lnSpc>
                <a:spcPct val="90000"/>
              </a:lnSpc>
            </a:pPr>
            <a:r>
              <a:rPr lang="zh-CN" altLang="en-US" dirty="0"/>
              <a:t>假设在</a:t>
            </a:r>
            <a:r>
              <a:rPr lang="en-US" altLang="zh-CN" dirty="0"/>
              <a:t>S*</a:t>
            </a:r>
            <a:r>
              <a:rPr lang="zh-CN" altLang="en-US" dirty="0"/>
              <a:t>中存在</a:t>
            </a:r>
            <a:r>
              <a:rPr lang="en-US" altLang="zh-CN" dirty="0"/>
              <a:t>(</a:t>
            </a:r>
            <a:r>
              <a:rPr lang="en-US" altLang="zh-CN" dirty="0" err="1"/>
              <a:t>m,w</a:t>
            </a:r>
            <a:r>
              <a:rPr lang="en-US" altLang="zh-CN" dirty="0"/>
              <a:t>)</a:t>
            </a:r>
            <a:r>
              <a:rPr lang="zh-CN" altLang="en-US" dirty="0"/>
              <a:t>对使得</a:t>
            </a:r>
            <a:r>
              <a:rPr lang="en-US" altLang="zh-CN" dirty="0"/>
              <a:t>m</a:t>
            </a:r>
            <a:r>
              <a:rPr lang="zh-CN" altLang="en-US" dirty="0"/>
              <a:t>不是</a:t>
            </a:r>
            <a:r>
              <a:rPr lang="en-US" altLang="zh-CN" dirty="0"/>
              <a:t>w</a:t>
            </a:r>
            <a:r>
              <a:rPr lang="zh-CN" altLang="en-US" dirty="0"/>
              <a:t>的最差的有效伴侣。</a:t>
            </a:r>
            <a:endParaRPr lang="en-US" altLang="zh-CN" dirty="0"/>
          </a:p>
          <a:p>
            <a:pPr eaLnBrk="1" hangingPunct="1">
              <a:lnSpc>
                <a:spcPct val="90000"/>
              </a:lnSpc>
            </a:pPr>
            <a:r>
              <a:rPr lang="zh-CN" altLang="en-US" dirty="0"/>
              <a:t>所以必然存在稳定匹配</a:t>
            </a:r>
            <a:r>
              <a:rPr lang="en-US" altLang="zh-CN" dirty="0"/>
              <a:t>S’</a:t>
            </a:r>
            <a:r>
              <a:rPr lang="zh-CN" altLang="en-US" dirty="0"/>
              <a:t>，其中</a:t>
            </a:r>
            <a:r>
              <a:rPr lang="en-US" altLang="zh-CN" dirty="0">
                <a:solidFill>
                  <a:srgbClr val="FF0000"/>
                </a:solidFill>
              </a:rPr>
              <a:t>w</a:t>
            </a:r>
            <a:r>
              <a:rPr lang="zh-CN" altLang="en-US" dirty="0">
                <a:solidFill>
                  <a:srgbClr val="FF0000"/>
                </a:solidFill>
              </a:rPr>
              <a:t>与比</a:t>
            </a:r>
            <a:r>
              <a:rPr lang="en-US" altLang="zh-CN" dirty="0">
                <a:solidFill>
                  <a:srgbClr val="FF0000"/>
                </a:solidFill>
              </a:rPr>
              <a:t>m</a:t>
            </a:r>
            <a:r>
              <a:rPr lang="zh-CN" altLang="en-US" dirty="0">
                <a:solidFill>
                  <a:srgbClr val="FF0000"/>
                </a:solidFill>
              </a:rPr>
              <a:t>更不喜欢的男人</a:t>
            </a:r>
            <a:r>
              <a:rPr lang="en-US" altLang="zh-CN" dirty="0">
                <a:solidFill>
                  <a:srgbClr val="FF0000"/>
                </a:solidFill>
              </a:rPr>
              <a:t>m'</a:t>
            </a:r>
            <a:r>
              <a:rPr lang="zh-CN" altLang="en-US" dirty="0">
                <a:solidFill>
                  <a:srgbClr val="FF0000"/>
                </a:solidFill>
              </a:rPr>
              <a:t>配对</a:t>
            </a:r>
            <a:r>
              <a:rPr lang="zh-CN" altLang="en-US" dirty="0"/>
              <a:t>。</a:t>
            </a:r>
          </a:p>
        </p:txBody>
      </p:sp>
      <p:sp>
        <p:nvSpPr>
          <p:cNvPr id="3" name="文本框 2">
            <a:extLst>
              <a:ext uri="{FF2B5EF4-FFF2-40B4-BE49-F238E27FC236}">
                <a16:creationId xmlns:a16="http://schemas.microsoft.com/office/drawing/2014/main" id="{82E49EEC-8213-EF1A-AC53-6C7A7E03D6A9}"/>
              </a:ext>
            </a:extLst>
          </p:cNvPr>
          <p:cNvSpPr txBox="1"/>
          <p:nvPr/>
        </p:nvSpPr>
        <p:spPr>
          <a:xfrm>
            <a:off x="2627784" y="404655"/>
            <a:ext cx="6192688" cy="1200329"/>
          </a:xfrm>
          <a:prstGeom prst="rect">
            <a:avLst/>
          </a:prstGeom>
          <a:noFill/>
        </p:spPr>
        <p:txBody>
          <a:bodyPr wrap="square">
            <a:spAutoFit/>
          </a:bodyPr>
          <a:lstStyle/>
          <a:p>
            <a:pPr algn="just"/>
            <a:r>
              <a:rPr lang="zh-CN" altLang="en-US" sz="2400" dirty="0">
                <a:solidFill>
                  <a:schemeClr val="tx1"/>
                </a:solidFill>
              </a:rPr>
              <a:t>如果</a:t>
            </a:r>
            <a:r>
              <a:rPr lang="en-US" altLang="zh-CN" sz="2400" dirty="0">
                <a:solidFill>
                  <a:schemeClr val="tx1"/>
                </a:solidFill>
              </a:rPr>
              <a:t>w</a:t>
            </a:r>
            <a:r>
              <a:rPr lang="zh-CN" altLang="en-US" sz="2400" dirty="0">
                <a:solidFill>
                  <a:schemeClr val="tx1"/>
                </a:solidFill>
              </a:rPr>
              <a:t>是</a:t>
            </a:r>
            <a:r>
              <a:rPr lang="en-US" altLang="zh-CN" sz="2400" dirty="0">
                <a:solidFill>
                  <a:schemeClr val="tx1"/>
                </a:solidFill>
              </a:rPr>
              <a:t>m</a:t>
            </a:r>
            <a:r>
              <a:rPr lang="zh-CN" altLang="en-US" sz="2400" dirty="0">
                <a:solidFill>
                  <a:schemeClr val="tx1"/>
                </a:solidFill>
              </a:rPr>
              <a:t>的有效伴侣，且没有别的在</a:t>
            </a:r>
            <a:r>
              <a:rPr lang="en-US" altLang="zh-CN" sz="2400" dirty="0">
                <a:solidFill>
                  <a:schemeClr val="tx1"/>
                </a:solidFill>
              </a:rPr>
              <a:t>w</a:t>
            </a:r>
            <a:r>
              <a:rPr lang="zh-CN" altLang="en-US" sz="2400" dirty="0">
                <a:solidFill>
                  <a:schemeClr val="tx1"/>
                </a:solidFill>
              </a:rPr>
              <a:t>排名中比</a:t>
            </a:r>
            <a:r>
              <a:rPr lang="en-US" altLang="zh-CN" sz="2400" dirty="0">
                <a:solidFill>
                  <a:schemeClr val="tx1"/>
                </a:solidFill>
              </a:rPr>
              <a:t>m</a:t>
            </a:r>
            <a:r>
              <a:rPr lang="zh-CN" altLang="en-US" sz="2400" dirty="0">
                <a:solidFill>
                  <a:schemeClr val="tx1"/>
                </a:solidFill>
              </a:rPr>
              <a:t>更低的男人是她的有效伴侣，那么</a:t>
            </a:r>
            <a:r>
              <a:rPr lang="en-US" altLang="zh-CN" sz="2400" dirty="0">
                <a:solidFill>
                  <a:schemeClr val="tx1"/>
                </a:solidFill>
              </a:rPr>
              <a:t>m</a:t>
            </a:r>
            <a:r>
              <a:rPr lang="zh-CN" altLang="en-US" sz="2400" dirty="0">
                <a:solidFill>
                  <a:schemeClr val="tx1"/>
                </a:solidFill>
              </a:rPr>
              <a:t>就是</a:t>
            </a:r>
            <a:r>
              <a:rPr lang="en-US" altLang="zh-CN" sz="2400" dirty="0">
                <a:solidFill>
                  <a:schemeClr val="tx1"/>
                </a:solidFill>
              </a:rPr>
              <a:t>w</a:t>
            </a:r>
            <a:r>
              <a:rPr lang="zh-CN" altLang="en-US" sz="2400" dirty="0">
                <a:solidFill>
                  <a:schemeClr val="tx1"/>
                </a:solidFill>
              </a:rPr>
              <a:t>的</a:t>
            </a:r>
            <a:r>
              <a:rPr lang="zh-CN" altLang="en-US" sz="2400" dirty="0">
                <a:solidFill>
                  <a:srgbClr val="FF0000"/>
                </a:solidFill>
              </a:rPr>
              <a:t>最差有效伴侣</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1C9EF-C770-A8CD-A55B-CAFB08B2A53D}"/>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6D12D88-F72E-7B36-0F03-0C336EBC74D3}"/>
              </a:ext>
            </a:extLst>
          </p:cNvPr>
          <p:cNvSpPr>
            <a:spLocks noGrp="1"/>
          </p:cNvSpPr>
          <p:nvPr>
            <p:ph type="sldNum" sz="quarter" idx="12"/>
          </p:nvPr>
        </p:nvSpPr>
        <p:spPr/>
        <p:txBody>
          <a:bodyPr/>
          <a:lstStyle/>
          <a:p>
            <a:pPr>
              <a:defRPr/>
            </a:pPr>
            <a:fld id="{D2E04AA7-5A3C-4FBE-B30F-157E0D80EB82}" type="slidenum">
              <a:rPr lang="zh-CN" altLang="en-US"/>
              <a:pPr>
                <a:defRPr/>
              </a:pPr>
              <a:t>59</a:t>
            </a:fld>
            <a:endParaRPr lang="en-US" altLang="zh-CN"/>
          </a:p>
        </p:txBody>
      </p:sp>
      <p:sp>
        <p:nvSpPr>
          <p:cNvPr id="47107" name="Rectangle 2">
            <a:extLst>
              <a:ext uri="{FF2B5EF4-FFF2-40B4-BE49-F238E27FC236}">
                <a16:creationId xmlns:a16="http://schemas.microsoft.com/office/drawing/2014/main" id="{0EFEC516-1E75-8F12-87DA-FF46B5713B40}"/>
              </a:ext>
            </a:extLst>
          </p:cNvPr>
          <p:cNvSpPr>
            <a:spLocks noGrp="1" noChangeArrowheads="1"/>
          </p:cNvSpPr>
          <p:nvPr>
            <p:ph type="title"/>
          </p:nvPr>
        </p:nvSpPr>
        <p:spPr/>
        <p:txBody>
          <a:bodyPr/>
          <a:lstStyle/>
          <a:p>
            <a:pPr eaLnBrk="1" hangingPunct="1"/>
            <a:r>
              <a:rPr lang="zh-CN" altLang="en-US"/>
              <a:t>推广</a:t>
            </a:r>
          </a:p>
        </p:txBody>
      </p:sp>
      <p:sp>
        <p:nvSpPr>
          <p:cNvPr id="47108" name="Rectangle 3">
            <a:extLst>
              <a:ext uri="{FF2B5EF4-FFF2-40B4-BE49-F238E27FC236}">
                <a16:creationId xmlns:a16="http://schemas.microsoft.com/office/drawing/2014/main" id="{E52A0273-CF44-E434-C558-6C0830F394C8}"/>
              </a:ext>
            </a:extLst>
          </p:cNvPr>
          <p:cNvSpPr>
            <a:spLocks noGrp="1" noChangeArrowheads="1"/>
          </p:cNvSpPr>
          <p:nvPr>
            <p:ph type="body" idx="1"/>
          </p:nvPr>
        </p:nvSpPr>
        <p:spPr>
          <a:xfrm>
            <a:off x="467544" y="1985169"/>
            <a:ext cx="8415536" cy="4114800"/>
          </a:xfrm>
        </p:spPr>
        <p:txBody>
          <a:bodyPr/>
          <a:lstStyle/>
          <a:p>
            <a:pPr eaLnBrk="1" hangingPunct="1">
              <a:lnSpc>
                <a:spcPct val="90000"/>
              </a:lnSpc>
            </a:pPr>
            <a:r>
              <a:rPr lang="zh-CN" altLang="en-US" dirty="0"/>
              <a:t>在</a:t>
            </a:r>
            <a:r>
              <a:rPr lang="en-US" altLang="zh-CN" dirty="0"/>
              <a:t>S'</a:t>
            </a:r>
            <a:r>
              <a:rPr lang="zh-CN" altLang="en-US" dirty="0"/>
              <a:t>中，</a:t>
            </a:r>
            <a:r>
              <a:rPr lang="en-US" altLang="zh-CN" dirty="0"/>
              <a:t>m</a:t>
            </a:r>
            <a:r>
              <a:rPr lang="zh-CN" altLang="en-US" dirty="0"/>
              <a:t>与一个女人</a:t>
            </a:r>
            <a:r>
              <a:rPr lang="en-US" altLang="zh-CN" dirty="0"/>
              <a:t>w'≠ w</a:t>
            </a:r>
            <a:r>
              <a:rPr lang="zh-CN" altLang="en-US" dirty="0"/>
              <a:t>配对。</a:t>
            </a:r>
            <a:endParaRPr lang="en-US" altLang="zh-CN" dirty="0"/>
          </a:p>
          <a:p>
            <a:pPr eaLnBrk="1" hangingPunct="1">
              <a:lnSpc>
                <a:spcPct val="90000"/>
              </a:lnSpc>
            </a:pPr>
            <a:r>
              <a:rPr lang="zh-CN" altLang="en-US" dirty="0"/>
              <a:t>因为已知</a:t>
            </a:r>
            <a:r>
              <a:rPr lang="en-US" altLang="zh-CN" dirty="0">
                <a:solidFill>
                  <a:srgbClr val="FF0000"/>
                </a:solidFill>
              </a:rPr>
              <a:t>w</a:t>
            </a:r>
            <a:r>
              <a:rPr lang="zh-CN" altLang="en-US" dirty="0">
                <a:solidFill>
                  <a:srgbClr val="FF0000"/>
                </a:solidFill>
              </a:rPr>
              <a:t>是</a:t>
            </a:r>
            <a:r>
              <a:rPr lang="en-US" altLang="zh-CN" dirty="0">
                <a:solidFill>
                  <a:srgbClr val="FF0000"/>
                </a:solidFill>
              </a:rPr>
              <a:t>m</a:t>
            </a:r>
            <a:r>
              <a:rPr lang="zh-CN" altLang="en-US" dirty="0">
                <a:solidFill>
                  <a:srgbClr val="FF0000"/>
                </a:solidFill>
              </a:rPr>
              <a:t>的最佳有效伴侣</a:t>
            </a:r>
            <a:r>
              <a:rPr lang="zh-CN" altLang="en-US" dirty="0"/>
              <a:t>，且</a:t>
            </a:r>
            <a:r>
              <a:rPr lang="en-US" altLang="zh-CN" dirty="0"/>
              <a:t>w</a:t>
            </a:r>
            <a:r>
              <a:rPr lang="zh-CN" altLang="en-US" dirty="0"/>
              <a:t>是</a:t>
            </a:r>
            <a:r>
              <a:rPr lang="en-US" altLang="zh-CN" dirty="0"/>
              <a:t>m</a:t>
            </a:r>
            <a:r>
              <a:rPr lang="zh-CN" altLang="en-US" dirty="0"/>
              <a:t>的有效伴侣，所以可以得出</a:t>
            </a:r>
            <a:r>
              <a:rPr lang="en-US" altLang="zh-CN" dirty="0">
                <a:solidFill>
                  <a:srgbClr val="FF0000"/>
                </a:solidFill>
              </a:rPr>
              <a:t>m</a:t>
            </a:r>
            <a:r>
              <a:rPr lang="zh-CN" altLang="en-US" dirty="0">
                <a:solidFill>
                  <a:srgbClr val="FF0000"/>
                </a:solidFill>
              </a:rPr>
              <a:t>宁愿要</a:t>
            </a:r>
            <a:r>
              <a:rPr lang="en-US" altLang="zh-CN" dirty="0">
                <a:solidFill>
                  <a:srgbClr val="FF0000"/>
                </a:solidFill>
              </a:rPr>
              <a:t>w</a:t>
            </a:r>
            <a:r>
              <a:rPr lang="zh-CN" altLang="en-US" dirty="0">
                <a:solidFill>
                  <a:srgbClr val="FF0000"/>
                </a:solidFill>
              </a:rPr>
              <a:t>而不是</a:t>
            </a:r>
            <a:r>
              <a:rPr lang="en-US" altLang="zh-CN" dirty="0">
                <a:solidFill>
                  <a:srgbClr val="FF0000"/>
                </a:solidFill>
              </a:rPr>
              <a:t>w’</a:t>
            </a:r>
            <a:r>
              <a:rPr lang="zh-CN" altLang="en-US" dirty="0"/>
              <a:t>。</a:t>
            </a:r>
            <a:endParaRPr lang="en-US" altLang="zh-CN" dirty="0"/>
          </a:p>
          <a:p>
            <a:pPr eaLnBrk="1" hangingPunct="1">
              <a:lnSpc>
                <a:spcPct val="90000"/>
              </a:lnSpc>
            </a:pPr>
            <a:r>
              <a:rPr lang="zh-CN" altLang="en-US" dirty="0"/>
              <a:t>此时，在</a:t>
            </a:r>
            <a:r>
              <a:rPr lang="en-US" altLang="zh-CN" dirty="0"/>
              <a:t>S'</a:t>
            </a:r>
            <a:r>
              <a:rPr lang="zh-CN" altLang="en-US" dirty="0"/>
              <a:t>中，</a:t>
            </a:r>
            <a:r>
              <a:rPr lang="en-US" altLang="zh-CN" dirty="0">
                <a:solidFill>
                  <a:srgbClr val="FF0000"/>
                </a:solidFill>
              </a:rPr>
              <a:t>m</a:t>
            </a:r>
            <a:r>
              <a:rPr lang="zh-CN" altLang="en-US" dirty="0">
                <a:solidFill>
                  <a:srgbClr val="FF0000"/>
                </a:solidFill>
              </a:rPr>
              <a:t>更喜欢</a:t>
            </a:r>
            <a:r>
              <a:rPr lang="en-US" altLang="zh-CN" dirty="0">
                <a:solidFill>
                  <a:srgbClr val="FF0000"/>
                </a:solidFill>
              </a:rPr>
              <a:t>w</a:t>
            </a:r>
            <a:r>
              <a:rPr lang="zh-CN" altLang="en-US" dirty="0">
                <a:solidFill>
                  <a:srgbClr val="FF0000"/>
                </a:solidFill>
              </a:rPr>
              <a:t>而非</a:t>
            </a:r>
            <a:r>
              <a:rPr lang="en-US" altLang="zh-CN" dirty="0">
                <a:solidFill>
                  <a:srgbClr val="FF0000"/>
                </a:solidFill>
              </a:rPr>
              <a:t>w’</a:t>
            </a:r>
            <a:r>
              <a:rPr lang="zh-CN" altLang="en-US" dirty="0">
                <a:solidFill>
                  <a:srgbClr val="FF0000"/>
                </a:solidFill>
              </a:rPr>
              <a:t>，</a:t>
            </a:r>
            <a:r>
              <a:rPr lang="en-US" altLang="zh-CN" dirty="0">
                <a:solidFill>
                  <a:srgbClr val="FF0000"/>
                </a:solidFill>
              </a:rPr>
              <a:t>w</a:t>
            </a:r>
            <a:r>
              <a:rPr lang="zh-CN" altLang="en-US" dirty="0">
                <a:solidFill>
                  <a:srgbClr val="FF0000"/>
                </a:solidFill>
              </a:rPr>
              <a:t>更喜欢</a:t>
            </a:r>
            <a:r>
              <a:rPr lang="en-US" altLang="zh-CN" dirty="0">
                <a:solidFill>
                  <a:srgbClr val="FF0000"/>
                </a:solidFill>
              </a:rPr>
              <a:t>m</a:t>
            </a:r>
            <a:r>
              <a:rPr lang="zh-CN" altLang="en-US" dirty="0">
                <a:solidFill>
                  <a:srgbClr val="FF0000"/>
                </a:solidFill>
              </a:rPr>
              <a:t>而非</a:t>
            </a:r>
            <a:r>
              <a:rPr lang="en-US" altLang="zh-CN" dirty="0">
                <a:solidFill>
                  <a:srgbClr val="FF0000"/>
                </a:solidFill>
              </a:rPr>
              <a:t>m'</a:t>
            </a:r>
            <a:r>
              <a:rPr lang="zh-CN" altLang="en-US" dirty="0"/>
              <a:t>，这就构成了</a:t>
            </a:r>
            <a:r>
              <a:rPr lang="en-US" altLang="zh-CN" dirty="0"/>
              <a:t>(</a:t>
            </a:r>
            <a:r>
              <a:rPr lang="en-US" altLang="zh-CN" dirty="0" err="1"/>
              <a:t>m,w</a:t>
            </a:r>
            <a:r>
              <a:rPr lang="en-US" altLang="zh-CN" dirty="0"/>
              <a:t>)</a:t>
            </a:r>
            <a:r>
              <a:rPr lang="zh-CN" altLang="en-US" dirty="0"/>
              <a:t>这样一个不稳定因素。</a:t>
            </a:r>
            <a:endParaRPr lang="en-US" altLang="zh-CN" dirty="0"/>
          </a:p>
          <a:p>
            <a:pPr eaLnBrk="1" hangingPunct="1">
              <a:lnSpc>
                <a:spcPct val="90000"/>
              </a:lnSpc>
            </a:pPr>
            <a:r>
              <a:rPr lang="zh-CN" altLang="en-US" dirty="0"/>
              <a:t>然而，</a:t>
            </a:r>
            <a:r>
              <a:rPr lang="en-US" altLang="zh-CN" dirty="0"/>
              <a:t>S'</a:t>
            </a:r>
            <a:r>
              <a:rPr lang="zh-CN" altLang="en-US" dirty="0"/>
              <a:t>被定义为稳定匹配，稳定匹配不应存在不稳定因素，这就产生了矛盾。</a:t>
            </a:r>
          </a:p>
        </p:txBody>
      </p:sp>
    </p:spTree>
    <p:extLst>
      <p:ext uri="{BB962C8B-B14F-4D97-AF65-F5344CB8AC3E}">
        <p14:creationId xmlns:p14="http://schemas.microsoft.com/office/powerpoint/2010/main" val="27381852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13894-15EF-F63B-666B-D0BFE0C5EEEC}"/>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359CF4F-AA95-F153-01AE-EF6A9CFB1807}"/>
              </a:ext>
            </a:extLst>
          </p:cNvPr>
          <p:cNvSpPr>
            <a:spLocks noGrp="1"/>
          </p:cNvSpPr>
          <p:nvPr>
            <p:ph type="sldNum" sz="quarter" idx="12"/>
          </p:nvPr>
        </p:nvSpPr>
        <p:spPr/>
        <p:txBody>
          <a:bodyPr/>
          <a:lstStyle/>
          <a:p>
            <a:pPr>
              <a:defRPr/>
            </a:pPr>
            <a:fld id="{D2E04AA7-5A3C-4FBE-B30F-157E0D80EB82}" type="slidenum">
              <a:rPr lang="zh-CN" altLang="en-US"/>
              <a:pPr>
                <a:defRPr/>
              </a:pPr>
              <a:t>60</a:t>
            </a:fld>
            <a:endParaRPr lang="en-US" altLang="zh-CN"/>
          </a:p>
        </p:txBody>
      </p:sp>
      <p:sp>
        <p:nvSpPr>
          <p:cNvPr id="47107" name="Rectangle 2">
            <a:extLst>
              <a:ext uri="{FF2B5EF4-FFF2-40B4-BE49-F238E27FC236}">
                <a16:creationId xmlns:a16="http://schemas.microsoft.com/office/drawing/2014/main" id="{6291EB74-AD07-59E8-69BE-B4241C8AB26F}"/>
              </a:ext>
            </a:extLst>
          </p:cNvPr>
          <p:cNvSpPr>
            <a:spLocks noGrp="1" noChangeArrowheads="1"/>
          </p:cNvSpPr>
          <p:nvPr>
            <p:ph type="title"/>
          </p:nvPr>
        </p:nvSpPr>
        <p:spPr/>
        <p:txBody>
          <a:bodyPr/>
          <a:lstStyle/>
          <a:p>
            <a:pPr eaLnBrk="1" hangingPunct="1"/>
            <a:r>
              <a:rPr lang="zh-CN" altLang="en-US"/>
              <a:t>推广</a:t>
            </a:r>
          </a:p>
        </p:txBody>
      </p:sp>
      <p:sp>
        <p:nvSpPr>
          <p:cNvPr id="47108" name="Rectangle 3">
            <a:extLst>
              <a:ext uri="{FF2B5EF4-FFF2-40B4-BE49-F238E27FC236}">
                <a16:creationId xmlns:a16="http://schemas.microsoft.com/office/drawing/2014/main" id="{393C4C7D-642A-7C27-3825-F74DC21D23F7}"/>
              </a:ext>
            </a:extLst>
          </p:cNvPr>
          <p:cNvSpPr>
            <a:spLocks noGrp="1" noChangeArrowheads="1"/>
          </p:cNvSpPr>
          <p:nvPr>
            <p:ph type="body" idx="1"/>
          </p:nvPr>
        </p:nvSpPr>
        <p:spPr>
          <a:xfrm>
            <a:off x="914400" y="2053749"/>
            <a:ext cx="7772400" cy="4114800"/>
          </a:xfrm>
        </p:spPr>
        <p:txBody>
          <a:bodyPr/>
          <a:lstStyle/>
          <a:p>
            <a:pPr eaLnBrk="1" hangingPunct="1">
              <a:lnSpc>
                <a:spcPct val="90000"/>
              </a:lnSpc>
            </a:pPr>
            <a:r>
              <a:rPr lang="zh-CN" altLang="en-US" dirty="0"/>
              <a:t>暗示了一种现象：</a:t>
            </a:r>
          </a:p>
          <a:p>
            <a:pPr algn="just" eaLnBrk="1" hangingPunct="1">
              <a:lnSpc>
                <a:spcPct val="90000"/>
              </a:lnSpc>
              <a:buFont typeface="Wingdings" panose="05000000000000000000" pitchFamily="2" charset="2"/>
              <a:buNone/>
            </a:pPr>
            <a:r>
              <a:rPr lang="zh-CN" altLang="en-US" dirty="0"/>
              <a:t>   对于任何输入，</a:t>
            </a:r>
            <a:r>
              <a:rPr lang="en-US" altLang="zh-CN" dirty="0"/>
              <a:t>G-S</a:t>
            </a:r>
            <a:r>
              <a:rPr lang="zh-CN" altLang="en-US" dirty="0"/>
              <a:t>算法中</a:t>
            </a:r>
            <a:r>
              <a:rPr lang="zh-CN" altLang="en-US" dirty="0">
                <a:solidFill>
                  <a:srgbClr val="FF0000"/>
                </a:solidFill>
              </a:rPr>
              <a:t>发出邀请的一方</a:t>
            </a:r>
            <a:r>
              <a:rPr lang="zh-CN" altLang="en-US" dirty="0"/>
              <a:t>(根据他们的优先表)以</a:t>
            </a:r>
            <a:r>
              <a:rPr lang="zh-CN" altLang="en-US" b="1" dirty="0">
                <a:solidFill>
                  <a:srgbClr val="FF0000"/>
                </a:solidFill>
              </a:rPr>
              <a:t>最佳可能</a:t>
            </a:r>
            <a:r>
              <a:rPr lang="zh-CN" altLang="en-US" dirty="0"/>
              <a:t>的稳定匹配结束；而</a:t>
            </a:r>
            <a:r>
              <a:rPr lang="zh-CN" altLang="en-US" dirty="0">
                <a:solidFill>
                  <a:srgbClr val="FF0000"/>
                </a:solidFill>
              </a:rPr>
              <a:t>另外一方</a:t>
            </a:r>
            <a:r>
              <a:rPr lang="zh-CN" altLang="en-US" dirty="0"/>
              <a:t>却以</a:t>
            </a:r>
            <a:r>
              <a:rPr lang="zh-CN" altLang="en-US" b="1" dirty="0">
                <a:solidFill>
                  <a:srgbClr val="FF0000"/>
                </a:solidFill>
              </a:rPr>
              <a:t>最差可能</a:t>
            </a:r>
            <a:r>
              <a:rPr lang="zh-CN" altLang="en-US" dirty="0"/>
              <a:t>的稳定匹配结束。</a:t>
            </a:r>
          </a:p>
        </p:txBody>
      </p:sp>
    </p:spTree>
    <p:extLst>
      <p:ext uri="{BB962C8B-B14F-4D97-AF65-F5344CB8AC3E}">
        <p14:creationId xmlns:p14="http://schemas.microsoft.com/office/powerpoint/2010/main" val="1368790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FBEADE4-9ECB-4248-9A21-682EB676B39B}"/>
              </a:ext>
            </a:extLst>
          </p:cNvPr>
          <p:cNvSpPr>
            <a:spLocks noGrp="1"/>
          </p:cNvSpPr>
          <p:nvPr>
            <p:ph type="sldNum" sz="quarter" idx="12"/>
          </p:nvPr>
        </p:nvSpPr>
        <p:spPr/>
        <p:txBody>
          <a:bodyPr/>
          <a:lstStyle/>
          <a:p>
            <a:pPr>
              <a:defRPr/>
            </a:pPr>
            <a:fld id="{5EF04A49-A932-4452-9673-02FEE0AA9016}" type="slidenum">
              <a:rPr lang="zh-CN" altLang="en-US"/>
              <a:pPr>
                <a:defRPr/>
              </a:pPr>
              <a:t>61</a:t>
            </a:fld>
            <a:endParaRPr lang="en-US" altLang="zh-CN"/>
          </a:p>
        </p:txBody>
      </p:sp>
      <p:sp>
        <p:nvSpPr>
          <p:cNvPr id="48131" name="Rectangle 2">
            <a:extLst>
              <a:ext uri="{FF2B5EF4-FFF2-40B4-BE49-F238E27FC236}">
                <a16:creationId xmlns:a16="http://schemas.microsoft.com/office/drawing/2014/main" id="{16EEA8A6-B2BF-4048-94CC-F8A5C51F1D57}"/>
              </a:ext>
            </a:extLst>
          </p:cNvPr>
          <p:cNvSpPr>
            <a:spLocks noGrp="1" noChangeArrowheads="1"/>
          </p:cNvSpPr>
          <p:nvPr>
            <p:ph type="title"/>
          </p:nvPr>
        </p:nvSpPr>
        <p:spPr/>
        <p:txBody>
          <a:bodyPr/>
          <a:lstStyle/>
          <a:p>
            <a:pPr eaLnBrk="1" hangingPunct="1"/>
            <a:r>
              <a:rPr lang="zh-CN" altLang="en-US"/>
              <a:t>推广</a:t>
            </a:r>
          </a:p>
        </p:txBody>
      </p:sp>
      <p:sp>
        <p:nvSpPr>
          <p:cNvPr id="2" name="Rectangle 3">
            <a:extLst>
              <a:ext uri="{FF2B5EF4-FFF2-40B4-BE49-F238E27FC236}">
                <a16:creationId xmlns:a16="http://schemas.microsoft.com/office/drawing/2014/main" id="{88E4B336-789B-48DC-BE0D-1716799398D3}"/>
              </a:ext>
            </a:extLst>
          </p:cNvPr>
          <p:cNvSpPr>
            <a:spLocks noGrp="1" noChangeArrowheads="1"/>
          </p:cNvSpPr>
          <p:nvPr>
            <p:ph type="body" idx="1"/>
          </p:nvPr>
        </p:nvSpPr>
        <p:spPr/>
        <p:txBody>
          <a:bodyPr/>
          <a:lstStyle/>
          <a:p>
            <a:pPr eaLnBrk="1" hangingPunct="1"/>
            <a:r>
              <a:rPr lang="zh-CN" altLang="en-US" dirty="0"/>
              <a:t>但是不要忘了一种平衡：</a:t>
            </a:r>
          </a:p>
          <a:p>
            <a:pPr eaLnBrk="1" hangingPunct="1">
              <a:buFont typeface="Wingdings" panose="05000000000000000000" pitchFamily="2" charset="2"/>
              <a:buChar char="ü"/>
            </a:pPr>
            <a:r>
              <a:rPr lang="zh-CN" altLang="en-US" dirty="0"/>
              <a:t> </a:t>
            </a:r>
            <a:r>
              <a:rPr lang="en-US" altLang="zh-CN" dirty="0"/>
              <a:t>w</a:t>
            </a:r>
            <a:r>
              <a:rPr lang="zh-CN" altLang="en-US" dirty="0"/>
              <a:t>有主动选择的权利</a:t>
            </a:r>
          </a:p>
          <a:p>
            <a:pPr eaLnBrk="1" hangingPunct="1">
              <a:buFont typeface="Wingdings" panose="05000000000000000000" pitchFamily="2" charset="2"/>
              <a:buChar char="ü"/>
            </a:pPr>
            <a:r>
              <a:rPr lang="zh-CN" altLang="en-US" dirty="0"/>
              <a:t>命题一：</a:t>
            </a:r>
            <a:r>
              <a:rPr lang="en-US" altLang="zh-CN" dirty="0"/>
              <a:t>w</a:t>
            </a:r>
            <a:r>
              <a:rPr lang="zh-CN" altLang="en-US" dirty="0"/>
              <a:t>越来越好</a:t>
            </a:r>
          </a:p>
          <a:p>
            <a:pPr eaLnBrk="1" hangingPunct="1">
              <a:buFont typeface="Wingdings" panose="05000000000000000000" pitchFamily="2" charset="2"/>
              <a:buChar char="ü"/>
            </a:pPr>
            <a:r>
              <a:rPr lang="zh-CN" altLang="en-US" dirty="0"/>
              <a:t>命题二：</a:t>
            </a:r>
            <a:r>
              <a:rPr lang="en-US" altLang="zh-CN" dirty="0"/>
              <a:t>m</a:t>
            </a:r>
            <a:r>
              <a:rPr lang="zh-CN" altLang="en-US" dirty="0"/>
              <a:t>越来越差</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05611D9-3283-4A33-8DE3-0D802E23578B}"/>
              </a:ext>
            </a:extLst>
          </p:cNvPr>
          <p:cNvSpPr>
            <a:spLocks noGrp="1"/>
          </p:cNvSpPr>
          <p:nvPr>
            <p:ph type="sldNum" sz="quarter" idx="12"/>
          </p:nvPr>
        </p:nvSpPr>
        <p:spPr/>
        <p:txBody>
          <a:bodyPr/>
          <a:lstStyle/>
          <a:p>
            <a:pPr>
              <a:defRPr/>
            </a:pPr>
            <a:fld id="{06F26292-B4D0-49CF-8639-B47F5320035A}" type="slidenum">
              <a:rPr lang="zh-CN" altLang="en-US"/>
              <a:pPr>
                <a:defRPr/>
              </a:pPr>
              <a:t>62</a:t>
            </a:fld>
            <a:endParaRPr lang="en-US" altLang="zh-CN"/>
          </a:p>
        </p:txBody>
      </p:sp>
      <p:sp>
        <p:nvSpPr>
          <p:cNvPr id="49155" name="Rectangle 2">
            <a:extLst>
              <a:ext uri="{FF2B5EF4-FFF2-40B4-BE49-F238E27FC236}">
                <a16:creationId xmlns:a16="http://schemas.microsoft.com/office/drawing/2014/main" id="{C25AC73B-2C86-44C6-A393-26FE16EC990F}"/>
              </a:ext>
            </a:extLst>
          </p:cNvPr>
          <p:cNvSpPr>
            <a:spLocks noGrp="1" noChangeArrowheads="1"/>
          </p:cNvSpPr>
          <p:nvPr>
            <p:ph type="title"/>
          </p:nvPr>
        </p:nvSpPr>
        <p:spPr>
          <a:xfrm>
            <a:off x="1143000" y="609600"/>
            <a:ext cx="7793038" cy="1143000"/>
          </a:xfrm>
        </p:spPr>
        <p:txBody>
          <a:bodyPr/>
          <a:lstStyle/>
          <a:p>
            <a:pPr eaLnBrk="1" hangingPunct="1"/>
            <a:r>
              <a:rPr lang="zh-CN" altLang="en-US"/>
              <a:t>扩展</a:t>
            </a:r>
          </a:p>
        </p:txBody>
      </p:sp>
      <p:sp>
        <p:nvSpPr>
          <p:cNvPr id="49156" name="Rectangle 3">
            <a:extLst>
              <a:ext uri="{FF2B5EF4-FFF2-40B4-BE49-F238E27FC236}">
                <a16:creationId xmlns:a16="http://schemas.microsoft.com/office/drawing/2014/main" id="{8E232371-B34F-449F-8002-2351A727AC34}"/>
              </a:ext>
            </a:extLst>
          </p:cNvPr>
          <p:cNvSpPr>
            <a:spLocks noGrp="1" noChangeArrowheads="1"/>
          </p:cNvSpPr>
          <p:nvPr>
            <p:ph type="body" idx="1"/>
          </p:nvPr>
        </p:nvSpPr>
        <p:spPr>
          <a:xfrm>
            <a:off x="755576" y="1981200"/>
            <a:ext cx="7772400" cy="4114800"/>
          </a:xfrm>
        </p:spPr>
        <p:txBody>
          <a:bodyPr/>
          <a:lstStyle/>
          <a:p>
            <a:pPr eaLnBrk="1" hangingPunct="1"/>
            <a:r>
              <a:rPr lang="zh-CN" altLang="en-US" dirty="0"/>
              <a:t>对于一般情形，稳定匹配是否一定存在？</a:t>
            </a:r>
          </a:p>
          <a:p>
            <a:pPr eaLnBrk="1" hangingPunct="1"/>
            <a:endParaRPr lang="zh-CN" altLang="en-US" dirty="0"/>
          </a:p>
          <a:p>
            <a:pPr eaLnBrk="1" hangingPunct="1"/>
            <a:r>
              <a:rPr lang="zh-CN" altLang="en-US" dirty="0"/>
              <a:t>是否唯一？</a:t>
            </a:r>
          </a:p>
          <a:p>
            <a:pPr eaLnBrk="1" hangingPunct="1"/>
            <a:endParaRPr lang="zh-CN" altLang="en-US" dirty="0"/>
          </a:p>
          <a:p>
            <a:pPr eaLnBrk="1" hangingPunct="1"/>
            <a:r>
              <a:rPr lang="zh-CN" altLang="en-US" dirty="0"/>
              <a:t>如何生成稳定匹配？</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 name="灯片编号占位符 5">
            <a:extLst>
              <a:ext uri="{FF2B5EF4-FFF2-40B4-BE49-F238E27FC236}">
                <a16:creationId xmlns:a16="http://schemas.microsoft.com/office/drawing/2014/main" id="{F2A4A5B1-452B-456D-BB2A-F440833AEFDA}"/>
              </a:ext>
            </a:extLst>
          </p:cNvPr>
          <p:cNvSpPr>
            <a:spLocks noGrp="1"/>
          </p:cNvSpPr>
          <p:nvPr>
            <p:ph type="sldNum" sz="quarter" idx="12"/>
          </p:nvPr>
        </p:nvSpPr>
        <p:spPr/>
        <p:txBody>
          <a:bodyPr/>
          <a:lstStyle/>
          <a:p>
            <a:pPr>
              <a:defRPr/>
            </a:pPr>
            <a:fld id="{D0E1F8E5-58FC-4EAA-816C-4002C173EF53}" type="slidenum">
              <a:rPr lang="zh-CN" altLang="en-US"/>
              <a:pPr>
                <a:defRPr/>
              </a:pPr>
              <a:t>63</a:t>
            </a:fld>
            <a:endParaRPr lang="en-US" altLang="zh-CN"/>
          </a:p>
        </p:txBody>
      </p:sp>
      <p:sp>
        <p:nvSpPr>
          <p:cNvPr id="50179" name="Rectangle 1026">
            <a:extLst>
              <a:ext uri="{FF2B5EF4-FFF2-40B4-BE49-F238E27FC236}">
                <a16:creationId xmlns:a16="http://schemas.microsoft.com/office/drawing/2014/main" id="{CE04BB85-559F-47EF-A1F3-D1C03C93C86C}"/>
              </a:ext>
            </a:extLst>
          </p:cNvPr>
          <p:cNvSpPr>
            <a:spLocks noGrp="1" noChangeArrowheads="1"/>
          </p:cNvSpPr>
          <p:nvPr>
            <p:ph type="title"/>
          </p:nvPr>
        </p:nvSpPr>
        <p:spPr>
          <a:xfrm>
            <a:off x="1143000" y="609600"/>
            <a:ext cx="7793038" cy="1143000"/>
          </a:xfrm>
        </p:spPr>
        <p:txBody>
          <a:bodyPr/>
          <a:lstStyle/>
          <a:p>
            <a:pPr eaLnBrk="1" hangingPunct="1"/>
            <a:r>
              <a:rPr lang="zh-CN" altLang="en-US"/>
              <a:t>扩展</a:t>
            </a:r>
          </a:p>
        </p:txBody>
      </p:sp>
      <p:sp>
        <p:nvSpPr>
          <p:cNvPr id="50180" name="Rectangle 1027">
            <a:extLst>
              <a:ext uri="{FF2B5EF4-FFF2-40B4-BE49-F238E27FC236}">
                <a16:creationId xmlns:a16="http://schemas.microsoft.com/office/drawing/2014/main" id="{E43B9623-9FA7-4540-9695-595274963ABE}"/>
              </a:ext>
            </a:extLst>
          </p:cNvPr>
          <p:cNvSpPr>
            <a:spLocks noGrp="1" noChangeArrowheads="1"/>
          </p:cNvSpPr>
          <p:nvPr>
            <p:ph type="body" idx="1"/>
          </p:nvPr>
        </p:nvSpPr>
        <p:spPr>
          <a:xfrm>
            <a:off x="1163638" y="1813560"/>
            <a:ext cx="7772400" cy="4114800"/>
          </a:xfrm>
        </p:spPr>
        <p:txBody>
          <a:bodyPr/>
          <a:lstStyle/>
          <a:p>
            <a:pPr eaLnBrk="1" hangingPunct="1"/>
            <a:r>
              <a:rPr lang="zh-CN" altLang="en-US" sz="2400" b="1" dirty="0"/>
              <a:t>稳定室友匹配问题</a:t>
            </a:r>
          </a:p>
          <a:p>
            <a:pPr lvl="1" eaLnBrk="1" hangingPunct="1"/>
            <a:r>
              <a:rPr lang="en-US" altLang="zh-CN" sz="2400" dirty="0"/>
              <a:t>2n </a:t>
            </a:r>
            <a:r>
              <a:rPr lang="zh-CN" altLang="en-US" sz="2400" dirty="0"/>
              <a:t>个人，每个人对其他人有个排序，从</a:t>
            </a:r>
            <a:r>
              <a:rPr lang="en-US" altLang="zh-CN" sz="2400" dirty="0"/>
              <a:t>1 </a:t>
            </a:r>
            <a:r>
              <a:rPr lang="zh-CN" altLang="en-US" sz="2400" dirty="0"/>
              <a:t>到 2</a:t>
            </a:r>
            <a:r>
              <a:rPr lang="en-US" altLang="zh-CN" sz="2400" dirty="0"/>
              <a:t>n-1.</a:t>
            </a:r>
          </a:p>
          <a:p>
            <a:pPr lvl="1" eaLnBrk="1" hangingPunct="1"/>
            <a:r>
              <a:rPr lang="zh-CN" altLang="en-US" sz="2400" dirty="0"/>
              <a:t>给出分配方案，使得没有不稳定的配对出现.</a:t>
            </a:r>
            <a:endParaRPr lang="en-US" altLang="zh-CN" sz="2400" dirty="0"/>
          </a:p>
        </p:txBody>
      </p:sp>
      <p:sp>
        <p:nvSpPr>
          <p:cNvPr id="50181" name="Rectangle 1028">
            <a:extLst>
              <a:ext uri="{FF2B5EF4-FFF2-40B4-BE49-F238E27FC236}">
                <a16:creationId xmlns:a16="http://schemas.microsoft.com/office/drawing/2014/main" id="{AC6470B0-9350-4C55-AC18-1ECF1E8B6041}"/>
              </a:ext>
            </a:extLst>
          </p:cNvPr>
          <p:cNvSpPr>
            <a:spLocks noChangeArrowheads="1"/>
          </p:cNvSpPr>
          <p:nvPr/>
        </p:nvSpPr>
        <p:spPr bwMode="auto">
          <a:xfrm>
            <a:off x="2743200" y="3582988"/>
            <a:ext cx="914400" cy="379412"/>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accent2"/>
                </a:solidFill>
                <a:latin typeface="Comic Sans MS" panose="030F0702030302020204" pitchFamily="66" charset="0"/>
              </a:rPr>
              <a:t>B</a:t>
            </a:r>
          </a:p>
        </p:txBody>
      </p:sp>
      <p:sp>
        <p:nvSpPr>
          <p:cNvPr id="50182" name="Rectangle 1029">
            <a:extLst>
              <a:ext uri="{FF2B5EF4-FFF2-40B4-BE49-F238E27FC236}">
                <a16:creationId xmlns:a16="http://schemas.microsoft.com/office/drawing/2014/main" id="{98EECC50-F9C6-4F38-B30E-44F9DF3F4469}"/>
              </a:ext>
            </a:extLst>
          </p:cNvPr>
          <p:cNvSpPr>
            <a:spLocks noChangeArrowheads="1"/>
          </p:cNvSpPr>
          <p:nvPr/>
        </p:nvSpPr>
        <p:spPr bwMode="auto">
          <a:xfrm>
            <a:off x="1752600" y="3962400"/>
            <a:ext cx="990600" cy="37941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Bob</a:t>
            </a:r>
          </a:p>
        </p:txBody>
      </p:sp>
      <p:sp>
        <p:nvSpPr>
          <p:cNvPr id="50183" name="Rectangle 1030">
            <a:extLst>
              <a:ext uri="{FF2B5EF4-FFF2-40B4-BE49-F238E27FC236}">
                <a16:creationId xmlns:a16="http://schemas.microsoft.com/office/drawing/2014/main" id="{8444C81B-2C5D-41AA-BAF3-BF2F93603D95}"/>
              </a:ext>
            </a:extLst>
          </p:cNvPr>
          <p:cNvSpPr>
            <a:spLocks noChangeArrowheads="1"/>
          </p:cNvSpPr>
          <p:nvPr/>
        </p:nvSpPr>
        <p:spPr bwMode="auto">
          <a:xfrm>
            <a:off x="1752600" y="4343400"/>
            <a:ext cx="990600" cy="37941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Chris</a:t>
            </a:r>
          </a:p>
        </p:txBody>
      </p:sp>
      <p:sp>
        <p:nvSpPr>
          <p:cNvPr id="50184" name="Rectangle 1031">
            <a:extLst>
              <a:ext uri="{FF2B5EF4-FFF2-40B4-BE49-F238E27FC236}">
                <a16:creationId xmlns:a16="http://schemas.microsoft.com/office/drawing/2014/main" id="{87120A93-DD67-43D7-87A4-5C5133E6625B}"/>
              </a:ext>
            </a:extLst>
          </p:cNvPr>
          <p:cNvSpPr>
            <a:spLocks noChangeArrowheads="1"/>
          </p:cNvSpPr>
          <p:nvPr/>
        </p:nvSpPr>
        <p:spPr bwMode="auto">
          <a:xfrm>
            <a:off x="1752600" y="3582988"/>
            <a:ext cx="990600" cy="37941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Adam</a:t>
            </a:r>
          </a:p>
        </p:txBody>
      </p:sp>
      <p:sp>
        <p:nvSpPr>
          <p:cNvPr id="50185" name="Rectangle 1032">
            <a:extLst>
              <a:ext uri="{FF2B5EF4-FFF2-40B4-BE49-F238E27FC236}">
                <a16:creationId xmlns:a16="http://schemas.microsoft.com/office/drawing/2014/main" id="{34580940-8A3B-4A14-AA83-9CE8DD9E75C1}"/>
              </a:ext>
            </a:extLst>
          </p:cNvPr>
          <p:cNvSpPr>
            <a:spLocks noChangeArrowheads="1"/>
          </p:cNvSpPr>
          <p:nvPr/>
        </p:nvSpPr>
        <p:spPr bwMode="auto">
          <a:xfrm>
            <a:off x="3657600" y="3582988"/>
            <a:ext cx="914400" cy="379412"/>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C</a:t>
            </a:r>
          </a:p>
        </p:txBody>
      </p:sp>
      <p:sp>
        <p:nvSpPr>
          <p:cNvPr id="50186" name="Rectangle 1033">
            <a:extLst>
              <a:ext uri="{FF2B5EF4-FFF2-40B4-BE49-F238E27FC236}">
                <a16:creationId xmlns:a16="http://schemas.microsoft.com/office/drawing/2014/main" id="{3C821154-05AF-4C1D-9A9F-3170854A036B}"/>
              </a:ext>
            </a:extLst>
          </p:cNvPr>
          <p:cNvSpPr>
            <a:spLocks noChangeArrowheads="1"/>
          </p:cNvSpPr>
          <p:nvPr/>
        </p:nvSpPr>
        <p:spPr bwMode="auto">
          <a:xfrm>
            <a:off x="3657600" y="3962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A</a:t>
            </a:r>
          </a:p>
        </p:txBody>
      </p:sp>
      <p:sp>
        <p:nvSpPr>
          <p:cNvPr id="50187" name="Rectangle 1034">
            <a:extLst>
              <a:ext uri="{FF2B5EF4-FFF2-40B4-BE49-F238E27FC236}">
                <a16:creationId xmlns:a16="http://schemas.microsoft.com/office/drawing/2014/main" id="{5D257F46-062A-4680-AB72-C18230F1FE8A}"/>
              </a:ext>
            </a:extLst>
          </p:cNvPr>
          <p:cNvSpPr>
            <a:spLocks noChangeArrowheads="1"/>
          </p:cNvSpPr>
          <p:nvPr/>
        </p:nvSpPr>
        <p:spPr bwMode="auto">
          <a:xfrm>
            <a:off x="3657600" y="4343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accent2"/>
                </a:solidFill>
                <a:latin typeface="Comic Sans MS" panose="030F0702030302020204" pitchFamily="66" charset="0"/>
              </a:rPr>
              <a:t>B</a:t>
            </a:r>
          </a:p>
        </p:txBody>
      </p:sp>
      <p:sp>
        <p:nvSpPr>
          <p:cNvPr id="50188" name="Rectangle 1035">
            <a:extLst>
              <a:ext uri="{FF2B5EF4-FFF2-40B4-BE49-F238E27FC236}">
                <a16:creationId xmlns:a16="http://schemas.microsoft.com/office/drawing/2014/main" id="{1CE215DF-143B-4935-B5B1-6B7298794973}"/>
              </a:ext>
            </a:extLst>
          </p:cNvPr>
          <p:cNvSpPr>
            <a:spLocks noChangeArrowheads="1"/>
          </p:cNvSpPr>
          <p:nvPr/>
        </p:nvSpPr>
        <p:spPr bwMode="auto">
          <a:xfrm>
            <a:off x="4572000" y="3962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D</a:t>
            </a:r>
          </a:p>
        </p:txBody>
      </p:sp>
      <p:sp>
        <p:nvSpPr>
          <p:cNvPr id="50189" name="Rectangle 1036">
            <a:extLst>
              <a:ext uri="{FF2B5EF4-FFF2-40B4-BE49-F238E27FC236}">
                <a16:creationId xmlns:a16="http://schemas.microsoft.com/office/drawing/2014/main" id="{51C9FE42-E7A8-42FD-AD10-A91373986D41}"/>
              </a:ext>
            </a:extLst>
          </p:cNvPr>
          <p:cNvSpPr>
            <a:spLocks noChangeArrowheads="1"/>
          </p:cNvSpPr>
          <p:nvPr/>
        </p:nvSpPr>
        <p:spPr bwMode="auto">
          <a:xfrm>
            <a:off x="4572000" y="4343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D</a:t>
            </a:r>
          </a:p>
        </p:txBody>
      </p:sp>
      <p:sp>
        <p:nvSpPr>
          <p:cNvPr id="50190" name="Rectangle 1037">
            <a:extLst>
              <a:ext uri="{FF2B5EF4-FFF2-40B4-BE49-F238E27FC236}">
                <a16:creationId xmlns:a16="http://schemas.microsoft.com/office/drawing/2014/main" id="{A4F4699D-D853-4BFA-9E92-E947D6A3CC6C}"/>
              </a:ext>
            </a:extLst>
          </p:cNvPr>
          <p:cNvSpPr>
            <a:spLocks noChangeArrowheads="1"/>
          </p:cNvSpPr>
          <p:nvPr/>
        </p:nvSpPr>
        <p:spPr bwMode="auto">
          <a:xfrm>
            <a:off x="1752600" y="4724400"/>
            <a:ext cx="990600" cy="37941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i="1">
                <a:latin typeface="Comic Sans MS" panose="030F0702030302020204" pitchFamily="66" charset="0"/>
              </a:rPr>
              <a:t>Doofus</a:t>
            </a:r>
          </a:p>
        </p:txBody>
      </p:sp>
      <p:sp>
        <p:nvSpPr>
          <p:cNvPr id="50191" name="Rectangle 1038">
            <a:extLst>
              <a:ext uri="{FF2B5EF4-FFF2-40B4-BE49-F238E27FC236}">
                <a16:creationId xmlns:a16="http://schemas.microsoft.com/office/drawing/2014/main" id="{C1C87CA7-A40C-48B5-8029-F51F7C465A8F}"/>
              </a:ext>
            </a:extLst>
          </p:cNvPr>
          <p:cNvSpPr>
            <a:spLocks noChangeArrowheads="1"/>
          </p:cNvSpPr>
          <p:nvPr/>
        </p:nvSpPr>
        <p:spPr bwMode="auto">
          <a:xfrm>
            <a:off x="2743200" y="4724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A</a:t>
            </a:r>
          </a:p>
        </p:txBody>
      </p:sp>
      <p:sp>
        <p:nvSpPr>
          <p:cNvPr id="50192" name="Rectangle 1039">
            <a:extLst>
              <a:ext uri="{FF2B5EF4-FFF2-40B4-BE49-F238E27FC236}">
                <a16:creationId xmlns:a16="http://schemas.microsoft.com/office/drawing/2014/main" id="{AFC422BD-BFE5-4D3E-9EDE-590428EEF545}"/>
              </a:ext>
            </a:extLst>
          </p:cNvPr>
          <p:cNvSpPr>
            <a:spLocks noChangeArrowheads="1"/>
          </p:cNvSpPr>
          <p:nvPr/>
        </p:nvSpPr>
        <p:spPr bwMode="auto">
          <a:xfrm>
            <a:off x="3657600" y="4724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accent2"/>
                </a:solidFill>
                <a:latin typeface="Comic Sans MS" panose="030F0702030302020204" pitchFamily="66" charset="0"/>
              </a:rPr>
              <a:t>B</a:t>
            </a:r>
          </a:p>
        </p:txBody>
      </p:sp>
      <p:sp>
        <p:nvSpPr>
          <p:cNvPr id="50193" name="Rectangle 1040">
            <a:extLst>
              <a:ext uri="{FF2B5EF4-FFF2-40B4-BE49-F238E27FC236}">
                <a16:creationId xmlns:a16="http://schemas.microsoft.com/office/drawing/2014/main" id="{13B7474D-02F9-43E4-A971-5A222E2F2B76}"/>
              </a:ext>
            </a:extLst>
          </p:cNvPr>
          <p:cNvSpPr>
            <a:spLocks noChangeArrowheads="1"/>
          </p:cNvSpPr>
          <p:nvPr/>
        </p:nvSpPr>
        <p:spPr bwMode="auto">
          <a:xfrm>
            <a:off x="4572000" y="4724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C</a:t>
            </a:r>
          </a:p>
        </p:txBody>
      </p:sp>
      <p:sp>
        <p:nvSpPr>
          <p:cNvPr id="50194" name="Rectangle 1041">
            <a:extLst>
              <a:ext uri="{FF2B5EF4-FFF2-40B4-BE49-F238E27FC236}">
                <a16:creationId xmlns:a16="http://schemas.microsoft.com/office/drawing/2014/main" id="{8B461DD6-711A-4BF7-BCC6-E954EB2FA7B3}"/>
              </a:ext>
            </a:extLst>
          </p:cNvPr>
          <p:cNvSpPr>
            <a:spLocks noChangeArrowheads="1"/>
          </p:cNvSpPr>
          <p:nvPr/>
        </p:nvSpPr>
        <p:spPr bwMode="auto">
          <a:xfrm>
            <a:off x="4572000" y="3582988"/>
            <a:ext cx="914400" cy="379412"/>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accent2"/>
                </a:solidFill>
                <a:latin typeface="Comic Sans MS" panose="030F0702030302020204" pitchFamily="66" charset="0"/>
              </a:rPr>
              <a:t>D</a:t>
            </a:r>
          </a:p>
        </p:txBody>
      </p:sp>
      <p:sp>
        <p:nvSpPr>
          <p:cNvPr id="50195" name="Rectangle 1042">
            <a:extLst>
              <a:ext uri="{FF2B5EF4-FFF2-40B4-BE49-F238E27FC236}">
                <a16:creationId xmlns:a16="http://schemas.microsoft.com/office/drawing/2014/main" id="{B36122A1-4BF7-4327-87F8-809B03092023}"/>
              </a:ext>
            </a:extLst>
          </p:cNvPr>
          <p:cNvSpPr>
            <a:spLocks noChangeArrowheads="1"/>
          </p:cNvSpPr>
          <p:nvPr/>
        </p:nvSpPr>
        <p:spPr bwMode="auto">
          <a:xfrm>
            <a:off x="2743200" y="3962400"/>
            <a:ext cx="914400" cy="379413"/>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dirty="0">
                <a:solidFill>
                  <a:schemeClr val="accent2"/>
                </a:solidFill>
                <a:latin typeface="Comic Sans MS" panose="030F0702030302020204" pitchFamily="66" charset="0"/>
              </a:rPr>
              <a:t>C</a:t>
            </a:r>
          </a:p>
        </p:txBody>
      </p:sp>
      <p:sp>
        <p:nvSpPr>
          <p:cNvPr id="50196" name="Rectangle 1043">
            <a:extLst>
              <a:ext uri="{FF2B5EF4-FFF2-40B4-BE49-F238E27FC236}">
                <a16:creationId xmlns:a16="http://schemas.microsoft.com/office/drawing/2014/main" id="{D98047D2-37A1-46D8-A70A-79F59386C935}"/>
              </a:ext>
            </a:extLst>
          </p:cNvPr>
          <p:cNvSpPr>
            <a:spLocks noChangeArrowheads="1"/>
          </p:cNvSpPr>
          <p:nvPr/>
        </p:nvSpPr>
        <p:spPr bwMode="auto">
          <a:xfrm>
            <a:off x="2743200" y="4341813"/>
            <a:ext cx="914400" cy="382587"/>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solidFill>
                  <a:schemeClr val="accent2"/>
                </a:solidFill>
                <a:latin typeface="Comic Sans MS" panose="030F0702030302020204" pitchFamily="66" charset="0"/>
              </a:rPr>
              <a:t>A</a:t>
            </a:r>
          </a:p>
        </p:txBody>
      </p:sp>
      <p:sp>
        <p:nvSpPr>
          <p:cNvPr id="50197" name="Rectangle 1044">
            <a:extLst>
              <a:ext uri="{FF2B5EF4-FFF2-40B4-BE49-F238E27FC236}">
                <a16:creationId xmlns:a16="http://schemas.microsoft.com/office/drawing/2014/main" id="{64DDA980-4C96-4A08-ACE4-B2E693987A14}"/>
              </a:ext>
            </a:extLst>
          </p:cNvPr>
          <p:cNvSpPr>
            <a:spLocks noChangeArrowheads="1"/>
          </p:cNvSpPr>
          <p:nvPr/>
        </p:nvSpPr>
        <p:spPr bwMode="auto">
          <a:xfrm>
            <a:off x="2743200" y="3200400"/>
            <a:ext cx="914400" cy="3825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i="1">
                <a:latin typeface="Comic Sans MS" panose="030F0702030302020204" pitchFamily="66" charset="0"/>
              </a:rPr>
              <a:t>1</a:t>
            </a:r>
            <a:r>
              <a:rPr kumimoji="0" lang="en-US" altLang="zh-CN" sz="1400" i="1" baseline="30000">
                <a:latin typeface="Comic Sans MS" panose="030F0702030302020204" pitchFamily="66" charset="0"/>
              </a:rPr>
              <a:t>st</a:t>
            </a:r>
          </a:p>
        </p:txBody>
      </p:sp>
      <p:sp>
        <p:nvSpPr>
          <p:cNvPr id="50198" name="Rectangle 1045">
            <a:extLst>
              <a:ext uri="{FF2B5EF4-FFF2-40B4-BE49-F238E27FC236}">
                <a16:creationId xmlns:a16="http://schemas.microsoft.com/office/drawing/2014/main" id="{2CF5210C-D675-4733-92C1-82C115D479DC}"/>
              </a:ext>
            </a:extLst>
          </p:cNvPr>
          <p:cNvSpPr>
            <a:spLocks noChangeArrowheads="1"/>
          </p:cNvSpPr>
          <p:nvPr/>
        </p:nvSpPr>
        <p:spPr bwMode="auto">
          <a:xfrm>
            <a:off x="3657600" y="3200400"/>
            <a:ext cx="914400" cy="3825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i="1">
                <a:latin typeface="Comic Sans MS" panose="030F0702030302020204" pitchFamily="66" charset="0"/>
              </a:rPr>
              <a:t>2</a:t>
            </a:r>
            <a:r>
              <a:rPr kumimoji="0" lang="en-US" altLang="zh-CN" sz="1400" i="1" baseline="30000">
                <a:latin typeface="Comic Sans MS" panose="030F0702030302020204" pitchFamily="66" charset="0"/>
              </a:rPr>
              <a:t>nd</a:t>
            </a:r>
          </a:p>
        </p:txBody>
      </p:sp>
      <p:sp>
        <p:nvSpPr>
          <p:cNvPr id="50199" name="Rectangle 1046">
            <a:extLst>
              <a:ext uri="{FF2B5EF4-FFF2-40B4-BE49-F238E27FC236}">
                <a16:creationId xmlns:a16="http://schemas.microsoft.com/office/drawing/2014/main" id="{CC04C3CA-803E-4D21-918E-A268CA0A5286}"/>
              </a:ext>
            </a:extLst>
          </p:cNvPr>
          <p:cNvSpPr>
            <a:spLocks noChangeArrowheads="1"/>
          </p:cNvSpPr>
          <p:nvPr/>
        </p:nvSpPr>
        <p:spPr bwMode="auto">
          <a:xfrm>
            <a:off x="4572000" y="3200400"/>
            <a:ext cx="914400" cy="3825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i="1">
                <a:latin typeface="Comic Sans MS" panose="030F0702030302020204" pitchFamily="66" charset="0"/>
              </a:rPr>
              <a:t>3</a:t>
            </a:r>
            <a:r>
              <a:rPr kumimoji="0" lang="en-US" altLang="zh-CN" sz="1400" i="1" baseline="30000">
                <a:latin typeface="Comic Sans MS" panose="030F0702030302020204" pitchFamily="66" charset="0"/>
              </a:rPr>
              <a:t>rd</a:t>
            </a:r>
          </a:p>
        </p:txBody>
      </p:sp>
      <p:sp>
        <p:nvSpPr>
          <p:cNvPr id="90135" name="Rectangle 1047">
            <a:extLst>
              <a:ext uri="{FF2B5EF4-FFF2-40B4-BE49-F238E27FC236}">
                <a16:creationId xmlns:a16="http://schemas.microsoft.com/office/drawing/2014/main" id="{65EC7895-2B55-4C4B-86AC-6FAB9FC8A899}"/>
              </a:ext>
            </a:extLst>
          </p:cNvPr>
          <p:cNvSpPr>
            <a:spLocks noChangeArrowheads="1"/>
          </p:cNvSpPr>
          <p:nvPr/>
        </p:nvSpPr>
        <p:spPr bwMode="auto">
          <a:xfrm>
            <a:off x="6145213" y="3798888"/>
            <a:ext cx="264001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600">
                <a:latin typeface="Comic Sans MS" panose="030F0702030302020204" pitchFamily="66" charset="0"/>
              </a:rPr>
              <a:t>A-B, C-D	</a:t>
            </a:r>
            <a:r>
              <a:rPr lang="en-US" altLang="zh-CN" sz="1600">
                <a:latin typeface="Comic Sans MS" panose="030F0702030302020204" pitchFamily="66" charset="0"/>
                <a:sym typeface="Symbol" panose="05050102010706020507" pitchFamily="18" charset="2"/>
              </a:rPr>
              <a:t></a:t>
            </a:r>
            <a:r>
              <a:rPr lang="en-US" altLang="zh-CN" sz="1600">
                <a:latin typeface="Comic Sans MS" panose="030F0702030302020204" pitchFamily="66" charset="0"/>
              </a:rPr>
              <a:t>  B-C unstable</a:t>
            </a:r>
            <a:br>
              <a:rPr lang="en-US" altLang="zh-CN" sz="1600">
                <a:latin typeface="Comic Sans MS" panose="030F0702030302020204" pitchFamily="66" charset="0"/>
              </a:rPr>
            </a:br>
            <a:r>
              <a:rPr lang="en-US" altLang="zh-CN" sz="1600">
                <a:latin typeface="Comic Sans MS" panose="030F0702030302020204" pitchFamily="66" charset="0"/>
              </a:rPr>
              <a:t>A-C, B-D	</a:t>
            </a:r>
            <a:r>
              <a:rPr lang="en-US" altLang="zh-CN" sz="1600">
                <a:latin typeface="Comic Sans MS" panose="030F0702030302020204" pitchFamily="66" charset="0"/>
                <a:sym typeface="Symbol" panose="05050102010706020507" pitchFamily="18" charset="2"/>
              </a:rPr>
              <a:t></a:t>
            </a:r>
            <a:r>
              <a:rPr lang="en-US" altLang="zh-CN" sz="1600">
                <a:latin typeface="Comic Sans MS" panose="030F0702030302020204" pitchFamily="66" charset="0"/>
              </a:rPr>
              <a:t>  A-B unstable</a:t>
            </a:r>
            <a:br>
              <a:rPr lang="en-US" altLang="zh-CN" sz="1600">
                <a:latin typeface="Comic Sans MS" panose="030F0702030302020204" pitchFamily="66" charset="0"/>
              </a:rPr>
            </a:br>
            <a:r>
              <a:rPr lang="en-US" altLang="zh-CN" sz="1600">
                <a:latin typeface="Comic Sans MS" panose="030F0702030302020204" pitchFamily="66" charset="0"/>
              </a:rPr>
              <a:t>A-D, B-C	</a:t>
            </a:r>
            <a:r>
              <a:rPr lang="en-US" altLang="zh-CN" sz="1600">
                <a:latin typeface="Comic Sans MS" panose="030F0702030302020204" pitchFamily="66" charset="0"/>
                <a:sym typeface="Symbol" panose="05050102010706020507" pitchFamily="18" charset="2"/>
              </a:rPr>
              <a:t> </a:t>
            </a:r>
            <a:r>
              <a:rPr lang="en-US" altLang="zh-CN" sz="1600">
                <a:latin typeface="Comic Sans MS" panose="030F0702030302020204" pitchFamily="66" charset="0"/>
              </a:rPr>
              <a:t> A-C unstable</a:t>
            </a:r>
          </a:p>
        </p:txBody>
      </p:sp>
      <p:sp>
        <p:nvSpPr>
          <p:cNvPr id="90136" name="Text Box 1048">
            <a:extLst>
              <a:ext uri="{FF2B5EF4-FFF2-40B4-BE49-F238E27FC236}">
                <a16:creationId xmlns:a16="http://schemas.microsoft.com/office/drawing/2014/main" id="{36374A7E-03EC-4568-991A-9A67454A36BB}"/>
              </a:ext>
            </a:extLst>
          </p:cNvPr>
          <p:cNvSpPr txBox="1">
            <a:spLocks noChangeArrowheads="1"/>
          </p:cNvSpPr>
          <p:nvPr/>
        </p:nvSpPr>
        <p:spPr bwMode="auto">
          <a:xfrm>
            <a:off x="1409700" y="5652453"/>
            <a:ext cx="72390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pPr>
            <a:r>
              <a:rPr lang="zh-CN" altLang="en-US" sz="2800" dirty="0"/>
              <a:t> 观察可知，对于稳定室友匹配问题，可能会</a:t>
            </a:r>
            <a:r>
              <a:rPr lang="zh-CN" altLang="en-US" sz="2800" b="1" dirty="0">
                <a:solidFill>
                  <a:schemeClr val="hlink"/>
                </a:solidFill>
              </a:rPr>
              <a:t>没有</a:t>
            </a:r>
            <a:r>
              <a:rPr lang="zh-CN" altLang="en-US" sz="2800" dirty="0"/>
              <a:t>稳定匹配方案！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135"/>
                                        </p:tgtEl>
                                        <p:attrNameLst>
                                          <p:attrName>style.visibility</p:attrName>
                                        </p:attrNameLst>
                                      </p:cBhvr>
                                      <p:to>
                                        <p:strVal val="visible"/>
                                      </p:to>
                                    </p:set>
                                    <p:anim calcmode="lin" valueType="num">
                                      <p:cBhvr additive="base">
                                        <p:cTn id="7" dur="500" fill="hold"/>
                                        <p:tgtEl>
                                          <p:spTgt spid="90135"/>
                                        </p:tgtEl>
                                        <p:attrNameLst>
                                          <p:attrName>ppt_x</p:attrName>
                                        </p:attrNameLst>
                                      </p:cBhvr>
                                      <p:tavLst>
                                        <p:tav tm="0">
                                          <p:val>
                                            <p:strVal val="1+#ppt_w/2"/>
                                          </p:val>
                                        </p:tav>
                                        <p:tav tm="100000">
                                          <p:val>
                                            <p:strVal val="#ppt_x"/>
                                          </p:val>
                                        </p:tav>
                                      </p:tavLst>
                                    </p:anim>
                                    <p:anim calcmode="lin" valueType="num">
                                      <p:cBhvr additive="base">
                                        <p:cTn id="8" dur="500" fill="hold"/>
                                        <p:tgtEl>
                                          <p:spTgt spid="901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0136"/>
                                        </p:tgtEl>
                                        <p:attrNameLst>
                                          <p:attrName>style.visibility</p:attrName>
                                        </p:attrNameLst>
                                      </p:cBhvr>
                                      <p:to>
                                        <p:strVal val="visible"/>
                                      </p:to>
                                    </p:set>
                                    <p:anim calcmode="lin" valueType="num">
                                      <p:cBhvr additive="base">
                                        <p:cTn id="13" dur="500" fill="hold"/>
                                        <p:tgtEl>
                                          <p:spTgt spid="90136"/>
                                        </p:tgtEl>
                                        <p:attrNameLst>
                                          <p:attrName>ppt_x</p:attrName>
                                        </p:attrNameLst>
                                      </p:cBhvr>
                                      <p:tavLst>
                                        <p:tav tm="0">
                                          <p:val>
                                            <p:strVal val="0-#ppt_w/2"/>
                                          </p:val>
                                        </p:tav>
                                        <p:tav tm="100000">
                                          <p:val>
                                            <p:strVal val="#ppt_x"/>
                                          </p:val>
                                        </p:tav>
                                      </p:tavLst>
                                    </p:anim>
                                    <p:anim calcmode="lin" valueType="num">
                                      <p:cBhvr additive="base">
                                        <p:cTn id="14" dur="500" fill="hold"/>
                                        <p:tgtEl>
                                          <p:spTgt spid="901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35" grpId="0" autoUpdateAnimBg="0"/>
      <p:bldP spid="90136"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6EC5B094-216E-4B27-ABB1-4E08BA1011B3}"/>
              </a:ext>
            </a:extLst>
          </p:cNvPr>
          <p:cNvSpPr>
            <a:spLocks noGrp="1"/>
          </p:cNvSpPr>
          <p:nvPr>
            <p:ph type="sldNum" sz="quarter" idx="12"/>
          </p:nvPr>
        </p:nvSpPr>
        <p:spPr/>
        <p:txBody>
          <a:bodyPr/>
          <a:lstStyle/>
          <a:p>
            <a:pPr>
              <a:defRPr/>
            </a:pPr>
            <a:fld id="{6FC0985E-AA96-43C2-A914-A94C48418C9F}" type="slidenum">
              <a:rPr lang="zh-CN" altLang="en-US"/>
              <a:pPr>
                <a:defRPr/>
              </a:pPr>
              <a:t>64</a:t>
            </a:fld>
            <a:endParaRPr lang="en-US" altLang="zh-CN"/>
          </a:p>
        </p:txBody>
      </p:sp>
      <p:sp>
        <p:nvSpPr>
          <p:cNvPr id="51203" name="Rectangle 2">
            <a:extLst>
              <a:ext uri="{FF2B5EF4-FFF2-40B4-BE49-F238E27FC236}">
                <a16:creationId xmlns:a16="http://schemas.microsoft.com/office/drawing/2014/main" id="{62D92042-C3C2-42E0-A190-1CB7CBF0688B}"/>
              </a:ext>
            </a:extLst>
          </p:cNvPr>
          <p:cNvSpPr>
            <a:spLocks noGrp="1" noChangeArrowheads="1"/>
          </p:cNvSpPr>
          <p:nvPr>
            <p:ph type="title"/>
          </p:nvPr>
        </p:nvSpPr>
        <p:spPr/>
        <p:txBody>
          <a:bodyPr/>
          <a:lstStyle/>
          <a:p>
            <a:pPr eaLnBrk="1" hangingPunct="1"/>
            <a:r>
              <a:rPr lang="zh-CN" altLang="en-US"/>
              <a:t>扩展</a:t>
            </a:r>
          </a:p>
        </p:txBody>
      </p:sp>
      <p:sp>
        <p:nvSpPr>
          <p:cNvPr id="51204" name="Rectangle 3">
            <a:extLst>
              <a:ext uri="{FF2B5EF4-FFF2-40B4-BE49-F238E27FC236}">
                <a16:creationId xmlns:a16="http://schemas.microsoft.com/office/drawing/2014/main" id="{DB427B99-6A8D-47E3-9C2A-EBC2EE177B43}"/>
              </a:ext>
            </a:extLst>
          </p:cNvPr>
          <p:cNvSpPr>
            <a:spLocks noGrp="1" noChangeArrowheads="1"/>
          </p:cNvSpPr>
          <p:nvPr>
            <p:ph type="body" idx="1"/>
          </p:nvPr>
        </p:nvSpPr>
        <p:spPr>
          <a:xfrm>
            <a:off x="495330" y="2081213"/>
            <a:ext cx="7772400" cy="4114800"/>
          </a:xfrm>
        </p:spPr>
        <p:txBody>
          <a:bodyPr/>
          <a:lstStyle/>
          <a:p>
            <a:pPr eaLnBrk="1" hangingPunct="1"/>
            <a:r>
              <a:rPr lang="en-US" altLang="zh-CN" sz="2400" dirty="0"/>
              <a:t>Ex:  Men </a:t>
            </a:r>
            <a:r>
              <a:rPr lang="en-US" altLang="zh-CN" sz="2400" dirty="0">
                <a:sym typeface="Symbol" panose="05050102010706020507" pitchFamily="18" charset="2"/>
              </a:rPr>
              <a:t></a:t>
            </a:r>
            <a:r>
              <a:rPr lang="en-US" altLang="zh-CN" sz="2400" dirty="0"/>
              <a:t> hospitals, Women </a:t>
            </a:r>
            <a:r>
              <a:rPr lang="en-US" altLang="zh-CN" sz="2400" dirty="0">
                <a:sym typeface="Symbol" panose="05050102010706020507" pitchFamily="18" charset="2"/>
              </a:rPr>
              <a:t></a:t>
            </a:r>
            <a:r>
              <a:rPr lang="en-US" altLang="zh-CN" sz="2400" dirty="0"/>
              <a:t> med school residents.</a:t>
            </a:r>
          </a:p>
          <a:p>
            <a:pPr lvl="4" eaLnBrk="1" hangingPunct="1"/>
            <a:endParaRPr lang="en-US" altLang="zh-CN" sz="1800" dirty="0"/>
          </a:p>
        </p:txBody>
      </p:sp>
      <p:sp>
        <p:nvSpPr>
          <p:cNvPr id="50180" name="Text Box 4">
            <a:extLst>
              <a:ext uri="{FF2B5EF4-FFF2-40B4-BE49-F238E27FC236}">
                <a16:creationId xmlns:a16="http://schemas.microsoft.com/office/drawing/2014/main" id="{7FCD01CF-1523-4C0C-BB5E-1D0B9FAD29C8}"/>
              </a:ext>
            </a:extLst>
          </p:cNvPr>
          <p:cNvSpPr txBox="1">
            <a:spLocks noChangeArrowheads="1"/>
          </p:cNvSpPr>
          <p:nvPr/>
        </p:nvSpPr>
        <p:spPr bwMode="auto">
          <a:xfrm>
            <a:off x="457200" y="4293096"/>
            <a:ext cx="8188399" cy="2308966"/>
          </a:xfrm>
          <a:prstGeom prst="rect">
            <a:avLst/>
          </a:prstGeom>
          <a:noFill/>
          <a:ln>
            <a:noFill/>
          </a:ln>
          <a:effectLst/>
          <a:extLst>
            <a:ext uri="{909E8E84-426E-40DD-AFC4-6F175D3DCCD1}">
              <a14:hiddenFill xmlns:a14="http://schemas.microsoft.com/office/drawing/2010/main">
                <a:solidFill>
                  <a:srgbClr val="003399"/>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lnSpc>
                <a:spcPct val="90000"/>
              </a:lnSpc>
              <a:buNone/>
            </a:pPr>
            <a:r>
              <a:rPr lang="zh-CN" altLang="en-US" sz="2400" dirty="0"/>
              <a:t>定义：如果存在一家医院</a:t>
            </a:r>
            <a:r>
              <a:rPr lang="en-US" altLang="zh-CN" sz="2400" dirty="0"/>
              <a:t>h</a:t>
            </a:r>
            <a:r>
              <a:rPr lang="zh-CN" altLang="en-US" sz="2400" dirty="0"/>
              <a:t>和一名住院医生</a:t>
            </a:r>
            <a:r>
              <a:rPr lang="en-US" altLang="zh-CN" sz="2400" dirty="0"/>
              <a:t>r</a:t>
            </a:r>
            <a:r>
              <a:rPr lang="zh-CN" altLang="en-US" sz="2400" dirty="0"/>
              <a:t>，使得以下情况成立，则匹配</a:t>
            </a:r>
            <a:r>
              <a:rPr lang="en-US" altLang="zh-CN" sz="2400" dirty="0"/>
              <a:t>S</a:t>
            </a:r>
            <a:r>
              <a:rPr lang="zh-CN" altLang="en-US" sz="2400" dirty="0"/>
              <a:t>是不稳定的：</a:t>
            </a:r>
            <a:endParaRPr lang="en-US" altLang="zh-CN" sz="2400" dirty="0"/>
          </a:p>
          <a:p>
            <a:pPr algn="just" eaLnBrk="1" hangingPunct="1">
              <a:lnSpc>
                <a:spcPct val="90000"/>
              </a:lnSpc>
            </a:pPr>
            <a:r>
              <a:rPr lang="zh-CN" altLang="en-US" sz="2400" dirty="0"/>
              <a:t> </a:t>
            </a:r>
            <a:r>
              <a:rPr lang="en-US" altLang="zh-CN" sz="2400" dirty="0"/>
              <a:t>h</a:t>
            </a:r>
            <a:r>
              <a:rPr lang="zh-CN" altLang="en-US" sz="2400" dirty="0"/>
              <a:t>和</a:t>
            </a:r>
            <a:r>
              <a:rPr lang="en-US" altLang="zh-CN" sz="2400" dirty="0"/>
              <a:t>r</a:t>
            </a:r>
            <a:r>
              <a:rPr lang="zh-CN" altLang="en-US" sz="2400" dirty="0"/>
              <a:t>彼此可接受；并且 </a:t>
            </a:r>
            <a:endParaRPr lang="en-US" altLang="zh-CN" sz="2400" dirty="0"/>
          </a:p>
          <a:p>
            <a:pPr algn="just" eaLnBrk="1" hangingPunct="1">
              <a:lnSpc>
                <a:spcPct val="90000"/>
              </a:lnSpc>
            </a:pPr>
            <a:r>
              <a:rPr lang="zh-CN" altLang="en-US" sz="2400" dirty="0"/>
              <a:t>要么</a:t>
            </a:r>
            <a:r>
              <a:rPr lang="en-US" altLang="zh-CN" sz="2400" dirty="0"/>
              <a:t>r</a:t>
            </a:r>
            <a:r>
              <a:rPr lang="zh-CN" altLang="en-US" sz="2400" dirty="0"/>
              <a:t>未被匹配，要么</a:t>
            </a:r>
            <a:r>
              <a:rPr lang="en-US" altLang="zh-CN" sz="2400" dirty="0"/>
              <a:t>r</a:t>
            </a:r>
            <a:r>
              <a:rPr lang="zh-CN" altLang="en-US" sz="2400" dirty="0"/>
              <a:t>更喜欢</a:t>
            </a:r>
            <a:r>
              <a:rPr lang="en-US" altLang="zh-CN" sz="2400" dirty="0"/>
              <a:t>h</a:t>
            </a:r>
            <a:r>
              <a:rPr lang="zh-CN" altLang="en-US" sz="2400" dirty="0"/>
              <a:t>而非她被分配的医院；并且 </a:t>
            </a:r>
            <a:endParaRPr lang="en-US" altLang="zh-CN" sz="2400" dirty="0"/>
          </a:p>
          <a:p>
            <a:pPr algn="just" eaLnBrk="1" hangingPunct="1">
              <a:lnSpc>
                <a:spcPct val="90000"/>
              </a:lnSpc>
            </a:pPr>
            <a:r>
              <a:rPr lang="zh-CN" altLang="en-US" sz="2400" dirty="0"/>
              <a:t>要么</a:t>
            </a:r>
            <a:r>
              <a:rPr lang="en-US" altLang="zh-CN" sz="2400" dirty="0"/>
              <a:t>h</a:t>
            </a:r>
            <a:r>
              <a:rPr lang="zh-CN" altLang="en-US" sz="2400" dirty="0"/>
              <a:t>的所有职位尚未招满，要么</a:t>
            </a:r>
            <a:r>
              <a:rPr lang="en-US" altLang="zh-CN" sz="2400" dirty="0"/>
              <a:t>h</a:t>
            </a:r>
            <a:r>
              <a:rPr lang="zh-CN" altLang="en-US" sz="2400" dirty="0"/>
              <a:t>更喜欢</a:t>
            </a:r>
            <a:r>
              <a:rPr lang="en-US" altLang="zh-CN" sz="2400" dirty="0"/>
              <a:t>r</a:t>
            </a:r>
            <a:r>
              <a:rPr lang="zh-CN" altLang="en-US" sz="2400" dirty="0"/>
              <a:t>而非其已分配的至少一名住院医生。 </a:t>
            </a:r>
            <a:endParaRPr kumimoji="0" lang="zh-CN" altLang="en-US" sz="1200" dirty="0">
              <a:solidFill>
                <a:srgbClr val="00FF00"/>
              </a:solidFill>
              <a:latin typeface="Comic Sans MS" panose="030F0702030302020204" pitchFamily="66" charset="0"/>
            </a:endParaRPr>
          </a:p>
        </p:txBody>
      </p:sp>
      <p:sp>
        <p:nvSpPr>
          <p:cNvPr id="50181" name="Text Box 5">
            <a:extLst>
              <a:ext uri="{FF2B5EF4-FFF2-40B4-BE49-F238E27FC236}">
                <a16:creationId xmlns:a16="http://schemas.microsoft.com/office/drawing/2014/main" id="{D483D5EA-8350-4FC8-80A1-5CBCD9532005}"/>
              </a:ext>
            </a:extLst>
          </p:cNvPr>
          <p:cNvSpPr txBox="1">
            <a:spLocks noChangeArrowheads="1"/>
          </p:cNvSpPr>
          <p:nvPr/>
        </p:nvSpPr>
        <p:spPr bwMode="auto">
          <a:xfrm>
            <a:off x="495330" y="2687217"/>
            <a:ext cx="7239000" cy="1348704"/>
          </a:xfrm>
          <a:prstGeom prst="rect">
            <a:avLst/>
          </a:prstGeom>
          <a:noFill/>
          <a:ln>
            <a:noFill/>
          </a:ln>
          <a:effectLst/>
          <a:extLst>
            <a:ext uri="{909E8E84-426E-40DD-AFC4-6F175D3DCCD1}">
              <a14:hiddenFill xmlns:a14="http://schemas.microsoft.com/office/drawing/2010/main">
                <a:solidFill>
                  <a:srgbClr val="003399"/>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r>
              <a:rPr lang="zh-CN" altLang="en-US" sz="2400" dirty="0"/>
              <a:t>不同点1.  事先有不愿意配对的情况</a:t>
            </a:r>
            <a:endParaRPr lang="en-US" altLang="zh-CN" sz="2400" dirty="0"/>
          </a:p>
          <a:p>
            <a:pPr eaLnBrk="1" hangingPunct="1"/>
            <a:r>
              <a:rPr lang="zh-CN" altLang="en-US" sz="2400" dirty="0"/>
              <a:t>不同点 2.  两边的数目不一样</a:t>
            </a:r>
            <a:endParaRPr lang="en-US" altLang="zh-CN" sz="2800" dirty="0"/>
          </a:p>
          <a:p>
            <a:pPr eaLnBrk="1" hangingPunct="1"/>
            <a:r>
              <a:rPr lang="zh-CN" altLang="en-US" sz="2400" dirty="0"/>
              <a:t>不同点</a:t>
            </a:r>
            <a:r>
              <a:rPr lang="en-US" altLang="zh-CN" sz="2400" dirty="0"/>
              <a:t> 3.  </a:t>
            </a:r>
            <a:r>
              <a:rPr lang="zh-CN" altLang="en-US" sz="2400" dirty="0"/>
              <a:t>有些医院可以接收一定数量的学生.</a:t>
            </a:r>
            <a:endParaRPr kumimoji="0" lang="zh-CN" altLang="en-US" sz="1800" dirty="0">
              <a:solidFill>
                <a:srgbClr val="00FF00"/>
              </a:solidFill>
              <a:latin typeface="Comic Sans MS" panose="030F0702030302020204" pitchFamily="66"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560FE65-3743-463F-8845-8C78592846E5}"/>
              </a:ext>
            </a:extLst>
          </p:cNvPr>
          <p:cNvSpPr>
            <a:spLocks noGrp="1"/>
          </p:cNvSpPr>
          <p:nvPr>
            <p:ph type="sldNum" sz="quarter" idx="12"/>
          </p:nvPr>
        </p:nvSpPr>
        <p:spPr/>
        <p:txBody>
          <a:bodyPr/>
          <a:lstStyle/>
          <a:p>
            <a:pPr>
              <a:defRPr/>
            </a:pPr>
            <a:fld id="{6C7F794D-A649-40CC-A2E1-7823AD77C835}" type="slidenum">
              <a:rPr lang="zh-CN" altLang="en-US"/>
              <a:pPr>
                <a:defRPr/>
              </a:pPr>
              <a:t>65</a:t>
            </a:fld>
            <a:endParaRPr lang="en-US" altLang="zh-CN"/>
          </a:p>
        </p:txBody>
      </p:sp>
      <p:sp>
        <p:nvSpPr>
          <p:cNvPr id="52227" name="Rectangle 2">
            <a:extLst>
              <a:ext uri="{FF2B5EF4-FFF2-40B4-BE49-F238E27FC236}">
                <a16:creationId xmlns:a16="http://schemas.microsoft.com/office/drawing/2014/main" id="{BE1B08D8-EBFC-47BF-B2D4-32B5C177FB7A}"/>
              </a:ext>
            </a:extLst>
          </p:cNvPr>
          <p:cNvSpPr>
            <a:spLocks noGrp="1" noChangeArrowheads="1"/>
          </p:cNvSpPr>
          <p:nvPr>
            <p:ph type="title"/>
          </p:nvPr>
        </p:nvSpPr>
        <p:spPr/>
        <p:txBody>
          <a:bodyPr/>
          <a:lstStyle/>
          <a:p>
            <a:pPr eaLnBrk="1" hangingPunct="1"/>
            <a:r>
              <a:rPr lang="zh-CN" altLang="en-US"/>
              <a:t>总结</a:t>
            </a:r>
          </a:p>
        </p:txBody>
      </p:sp>
      <p:sp>
        <p:nvSpPr>
          <p:cNvPr id="51203" name="Rectangle 3">
            <a:extLst>
              <a:ext uri="{FF2B5EF4-FFF2-40B4-BE49-F238E27FC236}">
                <a16:creationId xmlns:a16="http://schemas.microsoft.com/office/drawing/2014/main" id="{1CDB2B66-7534-41E3-ACFE-D6BFA0874E41}"/>
              </a:ext>
            </a:extLst>
          </p:cNvPr>
          <p:cNvSpPr>
            <a:spLocks noGrp="1" noChangeArrowheads="1"/>
          </p:cNvSpPr>
          <p:nvPr>
            <p:ph type="body" idx="1"/>
          </p:nvPr>
        </p:nvSpPr>
        <p:spPr>
          <a:xfrm>
            <a:off x="922338" y="1985169"/>
            <a:ext cx="7772400" cy="4114800"/>
          </a:xfrm>
        </p:spPr>
        <p:txBody>
          <a:bodyPr/>
          <a:lstStyle/>
          <a:p>
            <a:pPr marL="0" indent="0" eaLnBrk="1" hangingPunct="1">
              <a:buNone/>
            </a:pPr>
            <a:r>
              <a:rPr lang="zh-CN" altLang="en-US" dirty="0"/>
              <a:t>算法的设计过程</a:t>
            </a:r>
            <a:endParaRPr lang="en-US" altLang="zh-CN" dirty="0"/>
          </a:p>
          <a:p>
            <a:pPr eaLnBrk="1" hangingPunct="1"/>
            <a:r>
              <a:rPr lang="zh-CN" altLang="en-US" dirty="0"/>
              <a:t>如何从一个实际的问题中抽取出具有本质性的问题描述</a:t>
            </a:r>
          </a:p>
          <a:p>
            <a:pPr eaLnBrk="1" hangingPunct="1"/>
            <a:r>
              <a:rPr lang="zh-CN" altLang="en-US" dirty="0"/>
              <a:t>能够设计有效的算法解决问题</a:t>
            </a:r>
          </a:p>
          <a:p>
            <a:pPr eaLnBrk="1" hangingPunct="1"/>
            <a:r>
              <a:rPr lang="zh-CN" altLang="en-US" dirty="0"/>
              <a:t>分析算法的步骤及最后的结果</a:t>
            </a:r>
          </a:p>
          <a:p>
            <a:pPr marL="0" indent="0" eaLnBrk="1" hangingPunct="1">
              <a:buNone/>
            </a:pPr>
            <a:r>
              <a:rPr lang="zh-CN" altLang="en-US" dirty="0">
                <a:solidFill>
                  <a:schemeClr val="hlink"/>
                </a:solidFill>
              </a:rPr>
              <a:t>能够以小见大，用理论来解释一些现象</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BA07521-18AD-4E51-8508-B63622882E30}"/>
              </a:ext>
            </a:extLst>
          </p:cNvPr>
          <p:cNvSpPr>
            <a:spLocks noGrp="1"/>
          </p:cNvSpPr>
          <p:nvPr>
            <p:ph type="sldNum" sz="quarter" idx="12"/>
          </p:nvPr>
        </p:nvSpPr>
        <p:spPr/>
        <p:txBody>
          <a:bodyPr/>
          <a:lstStyle/>
          <a:p>
            <a:pPr>
              <a:defRPr/>
            </a:pPr>
            <a:fld id="{648BAD38-5B68-4FDB-9CD0-0BD799B2C6E9}" type="slidenum">
              <a:rPr lang="zh-CN" altLang="en-US"/>
              <a:pPr>
                <a:defRPr/>
              </a:pPr>
              <a:t>66</a:t>
            </a:fld>
            <a:endParaRPr lang="en-US" altLang="zh-CN"/>
          </a:p>
        </p:txBody>
      </p:sp>
      <p:sp>
        <p:nvSpPr>
          <p:cNvPr id="53251" name="Rectangle 2">
            <a:extLst>
              <a:ext uri="{FF2B5EF4-FFF2-40B4-BE49-F238E27FC236}">
                <a16:creationId xmlns:a16="http://schemas.microsoft.com/office/drawing/2014/main" id="{8104D7D5-F3CE-4CA7-B6C8-D09ED997FE0B}"/>
              </a:ext>
            </a:extLst>
          </p:cNvPr>
          <p:cNvSpPr>
            <a:spLocks noGrp="1" noChangeArrowheads="1"/>
          </p:cNvSpPr>
          <p:nvPr>
            <p:ph type="title"/>
          </p:nvPr>
        </p:nvSpPr>
        <p:spPr/>
        <p:txBody>
          <a:bodyPr/>
          <a:lstStyle/>
          <a:p>
            <a:pPr eaLnBrk="1" hangingPunct="1"/>
            <a:r>
              <a:rPr lang="zh-CN" altLang="en-US"/>
              <a:t>1.2 五个典型问题</a:t>
            </a:r>
          </a:p>
        </p:txBody>
      </p:sp>
      <p:sp>
        <p:nvSpPr>
          <p:cNvPr id="53252" name="Rectangle 3">
            <a:extLst>
              <a:ext uri="{FF2B5EF4-FFF2-40B4-BE49-F238E27FC236}">
                <a16:creationId xmlns:a16="http://schemas.microsoft.com/office/drawing/2014/main" id="{2183B9C6-0C9E-4CFA-B043-31756BEDAB16}"/>
              </a:ext>
            </a:extLst>
          </p:cNvPr>
          <p:cNvSpPr>
            <a:spLocks noGrp="1" noChangeArrowheads="1"/>
          </p:cNvSpPr>
          <p:nvPr>
            <p:ph type="body" idx="1"/>
          </p:nvPr>
        </p:nvSpPr>
        <p:spPr>
          <a:xfrm>
            <a:off x="685800" y="1987603"/>
            <a:ext cx="7772400" cy="4114800"/>
          </a:xfrm>
        </p:spPr>
        <p:txBody>
          <a:bodyPr/>
          <a:lstStyle/>
          <a:p>
            <a:pPr marL="0" indent="0" eaLnBrk="1" hangingPunct="1">
              <a:buNone/>
            </a:pPr>
            <a:r>
              <a:rPr lang="zh-CN" altLang="en-US" dirty="0"/>
              <a:t>回顾一下稳定匹配问题的思路</a:t>
            </a:r>
          </a:p>
          <a:p>
            <a:pPr marL="347472" indent="-347472" algn="l" rtl="0" eaLnBrk="1" fontAlgn="base" hangingPunct="1">
              <a:spcBef>
                <a:spcPts val="768"/>
              </a:spcBef>
              <a:buClr>
                <a:schemeClr val="folHlink"/>
              </a:buClr>
              <a:buSzPct val="60000"/>
              <a:buFont typeface="Wingdings" panose="05000000000000000000" pitchFamily="2" charset="2"/>
              <a:buChar char="n"/>
            </a:pP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初始，每个人都是自由的。一个</a:t>
            </a:r>
            <a:r>
              <a:rPr kumimoji="1" lang="zh-CN" altLang="zh-CN" sz="2400" b="1" kern="1200" dirty="0">
                <a:solidFill>
                  <a:srgbClr val="000000"/>
                </a:solidFill>
                <a:effectLst/>
                <a:latin typeface="Tahoma" panose="020B0604030504040204" pitchFamily="34" charset="0"/>
                <a:ea typeface="宋体" panose="02010600030101010101" pitchFamily="2" charset="-122"/>
                <a:cs typeface="+mn-cs"/>
              </a:rPr>
              <a:t>自由</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的男人</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m</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选择他的优先表上排名最高的女人</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w,</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发起邀请，那么 (</a:t>
            </a:r>
            <a:r>
              <a:rPr kumimoji="1" lang="en-US" altLang="zh-CN" sz="2400" kern="1200" dirty="0" err="1">
                <a:solidFill>
                  <a:srgbClr val="000000"/>
                </a:solidFill>
                <a:effectLst/>
                <a:latin typeface="Tahoma" panose="020B0604030504040204" pitchFamily="34" charset="0"/>
                <a:ea typeface="宋体" panose="02010600030101010101" pitchFamily="2" charset="-122"/>
                <a:cs typeface="+mn-cs"/>
              </a:rPr>
              <a:t>m,w</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进入</a:t>
            </a:r>
            <a:r>
              <a:rPr kumimoji="1" lang="zh-CN" altLang="zh-CN" sz="2400" b="1" kern="1200" dirty="0">
                <a:solidFill>
                  <a:srgbClr val="000000"/>
                </a:solidFill>
                <a:effectLst/>
                <a:latin typeface="Tahoma" panose="020B0604030504040204" pitchFamily="34" charset="0"/>
                <a:ea typeface="宋体" panose="02010600030101010101" pitchFamily="2" charset="-122"/>
                <a:cs typeface="+mn-cs"/>
              </a:rPr>
              <a:t>中间状态</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a:t>
            </a:r>
            <a:r>
              <a:rPr kumimoji="1" lang="zh-CN" altLang="zh-CN" sz="2400" b="1" i="1" kern="1200" dirty="0">
                <a:solidFill>
                  <a:srgbClr val="000000"/>
                </a:solidFill>
                <a:effectLst/>
                <a:latin typeface="Tahoma" panose="020B0604030504040204" pitchFamily="34" charset="0"/>
                <a:ea typeface="宋体" panose="02010600030101010101" pitchFamily="2" charset="-122"/>
                <a:cs typeface="+mn-cs"/>
              </a:rPr>
              <a:t>约会</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a:t>
            </a:r>
            <a:endParaRPr lang="zh-CN" altLang="zh-CN" sz="2400" dirty="0">
              <a:effectLst/>
            </a:endParaRPr>
          </a:p>
          <a:p>
            <a:pPr marL="347472" indent="-347472" algn="l" rtl="0" eaLnBrk="1" fontAlgn="base" hangingPunct="1">
              <a:spcBef>
                <a:spcPts val="768"/>
              </a:spcBef>
            </a:pP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如果又有另一个男人</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m</a:t>
            </a:r>
            <a:r>
              <a:rPr kumimoji="1" lang="en-US" altLang="zh-CN" sz="2400" kern="1200" dirty="0">
                <a:solidFill>
                  <a:srgbClr val="000000"/>
                </a:solidFill>
                <a:effectLst/>
                <a:latin typeface="Times New Roman" panose="02020603050405020304" pitchFamily="18" charset="0"/>
                <a:ea typeface="宋体" panose="02010600030101010101" pitchFamily="2" charset="-122"/>
                <a:cs typeface="+mn-cs"/>
              </a:rPr>
              <a:t>’</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发起邀请，那么女人</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w</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决定,选择</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m,</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还是</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m</a:t>
            </a:r>
            <a:r>
              <a:rPr kumimoji="1" lang="en-US" altLang="zh-CN" sz="2400" kern="1200" dirty="0">
                <a:solidFill>
                  <a:srgbClr val="000000"/>
                </a:solidFill>
                <a:effectLst/>
                <a:latin typeface="Times New Roman" panose="02020603050405020304" pitchFamily="18" charset="0"/>
                <a:ea typeface="宋体" panose="02010600030101010101" pitchFamily="2" charset="-122"/>
                <a:cs typeface="+mn-cs"/>
              </a:rPr>
              <a:t>’</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。如果</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m</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优先，那么约会状态不变。否则(</a:t>
            </a:r>
            <a:r>
              <a:rPr kumimoji="1" lang="en-US" altLang="zh-CN" sz="2400" kern="1200" dirty="0" err="1">
                <a:solidFill>
                  <a:srgbClr val="000000"/>
                </a:solidFill>
                <a:effectLst/>
                <a:latin typeface="Tahoma" panose="020B0604030504040204" pitchFamily="34" charset="0"/>
                <a:ea typeface="宋体" panose="02010600030101010101" pitchFamily="2" charset="-122"/>
                <a:cs typeface="+mn-cs"/>
              </a:rPr>
              <a:t>m</a:t>
            </a:r>
            <a:r>
              <a:rPr kumimoji="1" lang="en-US" altLang="zh-CN" sz="2400" kern="1200" dirty="0" err="1">
                <a:solidFill>
                  <a:srgbClr val="000000"/>
                </a:solidFill>
                <a:effectLst/>
                <a:latin typeface="Times New Roman" panose="02020603050405020304" pitchFamily="18" charset="0"/>
                <a:ea typeface="宋体" panose="02010600030101010101" pitchFamily="2" charset="-122"/>
                <a:cs typeface="+mn-cs"/>
              </a:rPr>
              <a:t>’</a:t>
            </a:r>
            <a:r>
              <a:rPr kumimoji="1" lang="en-US" altLang="zh-CN" sz="2400" kern="1200" dirty="0" err="1">
                <a:solidFill>
                  <a:srgbClr val="000000"/>
                </a:solidFill>
                <a:effectLst/>
                <a:latin typeface="Tahoma" panose="020B0604030504040204" pitchFamily="34" charset="0"/>
                <a:ea typeface="宋体" panose="02010600030101010101" pitchFamily="2" charset="-122"/>
                <a:cs typeface="+mn-cs"/>
              </a:rPr>
              <a:t>,w</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变成约会状态，</a:t>
            </a:r>
            <a:r>
              <a:rPr kumimoji="1" lang="en-US" altLang="zh-CN" sz="2400" kern="1200" dirty="0">
                <a:solidFill>
                  <a:srgbClr val="000000"/>
                </a:solidFill>
                <a:effectLst/>
                <a:latin typeface="Tahoma" panose="020B0604030504040204" pitchFamily="34" charset="0"/>
                <a:ea typeface="宋体" panose="02010600030101010101" pitchFamily="2" charset="-122"/>
                <a:cs typeface="+mn-cs"/>
              </a:rPr>
              <a:t>m</a:t>
            </a:r>
            <a:r>
              <a:rPr kumimoji="1" lang="zh-CN" altLang="zh-CN" sz="2400" kern="1200" dirty="0">
                <a:solidFill>
                  <a:srgbClr val="000000"/>
                </a:solidFill>
                <a:effectLst/>
                <a:latin typeface="Tahoma" panose="020B0604030504040204" pitchFamily="34" charset="0"/>
                <a:ea typeface="宋体" panose="02010600030101010101" pitchFamily="2" charset="-122"/>
                <a:cs typeface="+mn-cs"/>
              </a:rPr>
              <a:t>变成自由状态。</a:t>
            </a:r>
            <a:endParaRPr kumimoji="1" lang="en-US" altLang="zh-CN" sz="2400" kern="1200" dirty="0">
              <a:solidFill>
                <a:srgbClr val="000000"/>
              </a:solidFill>
              <a:effectLst/>
              <a:latin typeface="Tahoma" panose="020B0604030504040204" pitchFamily="34" charset="0"/>
              <a:ea typeface="宋体" panose="02010600030101010101" pitchFamily="2" charset="-122"/>
              <a:cs typeface="+mn-cs"/>
            </a:endParaRPr>
          </a:p>
          <a:p>
            <a:pPr marL="347472" indent="-347472" eaLnBrk="1" hangingPunct="1">
              <a:spcBef>
                <a:spcPts val="768"/>
              </a:spcBef>
            </a:pPr>
            <a:r>
              <a:rPr lang="zh-CN" altLang="en-US" sz="2400" dirty="0"/>
              <a:t>循环往复；最后，当没有人处于自由状态，那么所有的约会被定为最后的结果，返回最终的匹配。</a:t>
            </a:r>
          </a:p>
          <a:p>
            <a:pPr marL="347472" indent="-347472" algn="l" rtl="0" eaLnBrk="1" fontAlgn="base" hangingPunct="1">
              <a:spcBef>
                <a:spcPts val="768"/>
              </a:spcBef>
            </a:pPr>
            <a:endParaRPr lang="zh-CN" altLang="zh-CN" dirty="0">
              <a:effectLs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E406-5F30-11C7-684D-7FCF8459A181}"/>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15445EF-6E64-E120-94FF-2B7EECA59D50}"/>
              </a:ext>
            </a:extLst>
          </p:cNvPr>
          <p:cNvSpPr>
            <a:spLocks noGrp="1"/>
          </p:cNvSpPr>
          <p:nvPr>
            <p:ph type="sldNum" sz="quarter" idx="12"/>
          </p:nvPr>
        </p:nvSpPr>
        <p:spPr/>
        <p:txBody>
          <a:bodyPr/>
          <a:lstStyle/>
          <a:p>
            <a:pPr>
              <a:defRPr/>
            </a:pPr>
            <a:fld id="{648BAD38-5B68-4FDB-9CD0-0BD799B2C6E9}" type="slidenum">
              <a:rPr lang="zh-CN" altLang="en-US"/>
              <a:pPr>
                <a:defRPr/>
              </a:pPr>
              <a:t>67</a:t>
            </a:fld>
            <a:endParaRPr lang="en-US" altLang="zh-CN"/>
          </a:p>
        </p:txBody>
      </p:sp>
      <p:sp>
        <p:nvSpPr>
          <p:cNvPr id="53251" name="Rectangle 2">
            <a:extLst>
              <a:ext uri="{FF2B5EF4-FFF2-40B4-BE49-F238E27FC236}">
                <a16:creationId xmlns:a16="http://schemas.microsoft.com/office/drawing/2014/main" id="{6A257196-8C13-D358-923A-59FE51B499CB}"/>
              </a:ext>
            </a:extLst>
          </p:cNvPr>
          <p:cNvSpPr>
            <a:spLocks noGrp="1" noChangeArrowheads="1"/>
          </p:cNvSpPr>
          <p:nvPr>
            <p:ph type="title"/>
          </p:nvPr>
        </p:nvSpPr>
        <p:spPr/>
        <p:txBody>
          <a:bodyPr/>
          <a:lstStyle/>
          <a:p>
            <a:pPr eaLnBrk="1" hangingPunct="1"/>
            <a:r>
              <a:rPr lang="zh-CN" altLang="en-US"/>
              <a:t>1.2 五个典型问题</a:t>
            </a:r>
          </a:p>
        </p:txBody>
      </p:sp>
      <p:sp>
        <p:nvSpPr>
          <p:cNvPr id="53252" name="Rectangle 3">
            <a:extLst>
              <a:ext uri="{FF2B5EF4-FFF2-40B4-BE49-F238E27FC236}">
                <a16:creationId xmlns:a16="http://schemas.microsoft.com/office/drawing/2014/main" id="{1B6F95DF-B7D2-0F3E-F1F9-6A314B24F293}"/>
              </a:ext>
            </a:extLst>
          </p:cNvPr>
          <p:cNvSpPr>
            <a:spLocks noGrp="1" noChangeArrowheads="1"/>
          </p:cNvSpPr>
          <p:nvPr>
            <p:ph type="body" idx="1"/>
          </p:nvPr>
        </p:nvSpPr>
        <p:spPr>
          <a:xfrm>
            <a:off x="685800" y="1987603"/>
            <a:ext cx="7772400" cy="4114800"/>
          </a:xfrm>
        </p:spPr>
        <p:txBody>
          <a:bodyPr/>
          <a:lstStyle/>
          <a:p>
            <a:pPr eaLnBrk="1" hangingPunct="1"/>
            <a:r>
              <a:rPr lang="zh-CN" altLang="en-US" dirty="0"/>
              <a:t>图</a:t>
            </a:r>
            <a:r>
              <a:rPr lang="en-US" altLang="zh-CN" dirty="0"/>
              <a:t>G</a:t>
            </a:r>
            <a:r>
              <a:rPr lang="zh-CN" altLang="en-US" dirty="0"/>
              <a:t>的描述</a:t>
            </a:r>
            <a:r>
              <a:rPr lang="zh-CN" altLang="en-US" dirty="0">
                <a:sym typeface="Wingdings" panose="05000000000000000000" pitchFamily="2" charset="2"/>
              </a:rPr>
              <a:t>(</a:t>
            </a:r>
            <a:r>
              <a:rPr lang="en-US" altLang="zh-CN" dirty="0">
                <a:sym typeface="Wingdings" panose="05000000000000000000" pitchFamily="2" charset="2"/>
              </a:rPr>
              <a:t>V,E): V，</a:t>
            </a:r>
            <a:r>
              <a:rPr lang="zh-CN" altLang="en-US" dirty="0">
                <a:sym typeface="Wingdings" panose="05000000000000000000" pitchFamily="2" charset="2"/>
              </a:rPr>
              <a:t>结点集合；</a:t>
            </a:r>
            <a:r>
              <a:rPr lang="en-US" altLang="zh-CN" dirty="0">
                <a:sym typeface="Wingdings" panose="05000000000000000000" pitchFamily="2" charset="2"/>
              </a:rPr>
              <a:t>E, </a:t>
            </a:r>
            <a:r>
              <a:rPr lang="zh-CN" altLang="en-US" dirty="0">
                <a:sym typeface="Wingdings" panose="05000000000000000000" pitchFamily="2" charset="2"/>
              </a:rPr>
              <a:t>边的集合</a:t>
            </a:r>
            <a:endParaRPr lang="zh-CN" altLang="en-US" dirty="0"/>
          </a:p>
          <a:p>
            <a:pPr eaLnBrk="1" hangingPunct="1"/>
            <a:r>
              <a:rPr lang="en-US" altLang="zh-CN" dirty="0"/>
              <a:t>V = {'A', 'B', 'C', 'D'}</a:t>
            </a:r>
          </a:p>
          <a:p>
            <a:pPr eaLnBrk="1" hangingPunct="1"/>
            <a:r>
              <a:rPr lang="en-US" altLang="zh-CN" dirty="0"/>
              <a:t>E = [('A', 'B', 3), ('A', 'C', 5), ('B', 'C', 1), ('B', 'D', 7), ('C', 'D', 2)]</a:t>
            </a:r>
            <a:endParaRPr lang="zh-CN" altLang="en-US" dirty="0"/>
          </a:p>
        </p:txBody>
      </p:sp>
      <p:sp>
        <p:nvSpPr>
          <p:cNvPr id="4" name="流程图: 接点 3">
            <a:extLst>
              <a:ext uri="{FF2B5EF4-FFF2-40B4-BE49-F238E27FC236}">
                <a16:creationId xmlns:a16="http://schemas.microsoft.com/office/drawing/2014/main" id="{18449910-9EC2-DDC9-268B-280D892B8AA6}"/>
              </a:ext>
            </a:extLst>
          </p:cNvPr>
          <p:cNvSpPr/>
          <p:nvPr/>
        </p:nvSpPr>
        <p:spPr bwMode="auto">
          <a:xfrm>
            <a:off x="3025137" y="4997329"/>
            <a:ext cx="457200" cy="45720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A</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5" name="流程图: 接点 4">
            <a:extLst>
              <a:ext uri="{FF2B5EF4-FFF2-40B4-BE49-F238E27FC236}">
                <a16:creationId xmlns:a16="http://schemas.microsoft.com/office/drawing/2014/main" id="{CE6766E5-A358-4BD8-6231-50FBA6CE22A8}"/>
              </a:ext>
            </a:extLst>
          </p:cNvPr>
          <p:cNvSpPr/>
          <p:nvPr/>
        </p:nvSpPr>
        <p:spPr bwMode="auto">
          <a:xfrm>
            <a:off x="3533683" y="5982937"/>
            <a:ext cx="457200" cy="45720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B</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7" name="流程图: 接点 6">
            <a:extLst>
              <a:ext uri="{FF2B5EF4-FFF2-40B4-BE49-F238E27FC236}">
                <a16:creationId xmlns:a16="http://schemas.microsoft.com/office/drawing/2014/main" id="{00183C84-ADBC-B8A8-DAEB-5981D9E1C8DF}"/>
              </a:ext>
            </a:extLst>
          </p:cNvPr>
          <p:cNvSpPr/>
          <p:nvPr/>
        </p:nvSpPr>
        <p:spPr bwMode="auto">
          <a:xfrm>
            <a:off x="4981929" y="5973564"/>
            <a:ext cx="457200" cy="45720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D</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8" name="流程图: 接点 7">
            <a:extLst>
              <a:ext uri="{FF2B5EF4-FFF2-40B4-BE49-F238E27FC236}">
                <a16:creationId xmlns:a16="http://schemas.microsoft.com/office/drawing/2014/main" id="{A1A9275C-C9DE-E0EE-DC46-C57ED53DC111}"/>
              </a:ext>
            </a:extLst>
          </p:cNvPr>
          <p:cNvSpPr/>
          <p:nvPr/>
        </p:nvSpPr>
        <p:spPr bwMode="auto">
          <a:xfrm>
            <a:off x="4753329" y="4797152"/>
            <a:ext cx="457200" cy="45720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C</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cxnSp>
        <p:nvCxnSpPr>
          <p:cNvPr id="10" name="直接连接符 9">
            <a:extLst>
              <a:ext uri="{FF2B5EF4-FFF2-40B4-BE49-F238E27FC236}">
                <a16:creationId xmlns:a16="http://schemas.microsoft.com/office/drawing/2014/main" id="{8CD08090-1B82-AB7E-E2BD-6790F878EDE8}"/>
              </a:ext>
            </a:extLst>
          </p:cNvPr>
          <p:cNvCxnSpPr>
            <a:stCxn id="4" idx="4"/>
            <a:endCxn id="5" idx="1"/>
          </p:cNvCxnSpPr>
          <p:nvPr/>
        </p:nvCxnSpPr>
        <p:spPr bwMode="auto">
          <a:xfrm>
            <a:off x="3253737" y="5454529"/>
            <a:ext cx="346901" cy="59536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 name="直接连接符 11">
            <a:extLst>
              <a:ext uri="{FF2B5EF4-FFF2-40B4-BE49-F238E27FC236}">
                <a16:creationId xmlns:a16="http://schemas.microsoft.com/office/drawing/2014/main" id="{E0B3A32B-7FBE-ABFE-CB6E-921AE59C54AE}"/>
              </a:ext>
            </a:extLst>
          </p:cNvPr>
          <p:cNvCxnSpPr>
            <a:stCxn id="4" idx="6"/>
            <a:endCxn id="8" idx="2"/>
          </p:cNvCxnSpPr>
          <p:nvPr/>
        </p:nvCxnSpPr>
        <p:spPr bwMode="auto">
          <a:xfrm flipV="1">
            <a:off x="3482337" y="5025752"/>
            <a:ext cx="1270992" cy="200177"/>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3" name="直接连接符 12">
            <a:extLst>
              <a:ext uri="{FF2B5EF4-FFF2-40B4-BE49-F238E27FC236}">
                <a16:creationId xmlns:a16="http://schemas.microsoft.com/office/drawing/2014/main" id="{B8852D14-2950-020F-C6E7-04CC5CE5BD42}"/>
              </a:ext>
            </a:extLst>
          </p:cNvPr>
          <p:cNvCxnSpPr>
            <a:stCxn id="8" idx="3"/>
            <a:endCxn id="5" idx="7"/>
          </p:cNvCxnSpPr>
          <p:nvPr/>
        </p:nvCxnSpPr>
        <p:spPr bwMode="auto">
          <a:xfrm flipH="1">
            <a:off x="3923928" y="5187397"/>
            <a:ext cx="896356" cy="862495"/>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直接连接符 13">
            <a:extLst>
              <a:ext uri="{FF2B5EF4-FFF2-40B4-BE49-F238E27FC236}">
                <a16:creationId xmlns:a16="http://schemas.microsoft.com/office/drawing/2014/main" id="{C5D39952-6BD8-4191-45DA-E20B4CD800B7}"/>
              </a:ext>
            </a:extLst>
          </p:cNvPr>
          <p:cNvCxnSpPr>
            <a:stCxn id="7" idx="3"/>
            <a:endCxn id="5" idx="5"/>
          </p:cNvCxnSpPr>
          <p:nvPr/>
        </p:nvCxnSpPr>
        <p:spPr bwMode="auto">
          <a:xfrm flipH="1">
            <a:off x="3923928" y="6363809"/>
            <a:ext cx="1124956" cy="937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 name="直接连接符 19">
            <a:extLst>
              <a:ext uri="{FF2B5EF4-FFF2-40B4-BE49-F238E27FC236}">
                <a16:creationId xmlns:a16="http://schemas.microsoft.com/office/drawing/2014/main" id="{953C2218-592E-D5FB-8E66-2DBE8274C195}"/>
              </a:ext>
            </a:extLst>
          </p:cNvPr>
          <p:cNvCxnSpPr>
            <a:stCxn id="7" idx="0"/>
            <a:endCxn id="8" idx="4"/>
          </p:cNvCxnSpPr>
          <p:nvPr/>
        </p:nvCxnSpPr>
        <p:spPr bwMode="auto">
          <a:xfrm flipH="1" flipV="1">
            <a:off x="4981929" y="5254352"/>
            <a:ext cx="228600" cy="719212"/>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1" name="文本框 40">
            <a:extLst>
              <a:ext uri="{FF2B5EF4-FFF2-40B4-BE49-F238E27FC236}">
                <a16:creationId xmlns:a16="http://schemas.microsoft.com/office/drawing/2014/main" id="{364E9889-7672-C3FF-0307-9A4D9A81B6DD}"/>
              </a:ext>
            </a:extLst>
          </p:cNvPr>
          <p:cNvSpPr txBox="1"/>
          <p:nvPr/>
        </p:nvSpPr>
        <p:spPr>
          <a:xfrm>
            <a:off x="3172637" y="5621462"/>
            <a:ext cx="309700" cy="338554"/>
          </a:xfrm>
          <a:prstGeom prst="rect">
            <a:avLst/>
          </a:prstGeom>
          <a:noFill/>
        </p:spPr>
        <p:txBody>
          <a:bodyPr wrap="none" rtlCol="0">
            <a:spAutoFit/>
          </a:bodyPr>
          <a:lstStyle/>
          <a:p>
            <a:r>
              <a:rPr lang="en-US" altLang="zh-CN" dirty="0">
                <a:solidFill>
                  <a:schemeClr val="tx1"/>
                </a:solidFill>
              </a:rPr>
              <a:t>3</a:t>
            </a:r>
            <a:endParaRPr lang="zh-CN" altLang="en-US" dirty="0">
              <a:solidFill>
                <a:schemeClr val="tx1"/>
              </a:solidFill>
            </a:endParaRPr>
          </a:p>
        </p:txBody>
      </p:sp>
      <p:sp>
        <p:nvSpPr>
          <p:cNvPr id="47" name="文本框 46">
            <a:extLst>
              <a:ext uri="{FF2B5EF4-FFF2-40B4-BE49-F238E27FC236}">
                <a16:creationId xmlns:a16="http://schemas.microsoft.com/office/drawing/2014/main" id="{BEB7D0AE-37A8-88EB-D5B4-6DCF1D46E1B3}"/>
              </a:ext>
            </a:extLst>
          </p:cNvPr>
          <p:cNvSpPr txBox="1"/>
          <p:nvPr/>
        </p:nvSpPr>
        <p:spPr>
          <a:xfrm>
            <a:off x="3990883" y="4820420"/>
            <a:ext cx="309700" cy="338554"/>
          </a:xfrm>
          <a:prstGeom prst="rect">
            <a:avLst/>
          </a:prstGeom>
          <a:noFill/>
        </p:spPr>
        <p:txBody>
          <a:bodyPr wrap="none" rtlCol="0">
            <a:spAutoFit/>
          </a:bodyPr>
          <a:lstStyle/>
          <a:p>
            <a:r>
              <a:rPr lang="en-US" altLang="zh-CN" dirty="0">
                <a:solidFill>
                  <a:schemeClr val="tx1"/>
                </a:solidFill>
              </a:rPr>
              <a:t>5</a:t>
            </a:r>
            <a:endParaRPr lang="zh-CN" altLang="en-US" dirty="0">
              <a:solidFill>
                <a:schemeClr val="tx1"/>
              </a:solidFill>
            </a:endParaRPr>
          </a:p>
        </p:txBody>
      </p:sp>
      <p:sp>
        <p:nvSpPr>
          <p:cNvPr id="48" name="文本框 40">
            <a:extLst>
              <a:ext uri="{FF2B5EF4-FFF2-40B4-BE49-F238E27FC236}">
                <a16:creationId xmlns:a16="http://schemas.microsoft.com/office/drawing/2014/main" id="{364E9889-7672-C3FF-0307-9A4D9A81B6DD}"/>
              </a:ext>
            </a:extLst>
          </p:cNvPr>
          <p:cNvSpPr txBox="1"/>
          <p:nvPr/>
        </p:nvSpPr>
        <p:spPr>
          <a:xfrm>
            <a:off x="4125338" y="5406312"/>
            <a:ext cx="277640" cy="338554"/>
          </a:xfrm>
          <a:prstGeom prst="rect">
            <a:avLst/>
          </a:prstGeom>
          <a:noFill/>
        </p:spPr>
        <p:txBody>
          <a:bodyPr wrap="none" rtlCol="0">
            <a:spAutoFit/>
          </a:bodyPr>
          <a:lstStyle>
            <a:defPPr>
              <a:defRPr lang="en-US"/>
            </a:defPPr>
            <a:lvl1pPr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1pPr>
            <a:lvl2pPr marL="4572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2pPr>
            <a:lvl3pPr marL="9144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3pPr>
            <a:lvl4pPr marL="13716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4pPr>
            <a:lvl5pPr marL="18288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5pPr>
            <a:lvl6pPr marL="22860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6pPr>
            <a:lvl7pPr marL="27432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7pPr>
            <a:lvl8pPr marL="32004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8pPr>
            <a:lvl9pPr marL="36576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9pPr>
          </a:lstStyle>
          <a:p>
            <a:r>
              <a:rPr lang="en-US" altLang="zh-CN" dirty="0">
                <a:solidFill>
                  <a:schemeClr val="tx1"/>
                </a:solidFill>
              </a:rPr>
              <a:t>1</a:t>
            </a:r>
            <a:endParaRPr lang="zh-CN" altLang="en-US" dirty="0">
              <a:solidFill>
                <a:schemeClr val="tx1"/>
              </a:solidFill>
            </a:endParaRPr>
          </a:p>
        </p:txBody>
      </p:sp>
      <p:sp>
        <p:nvSpPr>
          <p:cNvPr id="49" name="文本框 40">
            <a:extLst>
              <a:ext uri="{FF2B5EF4-FFF2-40B4-BE49-F238E27FC236}">
                <a16:creationId xmlns:a16="http://schemas.microsoft.com/office/drawing/2014/main" id="{364E9889-7672-C3FF-0307-9A4D9A81B6DD}"/>
              </a:ext>
            </a:extLst>
          </p:cNvPr>
          <p:cNvSpPr txBox="1"/>
          <p:nvPr/>
        </p:nvSpPr>
        <p:spPr>
          <a:xfrm>
            <a:off x="4331556" y="6362567"/>
            <a:ext cx="309700" cy="338554"/>
          </a:xfrm>
          <a:prstGeom prst="rect">
            <a:avLst/>
          </a:prstGeom>
          <a:noFill/>
        </p:spPr>
        <p:txBody>
          <a:bodyPr wrap="none" rtlCol="0">
            <a:spAutoFit/>
          </a:bodyPr>
          <a:lstStyle>
            <a:defPPr>
              <a:defRPr lang="en-US"/>
            </a:defPPr>
            <a:lvl1pPr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1pPr>
            <a:lvl2pPr marL="4572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2pPr>
            <a:lvl3pPr marL="9144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3pPr>
            <a:lvl4pPr marL="13716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4pPr>
            <a:lvl5pPr marL="18288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5pPr>
            <a:lvl6pPr marL="22860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6pPr>
            <a:lvl7pPr marL="27432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7pPr>
            <a:lvl8pPr marL="32004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8pPr>
            <a:lvl9pPr marL="36576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9pPr>
          </a:lstStyle>
          <a:p>
            <a:r>
              <a:rPr lang="en-US" altLang="zh-CN" dirty="0">
                <a:solidFill>
                  <a:schemeClr val="tx1"/>
                </a:solidFill>
              </a:rPr>
              <a:t>7</a:t>
            </a:r>
            <a:endParaRPr lang="zh-CN" altLang="en-US" dirty="0">
              <a:solidFill>
                <a:schemeClr val="tx1"/>
              </a:solidFill>
            </a:endParaRPr>
          </a:p>
        </p:txBody>
      </p:sp>
      <p:sp>
        <p:nvSpPr>
          <p:cNvPr id="50" name="文本框 40">
            <a:extLst>
              <a:ext uri="{FF2B5EF4-FFF2-40B4-BE49-F238E27FC236}">
                <a16:creationId xmlns:a16="http://schemas.microsoft.com/office/drawing/2014/main" id="{364E9889-7672-C3FF-0307-9A4D9A81B6DD}"/>
              </a:ext>
            </a:extLst>
          </p:cNvPr>
          <p:cNvSpPr txBox="1"/>
          <p:nvPr/>
        </p:nvSpPr>
        <p:spPr>
          <a:xfrm>
            <a:off x="5129429" y="5390239"/>
            <a:ext cx="309700" cy="338554"/>
          </a:xfrm>
          <a:prstGeom prst="rect">
            <a:avLst/>
          </a:prstGeom>
          <a:noFill/>
        </p:spPr>
        <p:txBody>
          <a:bodyPr wrap="square" rtlCol="0">
            <a:spAutoFit/>
          </a:bodyPr>
          <a:lstStyle>
            <a:defPPr>
              <a:defRPr lang="en-US"/>
            </a:defPPr>
            <a:lvl1pPr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1pPr>
            <a:lvl2pPr marL="4572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2pPr>
            <a:lvl3pPr marL="9144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3pPr>
            <a:lvl4pPr marL="13716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4pPr>
            <a:lvl5pPr marL="1828800" algn="l" rtl="0" eaLnBrk="0" fontAlgn="base" hangingPunct="0">
              <a:spcBef>
                <a:spcPct val="0"/>
              </a:spcBef>
              <a:spcAft>
                <a:spcPct val="0"/>
              </a:spcAft>
              <a:defRPr kumimoji="1" sz="1600" kern="1200">
                <a:solidFill>
                  <a:srgbClr val="00FF00"/>
                </a:solidFill>
                <a:latin typeface="Comic Sans MS" panose="030F0702030302020204" pitchFamily="66" charset="0"/>
                <a:ea typeface="宋体" panose="02010600030101010101" pitchFamily="2" charset="-122"/>
                <a:cs typeface="+mn-cs"/>
              </a:defRPr>
            </a:lvl5pPr>
            <a:lvl6pPr marL="22860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6pPr>
            <a:lvl7pPr marL="27432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7pPr>
            <a:lvl8pPr marL="32004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8pPr>
            <a:lvl9pPr marL="3657600" algn="l" defTabSz="914400" rtl="0" eaLnBrk="1" latinLnBrk="0" hangingPunct="1">
              <a:defRPr kumimoji="1" sz="1600" kern="1200">
                <a:solidFill>
                  <a:srgbClr val="00FF00"/>
                </a:solidFill>
                <a:latin typeface="Comic Sans MS" panose="030F0702030302020204" pitchFamily="66" charset="0"/>
                <a:ea typeface="宋体" panose="02010600030101010101" pitchFamily="2" charset="-122"/>
                <a:cs typeface="+mn-cs"/>
              </a:defRPr>
            </a:lvl9pPr>
          </a:lstStyle>
          <a:p>
            <a:r>
              <a:rPr lang="en-US" altLang="zh-CN" dirty="0">
                <a:solidFill>
                  <a:schemeClr val="tx1"/>
                </a:solidFill>
              </a:rPr>
              <a:t>2</a:t>
            </a:r>
            <a:endParaRPr lang="zh-CN" altLang="en-US" dirty="0">
              <a:solidFill>
                <a:schemeClr val="tx1"/>
              </a:solidFill>
            </a:endParaRPr>
          </a:p>
        </p:txBody>
      </p:sp>
    </p:spTree>
    <p:extLst>
      <p:ext uri="{BB962C8B-B14F-4D97-AF65-F5344CB8AC3E}">
        <p14:creationId xmlns:p14="http://schemas.microsoft.com/office/powerpoint/2010/main" val="34292175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945B489-1E74-4A8F-974B-EAF870BF8507}"/>
              </a:ext>
            </a:extLst>
          </p:cNvPr>
          <p:cNvSpPr>
            <a:spLocks noGrp="1"/>
          </p:cNvSpPr>
          <p:nvPr>
            <p:ph type="sldNum" sz="quarter" idx="12"/>
          </p:nvPr>
        </p:nvSpPr>
        <p:spPr/>
        <p:txBody>
          <a:bodyPr/>
          <a:lstStyle/>
          <a:p>
            <a:pPr>
              <a:defRPr/>
            </a:pPr>
            <a:fld id="{96015C5C-0F02-443C-97AA-A9C4AB6DAA37}" type="slidenum">
              <a:rPr lang="zh-CN" altLang="en-US"/>
              <a:pPr>
                <a:defRPr/>
              </a:pPr>
              <a:t>68</a:t>
            </a:fld>
            <a:endParaRPr lang="en-US" altLang="zh-CN"/>
          </a:p>
        </p:txBody>
      </p:sp>
      <p:sp>
        <p:nvSpPr>
          <p:cNvPr id="54275" name="Rectangle 1026">
            <a:extLst>
              <a:ext uri="{FF2B5EF4-FFF2-40B4-BE49-F238E27FC236}">
                <a16:creationId xmlns:a16="http://schemas.microsoft.com/office/drawing/2014/main" id="{F8DFF39B-CDAC-4E89-883C-CA54B2CB3DBB}"/>
              </a:ext>
            </a:extLst>
          </p:cNvPr>
          <p:cNvSpPr>
            <a:spLocks noGrp="1" noChangeArrowheads="1"/>
          </p:cNvSpPr>
          <p:nvPr>
            <p:ph type="title"/>
          </p:nvPr>
        </p:nvSpPr>
        <p:spPr/>
        <p:txBody>
          <a:bodyPr/>
          <a:lstStyle/>
          <a:p>
            <a:pPr eaLnBrk="1" hangingPunct="1"/>
            <a:r>
              <a:rPr lang="zh-CN" altLang="en-US"/>
              <a:t>1.2 五个典型问题</a:t>
            </a:r>
          </a:p>
        </p:txBody>
      </p:sp>
      <p:sp>
        <p:nvSpPr>
          <p:cNvPr id="54276" name="Rectangle 1027">
            <a:extLst>
              <a:ext uri="{FF2B5EF4-FFF2-40B4-BE49-F238E27FC236}">
                <a16:creationId xmlns:a16="http://schemas.microsoft.com/office/drawing/2014/main" id="{26055288-E444-4A60-B4C6-4CE281FCE95F}"/>
              </a:ext>
            </a:extLst>
          </p:cNvPr>
          <p:cNvSpPr>
            <a:spLocks noGrp="1" noChangeArrowheads="1"/>
          </p:cNvSpPr>
          <p:nvPr>
            <p:ph type="body" idx="1"/>
          </p:nvPr>
        </p:nvSpPr>
        <p:spPr/>
        <p:txBody>
          <a:bodyPr/>
          <a:lstStyle/>
          <a:p>
            <a:pPr eaLnBrk="1" hangingPunct="1"/>
            <a:r>
              <a:rPr lang="zh-CN" altLang="en-US"/>
              <a:t>区间调度</a:t>
            </a:r>
          </a:p>
          <a:p>
            <a:pPr eaLnBrk="1" hangingPunct="1"/>
            <a:r>
              <a:rPr lang="zh-CN" altLang="en-US"/>
              <a:t>带权的区间调度</a:t>
            </a:r>
          </a:p>
          <a:p>
            <a:pPr eaLnBrk="1" hangingPunct="1"/>
            <a:r>
              <a:rPr lang="zh-CN" altLang="en-US"/>
              <a:t>二分匹配</a:t>
            </a:r>
          </a:p>
          <a:p>
            <a:pPr eaLnBrk="1" hangingPunct="1"/>
            <a:r>
              <a:rPr lang="zh-CN" altLang="en-US"/>
              <a:t>独立集</a:t>
            </a:r>
          </a:p>
          <a:p>
            <a:pPr eaLnBrk="1" hangingPunct="1"/>
            <a:r>
              <a:rPr lang="zh-CN" altLang="en-US"/>
              <a:t>竞争的便利店选址问题</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B2786F9-6A8E-46BF-BFFE-68F510A14C42}"/>
              </a:ext>
            </a:extLst>
          </p:cNvPr>
          <p:cNvSpPr>
            <a:spLocks noGrp="1"/>
          </p:cNvSpPr>
          <p:nvPr>
            <p:ph type="sldNum" sz="quarter" idx="12"/>
          </p:nvPr>
        </p:nvSpPr>
        <p:spPr/>
        <p:txBody>
          <a:bodyPr/>
          <a:lstStyle/>
          <a:p>
            <a:pPr>
              <a:defRPr/>
            </a:pPr>
            <a:fld id="{9801045D-D394-4C55-A1F0-8945A20E6864}" type="slidenum">
              <a:rPr lang="zh-CN" altLang="en-US"/>
              <a:pPr>
                <a:defRPr/>
              </a:pPr>
              <a:t>69</a:t>
            </a:fld>
            <a:endParaRPr lang="en-US" altLang="zh-CN"/>
          </a:p>
        </p:txBody>
      </p:sp>
      <p:sp>
        <p:nvSpPr>
          <p:cNvPr id="55299" name="Rectangle 1026">
            <a:extLst>
              <a:ext uri="{FF2B5EF4-FFF2-40B4-BE49-F238E27FC236}">
                <a16:creationId xmlns:a16="http://schemas.microsoft.com/office/drawing/2014/main" id="{0802DC20-7199-45C3-B986-8D04BE0CD847}"/>
              </a:ext>
            </a:extLst>
          </p:cNvPr>
          <p:cNvSpPr>
            <a:spLocks noGrp="1" noChangeArrowheads="1"/>
          </p:cNvSpPr>
          <p:nvPr>
            <p:ph type="title"/>
          </p:nvPr>
        </p:nvSpPr>
        <p:spPr/>
        <p:txBody>
          <a:bodyPr/>
          <a:lstStyle/>
          <a:p>
            <a:pPr eaLnBrk="1" hangingPunct="1"/>
            <a:r>
              <a:rPr lang="zh-CN" altLang="en-US"/>
              <a:t>1.2.1 区间调度问题</a:t>
            </a:r>
          </a:p>
        </p:txBody>
      </p:sp>
      <p:sp>
        <p:nvSpPr>
          <p:cNvPr id="55300" name="Rectangle 1027">
            <a:extLst>
              <a:ext uri="{FF2B5EF4-FFF2-40B4-BE49-F238E27FC236}">
                <a16:creationId xmlns:a16="http://schemas.microsoft.com/office/drawing/2014/main" id="{1A1261A7-902E-4319-98AE-E7062D619D47}"/>
              </a:ext>
            </a:extLst>
          </p:cNvPr>
          <p:cNvSpPr>
            <a:spLocks noGrp="1" noChangeArrowheads="1"/>
          </p:cNvSpPr>
          <p:nvPr>
            <p:ph type="body" idx="1"/>
          </p:nvPr>
        </p:nvSpPr>
        <p:spPr>
          <a:xfrm>
            <a:off x="521297" y="2020868"/>
            <a:ext cx="8165503" cy="4114800"/>
          </a:xfrm>
        </p:spPr>
        <p:txBody>
          <a:bodyPr/>
          <a:lstStyle/>
          <a:p>
            <a:pPr marL="0" indent="0" eaLnBrk="1" hangingPunct="1">
              <a:buNone/>
            </a:pPr>
            <a:r>
              <a:rPr lang="zh-CN" altLang="en-US" dirty="0"/>
              <a:t>问题的描述：</a:t>
            </a:r>
          </a:p>
          <a:p>
            <a:pPr algn="just" eaLnBrk="1" hangingPunct="1"/>
            <a:r>
              <a:rPr lang="zh-CN" altLang="en-US" dirty="0"/>
              <a:t>你有某种资源（报告厅</a:t>
            </a:r>
            <a:r>
              <a:rPr lang="en-US" altLang="zh-CN" dirty="0"/>
              <a:t>,</a:t>
            </a:r>
            <a:r>
              <a:rPr lang="zh-CN" altLang="en-US" dirty="0"/>
              <a:t>超级计算机</a:t>
            </a:r>
            <a:r>
              <a:rPr lang="en-US" altLang="zh-CN" dirty="0"/>
              <a:t>,</a:t>
            </a:r>
            <a:r>
              <a:rPr lang="zh-CN" altLang="en-US" dirty="0"/>
              <a:t>电子显微镜）</a:t>
            </a:r>
            <a:r>
              <a:rPr lang="en-US" altLang="zh-CN" dirty="0"/>
              <a:t>,</a:t>
            </a:r>
            <a:r>
              <a:rPr lang="zh-CN" altLang="en-US" dirty="0"/>
              <a:t>许多人需要在某个时间段使用这个资源</a:t>
            </a:r>
            <a:r>
              <a:rPr lang="en-US" altLang="zh-CN" dirty="0"/>
              <a:t>.</a:t>
            </a:r>
          </a:p>
          <a:p>
            <a:pPr algn="just" eaLnBrk="1" hangingPunct="1"/>
            <a:r>
              <a:rPr lang="zh-CN" altLang="en-US" b="1" dirty="0">
                <a:solidFill>
                  <a:schemeClr val="tx2"/>
                </a:solidFill>
              </a:rPr>
              <a:t>需求</a:t>
            </a:r>
            <a:r>
              <a:rPr lang="en-US" altLang="zh-CN" dirty="0"/>
              <a:t>:</a:t>
            </a:r>
            <a:r>
              <a:rPr lang="zh-CN" altLang="en-US" dirty="0"/>
              <a:t>从时刻</a:t>
            </a:r>
            <a:r>
              <a:rPr lang="en-US" altLang="zh-CN" dirty="0">
                <a:solidFill>
                  <a:schemeClr val="tx2"/>
                </a:solidFill>
              </a:rPr>
              <a:t>s</a:t>
            </a:r>
            <a:r>
              <a:rPr lang="zh-CN" altLang="en-US" dirty="0"/>
              <a:t>开始</a:t>
            </a:r>
            <a:r>
              <a:rPr lang="en-US" altLang="zh-CN" dirty="0"/>
              <a:t>,</a:t>
            </a:r>
            <a:r>
              <a:rPr lang="zh-CN" altLang="en-US" dirty="0"/>
              <a:t>到时刻</a:t>
            </a:r>
            <a:r>
              <a:rPr lang="en-US" altLang="zh-CN" dirty="0">
                <a:solidFill>
                  <a:schemeClr val="tx2"/>
                </a:solidFill>
              </a:rPr>
              <a:t>f</a:t>
            </a:r>
            <a:r>
              <a:rPr lang="zh-CN" altLang="en-US" dirty="0"/>
              <a:t>结束</a:t>
            </a:r>
            <a:r>
              <a:rPr lang="en-US" altLang="zh-CN" dirty="0"/>
              <a:t>.</a:t>
            </a:r>
            <a:r>
              <a:rPr lang="zh-CN" altLang="en-US" dirty="0"/>
              <a:t>假设</a:t>
            </a:r>
            <a:r>
              <a:rPr lang="zh-CN" altLang="en-US" b="1" dirty="0">
                <a:solidFill>
                  <a:schemeClr val="tx2"/>
                </a:solidFill>
              </a:rPr>
              <a:t>每个时刻至多一个人使用这个资源</a:t>
            </a:r>
            <a:r>
              <a:rPr lang="en-US" altLang="zh-CN" dirty="0"/>
              <a:t>.</a:t>
            </a:r>
          </a:p>
          <a:p>
            <a:pPr algn="just" eaLnBrk="1" hangingPunct="1"/>
            <a:r>
              <a:rPr lang="zh-CN" altLang="en-US" dirty="0"/>
              <a:t>一个调度员接收了一系列的需求</a:t>
            </a:r>
            <a:r>
              <a:rPr lang="en-US" altLang="zh-CN" dirty="0"/>
              <a:t>,</a:t>
            </a:r>
            <a:r>
              <a:rPr lang="zh-CN" altLang="en-US" dirty="0"/>
              <a:t>他需要做出决定</a:t>
            </a:r>
            <a:r>
              <a:rPr lang="en-US" altLang="zh-CN" dirty="0"/>
              <a:t>:</a:t>
            </a:r>
            <a:r>
              <a:rPr lang="zh-CN" altLang="en-US" dirty="0"/>
              <a:t>目的是使得</a:t>
            </a:r>
            <a:r>
              <a:rPr lang="zh-CN" altLang="en-US" b="1" dirty="0">
                <a:solidFill>
                  <a:schemeClr val="tx2"/>
                </a:solidFill>
              </a:rPr>
              <a:t>被接收的需求数目最大</a:t>
            </a:r>
            <a:r>
              <a:rPr lang="en-US" altLang="zh-CN" dirty="0"/>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CF79D19-400E-49CF-9A9D-377F7B0D7634}"/>
              </a:ext>
            </a:extLst>
          </p:cNvPr>
          <p:cNvSpPr>
            <a:spLocks noGrp="1"/>
          </p:cNvSpPr>
          <p:nvPr>
            <p:ph type="sldNum" sz="quarter" idx="12"/>
          </p:nvPr>
        </p:nvSpPr>
        <p:spPr/>
        <p:txBody>
          <a:bodyPr/>
          <a:lstStyle/>
          <a:p>
            <a:pPr>
              <a:defRPr/>
            </a:pPr>
            <a:fld id="{DF4C34A2-EE58-4D36-93A2-31AE0533DF3D}" type="slidenum">
              <a:rPr lang="zh-CN" altLang="en-US"/>
              <a:pPr>
                <a:defRPr/>
              </a:pPr>
              <a:t>70</a:t>
            </a:fld>
            <a:endParaRPr lang="en-US" altLang="zh-CN"/>
          </a:p>
        </p:txBody>
      </p:sp>
      <p:sp>
        <p:nvSpPr>
          <p:cNvPr id="56323" name="Rectangle 2">
            <a:extLst>
              <a:ext uri="{FF2B5EF4-FFF2-40B4-BE49-F238E27FC236}">
                <a16:creationId xmlns:a16="http://schemas.microsoft.com/office/drawing/2014/main" id="{B473C5C8-AAF2-446E-9DB7-ACC2A074D508}"/>
              </a:ext>
            </a:extLst>
          </p:cNvPr>
          <p:cNvSpPr>
            <a:spLocks noGrp="1" noChangeArrowheads="1"/>
          </p:cNvSpPr>
          <p:nvPr>
            <p:ph type="title"/>
          </p:nvPr>
        </p:nvSpPr>
        <p:spPr/>
        <p:txBody>
          <a:bodyPr/>
          <a:lstStyle/>
          <a:p>
            <a:pPr eaLnBrk="1" hangingPunct="1"/>
            <a:r>
              <a:rPr lang="zh-CN" altLang="en-US"/>
              <a:t>1.2.1 区间调度问题</a:t>
            </a:r>
          </a:p>
        </p:txBody>
      </p:sp>
      <p:sp>
        <p:nvSpPr>
          <p:cNvPr id="56324" name="Rectangle 3">
            <a:extLst>
              <a:ext uri="{FF2B5EF4-FFF2-40B4-BE49-F238E27FC236}">
                <a16:creationId xmlns:a16="http://schemas.microsoft.com/office/drawing/2014/main" id="{5E0183CD-70F3-47EA-90E8-FBF716FB0274}"/>
              </a:ext>
            </a:extLst>
          </p:cNvPr>
          <p:cNvSpPr>
            <a:spLocks noGrp="1" noChangeArrowheads="1"/>
          </p:cNvSpPr>
          <p:nvPr>
            <p:ph type="body" idx="1"/>
          </p:nvPr>
        </p:nvSpPr>
        <p:spPr>
          <a:xfrm>
            <a:off x="631304" y="2096859"/>
            <a:ext cx="8055496" cy="4114800"/>
          </a:xfrm>
        </p:spPr>
        <p:txBody>
          <a:bodyPr/>
          <a:lstStyle/>
          <a:p>
            <a:pPr eaLnBrk="1" hangingPunct="1"/>
            <a:r>
              <a:rPr lang="zh-CN" altLang="en-US" dirty="0"/>
              <a:t>形式化描述：</a:t>
            </a:r>
          </a:p>
          <a:p>
            <a:pPr eaLnBrk="1" hangingPunct="1">
              <a:buFont typeface="Wingdings" panose="05000000000000000000" pitchFamily="2" charset="2"/>
              <a:buNone/>
            </a:pPr>
            <a:r>
              <a:rPr lang="zh-CN" altLang="en-US" dirty="0"/>
              <a:t>   有标记为1，2，</a:t>
            </a:r>
            <a:r>
              <a:rPr lang="zh-CN" altLang="en-US" dirty="0">
                <a:latin typeface="Times New Roman" panose="02020603050405020304" pitchFamily="18" charset="0"/>
              </a:rPr>
              <a:t>…</a:t>
            </a:r>
            <a:r>
              <a:rPr lang="zh-CN" altLang="en-US" dirty="0"/>
              <a:t>, </a:t>
            </a:r>
            <a:r>
              <a:rPr lang="en-US" altLang="zh-CN" dirty="0"/>
              <a:t>n </a:t>
            </a:r>
            <a:r>
              <a:rPr lang="zh-CN" altLang="en-US" dirty="0"/>
              <a:t>的</a:t>
            </a:r>
            <a:r>
              <a:rPr lang="en-US" altLang="zh-CN" dirty="0"/>
              <a:t>n</a:t>
            </a:r>
            <a:r>
              <a:rPr lang="zh-CN" altLang="en-US" dirty="0"/>
              <a:t>个需求，每个需求</a:t>
            </a:r>
            <a:r>
              <a:rPr lang="en-US" altLang="zh-CN" dirty="0" err="1"/>
              <a:t>i</a:t>
            </a:r>
            <a:r>
              <a:rPr lang="zh-CN" altLang="en-US" dirty="0"/>
              <a:t>从时刻</a:t>
            </a:r>
            <a:r>
              <a:rPr lang="en-US" altLang="zh-CN" dirty="0" err="1"/>
              <a:t>s</a:t>
            </a:r>
            <a:r>
              <a:rPr lang="en-US" altLang="zh-CN" sz="2000" dirty="0" err="1"/>
              <a:t>i</a:t>
            </a:r>
            <a:r>
              <a:rPr lang="zh-CN" altLang="en-US" dirty="0"/>
              <a:t>开始，到</a:t>
            </a:r>
            <a:r>
              <a:rPr lang="en-US" altLang="zh-CN" dirty="0"/>
              <a:t>f</a:t>
            </a:r>
            <a:r>
              <a:rPr lang="en-US" altLang="zh-CN" sz="2000" dirty="0"/>
              <a:t>i</a:t>
            </a:r>
            <a:r>
              <a:rPr lang="zh-CN" altLang="en-US" dirty="0"/>
              <a:t>结束(</a:t>
            </a:r>
            <a:r>
              <a:rPr lang="en-US" altLang="zh-CN" dirty="0" err="1"/>
              <a:t>s</a:t>
            </a:r>
            <a:r>
              <a:rPr lang="en-US" altLang="zh-CN" sz="2000" dirty="0" err="1"/>
              <a:t>i</a:t>
            </a:r>
            <a:r>
              <a:rPr lang="en-US" altLang="zh-CN" dirty="0"/>
              <a:t>&lt;f</a:t>
            </a:r>
            <a:r>
              <a:rPr lang="en-US" altLang="zh-CN" sz="2000" dirty="0"/>
              <a:t>i</a:t>
            </a:r>
            <a:r>
              <a:rPr lang="en-US" altLang="zh-CN" dirty="0"/>
              <a:t>)。</a:t>
            </a:r>
            <a:r>
              <a:rPr lang="zh-CN" altLang="en-US" dirty="0"/>
              <a:t>目标是选择一个最大的相容需求子集。</a:t>
            </a:r>
          </a:p>
          <a:p>
            <a:pPr eaLnBrk="1" hangingPunct="1">
              <a:buFont typeface="Wingdings" panose="05000000000000000000" pitchFamily="2" charset="2"/>
              <a:buNone/>
            </a:pPr>
            <a:r>
              <a:rPr lang="zh-CN" altLang="en-US" dirty="0"/>
              <a:t>（</a:t>
            </a:r>
            <a:r>
              <a:rPr lang="zh-CN" altLang="en-US" dirty="0">
                <a:solidFill>
                  <a:schemeClr val="hlink"/>
                </a:solidFill>
              </a:rPr>
              <a:t>相容</a:t>
            </a:r>
            <a:r>
              <a:rPr lang="zh-CN" altLang="en-US" dirty="0"/>
              <a:t>：两个需求</a:t>
            </a:r>
            <a:r>
              <a:rPr lang="en-US" altLang="zh-CN" dirty="0" err="1"/>
              <a:t>i</a:t>
            </a:r>
            <a:r>
              <a:rPr lang="en-US" altLang="zh-CN" dirty="0"/>
              <a:t>, j </a:t>
            </a:r>
            <a:r>
              <a:rPr lang="zh-CN" altLang="en-US" dirty="0"/>
              <a:t>所要求的区间不重叠）</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5">
            <a:extLst>
              <a:ext uri="{FF2B5EF4-FFF2-40B4-BE49-F238E27FC236}">
                <a16:creationId xmlns:a16="http://schemas.microsoft.com/office/drawing/2014/main" id="{5404BF21-6783-4F88-B5C1-799DAC61C4DD}"/>
              </a:ext>
            </a:extLst>
          </p:cNvPr>
          <p:cNvSpPr>
            <a:spLocks noGrp="1"/>
          </p:cNvSpPr>
          <p:nvPr>
            <p:ph type="sldNum" sz="quarter" idx="12"/>
          </p:nvPr>
        </p:nvSpPr>
        <p:spPr>
          <a:xfrm>
            <a:off x="6123384" y="6324600"/>
            <a:ext cx="1905000" cy="457200"/>
          </a:xfrm>
        </p:spPr>
        <p:txBody>
          <a:bodyPr/>
          <a:lstStyle/>
          <a:p>
            <a:pPr>
              <a:defRPr/>
            </a:pPr>
            <a:fld id="{A3141711-4A01-4ACF-AB6C-55C45FE6EBF4}" type="slidenum">
              <a:rPr lang="zh-CN" altLang="en-US"/>
              <a:pPr>
                <a:defRPr/>
              </a:pPr>
              <a:t>71</a:t>
            </a:fld>
            <a:endParaRPr lang="en-US" altLang="zh-CN"/>
          </a:p>
        </p:txBody>
      </p:sp>
      <p:sp>
        <p:nvSpPr>
          <p:cNvPr id="57347" name="Rectangle 2">
            <a:extLst>
              <a:ext uri="{FF2B5EF4-FFF2-40B4-BE49-F238E27FC236}">
                <a16:creationId xmlns:a16="http://schemas.microsoft.com/office/drawing/2014/main" id="{18424637-67E6-47A6-BA3E-74E494E93AD1}"/>
              </a:ext>
            </a:extLst>
          </p:cNvPr>
          <p:cNvSpPr>
            <a:spLocks noGrp="1" noChangeArrowheads="1"/>
          </p:cNvSpPr>
          <p:nvPr>
            <p:ph type="title"/>
          </p:nvPr>
        </p:nvSpPr>
        <p:spPr>
          <a:xfrm>
            <a:off x="1143000" y="609600"/>
            <a:ext cx="7793038" cy="1143000"/>
          </a:xfrm>
        </p:spPr>
        <p:txBody>
          <a:bodyPr/>
          <a:lstStyle/>
          <a:p>
            <a:pPr eaLnBrk="1" hangingPunct="1"/>
            <a:r>
              <a:rPr lang="zh-CN" altLang="en-US"/>
              <a:t>1.2.1 区间调度问题</a:t>
            </a:r>
          </a:p>
        </p:txBody>
      </p:sp>
      <p:sp>
        <p:nvSpPr>
          <p:cNvPr id="57348" name="Rectangle 3">
            <a:extLst>
              <a:ext uri="{FF2B5EF4-FFF2-40B4-BE49-F238E27FC236}">
                <a16:creationId xmlns:a16="http://schemas.microsoft.com/office/drawing/2014/main" id="{10325489-B354-4DAF-A273-B951021D88A3}"/>
              </a:ext>
            </a:extLst>
          </p:cNvPr>
          <p:cNvSpPr>
            <a:spLocks noGrp="1" noChangeArrowheads="1"/>
          </p:cNvSpPr>
          <p:nvPr>
            <p:ph type="body" idx="1"/>
          </p:nvPr>
        </p:nvSpPr>
        <p:spPr/>
        <p:txBody>
          <a:bodyPr/>
          <a:lstStyle/>
          <a:p>
            <a:pPr eaLnBrk="1" hangingPunct="1">
              <a:buFont typeface="Wingdings" panose="05000000000000000000" pitchFamily="2" charset="2"/>
              <a:buNone/>
            </a:pPr>
            <a:r>
              <a:rPr lang="zh-CN" altLang="en-US"/>
              <a:t> </a:t>
            </a:r>
          </a:p>
        </p:txBody>
      </p:sp>
      <p:sp>
        <p:nvSpPr>
          <p:cNvPr id="57349" name="Line 4">
            <a:extLst>
              <a:ext uri="{FF2B5EF4-FFF2-40B4-BE49-F238E27FC236}">
                <a16:creationId xmlns:a16="http://schemas.microsoft.com/office/drawing/2014/main" id="{3F013D47-83F7-4647-BC4A-E687C77FDB93}"/>
              </a:ext>
            </a:extLst>
          </p:cNvPr>
          <p:cNvSpPr>
            <a:spLocks noChangeShapeType="1"/>
          </p:cNvSpPr>
          <p:nvPr/>
        </p:nvSpPr>
        <p:spPr bwMode="auto">
          <a:xfrm>
            <a:off x="1497535" y="6368058"/>
            <a:ext cx="588168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0" name="Text Box 5">
            <a:extLst>
              <a:ext uri="{FF2B5EF4-FFF2-40B4-BE49-F238E27FC236}">
                <a16:creationId xmlns:a16="http://schemas.microsoft.com/office/drawing/2014/main" id="{EBC7D4A2-7291-4670-BE22-95964F69FD48}"/>
              </a:ext>
            </a:extLst>
          </p:cNvPr>
          <p:cNvSpPr txBox="1">
            <a:spLocks noChangeArrowheads="1"/>
          </p:cNvSpPr>
          <p:nvPr/>
        </p:nvSpPr>
        <p:spPr bwMode="auto">
          <a:xfrm>
            <a:off x="7482408" y="6146949"/>
            <a:ext cx="7620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Time</a:t>
            </a:r>
          </a:p>
        </p:txBody>
      </p:sp>
      <p:sp>
        <p:nvSpPr>
          <p:cNvPr id="57351" name="Line 6">
            <a:extLst>
              <a:ext uri="{FF2B5EF4-FFF2-40B4-BE49-F238E27FC236}">
                <a16:creationId xmlns:a16="http://schemas.microsoft.com/office/drawing/2014/main" id="{4240EE8F-61CC-4F0B-B2B7-E464D397EFEE}"/>
              </a:ext>
            </a:extLst>
          </p:cNvPr>
          <p:cNvSpPr>
            <a:spLocks noChangeShapeType="1"/>
          </p:cNvSpPr>
          <p:nvPr/>
        </p:nvSpPr>
        <p:spPr bwMode="auto">
          <a:xfrm>
            <a:off x="6618810" y="6368058"/>
            <a:ext cx="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2" name="Line 7">
            <a:extLst>
              <a:ext uri="{FF2B5EF4-FFF2-40B4-BE49-F238E27FC236}">
                <a16:creationId xmlns:a16="http://schemas.microsoft.com/office/drawing/2014/main" id="{C1E53590-DAEA-43C5-AF8E-50CE9522F257}"/>
              </a:ext>
            </a:extLst>
          </p:cNvPr>
          <p:cNvSpPr>
            <a:spLocks noChangeShapeType="1"/>
          </p:cNvSpPr>
          <p:nvPr/>
        </p:nvSpPr>
        <p:spPr bwMode="auto">
          <a:xfrm rot="-5400000">
            <a:off x="389459"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3" name="Line 8">
            <a:extLst>
              <a:ext uri="{FF2B5EF4-FFF2-40B4-BE49-F238E27FC236}">
                <a16:creationId xmlns:a16="http://schemas.microsoft.com/office/drawing/2014/main" id="{5AFD5C16-474C-4A0A-833F-0E183A4C0734}"/>
              </a:ext>
            </a:extLst>
          </p:cNvPr>
          <p:cNvSpPr>
            <a:spLocks noChangeShapeType="1"/>
          </p:cNvSpPr>
          <p:nvPr/>
        </p:nvSpPr>
        <p:spPr bwMode="auto">
          <a:xfrm rot="-5400000">
            <a:off x="-94728"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4" name="Line 9">
            <a:extLst>
              <a:ext uri="{FF2B5EF4-FFF2-40B4-BE49-F238E27FC236}">
                <a16:creationId xmlns:a16="http://schemas.microsoft.com/office/drawing/2014/main" id="{4FB71921-817F-4777-84CE-43A5192DF2EC}"/>
              </a:ext>
            </a:extLst>
          </p:cNvPr>
          <p:cNvSpPr>
            <a:spLocks noChangeShapeType="1"/>
          </p:cNvSpPr>
          <p:nvPr/>
        </p:nvSpPr>
        <p:spPr bwMode="auto">
          <a:xfrm rot="-5400000">
            <a:off x="1359422"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5" name="Line 10">
            <a:extLst>
              <a:ext uri="{FF2B5EF4-FFF2-40B4-BE49-F238E27FC236}">
                <a16:creationId xmlns:a16="http://schemas.microsoft.com/office/drawing/2014/main" id="{27AEF8D0-9435-4F26-90F5-8F350DCCB8F0}"/>
              </a:ext>
            </a:extLst>
          </p:cNvPr>
          <p:cNvSpPr>
            <a:spLocks noChangeShapeType="1"/>
          </p:cNvSpPr>
          <p:nvPr/>
        </p:nvSpPr>
        <p:spPr bwMode="auto">
          <a:xfrm rot="-5400000">
            <a:off x="873647"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6" name="Line 11">
            <a:extLst>
              <a:ext uri="{FF2B5EF4-FFF2-40B4-BE49-F238E27FC236}">
                <a16:creationId xmlns:a16="http://schemas.microsoft.com/office/drawing/2014/main" id="{3410F178-37BF-443E-AB89-672D57473126}"/>
              </a:ext>
            </a:extLst>
          </p:cNvPr>
          <p:cNvSpPr>
            <a:spLocks noChangeShapeType="1"/>
          </p:cNvSpPr>
          <p:nvPr/>
        </p:nvSpPr>
        <p:spPr bwMode="auto">
          <a:xfrm rot="-5400000">
            <a:off x="1843609"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7" name="Line 12">
            <a:extLst>
              <a:ext uri="{FF2B5EF4-FFF2-40B4-BE49-F238E27FC236}">
                <a16:creationId xmlns:a16="http://schemas.microsoft.com/office/drawing/2014/main" id="{0685B3D0-E8CA-4D77-9416-0F22C6025002}"/>
              </a:ext>
            </a:extLst>
          </p:cNvPr>
          <p:cNvSpPr>
            <a:spLocks noChangeShapeType="1"/>
          </p:cNvSpPr>
          <p:nvPr/>
        </p:nvSpPr>
        <p:spPr bwMode="auto">
          <a:xfrm rot="-5400000">
            <a:off x="3296172"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8" name="Line 13">
            <a:extLst>
              <a:ext uri="{FF2B5EF4-FFF2-40B4-BE49-F238E27FC236}">
                <a16:creationId xmlns:a16="http://schemas.microsoft.com/office/drawing/2014/main" id="{B9A52462-D834-43CD-876B-1983BF0A2FFE}"/>
              </a:ext>
            </a:extLst>
          </p:cNvPr>
          <p:cNvSpPr>
            <a:spLocks noChangeShapeType="1"/>
          </p:cNvSpPr>
          <p:nvPr/>
        </p:nvSpPr>
        <p:spPr bwMode="auto">
          <a:xfrm rot="-5400000">
            <a:off x="2811984"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59" name="Line 14">
            <a:extLst>
              <a:ext uri="{FF2B5EF4-FFF2-40B4-BE49-F238E27FC236}">
                <a16:creationId xmlns:a16="http://schemas.microsoft.com/office/drawing/2014/main" id="{6C43CCF9-356C-4403-8267-62EAADF439F5}"/>
              </a:ext>
            </a:extLst>
          </p:cNvPr>
          <p:cNvSpPr>
            <a:spLocks noChangeShapeType="1"/>
          </p:cNvSpPr>
          <p:nvPr/>
        </p:nvSpPr>
        <p:spPr bwMode="auto">
          <a:xfrm rot="-5400000">
            <a:off x="4264547"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60" name="Line 15">
            <a:extLst>
              <a:ext uri="{FF2B5EF4-FFF2-40B4-BE49-F238E27FC236}">
                <a16:creationId xmlns:a16="http://schemas.microsoft.com/office/drawing/2014/main" id="{91D16AB3-EE6A-4DAB-A3F3-5FF607E2669A}"/>
              </a:ext>
            </a:extLst>
          </p:cNvPr>
          <p:cNvSpPr>
            <a:spLocks noChangeShapeType="1"/>
          </p:cNvSpPr>
          <p:nvPr/>
        </p:nvSpPr>
        <p:spPr bwMode="auto">
          <a:xfrm rot="-5400000">
            <a:off x="3780359"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61" name="Line 16">
            <a:extLst>
              <a:ext uri="{FF2B5EF4-FFF2-40B4-BE49-F238E27FC236}">
                <a16:creationId xmlns:a16="http://schemas.microsoft.com/office/drawing/2014/main" id="{9FA9DA35-5802-4069-9C76-6FFC7E2EC213}"/>
              </a:ext>
            </a:extLst>
          </p:cNvPr>
          <p:cNvSpPr>
            <a:spLocks noChangeShapeType="1"/>
          </p:cNvSpPr>
          <p:nvPr/>
        </p:nvSpPr>
        <p:spPr bwMode="auto">
          <a:xfrm rot="-5400000">
            <a:off x="5234509"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62" name="Line 17">
            <a:extLst>
              <a:ext uri="{FF2B5EF4-FFF2-40B4-BE49-F238E27FC236}">
                <a16:creationId xmlns:a16="http://schemas.microsoft.com/office/drawing/2014/main" id="{C6FC6EE7-0898-43CF-AAB2-5425A31508F1}"/>
              </a:ext>
            </a:extLst>
          </p:cNvPr>
          <p:cNvSpPr>
            <a:spLocks noChangeShapeType="1"/>
          </p:cNvSpPr>
          <p:nvPr/>
        </p:nvSpPr>
        <p:spPr bwMode="auto">
          <a:xfrm rot="-5400000">
            <a:off x="4750322"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63" name="Rectangle 18">
            <a:extLst>
              <a:ext uri="{FF2B5EF4-FFF2-40B4-BE49-F238E27FC236}">
                <a16:creationId xmlns:a16="http://schemas.microsoft.com/office/drawing/2014/main" id="{0102D57D-18D7-4201-AD69-BEB6483F99BF}"/>
              </a:ext>
            </a:extLst>
          </p:cNvPr>
          <p:cNvSpPr>
            <a:spLocks noChangeArrowheads="1"/>
          </p:cNvSpPr>
          <p:nvPr/>
        </p:nvSpPr>
        <p:spPr bwMode="auto">
          <a:xfrm>
            <a:off x="3950222" y="5240933"/>
            <a:ext cx="1936750" cy="276225"/>
          </a:xfrm>
          <a:prstGeom prst="rect">
            <a:avLst/>
          </a:prstGeom>
          <a:solidFill>
            <a:srgbClr val="FFC000"/>
          </a:solidFill>
          <a:ln>
            <a:noFill/>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dirty="0">
                <a:latin typeface="Comic Sans MS" panose="030F0702030302020204" pitchFamily="66" charset="0"/>
              </a:rPr>
              <a:t>f</a:t>
            </a:r>
          </a:p>
        </p:txBody>
      </p:sp>
      <p:sp>
        <p:nvSpPr>
          <p:cNvPr id="57364" name="Rectangle 19">
            <a:extLst>
              <a:ext uri="{FF2B5EF4-FFF2-40B4-BE49-F238E27FC236}">
                <a16:creationId xmlns:a16="http://schemas.microsoft.com/office/drawing/2014/main" id="{6F52F378-BDD9-467A-AA92-D34814DB1FE9}"/>
              </a:ext>
            </a:extLst>
          </p:cNvPr>
          <p:cNvSpPr>
            <a:spLocks noChangeArrowheads="1"/>
          </p:cNvSpPr>
          <p:nvPr/>
        </p:nvSpPr>
        <p:spPr bwMode="auto">
          <a:xfrm>
            <a:off x="4407422" y="5698133"/>
            <a:ext cx="1938338" cy="276225"/>
          </a:xfrm>
          <a:prstGeom prst="rect">
            <a:avLst/>
          </a:prstGeom>
          <a:solidFill>
            <a:schemeClr val="tx2"/>
          </a:solidFill>
          <a:ln>
            <a:noFill/>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dirty="0">
                <a:solidFill>
                  <a:srgbClr val="FF0000"/>
                </a:solidFill>
                <a:latin typeface="Comic Sans MS" panose="030F0702030302020204" pitchFamily="66" charset="0"/>
              </a:rPr>
              <a:t>g</a:t>
            </a:r>
          </a:p>
        </p:txBody>
      </p:sp>
      <p:sp>
        <p:nvSpPr>
          <p:cNvPr id="57365" name="Line 20">
            <a:extLst>
              <a:ext uri="{FF2B5EF4-FFF2-40B4-BE49-F238E27FC236}">
                <a16:creationId xmlns:a16="http://schemas.microsoft.com/office/drawing/2014/main" id="{221BC6F9-3A25-4449-9587-6895D87409B8}"/>
              </a:ext>
            </a:extLst>
          </p:cNvPr>
          <p:cNvSpPr>
            <a:spLocks noChangeShapeType="1"/>
          </p:cNvSpPr>
          <p:nvPr/>
        </p:nvSpPr>
        <p:spPr bwMode="auto">
          <a:xfrm rot="-5400000">
            <a:off x="2327797" y="4775796"/>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57366" name="Rectangle 21">
            <a:extLst>
              <a:ext uri="{FF2B5EF4-FFF2-40B4-BE49-F238E27FC236}">
                <a16:creationId xmlns:a16="http://schemas.microsoft.com/office/drawing/2014/main" id="{A6776DFA-6E3C-479C-9FC8-7F105E08C3C0}"/>
              </a:ext>
            </a:extLst>
          </p:cNvPr>
          <p:cNvSpPr>
            <a:spLocks noChangeArrowheads="1"/>
          </p:cNvSpPr>
          <p:nvPr/>
        </p:nvSpPr>
        <p:spPr bwMode="auto">
          <a:xfrm>
            <a:off x="5372622" y="6087071"/>
            <a:ext cx="1454150" cy="27781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latin typeface="Comic Sans MS" panose="030F0702030302020204" pitchFamily="66" charset="0"/>
              </a:rPr>
              <a:t>h</a:t>
            </a:r>
          </a:p>
        </p:txBody>
      </p:sp>
      <p:sp>
        <p:nvSpPr>
          <p:cNvPr id="57367" name="Rectangle 22">
            <a:extLst>
              <a:ext uri="{FF2B5EF4-FFF2-40B4-BE49-F238E27FC236}">
                <a16:creationId xmlns:a16="http://schemas.microsoft.com/office/drawing/2014/main" id="{7BD8B01F-39F2-4B2B-AEA1-CF04793641D7}"/>
              </a:ext>
            </a:extLst>
          </p:cNvPr>
          <p:cNvSpPr>
            <a:spLocks noChangeArrowheads="1"/>
          </p:cNvSpPr>
          <p:nvPr/>
        </p:nvSpPr>
        <p:spPr bwMode="auto">
          <a:xfrm>
            <a:off x="3435872" y="4844058"/>
            <a:ext cx="1452563" cy="27781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latin typeface="Comic Sans MS" panose="030F0702030302020204" pitchFamily="66" charset="0"/>
              </a:rPr>
              <a:t>e</a:t>
            </a:r>
          </a:p>
        </p:txBody>
      </p:sp>
      <p:sp>
        <p:nvSpPr>
          <p:cNvPr id="57368" name="Rectangle 23">
            <a:extLst>
              <a:ext uri="{FF2B5EF4-FFF2-40B4-BE49-F238E27FC236}">
                <a16:creationId xmlns:a16="http://schemas.microsoft.com/office/drawing/2014/main" id="{ABD9176D-BEBB-4BF8-9EC4-0D013D8A1439}"/>
              </a:ext>
            </a:extLst>
          </p:cNvPr>
          <p:cNvSpPr>
            <a:spLocks noChangeArrowheads="1"/>
          </p:cNvSpPr>
          <p:nvPr/>
        </p:nvSpPr>
        <p:spPr bwMode="auto">
          <a:xfrm>
            <a:off x="1511822" y="3183533"/>
            <a:ext cx="2906713" cy="276225"/>
          </a:xfrm>
          <a:prstGeom prst="rect">
            <a:avLst/>
          </a:prstGeom>
          <a:solidFill>
            <a:schemeClr val="tx2"/>
          </a:solidFill>
          <a:ln>
            <a:noFill/>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rgbClr val="FF0000"/>
                </a:solidFill>
                <a:latin typeface="Comic Sans MS" panose="030F0702030302020204" pitchFamily="66" charset="0"/>
              </a:rPr>
              <a:t>a</a:t>
            </a:r>
          </a:p>
        </p:txBody>
      </p:sp>
      <p:sp>
        <p:nvSpPr>
          <p:cNvPr id="57369" name="Rectangle 24">
            <a:extLst>
              <a:ext uri="{FF2B5EF4-FFF2-40B4-BE49-F238E27FC236}">
                <a16:creationId xmlns:a16="http://schemas.microsoft.com/office/drawing/2014/main" id="{95FEC176-026F-43EA-B73E-8D60DC2915A1}"/>
              </a:ext>
            </a:extLst>
          </p:cNvPr>
          <p:cNvSpPr>
            <a:spLocks noChangeArrowheads="1"/>
          </p:cNvSpPr>
          <p:nvPr/>
        </p:nvSpPr>
        <p:spPr bwMode="auto">
          <a:xfrm>
            <a:off x="1981722" y="3599458"/>
            <a:ext cx="1454150"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latin typeface="Comic Sans MS" panose="030F0702030302020204" pitchFamily="66" charset="0"/>
              </a:rPr>
              <a:t>b</a:t>
            </a:r>
          </a:p>
        </p:txBody>
      </p:sp>
      <p:sp>
        <p:nvSpPr>
          <p:cNvPr id="57370" name="Rectangle 25">
            <a:extLst>
              <a:ext uri="{FF2B5EF4-FFF2-40B4-BE49-F238E27FC236}">
                <a16:creationId xmlns:a16="http://schemas.microsoft.com/office/drawing/2014/main" id="{2A5A33D5-FE94-40FB-B2D2-0F491E8B2D38}"/>
              </a:ext>
            </a:extLst>
          </p:cNvPr>
          <p:cNvSpPr>
            <a:spLocks noChangeArrowheads="1"/>
          </p:cNvSpPr>
          <p:nvPr/>
        </p:nvSpPr>
        <p:spPr bwMode="auto">
          <a:xfrm>
            <a:off x="2959622" y="4021733"/>
            <a:ext cx="968375" cy="277813"/>
          </a:xfrm>
          <a:prstGeom prst="rect">
            <a:avLst/>
          </a:prstGeom>
          <a:solidFill>
            <a:srgbClr val="FFC000"/>
          </a:solidFill>
          <a:ln>
            <a:noFill/>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dirty="0">
                <a:latin typeface="Comic Sans MS" panose="030F0702030302020204" pitchFamily="66" charset="0"/>
              </a:rPr>
              <a:t>c</a:t>
            </a:r>
          </a:p>
        </p:txBody>
      </p:sp>
      <p:sp>
        <p:nvSpPr>
          <p:cNvPr id="57371" name="Rectangle 26">
            <a:extLst>
              <a:ext uri="{FF2B5EF4-FFF2-40B4-BE49-F238E27FC236}">
                <a16:creationId xmlns:a16="http://schemas.microsoft.com/office/drawing/2014/main" id="{4E8227A4-424F-4112-9E8A-54A02DCDAB96}"/>
              </a:ext>
            </a:extLst>
          </p:cNvPr>
          <p:cNvSpPr>
            <a:spLocks noChangeArrowheads="1"/>
          </p:cNvSpPr>
          <p:nvPr/>
        </p:nvSpPr>
        <p:spPr bwMode="auto">
          <a:xfrm>
            <a:off x="2959622" y="4402733"/>
            <a:ext cx="2420938" cy="276225"/>
          </a:xfrm>
          <a:prstGeom prst="rect">
            <a:avLst/>
          </a:prstGeom>
          <a:solidFill>
            <a:srgbClr val="C00000"/>
          </a:solidFill>
          <a:ln>
            <a:noFill/>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latin typeface="Comic Sans MS" panose="030F0702030302020204" pitchFamily="66" charset="0"/>
              </a:rPr>
              <a:t>d</a:t>
            </a:r>
          </a:p>
        </p:txBody>
      </p:sp>
      <p:grpSp>
        <p:nvGrpSpPr>
          <p:cNvPr id="2" name="Group 27">
            <a:extLst>
              <a:ext uri="{FF2B5EF4-FFF2-40B4-BE49-F238E27FC236}">
                <a16:creationId xmlns:a16="http://schemas.microsoft.com/office/drawing/2014/main" id="{BA8BA6A4-FEE5-43F3-A4B0-F5DCAEFC1862}"/>
              </a:ext>
            </a:extLst>
          </p:cNvPr>
          <p:cNvGrpSpPr>
            <a:grpSpLocks/>
          </p:cNvGrpSpPr>
          <p:nvPr/>
        </p:nvGrpSpPr>
        <p:grpSpPr bwMode="auto">
          <a:xfrm>
            <a:off x="1969022" y="3564533"/>
            <a:ext cx="4845050" cy="2765425"/>
            <a:chOff x="1218" y="2182"/>
            <a:chExt cx="3052" cy="1742"/>
          </a:xfrm>
        </p:grpSpPr>
        <p:sp>
          <p:nvSpPr>
            <p:cNvPr id="57373" name="Rectangle 28">
              <a:extLst>
                <a:ext uri="{FF2B5EF4-FFF2-40B4-BE49-F238E27FC236}">
                  <a16:creationId xmlns:a16="http://schemas.microsoft.com/office/drawing/2014/main" id="{4E1950E6-76BD-4D31-8F5D-1C2D32607B41}"/>
                </a:ext>
              </a:extLst>
            </p:cNvPr>
            <p:cNvSpPr>
              <a:spLocks noChangeArrowheads="1"/>
            </p:cNvSpPr>
            <p:nvPr/>
          </p:nvSpPr>
          <p:spPr bwMode="auto">
            <a:xfrm>
              <a:off x="3354" y="3749"/>
              <a:ext cx="916" cy="175"/>
            </a:xfrm>
            <a:prstGeom prst="rect">
              <a:avLst/>
            </a:prstGeom>
            <a:solidFill>
              <a:schemeClr val="tx1">
                <a:lumMod val="50000"/>
                <a:lumOff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bg1"/>
                  </a:solidFill>
                  <a:latin typeface="Comic Sans MS" panose="030F0702030302020204" pitchFamily="66" charset="0"/>
                </a:rPr>
                <a:t>h</a:t>
              </a:r>
            </a:p>
          </p:txBody>
        </p:sp>
        <p:sp>
          <p:nvSpPr>
            <p:cNvPr id="57374" name="Rectangle 29">
              <a:extLst>
                <a:ext uri="{FF2B5EF4-FFF2-40B4-BE49-F238E27FC236}">
                  <a16:creationId xmlns:a16="http://schemas.microsoft.com/office/drawing/2014/main" id="{B67D4520-23CB-4805-B356-7143CB394D24}"/>
                </a:ext>
              </a:extLst>
            </p:cNvPr>
            <p:cNvSpPr>
              <a:spLocks noChangeArrowheads="1"/>
            </p:cNvSpPr>
            <p:nvPr/>
          </p:nvSpPr>
          <p:spPr bwMode="auto">
            <a:xfrm>
              <a:off x="2134" y="2966"/>
              <a:ext cx="915" cy="175"/>
            </a:xfrm>
            <a:prstGeom prst="rect">
              <a:avLst/>
            </a:prstGeom>
            <a:solidFill>
              <a:schemeClr val="tx1">
                <a:lumMod val="50000"/>
                <a:lumOff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a:solidFill>
                    <a:schemeClr val="bg1"/>
                  </a:solidFill>
                  <a:latin typeface="Comic Sans MS" panose="030F0702030302020204" pitchFamily="66" charset="0"/>
                </a:rPr>
                <a:t>e</a:t>
              </a:r>
            </a:p>
          </p:txBody>
        </p:sp>
        <p:sp>
          <p:nvSpPr>
            <p:cNvPr id="57375" name="Rectangle 30">
              <a:extLst>
                <a:ext uri="{FF2B5EF4-FFF2-40B4-BE49-F238E27FC236}">
                  <a16:creationId xmlns:a16="http://schemas.microsoft.com/office/drawing/2014/main" id="{6B688911-8604-4732-B8FE-FD568F722BF2}"/>
                </a:ext>
              </a:extLst>
            </p:cNvPr>
            <p:cNvSpPr>
              <a:spLocks noChangeArrowheads="1"/>
            </p:cNvSpPr>
            <p:nvPr/>
          </p:nvSpPr>
          <p:spPr bwMode="auto">
            <a:xfrm>
              <a:off x="1218" y="2182"/>
              <a:ext cx="916" cy="174"/>
            </a:xfrm>
            <a:prstGeom prst="rect">
              <a:avLst/>
            </a:prstGeom>
            <a:solidFill>
              <a:schemeClr val="tx1">
                <a:lumMod val="50000"/>
                <a:lumOff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400" dirty="0">
                  <a:solidFill>
                    <a:schemeClr val="bg1"/>
                  </a:solidFill>
                  <a:latin typeface="Comic Sans MS" panose="030F0702030302020204" pitchFamily="66" charset="0"/>
                </a:rPr>
                <a:t>b</a:t>
              </a:r>
            </a:p>
          </p:txBody>
        </p:sp>
      </p:grpSp>
      <p:sp>
        <p:nvSpPr>
          <p:cNvPr id="5" name="文本框 4">
            <a:extLst>
              <a:ext uri="{FF2B5EF4-FFF2-40B4-BE49-F238E27FC236}">
                <a16:creationId xmlns:a16="http://schemas.microsoft.com/office/drawing/2014/main" id="{3438DA37-96CB-A49B-BEAD-62794DE0817F}"/>
              </a:ext>
            </a:extLst>
          </p:cNvPr>
          <p:cNvSpPr txBox="1"/>
          <p:nvPr/>
        </p:nvSpPr>
        <p:spPr>
          <a:xfrm>
            <a:off x="1315245" y="1892300"/>
            <a:ext cx="6513510" cy="1200329"/>
          </a:xfrm>
          <a:prstGeom prst="rect">
            <a:avLst/>
          </a:prstGeom>
          <a:noFill/>
        </p:spPr>
        <p:txBody>
          <a:bodyPr wrap="square">
            <a:spAutoFit/>
          </a:bodyPr>
          <a:lstStyle/>
          <a:p>
            <a:pPr algn="just" eaLnBrk="1" hangingPunct="1"/>
            <a:r>
              <a:rPr lang="zh-CN" altLang="en-US" sz="2400" dirty="0">
                <a:solidFill>
                  <a:schemeClr val="tx1"/>
                </a:solidFill>
              </a:rPr>
              <a:t>用贪心算法来求解这个问题：</a:t>
            </a:r>
            <a:endParaRPr lang="en-US" altLang="zh-CN" sz="2400" dirty="0">
              <a:solidFill>
                <a:schemeClr val="tx1"/>
              </a:solidFill>
            </a:endParaRPr>
          </a:p>
          <a:p>
            <a:pPr marL="342900" indent="-342900" algn="just" eaLnBrk="1" hangingPunct="1">
              <a:buFont typeface="Wingdings" panose="05000000000000000000" pitchFamily="2" charset="2"/>
              <a:buChar char="Ø"/>
            </a:pPr>
            <a:r>
              <a:rPr lang="zh-CN" altLang="en-US" sz="2400" dirty="0">
                <a:solidFill>
                  <a:schemeClr val="tx1"/>
                </a:solidFill>
              </a:rPr>
              <a:t>把一组需求排序</a:t>
            </a:r>
            <a:r>
              <a:rPr lang="en-US" altLang="zh-CN" sz="2400" dirty="0">
                <a:solidFill>
                  <a:schemeClr val="tx1"/>
                </a:solidFill>
              </a:rPr>
              <a:t>,</a:t>
            </a:r>
            <a:r>
              <a:rPr lang="zh-CN" altLang="en-US" sz="2400" dirty="0">
                <a:solidFill>
                  <a:schemeClr val="tx1"/>
                </a:solidFill>
              </a:rPr>
              <a:t>然后</a:t>
            </a:r>
            <a:r>
              <a:rPr lang="zh-CN" altLang="en-US" sz="2400" dirty="0">
                <a:solidFill>
                  <a:srgbClr val="FF0000"/>
                </a:solidFill>
              </a:rPr>
              <a:t>“贪心”</a:t>
            </a:r>
            <a:r>
              <a:rPr lang="zh-CN" altLang="en-US" sz="2400" dirty="0">
                <a:solidFill>
                  <a:schemeClr val="tx1"/>
                </a:solidFill>
              </a:rPr>
              <a:t>地对需求进行一轮处理</a:t>
            </a:r>
            <a:r>
              <a:rPr lang="en-US" altLang="zh-CN" sz="2400" dirty="0">
                <a:solidFill>
                  <a:schemeClr val="tx1"/>
                </a:solidFill>
              </a:rPr>
              <a:t>,</a:t>
            </a:r>
            <a:r>
              <a:rPr lang="zh-CN" altLang="en-US" sz="2400" dirty="0">
                <a:solidFill>
                  <a:schemeClr val="tx1"/>
                </a:solidFill>
              </a:rPr>
              <a:t>选出最大的相容子集。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7368"/>
                                        </p:tgtEl>
                                      </p:cBhvr>
                                    </p:animEffect>
                                    <p:animScale>
                                      <p:cBhvr>
                                        <p:cTn id="7" dur="250" autoRev="1" fill="hold"/>
                                        <p:tgtEl>
                                          <p:spTgt spid="57368"/>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57364"/>
                                        </p:tgtEl>
                                      </p:cBhvr>
                                    </p:animEffect>
                                    <p:animScale>
                                      <p:cBhvr>
                                        <p:cTn id="10" dur="250" autoRev="1" fill="hold"/>
                                        <p:tgtEl>
                                          <p:spTgt spid="57364"/>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2"/>
                                        </p:tgtEl>
                                      </p:cBhvr>
                                    </p:animEffect>
                                    <p:animScale>
                                      <p:cBhvr>
                                        <p:cTn id="15" dur="250" autoRev="1" fill="hold"/>
                                        <p:tgtEl>
                                          <p:spTgt spid="2"/>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grpId="0" nodeType="clickEffect">
                                  <p:stCondLst>
                                    <p:cond delay="0"/>
                                  </p:stCondLst>
                                  <p:childTnLst>
                                    <p:animEffect transition="out" filter="fade">
                                      <p:cBhvr>
                                        <p:cTn id="19" dur="500" tmFilter="0, 0; .2, .5; .8, .5; 1, 0"/>
                                        <p:tgtEl>
                                          <p:spTgt spid="57370"/>
                                        </p:tgtEl>
                                      </p:cBhvr>
                                    </p:animEffect>
                                    <p:animScale>
                                      <p:cBhvr>
                                        <p:cTn id="20" dur="250" autoRev="1" fill="hold"/>
                                        <p:tgtEl>
                                          <p:spTgt spid="57370"/>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57363"/>
                                        </p:tgtEl>
                                      </p:cBhvr>
                                    </p:animEffect>
                                    <p:animScale>
                                      <p:cBhvr>
                                        <p:cTn id="23" dur="250" autoRev="1" fill="hold"/>
                                        <p:tgtEl>
                                          <p:spTgt spid="57363"/>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26" presetClass="emph" presetSubtype="0" fill="hold" grpId="0" nodeType="clickEffect">
                                  <p:stCondLst>
                                    <p:cond delay="0"/>
                                  </p:stCondLst>
                                  <p:childTnLst>
                                    <p:animEffect transition="out" filter="fade">
                                      <p:cBhvr>
                                        <p:cTn id="27" dur="500" tmFilter="0, 0; .2, .5; .8, .5; 1, 0"/>
                                        <p:tgtEl>
                                          <p:spTgt spid="57371"/>
                                        </p:tgtEl>
                                      </p:cBhvr>
                                    </p:animEffect>
                                    <p:animScale>
                                      <p:cBhvr>
                                        <p:cTn id="28" dur="250" autoRev="1" fill="hold"/>
                                        <p:tgtEl>
                                          <p:spTgt spid="57371"/>
                                        </p:tgtEl>
                                      </p:cBhvr>
                                      <p:by x="105000" y="105000"/>
                                    </p:animScale>
                                  </p:childTnLst>
                                </p:cTn>
                              </p:par>
                            </p:childTnLst>
                          </p:cTn>
                        </p:par>
                      </p:childTnLst>
                    </p:cTn>
                  </p:par>
                  <p:par>
                    <p:cTn id="29" fill="hold">
                      <p:stCondLst>
                        <p:cond delay="indefinite"/>
                      </p:stCondLst>
                      <p:childTnLst>
                        <p:par>
                          <p:cTn id="30" fill="hold">
                            <p:stCondLst>
                              <p:cond delay="0"/>
                            </p:stCondLst>
                            <p:childTnLst>
                              <p:par>
                                <p:cTn id="31" presetID="26" presetClass="emph" presetSubtype="0" fill="hold" nodeType="clickEffect">
                                  <p:stCondLst>
                                    <p:cond delay="0"/>
                                  </p:stCondLst>
                                  <p:childTnLst>
                                    <p:animEffect transition="out" filter="fade">
                                      <p:cBhvr>
                                        <p:cTn id="32" dur="500" tmFilter="0, 0; .2, .5; .8, .5; 1, 0"/>
                                        <p:tgtEl>
                                          <p:spTgt spid="2"/>
                                        </p:tgtEl>
                                      </p:cBhvr>
                                    </p:animEffect>
                                    <p:animScale>
                                      <p:cBhvr>
                                        <p:cTn id="33"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63" grpId="0" animBg="1"/>
      <p:bldP spid="57364" grpId="0" animBg="1"/>
      <p:bldP spid="57368" grpId="0" animBg="1"/>
      <p:bldP spid="57370" grpId="0" animBg="1"/>
      <p:bldP spid="5737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a:extLst>
              <a:ext uri="{FF2B5EF4-FFF2-40B4-BE49-F238E27FC236}">
                <a16:creationId xmlns:a16="http://schemas.microsoft.com/office/drawing/2014/main" id="{EC68DA0F-A3AB-4E02-937E-14BD34737460}"/>
              </a:ext>
            </a:extLst>
          </p:cNvPr>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2BBB0D8-EEA2-4730-9D84-5478D1AC5C5B}" type="slidenum">
              <a:rPr kumimoji="0" lang="zh-CN" altLang="en-US" sz="1400" smtClean="0"/>
              <a:pPr>
                <a:spcBef>
                  <a:spcPct val="0"/>
                </a:spcBef>
                <a:buClrTx/>
                <a:buSzTx/>
                <a:buFontTx/>
                <a:buNone/>
              </a:pPr>
              <a:t>72</a:t>
            </a:fld>
            <a:endParaRPr kumimoji="0" lang="en-US" altLang="zh-CN" sz="1400"/>
          </a:p>
        </p:txBody>
      </p:sp>
      <p:sp>
        <p:nvSpPr>
          <p:cNvPr id="10244" name="Rectangle 3">
            <a:extLst>
              <a:ext uri="{FF2B5EF4-FFF2-40B4-BE49-F238E27FC236}">
                <a16:creationId xmlns:a16="http://schemas.microsoft.com/office/drawing/2014/main" id="{28D31417-4634-4450-B845-273BFFC8FBBB}"/>
              </a:ext>
            </a:extLst>
          </p:cNvPr>
          <p:cNvSpPr>
            <a:spLocks noGrp="1" noChangeArrowheads="1"/>
          </p:cNvSpPr>
          <p:nvPr>
            <p:ph type="body" idx="1"/>
          </p:nvPr>
        </p:nvSpPr>
        <p:spPr>
          <a:xfrm>
            <a:off x="323529" y="1999774"/>
            <a:ext cx="8620446" cy="4114800"/>
          </a:xfrm>
        </p:spPr>
        <p:txBody>
          <a:bodyPr/>
          <a:lstStyle/>
          <a:p>
            <a:pPr marL="0" indent="0" eaLnBrk="1" hangingPunct="1">
              <a:buNone/>
            </a:pPr>
            <a:r>
              <a:rPr lang="zh-CN" altLang="en-US" sz="2800" dirty="0"/>
              <a:t>问题的提出</a:t>
            </a:r>
          </a:p>
          <a:p>
            <a:pPr eaLnBrk="1" hangingPunct="1"/>
            <a:r>
              <a:rPr lang="zh-CN" altLang="en-US" sz="2800" dirty="0"/>
              <a:t>对于区间调度问题，不同区间有一样的权重，贪心算法可以得到最优解</a:t>
            </a:r>
          </a:p>
          <a:p>
            <a:pPr eaLnBrk="1" hangingPunct="1"/>
            <a:r>
              <a:rPr lang="zh-CN" altLang="en-US" sz="2800" dirty="0"/>
              <a:t>如果不同区间有不同的权重：</a:t>
            </a:r>
          </a:p>
          <a:p>
            <a:pPr lvl="1" eaLnBrk="1" hangingPunct="1"/>
            <a:r>
              <a:rPr lang="zh-CN" altLang="en-US" dirty="0"/>
              <a:t>任务 </a:t>
            </a:r>
            <a:r>
              <a:rPr lang="en-US" altLang="zh-CN" dirty="0"/>
              <a:t>j </a:t>
            </a:r>
            <a:r>
              <a:rPr lang="zh-CN" altLang="en-US" dirty="0"/>
              <a:t>在 </a:t>
            </a:r>
            <a:r>
              <a:rPr lang="en-US" altLang="zh-CN" dirty="0" err="1"/>
              <a:t>s</a:t>
            </a:r>
            <a:r>
              <a:rPr lang="en-US" altLang="zh-CN" sz="3200" baseline="-25000" dirty="0" err="1"/>
              <a:t>j</a:t>
            </a:r>
            <a:r>
              <a:rPr lang="zh-CN" altLang="en-US" dirty="0"/>
              <a:t>时间开始，</a:t>
            </a:r>
            <a:r>
              <a:rPr lang="en-US" altLang="zh-CN" dirty="0"/>
              <a:t>f</a:t>
            </a:r>
            <a:r>
              <a:rPr lang="en-US" altLang="zh-CN" sz="3200" baseline="-25000" dirty="0"/>
              <a:t>j</a:t>
            </a:r>
            <a:r>
              <a:rPr lang="zh-CN" altLang="en-US" dirty="0"/>
              <a:t>时刻结束，且其权重为</a:t>
            </a:r>
            <a:r>
              <a:rPr lang="en-US" altLang="zh-CN" dirty="0" err="1"/>
              <a:t>v</a:t>
            </a:r>
            <a:r>
              <a:rPr lang="en-US" altLang="zh-CN" sz="3200" baseline="-25000" dirty="0" err="1"/>
              <a:t>j</a:t>
            </a:r>
            <a:r>
              <a:rPr lang="en-US" altLang="zh-CN" dirty="0"/>
              <a:t> . </a:t>
            </a:r>
          </a:p>
          <a:p>
            <a:pPr lvl="1" eaLnBrk="1" hangingPunct="1"/>
            <a:r>
              <a:rPr lang="zh-CN" altLang="en-US" dirty="0"/>
              <a:t>两个任务如果对应的时间区间不相交，称为</a:t>
            </a:r>
            <a:r>
              <a:rPr lang="zh-CN" altLang="en-US" dirty="0">
                <a:solidFill>
                  <a:schemeClr val="hlink"/>
                </a:solidFill>
              </a:rPr>
              <a:t>相容</a:t>
            </a:r>
            <a:r>
              <a:rPr lang="en-US" altLang="zh-CN" dirty="0"/>
              <a:t>.</a:t>
            </a:r>
            <a:endParaRPr lang="zh-CN" altLang="en-US" dirty="0"/>
          </a:p>
        </p:txBody>
      </p:sp>
      <p:sp>
        <p:nvSpPr>
          <p:cNvPr id="4" name="Rectangle 2">
            <a:extLst>
              <a:ext uri="{FF2B5EF4-FFF2-40B4-BE49-F238E27FC236}">
                <a16:creationId xmlns:a16="http://schemas.microsoft.com/office/drawing/2014/main" id="{EA0EC391-967D-3B1A-990E-881B1090AEB2}"/>
              </a:ext>
            </a:extLst>
          </p:cNvPr>
          <p:cNvSpPr>
            <a:spLocks noGrp="1" noChangeArrowheads="1"/>
          </p:cNvSpPr>
          <p:nvPr>
            <p:ph type="title"/>
          </p:nvPr>
        </p:nvSpPr>
        <p:spPr>
          <a:xfrm>
            <a:off x="1150938" y="617538"/>
            <a:ext cx="7793037" cy="1143000"/>
          </a:xfrm>
        </p:spPr>
        <p:txBody>
          <a:bodyPr/>
          <a:lstStyle/>
          <a:p>
            <a:pPr eaLnBrk="1" hangingPunct="1"/>
            <a:r>
              <a:rPr lang="zh-CN" altLang="en-US" dirty="0"/>
              <a:t>1.2.2 带权的区间调度</a:t>
            </a:r>
          </a:p>
        </p:txBody>
      </p:sp>
      <p:sp>
        <p:nvSpPr>
          <p:cNvPr id="3" name="文本框 2">
            <a:extLst>
              <a:ext uri="{FF2B5EF4-FFF2-40B4-BE49-F238E27FC236}">
                <a16:creationId xmlns:a16="http://schemas.microsoft.com/office/drawing/2014/main" id="{D83F7163-478C-DA1E-C388-25B8A3826F12}"/>
              </a:ext>
            </a:extLst>
          </p:cNvPr>
          <p:cNvSpPr txBox="1"/>
          <p:nvPr/>
        </p:nvSpPr>
        <p:spPr>
          <a:xfrm>
            <a:off x="323528" y="5229200"/>
            <a:ext cx="8280919" cy="954107"/>
          </a:xfrm>
          <a:prstGeom prst="rect">
            <a:avLst/>
          </a:prstGeom>
          <a:noFill/>
        </p:spPr>
        <p:txBody>
          <a:bodyPr wrap="square">
            <a:spAutoFit/>
          </a:bodyPr>
          <a:lstStyle/>
          <a:p>
            <a:pPr marL="457200" indent="-457200">
              <a:buFont typeface="Wingdings" panose="05000000000000000000" pitchFamily="2" charset="2"/>
              <a:buChar char="Ø"/>
            </a:pPr>
            <a:r>
              <a:rPr lang="zh-CN" altLang="en-US" sz="2800" dirty="0">
                <a:solidFill>
                  <a:schemeClr val="tx1"/>
                </a:solidFill>
                <a:latin typeface="+mn-lt"/>
                <a:ea typeface="+mn-ea"/>
              </a:rPr>
              <a:t>目标：寻找</a:t>
            </a:r>
            <a:r>
              <a:rPr lang="zh-CN" altLang="en-US" sz="2800" dirty="0">
                <a:solidFill>
                  <a:srgbClr val="FF0000"/>
                </a:solidFill>
                <a:latin typeface="+mn-lt"/>
                <a:ea typeface="+mn-ea"/>
              </a:rPr>
              <a:t>最大的不相容的区间子集</a:t>
            </a:r>
            <a:r>
              <a:rPr lang="zh-CN" altLang="en-US" sz="2800" dirty="0">
                <a:solidFill>
                  <a:schemeClr val="tx1"/>
                </a:solidFill>
                <a:latin typeface="+mn-lt"/>
                <a:ea typeface="+mn-ea"/>
              </a:rPr>
              <a:t>，使得所选区间的</a:t>
            </a:r>
            <a:r>
              <a:rPr lang="zh-CN" altLang="en-US" sz="2800" dirty="0">
                <a:solidFill>
                  <a:srgbClr val="FF0000"/>
                </a:solidFill>
                <a:latin typeface="+mn-lt"/>
                <a:ea typeface="+mn-ea"/>
              </a:rPr>
              <a:t>权重之和最大</a:t>
            </a:r>
            <a:r>
              <a:rPr lang="zh-CN" altLang="en-US" sz="2800" dirty="0">
                <a:solidFill>
                  <a:schemeClr val="tx1"/>
                </a:solidFill>
                <a:latin typeface="+mn-lt"/>
                <a:ea typeface="+mn-ea"/>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223795D-D9C2-41B0-91FE-E4A5E5B00A93}"/>
              </a:ext>
            </a:extLst>
          </p:cNvPr>
          <p:cNvSpPr>
            <a:spLocks noGrp="1"/>
          </p:cNvSpPr>
          <p:nvPr>
            <p:ph type="sldNum" sz="quarter" idx="12"/>
          </p:nvPr>
        </p:nvSpPr>
        <p:spPr/>
        <p:txBody>
          <a:bodyPr/>
          <a:lstStyle/>
          <a:p>
            <a:pPr>
              <a:defRPr/>
            </a:pPr>
            <a:fld id="{8796B2BF-5E2F-4BB4-A48B-167602D45A47}" type="slidenum">
              <a:rPr lang="zh-CN" altLang="en-US"/>
              <a:pPr>
                <a:defRPr/>
              </a:pPr>
              <a:t>73</a:t>
            </a:fld>
            <a:endParaRPr lang="en-US" altLang="zh-CN"/>
          </a:p>
        </p:txBody>
      </p:sp>
      <p:sp>
        <p:nvSpPr>
          <p:cNvPr id="59395" name="Rectangle 2">
            <a:extLst>
              <a:ext uri="{FF2B5EF4-FFF2-40B4-BE49-F238E27FC236}">
                <a16:creationId xmlns:a16="http://schemas.microsoft.com/office/drawing/2014/main" id="{84BAE80C-4083-4A82-9C87-1D56A8E5B301}"/>
              </a:ext>
            </a:extLst>
          </p:cNvPr>
          <p:cNvSpPr>
            <a:spLocks noGrp="1" noChangeArrowheads="1"/>
          </p:cNvSpPr>
          <p:nvPr>
            <p:ph type="title"/>
          </p:nvPr>
        </p:nvSpPr>
        <p:spPr/>
        <p:txBody>
          <a:bodyPr/>
          <a:lstStyle/>
          <a:p>
            <a:pPr eaLnBrk="1" hangingPunct="1"/>
            <a:r>
              <a:rPr lang="zh-CN" altLang="en-US" dirty="0"/>
              <a:t>1.2.2 带权的区间调度</a:t>
            </a:r>
          </a:p>
        </p:txBody>
      </p:sp>
      <p:sp>
        <p:nvSpPr>
          <p:cNvPr id="59396" name="Rectangle 3">
            <a:extLst>
              <a:ext uri="{FF2B5EF4-FFF2-40B4-BE49-F238E27FC236}">
                <a16:creationId xmlns:a16="http://schemas.microsoft.com/office/drawing/2014/main" id="{51FB7ECC-C45F-46EC-9CB1-B62D741604CB}"/>
              </a:ext>
            </a:extLst>
          </p:cNvPr>
          <p:cNvSpPr>
            <a:spLocks noGrp="1" noChangeArrowheads="1"/>
          </p:cNvSpPr>
          <p:nvPr>
            <p:ph type="body" idx="1"/>
          </p:nvPr>
        </p:nvSpPr>
        <p:spPr>
          <a:xfrm>
            <a:off x="685800" y="2004844"/>
            <a:ext cx="7772400" cy="4114800"/>
          </a:xfrm>
        </p:spPr>
        <p:txBody>
          <a:bodyPr/>
          <a:lstStyle/>
          <a:p>
            <a:pPr eaLnBrk="1" hangingPunct="1"/>
            <a:r>
              <a:rPr lang="zh-CN" altLang="en-US" dirty="0"/>
              <a:t>问题比1.2.1区间调度问题更一般化：</a:t>
            </a:r>
          </a:p>
          <a:p>
            <a:pPr eaLnBrk="1" hangingPunct="1"/>
            <a:r>
              <a:rPr lang="zh-CN" altLang="en-US" dirty="0"/>
              <a:t>假设调度员对第</a:t>
            </a:r>
            <a:r>
              <a:rPr lang="en-US" altLang="zh-CN" dirty="0" err="1"/>
              <a:t>i</a:t>
            </a:r>
            <a:r>
              <a:rPr lang="zh-CN" altLang="en-US" dirty="0"/>
              <a:t>个需求做出安排，可以挣到钱数</a:t>
            </a:r>
            <a:r>
              <a:rPr lang="en-US" altLang="zh-CN" dirty="0"/>
              <a:t>v</a:t>
            </a:r>
            <a:r>
              <a:rPr lang="en-US" altLang="zh-CN" sz="1600" dirty="0"/>
              <a:t>i </a:t>
            </a:r>
            <a:r>
              <a:rPr lang="en-US" altLang="zh-CN" dirty="0"/>
              <a:t>&gt;0,</a:t>
            </a:r>
            <a:r>
              <a:rPr lang="zh-CN" altLang="en-US" dirty="0"/>
              <a:t>目标是找一个总价值最大的相容的区间子集。</a:t>
            </a:r>
          </a:p>
          <a:p>
            <a:pPr eaLnBrk="1" hangingPunct="1"/>
            <a:r>
              <a:rPr lang="zh-CN" altLang="en-US" dirty="0"/>
              <a:t>这里每个区间</a:t>
            </a:r>
            <a:r>
              <a:rPr lang="en-US" altLang="zh-CN" dirty="0" err="1"/>
              <a:t>i</a:t>
            </a:r>
            <a:r>
              <a:rPr lang="zh-CN" altLang="en-US" dirty="0"/>
              <a:t>有一个</a:t>
            </a:r>
            <a:r>
              <a:rPr lang="zh-CN" altLang="en-US" dirty="0">
                <a:solidFill>
                  <a:schemeClr val="hlink"/>
                </a:solidFill>
              </a:rPr>
              <a:t>权</a:t>
            </a:r>
            <a:r>
              <a:rPr lang="en-US" altLang="zh-CN" dirty="0"/>
              <a:t>v</a:t>
            </a:r>
            <a:r>
              <a:rPr lang="en-US" altLang="zh-CN" sz="1600" dirty="0"/>
              <a:t>i</a:t>
            </a:r>
            <a:r>
              <a:rPr lang="zh-CN" altLang="en-US" dirty="0"/>
              <a:t>的概念。</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5">
            <a:extLst>
              <a:ext uri="{FF2B5EF4-FFF2-40B4-BE49-F238E27FC236}">
                <a16:creationId xmlns:a16="http://schemas.microsoft.com/office/drawing/2014/main" id="{920F6D03-77D3-48C3-B836-D6DB71CE7912}"/>
              </a:ext>
            </a:extLst>
          </p:cNvPr>
          <p:cNvSpPr>
            <a:spLocks noGrp="1"/>
          </p:cNvSpPr>
          <p:nvPr>
            <p:ph type="sldNum" sz="quarter" idx="12"/>
          </p:nvPr>
        </p:nvSpPr>
        <p:spPr/>
        <p:txBody>
          <a:bodyPr/>
          <a:lstStyle/>
          <a:p>
            <a:pPr>
              <a:defRPr/>
            </a:pPr>
            <a:fld id="{3CD7EB8D-0FD4-4C99-89E7-02C776D940B2}" type="slidenum">
              <a:rPr lang="zh-CN" altLang="en-US"/>
              <a:pPr>
                <a:defRPr/>
              </a:pPr>
              <a:t>74</a:t>
            </a:fld>
            <a:endParaRPr lang="en-US" altLang="zh-CN"/>
          </a:p>
        </p:txBody>
      </p:sp>
      <p:sp>
        <p:nvSpPr>
          <p:cNvPr id="60419" name="Rectangle 1026">
            <a:extLst>
              <a:ext uri="{FF2B5EF4-FFF2-40B4-BE49-F238E27FC236}">
                <a16:creationId xmlns:a16="http://schemas.microsoft.com/office/drawing/2014/main" id="{2072EF38-2CB6-43BE-9F79-5CFF1910181B}"/>
              </a:ext>
            </a:extLst>
          </p:cNvPr>
          <p:cNvSpPr>
            <a:spLocks noGrp="1" noChangeArrowheads="1"/>
          </p:cNvSpPr>
          <p:nvPr>
            <p:ph type="title"/>
          </p:nvPr>
        </p:nvSpPr>
        <p:spPr/>
        <p:txBody>
          <a:bodyPr/>
          <a:lstStyle/>
          <a:p>
            <a:pPr eaLnBrk="1" hangingPunct="1"/>
            <a:r>
              <a:rPr lang="zh-CN" altLang="en-US"/>
              <a:t>1.2.2 带权的区间调度</a:t>
            </a:r>
          </a:p>
        </p:txBody>
      </p:sp>
      <p:sp>
        <p:nvSpPr>
          <p:cNvPr id="60420" name="Rectangle 1027">
            <a:extLst>
              <a:ext uri="{FF2B5EF4-FFF2-40B4-BE49-F238E27FC236}">
                <a16:creationId xmlns:a16="http://schemas.microsoft.com/office/drawing/2014/main" id="{8D92777A-8864-4BCC-8202-7B5E45B3B668}"/>
              </a:ext>
            </a:extLst>
          </p:cNvPr>
          <p:cNvSpPr>
            <a:spLocks noGrp="1" noChangeArrowheads="1"/>
          </p:cNvSpPr>
          <p:nvPr>
            <p:ph type="body" idx="1"/>
          </p:nvPr>
        </p:nvSpPr>
        <p:spPr/>
        <p:txBody>
          <a:bodyPr/>
          <a:lstStyle/>
          <a:p>
            <a:pPr eaLnBrk="1" hangingPunct="1">
              <a:buFont typeface="Wingdings" panose="05000000000000000000" pitchFamily="2" charset="2"/>
              <a:buNone/>
            </a:pPr>
            <a:r>
              <a:rPr lang="zh-CN" altLang="en-US"/>
              <a:t> </a:t>
            </a:r>
          </a:p>
        </p:txBody>
      </p:sp>
      <p:sp>
        <p:nvSpPr>
          <p:cNvPr id="60421" name="Line 1028">
            <a:extLst>
              <a:ext uri="{FF2B5EF4-FFF2-40B4-BE49-F238E27FC236}">
                <a16:creationId xmlns:a16="http://schemas.microsoft.com/office/drawing/2014/main" id="{A84C26C7-5D0A-48D3-85A6-29D031788EDF}"/>
              </a:ext>
            </a:extLst>
          </p:cNvPr>
          <p:cNvSpPr>
            <a:spLocks noChangeShapeType="1"/>
          </p:cNvSpPr>
          <p:nvPr/>
        </p:nvSpPr>
        <p:spPr bwMode="auto">
          <a:xfrm>
            <a:off x="1433513" y="6003925"/>
            <a:ext cx="588168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22" name="Text Box 1029">
            <a:extLst>
              <a:ext uri="{FF2B5EF4-FFF2-40B4-BE49-F238E27FC236}">
                <a16:creationId xmlns:a16="http://schemas.microsoft.com/office/drawing/2014/main" id="{42B5801E-2ED2-4106-9B6A-1C3B87518D4B}"/>
              </a:ext>
            </a:extLst>
          </p:cNvPr>
          <p:cNvSpPr txBox="1">
            <a:spLocks noChangeArrowheads="1"/>
          </p:cNvSpPr>
          <p:nvPr/>
        </p:nvSpPr>
        <p:spPr bwMode="auto">
          <a:xfrm>
            <a:off x="7315200" y="6024563"/>
            <a:ext cx="7620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Time</a:t>
            </a:r>
          </a:p>
        </p:txBody>
      </p:sp>
      <p:sp>
        <p:nvSpPr>
          <p:cNvPr id="60423" name="Line 1030">
            <a:extLst>
              <a:ext uri="{FF2B5EF4-FFF2-40B4-BE49-F238E27FC236}">
                <a16:creationId xmlns:a16="http://schemas.microsoft.com/office/drawing/2014/main" id="{5244FCC0-6CD8-4386-9D5D-28DABC2BE39E}"/>
              </a:ext>
            </a:extLst>
          </p:cNvPr>
          <p:cNvSpPr>
            <a:spLocks noChangeShapeType="1"/>
          </p:cNvSpPr>
          <p:nvPr/>
        </p:nvSpPr>
        <p:spPr bwMode="auto">
          <a:xfrm>
            <a:off x="6554788" y="6003925"/>
            <a:ext cx="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24" name="Text Box 1031">
            <a:extLst>
              <a:ext uri="{FF2B5EF4-FFF2-40B4-BE49-F238E27FC236}">
                <a16:creationId xmlns:a16="http://schemas.microsoft.com/office/drawing/2014/main" id="{133374DA-5838-4990-8C81-5CCCE84BDC08}"/>
              </a:ext>
            </a:extLst>
          </p:cNvPr>
          <p:cNvSpPr txBox="1">
            <a:spLocks noChangeArrowheads="1"/>
          </p:cNvSpPr>
          <p:nvPr/>
        </p:nvSpPr>
        <p:spPr bwMode="auto">
          <a:xfrm>
            <a:off x="1295400" y="60039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0</a:t>
            </a:r>
          </a:p>
        </p:txBody>
      </p:sp>
      <p:sp>
        <p:nvSpPr>
          <p:cNvPr id="60425" name="Line 1032">
            <a:extLst>
              <a:ext uri="{FF2B5EF4-FFF2-40B4-BE49-F238E27FC236}">
                <a16:creationId xmlns:a16="http://schemas.microsoft.com/office/drawing/2014/main" id="{11DA8D25-FC75-4C0D-8941-CF1839BB9213}"/>
              </a:ext>
            </a:extLst>
          </p:cNvPr>
          <p:cNvSpPr>
            <a:spLocks noChangeShapeType="1"/>
          </p:cNvSpPr>
          <p:nvPr/>
        </p:nvSpPr>
        <p:spPr bwMode="auto">
          <a:xfrm rot="-5400000">
            <a:off x="325437"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26" name="Line 1033">
            <a:extLst>
              <a:ext uri="{FF2B5EF4-FFF2-40B4-BE49-F238E27FC236}">
                <a16:creationId xmlns:a16="http://schemas.microsoft.com/office/drawing/2014/main" id="{785D9092-2360-4732-A178-43277CBFF824}"/>
              </a:ext>
            </a:extLst>
          </p:cNvPr>
          <p:cNvSpPr>
            <a:spLocks noChangeShapeType="1"/>
          </p:cNvSpPr>
          <p:nvPr/>
        </p:nvSpPr>
        <p:spPr bwMode="auto">
          <a:xfrm rot="-5400000">
            <a:off x="-158750"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27" name="Line 1034">
            <a:extLst>
              <a:ext uri="{FF2B5EF4-FFF2-40B4-BE49-F238E27FC236}">
                <a16:creationId xmlns:a16="http://schemas.microsoft.com/office/drawing/2014/main" id="{1F3F9804-830A-411C-984D-3C90FEDBD2CF}"/>
              </a:ext>
            </a:extLst>
          </p:cNvPr>
          <p:cNvSpPr>
            <a:spLocks noChangeShapeType="1"/>
          </p:cNvSpPr>
          <p:nvPr/>
        </p:nvSpPr>
        <p:spPr bwMode="auto">
          <a:xfrm rot="-5400000">
            <a:off x="1295400"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28" name="Line 1035">
            <a:extLst>
              <a:ext uri="{FF2B5EF4-FFF2-40B4-BE49-F238E27FC236}">
                <a16:creationId xmlns:a16="http://schemas.microsoft.com/office/drawing/2014/main" id="{9304181F-580D-4DF3-A147-A52DB5B8E3EF}"/>
              </a:ext>
            </a:extLst>
          </p:cNvPr>
          <p:cNvSpPr>
            <a:spLocks noChangeShapeType="1"/>
          </p:cNvSpPr>
          <p:nvPr/>
        </p:nvSpPr>
        <p:spPr bwMode="auto">
          <a:xfrm rot="-5400000">
            <a:off x="809625"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29" name="Line 1036">
            <a:extLst>
              <a:ext uri="{FF2B5EF4-FFF2-40B4-BE49-F238E27FC236}">
                <a16:creationId xmlns:a16="http://schemas.microsoft.com/office/drawing/2014/main" id="{658C5D75-789A-404A-BF4C-065DFCA92919}"/>
              </a:ext>
            </a:extLst>
          </p:cNvPr>
          <p:cNvSpPr>
            <a:spLocks noChangeShapeType="1"/>
          </p:cNvSpPr>
          <p:nvPr/>
        </p:nvSpPr>
        <p:spPr bwMode="auto">
          <a:xfrm rot="-5400000">
            <a:off x="1779587"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30" name="Line 1037">
            <a:extLst>
              <a:ext uri="{FF2B5EF4-FFF2-40B4-BE49-F238E27FC236}">
                <a16:creationId xmlns:a16="http://schemas.microsoft.com/office/drawing/2014/main" id="{211C9428-6838-408F-80BE-C7C702D3F819}"/>
              </a:ext>
            </a:extLst>
          </p:cNvPr>
          <p:cNvSpPr>
            <a:spLocks noChangeShapeType="1"/>
          </p:cNvSpPr>
          <p:nvPr/>
        </p:nvSpPr>
        <p:spPr bwMode="auto">
          <a:xfrm rot="-5400000">
            <a:off x="3232150"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31" name="Line 1038">
            <a:extLst>
              <a:ext uri="{FF2B5EF4-FFF2-40B4-BE49-F238E27FC236}">
                <a16:creationId xmlns:a16="http://schemas.microsoft.com/office/drawing/2014/main" id="{2479A19D-B373-4C45-BD56-D95D30128502}"/>
              </a:ext>
            </a:extLst>
          </p:cNvPr>
          <p:cNvSpPr>
            <a:spLocks noChangeShapeType="1"/>
          </p:cNvSpPr>
          <p:nvPr/>
        </p:nvSpPr>
        <p:spPr bwMode="auto">
          <a:xfrm rot="-5400000">
            <a:off x="2747962"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32" name="Line 1039">
            <a:extLst>
              <a:ext uri="{FF2B5EF4-FFF2-40B4-BE49-F238E27FC236}">
                <a16:creationId xmlns:a16="http://schemas.microsoft.com/office/drawing/2014/main" id="{749B8D94-B41F-4AC0-AB1F-912D33F75DEE}"/>
              </a:ext>
            </a:extLst>
          </p:cNvPr>
          <p:cNvSpPr>
            <a:spLocks noChangeShapeType="1"/>
          </p:cNvSpPr>
          <p:nvPr/>
        </p:nvSpPr>
        <p:spPr bwMode="auto">
          <a:xfrm rot="-5400000">
            <a:off x="4200525"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33" name="Line 1040">
            <a:extLst>
              <a:ext uri="{FF2B5EF4-FFF2-40B4-BE49-F238E27FC236}">
                <a16:creationId xmlns:a16="http://schemas.microsoft.com/office/drawing/2014/main" id="{7998EE02-E238-432A-991E-9519C15EA802}"/>
              </a:ext>
            </a:extLst>
          </p:cNvPr>
          <p:cNvSpPr>
            <a:spLocks noChangeShapeType="1"/>
          </p:cNvSpPr>
          <p:nvPr/>
        </p:nvSpPr>
        <p:spPr bwMode="auto">
          <a:xfrm rot="-5400000">
            <a:off x="3716337"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34" name="Line 1041">
            <a:extLst>
              <a:ext uri="{FF2B5EF4-FFF2-40B4-BE49-F238E27FC236}">
                <a16:creationId xmlns:a16="http://schemas.microsoft.com/office/drawing/2014/main" id="{70C30CAA-006C-4A4D-A8E9-A7FE5B732306}"/>
              </a:ext>
            </a:extLst>
          </p:cNvPr>
          <p:cNvSpPr>
            <a:spLocks noChangeShapeType="1"/>
          </p:cNvSpPr>
          <p:nvPr/>
        </p:nvSpPr>
        <p:spPr bwMode="auto">
          <a:xfrm rot="-5400000">
            <a:off x="5170487"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35" name="Line 1042">
            <a:extLst>
              <a:ext uri="{FF2B5EF4-FFF2-40B4-BE49-F238E27FC236}">
                <a16:creationId xmlns:a16="http://schemas.microsoft.com/office/drawing/2014/main" id="{B5D01383-9614-4D9F-ACC9-C014DCF588F1}"/>
              </a:ext>
            </a:extLst>
          </p:cNvPr>
          <p:cNvSpPr>
            <a:spLocks noChangeShapeType="1"/>
          </p:cNvSpPr>
          <p:nvPr/>
        </p:nvSpPr>
        <p:spPr bwMode="auto">
          <a:xfrm rot="-5400000">
            <a:off x="4686300"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36" name="Text Box 1043">
            <a:extLst>
              <a:ext uri="{FF2B5EF4-FFF2-40B4-BE49-F238E27FC236}">
                <a16:creationId xmlns:a16="http://schemas.microsoft.com/office/drawing/2014/main" id="{2EFC436F-51CF-430D-87A3-FAE40FD665C1}"/>
              </a:ext>
            </a:extLst>
          </p:cNvPr>
          <p:cNvSpPr txBox="1">
            <a:spLocks noChangeArrowheads="1"/>
          </p:cNvSpPr>
          <p:nvPr/>
        </p:nvSpPr>
        <p:spPr bwMode="auto">
          <a:xfrm>
            <a:off x="1779588" y="60039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1</a:t>
            </a:r>
          </a:p>
        </p:txBody>
      </p:sp>
      <p:sp>
        <p:nvSpPr>
          <p:cNvPr id="60437" name="Text Box 1044">
            <a:extLst>
              <a:ext uri="{FF2B5EF4-FFF2-40B4-BE49-F238E27FC236}">
                <a16:creationId xmlns:a16="http://schemas.microsoft.com/office/drawing/2014/main" id="{DA37856F-9306-49AA-A78F-D183184B45C4}"/>
              </a:ext>
            </a:extLst>
          </p:cNvPr>
          <p:cNvSpPr txBox="1">
            <a:spLocks noChangeArrowheads="1"/>
          </p:cNvSpPr>
          <p:nvPr/>
        </p:nvSpPr>
        <p:spPr bwMode="auto">
          <a:xfrm>
            <a:off x="2263775" y="60039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2</a:t>
            </a:r>
          </a:p>
        </p:txBody>
      </p:sp>
      <p:sp>
        <p:nvSpPr>
          <p:cNvPr id="60438" name="Text Box 1045">
            <a:extLst>
              <a:ext uri="{FF2B5EF4-FFF2-40B4-BE49-F238E27FC236}">
                <a16:creationId xmlns:a16="http://schemas.microsoft.com/office/drawing/2014/main" id="{E69505A5-0F08-4526-A45D-19A557BFD954}"/>
              </a:ext>
            </a:extLst>
          </p:cNvPr>
          <p:cNvSpPr txBox="1">
            <a:spLocks noChangeArrowheads="1"/>
          </p:cNvSpPr>
          <p:nvPr/>
        </p:nvSpPr>
        <p:spPr bwMode="auto">
          <a:xfrm>
            <a:off x="2747963" y="60039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3</a:t>
            </a:r>
          </a:p>
        </p:txBody>
      </p:sp>
      <p:sp>
        <p:nvSpPr>
          <p:cNvPr id="60439" name="Text Box 1046">
            <a:extLst>
              <a:ext uri="{FF2B5EF4-FFF2-40B4-BE49-F238E27FC236}">
                <a16:creationId xmlns:a16="http://schemas.microsoft.com/office/drawing/2014/main" id="{6D6A2B72-899C-49FC-B58A-16708940989B}"/>
              </a:ext>
            </a:extLst>
          </p:cNvPr>
          <p:cNvSpPr txBox="1">
            <a:spLocks noChangeArrowheads="1"/>
          </p:cNvSpPr>
          <p:nvPr/>
        </p:nvSpPr>
        <p:spPr bwMode="auto">
          <a:xfrm>
            <a:off x="3233738" y="6003925"/>
            <a:ext cx="4143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4</a:t>
            </a:r>
          </a:p>
        </p:txBody>
      </p:sp>
      <p:sp>
        <p:nvSpPr>
          <p:cNvPr id="60440" name="Text Box 1047">
            <a:extLst>
              <a:ext uri="{FF2B5EF4-FFF2-40B4-BE49-F238E27FC236}">
                <a16:creationId xmlns:a16="http://schemas.microsoft.com/office/drawing/2014/main" id="{F7AE4676-553C-45EC-BC46-45506362D671}"/>
              </a:ext>
            </a:extLst>
          </p:cNvPr>
          <p:cNvSpPr txBox="1">
            <a:spLocks noChangeArrowheads="1"/>
          </p:cNvSpPr>
          <p:nvPr/>
        </p:nvSpPr>
        <p:spPr bwMode="auto">
          <a:xfrm>
            <a:off x="3717925" y="6003925"/>
            <a:ext cx="4143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5</a:t>
            </a:r>
          </a:p>
        </p:txBody>
      </p:sp>
      <p:sp>
        <p:nvSpPr>
          <p:cNvPr id="60441" name="Text Box 1048">
            <a:extLst>
              <a:ext uri="{FF2B5EF4-FFF2-40B4-BE49-F238E27FC236}">
                <a16:creationId xmlns:a16="http://schemas.microsoft.com/office/drawing/2014/main" id="{4A5B8B0C-FA4A-480D-B56E-0DF1225979E4}"/>
              </a:ext>
            </a:extLst>
          </p:cNvPr>
          <p:cNvSpPr txBox="1">
            <a:spLocks noChangeArrowheads="1"/>
          </p:cNvSpPr>
          <p:nvPr/>
        </p:nvSpPr>
        <p:spPr bwMode="auto">
          <a:xfrm>
            <a:off x="4202113" y="6003925"/>
            <a:ext cx="4143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6</a:t>
            </a:r>
          </a:p>
        </p:txBody>
      </p:sp>
      <p:sp>
        <p:nvSpPr>
          <p:cNvPr id="60442" name="Text Box 1049">
            <a:extLst>
              <a:ext uri="{FF2B5EF4-FFF2-40B4-BE49-F238E27FC236}">
                <a16:creationId xmlns:a16="http://schemas.microsoft.com/office/drawing/2014/main" id="{34B6AAA2-64F4-43A5-940F-600FF15797A8}"/>
              </a:ext>
            </a:extLst>
          </p:cNvPr>
          <p:cNvSpPr txBox="1">
            <a:spLocks noChangeArrowheads="1"/>
          </p:cNvSpPr>
          <p:nvPr/>
        </p:nvSpPr>
        <p:spPr bwMode="auto">
          <a:xfrm>
            <a:off x="4686300" y="60039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7</a:t>
            </a:r>
          </a:p>
        </p:txBody>
      </p:sp>
      <p:sp>
        <p:nvSpPr>
          <p:cNvPr id="60443" name="Text Box 1050">
            <a:extLst>
              <a:ext uri="{FF2B5EF4-FFF2-40B4-BE49-F238E27FC236}">
                <a16:creationId xmlns:a16="http://schemas.microsoft.com/office/drawing/2014/main" id="{82E9AFB8-6D4E-4F37-B995-71AF70B89075}"/>
              </a:ext>
            </a:extLst>
          </p:cNvPr>
          <p:cNvSpPr txBox="1">
            <a:spLocks noChangeArrowheads="1"/>
          </p:cNvSpPr>
          <p:nvPr/>
        </p:nvSpPr>
        <p:spPr bwMode="auto">
          <a:xfrm>
            <a:off x="5170488" y="60039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8</a:t>
            </a:r>
          </a:p>
        </p:txBody>
      </p:sp>
      <p:sp>
        <p:nvSpPr>
          <p:cNvPr id="60444" name="Text Box 1051">
            <a:extLst>
              <a:ext uri="{FF2B5EF4-FFF2-40B4-BE49-F238E27FC236}">
                <a16:creationId xmlns:a16="http://schemas.microsoft.com/office/drawing/2014/main" id="{171A5673-9A89-4BDA-A186-852EC2E2DD63}"/>
              </a:ext>
            </a:extLst>
          </p:cNvPr>
          <p:cNvSpPr txBox="1">
            <a:spLocks noChangeArrowheads="1"/>
          </p:cNvSpPr>
          <p:nvPr/>
        </p:nvSpPr>
        <p:spPr bwMode="auto">
          <a:xfrm>
            <a:off x="5654675" y="60039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9</a:t>
            </a:r>
          </a:p>
        </p:txBody>
      </p:sp>
      <p:sp>
        <p:nvSpPr>
          <p:cNvPr id="60445" name="Text Box 1052">
            <a:extLst>
              <a:ext uri="{FF2B5EF4-FFF2-40B4-BE49-F238E27FC236}">
                <a16:creationId xmlns:a16="http://schemas.microsoft.com/office/drawing/2014/main" id="{18ED25DC-EEDE-4FCF-9E51-184C4B07ED2D}"/>
              </a:ext>
            </a:extLst>
          </p:cNvPr>
          <p:cNvSpPr txBox="1">
            <a:spLocks noChangeArrowheads="1"/>
          </p:cNvSpPr>
          <p:nvPr/>
        </p:nvSpPr>
        <p:spPr bwMode="auto">
          <a:xfrm>
            <a:off x="6070600" y="6003925"/>
            <a:ext cx="4143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10</a:t>
            </a:r>
          </a:p>
        </p:txBody>
      </p:sp>
      <p:sp>
        <p:nvSpPr>
          <p:cNvPr id="60446" name="Text Box 1053">
            <a:extLst>
              <a:ext uri="{FF2B5EF4-FFF2-40B4-BE49-F238E27FC236}">
                <a16:creationId xmlns:a16="http://schemas.microsoft.com/office/drawing/2014/main" id="{E6EBC7A6-02E6-48C8-9CAD-2BB7B55021E0}"/>
              </a:ext>
            </a:extLst>
          </p:cNvPr>
          <p:cNvSpPr txBox="1">
            <a:spLocks noChangeArrowheads="1"/>
          </p:cNvSpPr>
          <p:nvPr/>
        </p:nvSpPr>
        <p:spPr bwMode="auto">
          <a:xfrm>
            <a:off x="6624638" y="6003925"/>
            <a:ext cx="4143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11</a:t>
            </a:r>
          </a:p>
        </p:txBody>
      </p:sp>
      <p:sp>
        <p:nvSpPr>
          <p:cNvPr id="60447" name="Rectangle 1054">
            <a:extLst>
              <a:ext uri="{FF2B5EF4-FFF2-40B4-BE49-F238E27FC236}">
                <a16:creationId xmlns:a16="http://schemas.microsoft.com/office/drawing/2014/main" id="{81035072-EF27-40A9-9D9B-64FD01708AFF}"/>
              </a:ext>
            </a:extLst>
          </p:cNvPr>
          <p:cNvSpPr>
            <a:spLocks noChangeArrowheads="1"/>
          </p:cNvSpPr>
          <p:nvPr/>
        </p:nvSpPr>
        <p:spPr bwMode="auto">
          <a:xfrm>
            <a:off x="3856038" y="4895850"/>
            <a:ext cx="1936750"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20</a:t>
            </a:r>
          </a:p>
        </p:txBody>
      </p:sp>
      <p:sp>
        <p:nvSpPr>
          <p:cNvPr id="60448" name="Rectangle 1055">
            <a:extLst>
              <a:ext uri="{FF2B5EF4-FFF2-40B4-BE49-F238E27FC236}">
                <a16:creationId xmlns:a16="http://schemas.microsoft.com/office/drawing/2014/main" id="{3FA4FEE3-CDCC-4688-8BC9-920082926CC9}"/>
              </a:ext>
            </a:extLst>
          </p:cNvPr>
          <p:cNvSpPr>
            <a:spLocks noChangeArrowheads="1"/>
          </p:cNvSpPr>
          <p:nvPr/>
        </p:nvSpPr>
        <p:spPr bwMode="auto">
          <a:xfrm>
            <a:off x="4340225" y="5311775"/>
            <a:ext cx="1938338"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11</a:t>
            </a:r>
          </a:p>
        </p:txBody>
      </p:sp>
      <p:sp>
        <p:nvSpPr>
          <p:cNvPr id="60449" name="Line 1056">
            <a:extLst>
              <a:ext uri="{FF2B5EF4-FFF2-40B4-BE49-F238E27FC236}">
                <a16:creationId xmlns:a16="http://schemas.microsoft.com/office/drawing/2014/main" id="{DA16A8FE-17CA-4CD1-911B-CAA94AA152A4}"/>
              </a:ext>
            </a:extLst>
          </p:cNvPr>
          <p:cNvSpPr>
            <a:spLocks noChangeShapeType="1"/>
          </p:cNvSpPr>
          <p:nvPr/>
        </p:nvSpPr>
        <p:spPr bwMode="auto">
          <a:xfrm rot="-5400000">
            <a:off x="2263775" y="4411663"/>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0450" name="Rectangle 1057">
            <a:extLst>
              <a:ext uri="{FF2B5EF4-FFF2-40B4-BE49-F238E27FC236}">
                <a16:creationId xmlns:a16="http://schemas.microsoft.com/office/drawing/2014/main" id="{CCD60A15-CB17-4DF5-A25F-3349C17C2B73}"/>
              </a:ext>
            </a:extLst>
          </p:cNvPr>
          <p:cNvSpPr>
            <a:spLocks noChangeArrowheads="1"/>
          </p:cNvSpPr>
          <p:nvPr/>
        </p:nvSpPr>
        <p:spPr bwMode="auto">
          <a:xfrm>
            <a:off x="5308600" y="5722938"/>
            <a:ext cx="1454150" cy="27781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16</a:t>
            </a:r>
          </a:p>
        </p:txBody>
      </p:sp>
      <p:sp>
        <p:nvSpPr>
          <p:cNvPr id="60451" name="Rectangle 1058">
            <a:extLst>
              <a:ext uri="{FF2B5EF4-FFF2-40B4-BE49-F238E27FC236}">
                <a16:creationId xmlns:a16="http://schemas.microsoft.com/office/drawing/2014/main" id="{3F5E1A02-BD13-4D87-974E-688ABC014890}"/>
              </a:ext>
            </a:extLst>
          </p:cNvPr>
          <p:cNvSpPr>
            <a:spLocks noChangeArrowheads="1"/>
          </p:cNvSpPr>
          <p:nvPr/>
        </p:nvSpPr>
        <p:spPr bwMode="auto">
          <a:xfrm>
            <a:off x="3352800" y="4495800"/>
            <a:ext cx="1452563" cy="27781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13</a:t>
            </a:r>
          </a:p>
        </p:txBody>
      </p:sp>
      <p:sp>
        <p:nvSpPr>
          <p:cNvPr id="60452" name="Rectangle 1059">
            <a:extLst>
              <a:ext uri="{FF2B5EF4-FFF2-40B4-BE49-F238E27FC236}">
                <a16:creationId xmlns:a16="http://schemas.microsoft.com/office/drawing/2014/main" id="{D69BB89E-3AFB-497D-A87F-4F140D956A7F}"/>
              </a:ext>
            </a:extLst>
          </p:cNvPr>
          <p:cNvSpPr>
            <a:spLocks noChangeArrowheads="1"/>
          </p:cNvSpPr>
          <p:nvPr/>
        </p:nvSpPr>
        <p:spPr bwMode="auto">
          <a:xfrm>
            <a:off x="1433513" y="2819400"/>
            <a:ext cx="2906712"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23</a:t>
            </a:r>
          </a:p>
        </p:txBody>
      </p:sp>
      <p:sp>
        <p:nvSpPr>
          <p:cNvPr id="60453" name="Rectangle 1060">
            <a:extLst>
              <a:ext uri="{FF2B5EF4-FFF2-40B4-BE49-F238E27FC236}">
                <a16:creationId xmlns:a16="http://schemas.microsoft.com/office/drawing/2014/main" id="{B201DFB2-53D9-4FF4-ACC7-26EAEB58C587}"/>
              </a:ext>
            </a:extLst>
          </p:cNvPr>
          <p:cNvSpPr>
            <a:spLocks noChangeArrowheads="1"/>
          </p:cNvSpPr>
          <p:nvPr/>
        </p:nvSpPr>
        <p:spPr bwMode="auto">
          <a:xfrm>
            <a:off x="1917700" y="3235325"/>
            <a:ext cx="1454150"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12</a:t>
            </a:r>
          </a:p>
        </p:txBody>
      </p:sp>
      <p:sp>
        <p:nvSpPr>
          <p:cNvPr id="60454" name="Rectangle 1061">
            <a:extLst>
              <a:ext uri="{FF2B5EF4-FFF2-40B4-BE49-F238E27FC236}">
                <a16:creationId xmlns:a16="http://schemas.microsoft.com/office/drawing/2014/main" id="{76CA4AB4-8A34-4518-B889-CC91B06255A2}"/>
              </a:ext>
            </a:extLst>
          </p:cNvPr>
          <p:cNvSpPr>
            <a:spLocks noChangeArrowheads="1"/>
          </p:cNvSpPr>
          <p:nvPr/>
        </p:nvSpPr>
        <p:spPr bwMode="auto">
          <a:xfrm>
            <a:off x="2895600" y="3657600"/>
            <a:ext cx="968375" cy="27781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20</a:t>
            </a:r>
          </a:p>
        </p:txBody>
      </p:sp>
      <p:sp>
        <p:nvSpPr>
          <p:cNvPr id="60455" name="Rectangle 1062">
            <a:extLst>
              <a:ext uri="{FF2B5EF4-FFF2-40B4-BE49-F238E27FC236}">
                <a16:creationId xmlns:a16="http://schemas.microsoft.com/office/drawing/2014/main" id="{7925434F-861A-4DA2-B368-7BC98D332D76}"/>
              </a:ext>
            </a:extLst>
          </p:cNvPr>
          <p:cNvSpPr>
            <a:spLocks noChangeArrowheads="1"/>
          </p:cNvSpPr>
          <p:nvPr/>
        </p:nvSpPr>
        <p:spPr bwMode="auto">
          <a:xfrm>
            <a:off x="2887663" y="4065588"/>
            <a:ext cx="2420937"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26</a:t>
            </a:r>
          </a:p>
        </p:txBody>
      </p:sp>
      <p:sp>
        <p:nvSpPr>
          <p:cNvPr id="12292" name="Rectangle 3">
            <a:extLst>
              <a:ext uri="{FF2B5EF4-FFF2-40B4-BE49-F238E27FC236}">
                <a16:creationId xmlns:a16="http://schemas.microsoft.com/office/drawing/2014/main" id="{ACE430C6-45EC-48A5-8B18-941FD4003314}"/>
              </a:ext>
            </a:extLst>
          </p:cNvPr>
          <p:cNvSpPr txBox="1">
            <a:spLocks noChangeArrowheads="1"/>
          </p:cNvSpPr>
          <p:nvPr/>
        </p:nvSpPr>
        <p:spPr bwMode="auto">
          <a:xfrm>
            <a:off x="1141690" y="1797051"/>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sz="2400" dirty="0"/>
              <a:t>贪心算法情形下，区间的权重可以看成都是1</a:t>
            </a:r>
          </a:p>
          <a:p>
            <a:pPr eaLnBrk="1" hangingPunct="1"/>
            <a:r>
              <a:rPr lang="zh-CN" altLang="en-US" sz="2400" dirty="0"/>
              <a:t>对于区间权重不同的情形，贪心算法就失效了</a:t>
            </a:r>
          </a:p>
        </p:txBody>
      </p:sp>
      <p:sp>
        <p:nvSpPr>
          <p:cNvPr id="15384" name="Text Box 24">
            <a:extLst>
              <a:ext uri="{FF2B5EF4-FFF2-40B4-BE49-F238E27FC236}">
                <a16:creationId xmlns:a16="http://schemas.microsoft.com/office/drawing/2014/main" id="{22745D9D-3DC7-4302-9057-5D07F616AA2E}"/>
              </a:ext>
            </a:extLst>
          </p:cNvPr>
          <p:cNvSpPr txBox="1">
            <a:spLocks noChangeArrowheads="1"/>
          </p:cNvSpPr>
          <p:nvPr/>
        </p:nvSpPr>
        <p:spPr bwMode="auto">
          <a:xfrm>
            <a:off x="1676400" y="6249159"/>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50000"/>
              </a:spcBef>
              <a:buClrTx/>
              <a:buSzTx/>
              <a:buFontTx/>
              <a:buNone/>
            </a:pPr>
            <a:r>
              <a:rPr lang="zh-CN" altLang="en-US" sz="2800" b="1" dirty="0">
                <a:solidFill>
                  <a:schemeClr val="hlink"/>
                </a:solidFill>
                <a:latin typeface="Courier New" panose="02070309020205020404" pitchFamily="49" charset="0"/>
              </a:rPr>
              <a:t>解决之道：更加灵活的调度策略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84"/>
                                        </p:tgtEl>
                                        <p:attrNameLst>
                                          <p:attrName>style.visibility</p:attrName>
                                        </p:attrNameLst>
                                      </p:cBhvr>
                                      <p:to>
                                        <p:strVal val="visible"/>
                                      </p:to>
                                    </p:set>
                                    <p:anim calcmode="lin" valueType="num">
                                      <p:cBhvr additive="base">
                                        <p:cTn id="7" dur="500" fill="hold"/>
                                        <p:tgtEl>
                                          <p:spTgt spid="15384"/>
                                        </p:tgtEl>
                                        <p:attrNameLst>
                                          <p:attrName>ppt_x</p:attrName>
                                        </p:attrNameLst>
                                      </p:cBhvr>
                                      <p:tavLst>
                                        <p:tav tm="0">
                                          <p:val>
                                            <p:strVal val="0-#ppt_w/2"/>
                                          </p:val>
                                        </p:tav>
                                        <p:tav tm="100000">
                                          <p:val>
                                            <p:strVal val="#ppt_x"/>
                                          </p:val>
                                        </p:tav>
                                      </p:tavLst>
                                    </p:anim>
                                    <p:anim calcmode="lin" valueType="num">
                                      <p:cBhvr additive="base">
                                        <p:cTn id="8" dur="500" fill="hold"/>
                                        <p:tgtEl>
                                          <p:spTgt spid="153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4"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5">
            <a:extLst>
              <a:ext uri="{FF2B5EF4-FFF2-40B4-BE49-F238E27FC236}">
                <a16:creationId xmlns:a16="http://schemas.microsoft.com/office/drawing/2014/main" id="{A3497805-53F5-4D99-A9B7-F7A72AA50242}"/>
              </a:ext>
            </a:extLst>
          </p:cNvPr>
          <p:cNvSpPr>
            <a:spLocks noGrp="1"/>
          </p:cNvSpPr>
          <p:nvPr>
            <p:ph type="sldNum" sz="quarter" idx="12"/>
          </p:nvPr>
        </p:nvSpPr>
        <p:spPr/>
        <p:txBody>
          <a:bodyPr/>
          <a:lstStyle/>
          <a:p>
            <a:pPr>
              <a:defRPr/>
            </a:pPr>
            <a:fld id="{61D244EF-34A4-4599-BD12-779FC06302B6}" type="slidenum">
              <a:rPr lang="zh-CN" altLang="en-US"/>
              <a:pPr>
                <a:defRPr/>
              </a:pPr>
              <a:t>75</a:t>
            </a:fld>
            <a:endParaRPr lang="en-US" altLang="zh-CN"/>
          </a:p>
        </p:txBody>
      </p:sp>
      <p:sp>
        <p:nvSpPr>
          <p:cNvPr id="61443" name="Rectangle 2">
            <a:extLst>
              <a:ext uri="{FF2B5EF4-FFF2-40B4-BE49-F238E27FC236}">
                <a16:creationId xmlns:a16="http://schemas.microsoft.com/office/drawing/2014/main" id="{D2B627B5-1547-4F17-87E9-49BA54917B06}"/>
              </a:ext>
            </a:extLst>
          </p:cNvPr>
          <p:cNvSpPr>
            <a:spLocks noGrp="1" noChangeArrowheads="1"/>
          </p:cNvSpPr>
          <p:nvPr>
            <p:ph type="title"/>
          </p:nvPr>
        </p:nvSpPr>
        <p:spPr/>
        <p:txBody>
          <a:bodyPr/>
          <a:lstStyle/>
          <a:p>
            <a:pPr eaLnBrk="1" hangingPunct="1"/>
            <a:r>
              <a:rPr lang="zh-CN" altLang="en-US"/>
              <a:t>1.2.2 带权的区间调度</a:t>
            </a:r>
          </a:p>
        </p:txBody>
      </p:sp>
      <p:sp>
        <p:nvSpPr>
          <p:cNvPr id="61444" name="Rectangle 3">
            <a:extLst>
              <a:ext uri="{FF2B5EF4-FFF2-40B4-BE49-F238E27FC236}">
                <a16:creationId xmlns:a16="http://schemas.microsoft.com/office/drawing/2014/main" id="{45802BC7-ABB0-4B4F-94C2-E0A8DBC3484F}"/>
              </a:ext>
            </a:extLst>
          </p:cNvPr>
          <p:cNvSpPr>
            <a:spLocks noGrp="1" noChangeArrowheads="1"/>
          </p:cNvSpPr>
          <p:nvPr>
            <p:ph type="body" idx="1"/>
          </p:nvPr>
        </p:nvSpPr>
        <p:spPr/>
        <p:txBody>
          <a:bodyPr/>
          <a:lstStyle/>
          <a:p>
            <a:pPr eaLnBrk="1" hangingPunct="1">
              <a:buFont typeface="Wingdings" panose="05000000000000000000" pitchFamily="2" charset="2"/>
              <a:buNone/>
            </a:pPr>
            <a:r>
              <a:rPr lang="zh-CN" altLang="en-US"/>
              <a:t> </a:t>
            </a:r>
          </a:p>
        </p:txBody>
      </p:sp>
      <p:sp>
        <p:nvSpPr>
          <p:cNvPr id="61445" name="Line 4">
            <a:extLst>
              <a:ext uri="{FF2B5EF4-FFF2-40B4-BE49-F238E27FC236}">
                <a16:creationId xmlns:a16="http://schemas.microsoft.com/office/drawing/2014/main" id="{A6E353F6-FFA9-434F-AC09-E90364909F61}"/>
              </a:ext>
            </a:extLst>
          </p:cNvPr>
          <p:cNvSpPr>
            <a:spLocks noChangeShapeType="1"/>
          </p:cNvSpPr>
          <p:nvPr/>
        </p:nvSpPr>
        <p:spPr bwMode="auto">
          <a:xfrm>
            <a:off x="1433513" y="6397501"/>
            <a:ext cx="588168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46" name="Text Box 5">
            <a:extLst>
              <a:ext uri="{FF2B5EF4-FFF2-40B4-BE49-F238E27FC236}">
                <a16:creationId xmlns:a16="http://schemas.microsoft.com/office/drawing/2014/main" id="{DE421FA6-2113-42B7-8C35-C3A2682BA723}"/>
              </a:ext>
            </a:extLst>
          </p:cNvPr>
          <p:cNvSpPr txBox="1">
            <a:spLocks noChangeArrowheads="1"/>
          </p:cNvSpPr>
          <p:nvPr/>
        </p:nvSpPr>
        <p:spPr bwMode="auto">
          <a:xfrm>
            <a:off x="7315200" y="6418139"/>
            <a:ext cx="7620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en-US" altLang="zh-CN" sz="1200">
                <a:latin typeface="Comic Sans MS" panose="030F0702030302020204" pitchFamily="66" charset="0"/>
              </a:rPr>
              <a:t>Time</a:t>
            </a:r>
          </a:p>
        </p:txBody>
      </p:sp>
      <p:sp>
        <p:nvSpPr>
          <p:cNvPr id="61447" name="Line 6">
            <a:extLst>
              <a:ext uri="{FF2B5EF4-FFF2-40B4-BE49-F238E27FC236}">
                <a16:creationId xmlns:a16="http://schemas.microsoft.com/office/drawing/2014/main" id="{D59995A9-4A79-4912-8975-E886BAEA132B}"/>
              </a:ext>
            </a:extLst>
          </p:cNvPr>
          <p:cNvSpPr>
            <a:spLocks noChangeShapeType="1"/>
          </p:cNvSpPr>
          <p:nvPr/>
        </p:nvSpPr>
        <p:spPr bwMode="auto">
          <a:xfrm>
            <a:off x="6554788" y="6397501"/>
            <a:ext cx="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48" name="Text Box 7">
            <a:extLst>
              <a:ext uri="{FF2B5EF4-FFF2-40B4-BE49-F238E27FC236}">
                <a16:creationId xmlns:a16="http://schemas.microsoft.com/office/drawing/2014/main" id="{5202879C-92E7-4FD8-88AB-C3C4B7E8C077}"/>
              </a:ext>
            </a:extLst>
          </p:cNvPr>
          <p:cNvSpPr txBox="1">
            <a:spLocks noChangeArrowheads="1"/>
          </p:cNvSpPr>
          <p:nvPr/>
        </p:nvSpPr>
        <p:spPr bwMode="auto">
          <a:xfrm>
            <a:off x="1295400" y="6397501"/>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0</a:t>
            </a:r>
          </a:p>
        </p:txBody>
      </p:sp>
      <p:sp>
        <p:nvSpPr>
          <p:cNvPr id="61449" name="Line 8">
            <a:extLst>
              <a:ext uri="{FF2B5EF4-FFF2-40B4-BE49-F238E27FC236}">
                <a16:creationId xmlns:a16="http://schemas.microsoft.com/office/drawing/2014/main" id="{527AC6F7-3A52-4AE0-8670-B09478E0D48A}"/>
              </a:ext>
            </a:extLst>
          </p:cNvPr>
          <p:cNvSpPr>
            <a:spLocks noChangeShapeType="1"/>
          </p:cNvSpPr>
          <p:nvPr/>
        </p:nvSpPr>
        <p:spPr bwMode="auto">
          <a:xfrm rot="-5400000">
            <a:off x="325437"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0" name="Line 9">
            <a:extLst>
              <a:ext uri="{FF2B5EF4-FFF2-40B4-BE49-F238E27FC236}">
                <a16:creationId xmlns:a16="http://schemas.microsoft.com/office/drawing/2014/main" id="{C2F871CC-4B2D-4EC2-B091-8E8570DF3A0D}"/>
              </a:ext>
            </a:extLst>
          </p:cNvPr>
          <p:cNvSpPr>
            <a:spLocks noChangeShapeType="1"/>
          </p:cNvSpPr>
          <p:nvPr/>
        </p:nvSpPr>
        <p:spPr bwMode="auto">
          <a:xfrm rot="-5400000">
            <a:off x="-158750"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1" name="Line 10">
            <a:extLst>
              <a:ext uri="{FF2B5EF4-FFF2-40B4-BE49-F238E27FC236}">
                <a16:creationId xmlns:a16="http://schemas.microsoft.com/office/drawing/2014/main" id="{E09C5490-9B8E-42A7-AC5C-46313CC2C713}"/>
              </a:ext>
            </a:extLst>
          </p:cNvPr>
          <p:cNvSpPr>
            <a:spLocks noChangeShapeType="1"/>
          </p:cNvSpPr>
          <p:nvPr/>
        </p:nvSpPr>
        <p:spPr bwMode="auto">
          <a:xfrm rot="-5400000">
            <a:off x="1295400"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2" name="Line 11">
            <a:extLst>
              <a:ext uri="{FF2B5EF4-FFF2-40B4-BE49-F238E27FC236}">
                <a16:creationId xmlns:a16="http://schemas.microsoft.com/office/drawing/2014/main" id="{958A6E15-9A4C-4328-90D8-205BE9ABC1AB}"/>
              </a:ext>
            </a:extLst>
          </p:cNvPr>
          <p:cNvSpPr>
            <a:spLocks noChangeShapeType="1"/>
          </p:cNvSpPr>
          <p:nvPr/>
        </p:nvSpPr>
        <p:spPr bwMode="auto">
          <a:xfrm rot="-5400000">
            <a:off x="809625"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3" name="Line 12">
            <a:extLst>
              <a:ext uri="{FF2B5EF4-FFF2-40B4-BE49-F238E27FC236}">
                <a16:creationId xmlns:a16="http://schemas.microsoft.com/office/drawing/2014/main" id="{CEFFC174-7AF6-4D41-8E01-1EA193B0EDB9}"/>
              </a:ext>
            </a:extLst>
          </p:cNvPr>
          <p:cNvSpPr>
            <a:spLocks noChangeShapeType="1"/>
          </p:cNvSpPr>
          <p:nvPr/>
        </p:nvSpPr>
        <p:spPr bwMode="auto">
          <a:xfrm rot="-5400000">
            <a:off x="1779587"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4" name="Line 13">
            <a:extLst>
              <a:ext uri="{FF2B5EF4-FFF2-40B4-BE49-F238E27FC236}">
                <a16:creationId xmlns:a16="http://schemas.microsoft.com/office/drawing/2014/main" id="{003351AA-E782-44BF-9EFE-64422E354AA7}"/>
              </a:ext>
            </a:extLst>
          </p:cNvPr>
          <p:cNvSpPr>
            <a:spLocks noChangeShapeType="1"/>
          </p:cNvSpPr>
          <p:nvPr/>
        </p:nvSpPr>
        <p:spPr bwMode="auto">
          <a:xfrm rot="-5400000">
            <a:off x="3232150"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5" name="Line 14">
            <a:extLst>
              <a:ext uri="{FF2B5EF4-FFF2-40B4-BE49-F238E27FC236}">
                <a16:creationId xmlns:a16="http://schemas.microsoft.com/office/drawing/2014/main" id="{573E360A-B71F-4F23-9E8E-0EFBFF39DB62}"/>
              </a:ext>
            </a:extLst>
          </p:cNvPr>
          <p:cNvSpPr>
            <a:spLocks noChangeShapeType="1"/>
          </p:cNvSpPr>
          <p:nvPr/>
        </p:nvSpPr>
        <p:spPr bwMode="auto">
          <a:xfrm rot="-5400000">
            <a:off x="2747962"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6" name="Line 15">
            <a:extLst>
              <a:ext uri="{FF2B5EF4-FFF2-40B4-BE49-F238E27FC236}">
                <a16:creationId xmlns:a16="http://schemas.microsoft.com/office/drawing/2014/main" id="{3F61B716-B411-4D50-8C40-E09A9E2D6CC9}"/>
              </a:ext>
            </a:extLst>
          </p:cNvPr>
          <p:cNvSpPr>
            <a:spLocks noChangeShapeType="1"/>
          </p:cNvSpPr>
          <p:nvPr/>
        </p:nvSpPr>
        <p:spPr bwMode="auto">
          <a:xfrm rot="-5400000">
            <a:off x="4200525"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7" name="Line 16">
            <a:extLst>
              <a:ext uri="{FF2B5EF4-FFF2-40B4-BE49-F238E27FC236}">
                <a16:creationId xmlns:a16="http://schemas.microsoft.com/office/drawing/2014/main" id="{642C4B55-E9EE-49C3-A178-FBC3BB49D54B}"/>
              </a:ext>
            </a:extLst>
          </p:cNvPr>
          <p:cNvSpPr>
            <a:spLocks noChangeShapeType="1"/>
          </p:cNvSpPr>
          <p:nvPr/>
        </p:nvSpPr>
        <p:spPr bwMode="auto">
          <a:xfrm rot="-5400000">
            <a:off x="3716337"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8" name="Line 17">
            <a:extLst>
              <a:ext uri="{FF2B5EF4-FFF2-40B4-BE49-F238E27FC236}">
                <a16:creationId xmlns:a16="http://schemas.microsoft.com/office/drawing/2014/main" id="{349B5B26-0B84-46CC-BB06-9293D05BBDFB}"/>
              </a:ext>
            </a:extLst>
          </p:cNvPr>
          <p:cNvSpPr>
            <a:spLocks noChangeShapeType="1"/>
          </p:cNvSpPr>
          <p:nvPr/>
        </p:nvSpPr>
        <p:spPr bwMode="auto">
          <a:xfrm rot="-5400000">
            <a:off x="5170487"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59" name="Line 18">
            <a:extLst>
              <a:ext uri="{FF2B5EF4-FFF2-40B4-BE49-F238E27FC236}">
                <a16:creationId xmlns:a16="http://schemas.microsoft.com/office/drawing/2014/main" id="{C8EBE028-1DB3-42F8-806B-7EA4B5D57CC6}"/>
              </a:ext>
            </a:extLst>
          </p:cNvPr>
          <p:cNvSpPr>
            <a:spLocks noChangeShapeType="1"/>
          </p:cNvSpPr>
          <p:nvPr/>
        </p:nvSpPr>
        <p:spPr bwMode="auto">
          <a:xfrm rot="-5400000">
            <a:off x="4686300"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60" name="Text Box 19">
            <a:extLst>
              <a:ext uri="{FF2B5EF4-FFF2-40B4-BE49-F238E27FC236}">
                <a16:creationId xmlns:a16="http://schemas.microsoft.com/office/drawing/2014/main" id="{817C9B28-D34E-40C7-8362-F7B05C3DF658}"/>
              </a:ext>
            </a:extLst>
          </p:cNvPr>
          <p:cNvSpPr txBox="1">
            <a:spLocks noChangeArrowheads="1"/>
          </p:cNvSpPr>
          <p:nvPr/>
        </p:nvSpPr>
        <p:spPr bwMode="auto">
          <a:xfrm>
            <a:off x="1779588" y="6397501"/>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1</a:t>
            </a:r>
          </a:p>
        </p:txBody>
      </p:sp>
      <p:sp>
        <p:nvSpPr>
          <p:cNvPr id="61461" name="Text Box 20">
            <a:extLst>
              <a:ext uri="{FF2B5EF4-FFF2-40B4-BE49-F238E27FC236}">
                <a16:creationId xmlns:a16="http://schemas.microsoft.com/office/drawing/2014/main" id="{1E27A2DA-FD9F-46FD-AE46-4AB8960BE5D2}"/>
              </a:ext>
            </a:extLst>
          </p:cNvPr>
          <p:cNvSpPr txBox="1">
            <a:spLocks noChangeArrowheads="1"/>
          </p:cNvSpPr>
          <p:nvPr/>
        </p:nvSpPr>
        <p:spPr bwMode="auto">
          <a:xfrm>
            <a:off x="2263775" y="6397501"/>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2</a:t>
            </a:r>
          </a:p>
        </p:txBody>
      </p:sp>
      <p:sp>
        <p:nvSpPr>
          <p:cNvPr id="61462" name="Text Box 21">
            <a:extLst>
              <a:ext uri="{FF2B5EF4-FFF2-40B4-BE49-F238E27FC236}">
                <a16:creationId xmlns:a16="http://schemas.microsoft.com/office/drawing/2014/main" id="{718BC3B9-3DD8-4B1E-86A7-0C54E070BE91}"/>
              </a:ext>
            </a:extLst>
          </p:cNvPr>
          <p:cNvSpPr txBox="1">
            <a:spLocks noChangeArrowheads="1"/>
          </p:cNvSpPr>
          <p:nvPr/>
        </p:nvSpPr>
        <p:spPr bwMode="auto">
          <a:xfrm>
            <a:off x="2747963" y="6397501"/>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3</a:t>
            </a:r>
          </a:p>
        </p:txBody>
      </p:sp>
      <p:sp>
        <p:nvSpPr>
          <p:cNvPr id="61463" name="Text Box 22">
            <a:extLst>
              <a:ext uri="{FF2B5EF4-FFF2-40B4-BE49-F238E27FC236}">
                <a16:creationId xmlns:a16="http://schemas.microsoft.com/office/drawing/2014/main" id="{3B3DF84A-DD6F-418C-A4CC-F1965AA9E080}"/>
              </a:ext>
            </a:extLst>
          </p:cNvPr>
          <p:cNvSpPr txBox="1">
            <a:spLocks noChangeArrowheads="1"/>
          </p:cNvSpPr>
          <p:nvPr/>
        </p:nvSpPr>
        <p:spPr bwMode="auto">
          <a:xfrm>
            <a:off x="3233738" y="6397501"/>
            <a:ext cx="4143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4</a:t>
            </a:r>
          </a:p>
        </p:txBody>
      </p:sp>
      <p:sp>
        <p:nvSpPr>
          <p:cNvPr id="61464" name="Text Box 23">
            <a:extLst>
              <a:ext uri="{FF2B5EF4-FFF2-40B4-BE49-F238E27FC236}">
                <a16:creationId xmlns:a16="http://schemas.microsoft.com/office/drawing/2014/main" id="{FEF0AA80-64DC-476B-A317-518976E8322F}"/>
              </a:ext>
            </a:extLst>
          </p:cNvPr>
          <p:cNvSpPr txBox="1">
            <a:spLocks noChangeArrowheads="1"/>
          </p:cNvSpPr>
          <p:nvPr/>
        </p:nvSpPr>
        <p:spPr bwMode="auto">
          <a:xfrm>
            <a:off x="3717925" y="6397501"/>
            <a:ext cx="4143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5</a:t>
            </a:r>
          </a:p>
        </p:txBody>
      </p:sp>
      <p:sp>
        <p:nvSpPr>
          <p:cNvPr id="61465" name="Text Box 24">
            <a:extLst>
              <a:ext uri="{FF2B5EF4-FFF2-40B4-BE49-F238E27FC236}">
                <a16:creationId xmlns:a16="http://schemas.microsoft.com/office/drawing/2014/main" id="{8FF808E1-94EE-4011-BEE6-03177015CF38}"/>
              </a:ext>
            </a:extLst>
          </p:cNvPr>
          <p:cNvSpPr txBox="1">
            <a:spLocks noChangeArrowheads="1"/>
          </p:cNvSpPr>
          <p:nvPr/>
        </p:nvSpPr>
        <p:spPr bwMode="auto">
          <a:xfrm>
            <a:off x="4202113" y="6397501"/>
            <a:ext cx="4143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6</a:t>
            </a:r>
          </a:p>
        </p:txBody>
      </p:sp>
      <p:sp>
        <p:nvSpPr>
          <p:cNvPr id="61466" name="Text Box 25">
            <a:extLst>
              <a:ext uri="{FF2B5EF4-FFF2-40B4-BE49-F238E27FC236}">
                <a16:creationId xmlns:a16="http://schemas.microsoft.com/office/drawing/2014/main" id="{B3653537-D191-412F-977D-59FF9FC57F4F}"/>
              </a:ext>
            </a:extLst>
          </p:cNvPr>
          <p:cNvSpPr txBox="1">
            <a:spLocks noChangeArrowheads="1"/>
          </p:cNvSpPr>
          <p:nvPr/>
        </p:nvSpPr>
        <p:spPr bwMode="auto">
          <a:xfrm>
            <a:off x="4686300" y="6397501"/>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7</a:t>
            </a:r>
          </a:p>
        </p:txBody>
      </p:sp>
      <p:sp>
        <p:nvSpPr>
          <p:cNvPr id="61467" name="Text Box 26">
            <a:extLst>
              <a:ext uri="{FF2B5EF4-FFF2-40B4-BE49-F238E27FC236}">
                <a16:creationId xmlns:a16="http://schemas.microsoft.com/office/drawing/2014/main" id="{85375760-4786-42B8-85AC-1299061DBC53}"/>
              </a:ext>
            </a:extLst>
          </p:cNvPr>
          <p:cNvSpPr txBox="1">
            <a:spLocks noChangeArrowheads="1"/>
          </p:cNvSpPr>
          <p:nvPr/>
        </p:nvSpPr>
        <p:spPr bwMode="auto">
          <a:xfrm>
            <a:off x="5170488" y="6397501"/>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8</a:t>
            </a:r>
          </a:p>
        </p:txBody>
      </p:sp>
      <p:sp>
        <p:nvSpPr>
          <p:cNvPr id="61468" name="Text Box 27">
            <a:extLst>
              <a:ext uri="{FF2B5EF4-FFF2-40B4-BE49-F238E27FC236}">
                <a16:creationId xmlns:a16="http://schemas.microsoft.com/office/drawing/2014/main" id="{2572CF28-33F1-4C24-B294-AF4AD6AF43E8}"/>
              </a:ext>
            </a:extLst>
          </p:cNvPr>
          <p:cNvSpPr txBox="1">
            <a:spLocks noChangeArrowheads="1"/>
          </p:cNvSpPr>
          <p:nvPr/>
        </p:nvSpPr>
        <p:spPr bwMode="auto">
          <a:xfrm>
            <a:off x="5654675" y="6397501"/>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9</a:t>
            </a:r>
          </a:p>
        </p:txBody>
      </p:sp>
      <p:sp>
        <p:nvSpPr>
          <p:cNvPr id="61469" name="Text Box 28">
            <a:extLst>
              <a:ext uri="{FF2B5EF4-FFF2-40B4-BE49-F238E27FC236}">
                <a16:creationId xmlns:a16="http://schemas.microsoft.com/office/drawing/2014/main" id="{832091AA-D007-4AAA-8C64-89DBBC5EBB01}"/>
              </a:ext>
            </a:extLst>
          </p:cNvPr>
          <p:cNvSpPr txBox="1">
            <a:spLocks noChangeArrowheads="1"/>
          </p:cNvSpPr>
          <p:nvPr/>
        </p:nvSpPr>
        <p:spPr bwMode="auto">
          <a:xfrm>
            <a:off x="6070600" y="6397501"/>
            <a:ext cx="4143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10</a:t>
            </a:r>
          </a:p>
        </p:txBody>
      </p:sp>
      <p:sp>
        <p:nvSpPr>
          <p:cNvPr id="61470" name="Text Box 29">
            <a:extLst>
              <a:ext uri="{FF2B5EF4-FFF2-40B4-BE49-F238E27FC236}">
                <a16:creationId xmlns:a16="http://schemas.microsoft.com/office/drawing/2014/main" id="{CD232728-00E5-469F-8968-5CDDF8CAADC1}"/>
              </a:ext>
            </a:extLst>
          </p:cNvPr>
          <p:cNvSpPr txBox="1">
            <a:spLocks noChangeArrowheads="1"/>
          </p:cNvSpPr>
          <p:nvPr/>
        </p:nvSpPr>
        <p:spPr bwMode="auto">
          <a:xfrm>
            <a:off x="6624638" y="6397501"/>
            <a:ext cx="4143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en-US" sz="1200">
                <a:latin typeface="Comic Sans MS" panose="030F0702030302020204" pitchFamily="66" charset="0"/>
              </a:rPr>
              <a:t>11</a:t>
            </a:r>
          </a:p>
        </p:txBody>
      </p:sp>
      <p:sp>
        <p:nvSpPr>
          <p:cNvPr id="61471" name="Rectangle 30">
            <a:extLst>
              <a:ext uri="{FF2B5EF4-FFF2-40B4-BE49-F238E27FC236}">
                <a16:creationId xmlns:a16="http://schemas.microsoft.com/office/drawing/2014/main" id="{56E6252C-D43C-4B03-8DBC-9A63AEB8AC69}"/>
              </a:ext>
            </a:extLst>
          </p:cNvPr>
          <p:cNvSpPr>
            <a:spLocks noChangeArrowheads="1"/>
          </p:cNvSpPr>
          <p:nvPr/>
        </p:nvSpPr>
        <p:spPr bwMode="auto">
          <a:xfrm>
            <a:off x="3856038" y="5289426"/>
            <a:ext cx="1936750"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20</a:t>
            </a:r>
          </a:p>
        </p:txBody>
      </p:sp>
      <p:sp>
        <p:nvSpPr>
          <p:cNvPr id="61472" name="Rectangle 31">
            <a:extLst>
              <a:ext uri="{FF2B5EF4-FFF2-40B4-BE49-F238E27FC236}">
                <a16:creationId xmlns:a16="http://schemas.microsoft.com/office/drawing/2014/main" id="{92F37771-C98D-4612-A4D8-A62C29867EC8}"/>
              </a:ext>
            </a:extLst>
          </p:cNvPr>
          <p:cNvSpPr>
            <a:spLocks noChangeArrowheads="1"/>
          </p:cNvSpPr>
          <p:nvPr/>
        </p:nvSpPr>
        <p:spPr bwMode="auto">
          <a:xfrm>
            <a:off x="4340225" y="5705351"/>
            <a:ext cx="1938338"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11</a:t>
            </a:r>
          </a:p>
        </p:txBody>
      </p:sp>
      <p:sp>
        <p:nvSpPr>
          <p:cNvPr id="61473" name="Line 32">
            <a:extLst>
              <a:ext uri="{FF2B5EF4-FFF2-40B4-BE49-F238E27FC236}">
                <a16:creationId xmlns:a16="http://schemas.microsoft.com/office/drawing/2014/main" id="{2FB6474B-79C9-4DC6-8135-3A3B39387180}"/>
              </a:ext>
            </a:extLst>
          </p:cNvPr>
          <p:cNvSpPr>
            <a:spLocks noChangeShapeType="1"/>
          </p:cNvSpPr>
          <p:nvPr/>
        </p:nvSpPr>
        <p:spPr bwMode="auto">
          <a:xfrm rot="-5400000">
            <a:off x="2263775" y="4805239"/>
            <a:ext cx="318452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a:p>
        </p:txBody>
      </p:sp>
      <p:sp>
        <p:nvSpPr>
          <p:cNvPr id="61474" name="Rectangle 33">
            <a:extLst>
              <a:ext uri="{FF2B5EF4-FFF2-40B4-BE49-F238E27FC236}">
                <a16:creationId xmlns:a16="http://schemas.microsoft.com/office/drawing/2014/main" id="{136C1F64-FF6E-4B98-BFF4-BEB6FAA4F2D8}"/>
              </a:ext>
            </a:extLst>
          </p:cNvPr>
          <p:cNvSpPr>
            <a:spLocks noChangeArrowheads="1"/>
          </p:cNvSpPr>
          <p:nvPr/>
        </p:nvSpPr>
        <p:spPr bwMode="auto">
          <a:xfrm>
            <a:off x="5308600" y="6116514"/>
            <a:ext cx="1454150" cy="277812"/>
          </a:xfrm>
          <a:prstGeom prst="rect">
            <a:avLst/>
          </a:prstGeom>
          <a:solidFill>
            <a:srgbClr val="C00000"/>
          </a:solidFill>
          <a:ln>
            <a:noFill/>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chemeClr val="bg1"/>
                </a:solidFill>
                <a:latin typeface="Comic Sans MS" panose="030F0702030302020204" pitchFamily="66" charset="0"/>
              </a:rPr>
              <a:t>16</a:t>
            </a:r>
          </a:p>
        </p:txBody>
      </p:sp>
      <p:sp>
        <p:nvSpPr>
          <p:cNvPr id="61475" name="Rectangle 34">
            <a:extLst>
              <a:ext uri="{FF2B5EF4-FFF2-40B4-BE49-F238E27FC236}">
                <a16:creationId xmlns:a16="http://schemas.microsoft.com/office/drawing/2014/main" id="{1E165A3E-7578-4E20-AFFE-3045EACAC129}"/>
              </a:ext>
            </a:extLst>
          </p:cNvPr>
          <p:cNvSpPr>
            <a:spLocks noChangeArrowheads="1"/>
          </p:cNvSpPr>
          <p:nvPr/>
        </p:nvSpPr>
        <p:spPr bwMode="auto">
          <a:xfrm>
            <a:off x="3371850" y="4873501"/>
            <a:ext cx="1452563" cy="27781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13</a:t>
            </a:r>
          </a:p>
        </p:txBody>
      </p:sp>
      <p:sp>
        <p:nvSpPr>
          <p:cNvPr id="61476" name="Rectangle 35">
            <a:extLst>
              <a:ext uri="{FF2B5EF4-FFF2-40B4-BE49-F238E27FC236}">
                <a16:creationId xmlns:a16="http://schemas.microsoft.com/office/drawing/2014/main" id="{AC7C5F05-1B6C-4C69-8E42-671A7BB62722}"/>
              </a:ext>
            </a:extLst>
          </p:cNvPr>
          <p:cNvSpPr>
            <a:spLocks noChangeArrowheads="1"/>
          </p:cNvSpPr>
          <p:nvPr/>
        </p:nvSpPr>
        <p:spPr bwMode="auto">
          <a:xfrm>
            <a:off x="1433513" y="3212976"/>
            <a:ext cx="2906712"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23</a:t>
            </a:r>
          </a:p>
        </p:txBody>
      </p:sp>
      <p:sp>
        <p:nvSpPr>
          <p:cNvPr id="61477" name="Rectangle 36">
            <a:extLst>
              <a:ext uri="{FF2B5EF4-FFF2-40B4-BE49-F238E27FC236}">
                <a16:creationId xmlns:a16="http://schemas.microsoft.com/office/drawing/2014/main" id="{241A3B28-7499-4714-9FD4-B811847A18FB}"/>
              </a:ext>
            </a:extLst>
          </p:cNvPr>
          <p:cNvSpPr>
            <a:spLocks noChangeArrowheads="1"/>
          </p:cNvSpPr>
          <p:nvPr/>
        </p:nvSpPr>
        <p:spPr bwMode="auto">
          <a:xfrm>
            <a:off x="1917700" y="3628901"/>
            <a:ext cx="1454150" cy="2762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12</a:t>
            </a:r>
          </a:p>
        </p:txBody>
      </p:sp>
      <p:sp>
        <p:nvSpPr>
          <p:cNvPr id="61478" name="Rectangle 37">
            <a:extLst>
              <a:ext uri="{FF2B5EF4-FFF2-40B4-BE49-F238E27FC236}">
                <a16:creationId xmlns:a16="http://schemas.microsoft.com/office/drawing/2014/main" id="{3098469E-CBAD-440D-8E4D-32D76EA99B17}"/>
              </a:ext>
            </a:extLst>
          </p:cNvPr>
          <p:cNvSpPr>
            <a:spLocks noChangeArrowheads="1"/>
          </p:cNvSpPr>
          <p:nvPr/>
        </p:nvSpPr>
        <p:spPr bwMode="auto">
          <a:xfrm>
            <a:off x="2887663" y="4043239"/>
            <a:ext cx="968375" cy="27781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latin typeface="Comic Sans MS" panose="030F0702030302020204" pitchFamily="66" charset="0"/>
              </a:rPr>
              <a:t>20</a:t>
            </a:r>
          </a:p>
        </p:txBody>
      </p:sp>
      <p:sp>
        <p:nvSpPr>
          <p:cNvPr id="61479" name="Rectangle 38">
            <a:extLst>
              <a:ext uri="{FF2B5EF4-FFF2-40B4-BE49-F238E27FC236}">
                <a16:creationId xmlns:a16="http://schemas.microsoft.com/office/drawing/2014/main" id="{8D744B3F-2A4C-46A6-8240-918B8B883B9E}"/>
              </a:ext>
            </a:extLst>
          </p:cNvPr>
          <p:cNvSpPr>
            <a:spLocks noChangeArrowheads="1"/>
          </p:cNvSpPr>
          <p:nvPr/>
        </p:nvSpPr>
        <p:spPr bwMode="auto">
          <a:xfrm>
            <a:off x="2887663" y="4459164"/>
            <a:ext cx="2420937" cy="276225"/>
          </a:xfrm>
          <a:prstGeom prst="rect">
            <a:avLst/>
          </a:prstGeom>
          <a:solidFill>
            <a:srgbClr val="C00000"/>
          </a:solidFill>
          <a:ln>
            <a:noFill/>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400">
                <a:solidFill>
                  <a:schemeClr val="bg1"/>
                </a:solidFill>
                <a:latin typeface="Comic Sans MS" panose="030F0702030302020204" pitchFamily="66" charset="0"/>
              </a:rPr>
              <a:t>26</a:t>
            </a:r>
          </a:p>
        </p:txBody>
      </p:sp>
      <p:sp>
        <p:nvSpPr>
          <p:cNvPr id="5" name="文本框 4">
            <a:extLst>
              <a:ext uri="{FF2B5EF4-FFF2-40B4-BE49-F238E27FC236}">
                <a16:creationId xmlns:a16="http://schemas.microsoft.com/office/drawing/2014/main" id="{7FF5086C-AE5E-5705-8BF3-1FC185A23B2C}"/>
              </a:ext>
            </a:extLst>
          </p:cNvPr>
          <p:cNvSpPr txBox="1"/>
          <p:nvPr/>
        </p:nvSpPr>
        <p:spPr>
          <a:xfrm>
            <a:off x="667542" y="2001897"/>
            <a:ext cx="7864898" cy="830997"/>
          </a:xfrm>
          <a:prstGeom prst="rect">
            <a:avLst/>
          </a:prstGeom>
          <a:noFill/>
        </p:spPr>
        <p:txBody>
          <a:bodyPr wrap="square">
            <a:spAutoFit/>
          </a:bodyPr>
          <a:lstStyle/>
          <a:p>
            <a:pPr eaLnBrk="1" hangingPunct="1"/>
            <a:r>
              <a:rPr lang="zh-CN" altLang="en-US" sz="2400" dirty="0">
                <a:solidFill>
                  <a:schemeClr val="tx1"/>
                </a:solidFill>
              </a:rPr>
              <a:t>解决这个问题涉及到</a:t>
            </a:r>
            <a:r>
              <a:rPr lang="zh-CN" altLang="en-US" sz="2400" dirty="0">
                <a:solidFill>
                  <a:srgbClr val="FF0000"/>
                </a:solidFill>
              </a:rPr>
              <a:t>动态规划技术</a:t>
            </a:r>
            <a:r>
              <a:rPr lang="zh-CN" altLang="en-US" sz="2400" dirty="0">
                <a:solidFill>
                  <a:schemeClr val="tx1"/>
                </a:solidFill>
              </a:rPr>
              <a:t>：一种非常紧凑的，</a:t>
            </a:r>
            <a:r>
              <a:rPr lang="zh-CN" altLang="en-US" sz="2400" dirty="0">
                <a:solidFill>
                  <a:srgbClr val="FF0000"/>
                </a:solidFill>
              </a:rPr>
              <a:t>表格式</a:t>
            </a:r>
            <a:r>
              <a:rPr lang="zh-CN" altLang="en-US" sz="2400" dirty="0">
                <a:solidFill>
                  <a:schemeClr val="tx1"/>
                </a:solidFill>
              </a:rPr>
              <a:t>的方法得到所有可行解最优值的有效算法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C490A6B-8C3F-42CA-AC39-CE8CA0074BDF}"/>
              </a:ext>
            </a:extLst>
          </p:cNvPr>
          <p:cNvSpPr>
            <a:spLocks noGrp="1"/>
          </p:cNvSpPr>
          <p:nvPr>
            <p:ph type="sldNum" sz="quarter" idx="12"/>
          </p:nvPr>
        </p:nvSpPr>
        <p:spPr/>
        <p:txBody>
          <a:bodyPr/>
          <a:lstStyle/>
          <a:p>
            <a:pPr>
              <a:defRPr/>
            </a:pPr>
            <a:fld id="{38553755-8211-4AAB-B987-A6290351AE06}" type="slidenum">
              <a:rPr lang="zh-CN" altLang="en-US"/>
              <a:pPr>
                <a:defRPr/>
              </a:pPr>
              <a:t>76</a:t>
            </a:fld>
            <a:endParaRPr lang="en-US" altLang="zh-CN"/>
          </a:p>
        </p:txBody>
      </p:sp>
      <p:sp>
        <p:nvSpPr>
          <p:cNvPr id="63491" name="Rectangle 2">
            <a:extLst>
              <a:ext uri="{FF2B5EF4-FFF2-40B4-BE49-F238E27FC236}">
                <a16:creationId xmlns:a16="http://schemas.microsoft.com/office/drawing/2014/main" id="{272A99BF-0BF2-4327-8230-F15D82886A39}"/>
              </a:ext>
            </a:extLst>
          </p:cNvPr>
          <p:cNvSpPr>
            <a:spLocks noGrp="1" noChangeArrowheads="1"/>
          </p:cNvSpPr>
          <p:nvPr>
            <p:ph type="title"/>
          </p:nvPr>
        </p:nvSpPr>
        <p:spPr/>
        <p:txBody>
          <a:bodyPr/>
          <a:lstStyle/>
          <a:p>
            <a:pPr eaLnBrk="1" hangingPunct="1"/>
            <a:r>
              <a:rPr lang="zh-CN" altLang="en-US"/>
              <a:t>1.2.3 二分匹配</a:t>
            </a:r>
          </a:p>
        </p:txBody>
      </p:sp>
      <p:sp>
        <p:nvSpPr>
          <p:cNvPr id="63492" name="Rectangle 3">
            <a:extLst>
              <a:ext uri="{FF2B5EF4-FFF2-40B4-BE49-F238E27FC236}">
                <a16:creationId xmlns:a16="http://schemas.microsoft.com/office/drawing/2014/main" id="{0A1DE5BA-40E6-4375-A7F5-0CCDF1709AF6}"/>
              </a:ext>
            </a:extLst>
          </p:cNvPr>
          <p:cNvSpPr>
            <a:spLocks noGrp="1" noChangeArrowheads="1"/>
          </p:cNvSpPr>
          <p:nvPr>
            <p:ph type="body" idx="1"/>
          </p:nvPr>
        </p:nvSpPr>
        <p:spPr>
          <a:xfrm>
            <a:off x="852764" y="1964682"/>
            <a:ext cx="7772400" cy="4114800"/>
          </a:xfrm>
        </p:spPr>
        <p:txBody>
          <a:bodyPr/>
          <a:lstStyle/>
          <a:p>
            <a:pPr marL="0" indent="0" eaLnBrk="1" hangingPunct="1">
              <a:buNone/>
            </a:pPr>
            <a:r>
              <a:rPr lang="zh-CN" altLang="en-US" dirty="0"/>
              <a:t>把某些个体分配给其他个体</a:t>
            </a:r>
            <a:r>
              <a:rPr lang="en-US" altLang="zh-CN" dirty="0"/>
              <a:t>, </a:t>
            </a:r>
            <a:r>
              <a:rPr lang="zh-CN" altLang="en-US" dirty="0"/>
              <a:t>比如：</a:t>
            </a:r>
          </a:p>
          <a:p>
            <a:pPr eaLnBrk="1" hangingPunct="1"/>
            <a:r>
              <a:rPr lang="zh-CN" altLang="en-US" dirty="0"/>
              <a:t>有一些任务，以及一些机器，把每项任务分配给可处理它的机器，使得</a:t>
            </a:r>
            <a:r>
              <a:rPr lang="zh-CN" altLang="en-US" dirty="0">
                <a:solidFill>
                  <a:srgbClr val="FF0000"/>
                </a:solidFill>
              </a:rPr>
              <a:t>每台机器恰好分配一项任务</a:t>
            </a:r>
            <a:r>
              <a:rPr lang="zh-CN" altLang="en-US" dirty="0"/>
              <a:t>。</a:t>
            </a:r>
          </a:p>
          <a:p>
            <a:pPr eaLnBrk="1" hangingPunct="1"/>
            <a:r>
              <a:rPr lang="zh-CN" altLang="en-US" dirty="0"/>
              <a:t>系里面有一些教授，需要开设一些课程，安排课程的分配方案，使得</a:t>
            </a:r>
            <a:r>
              <a:rPr lang="zh-CN" altLang="en-US" dirty="0">
                <a:solidFill>
                  <a:srgbClr val="FF0000"/>
                </a:solidFill>
              </a:rPr>
              <a:t>每个教授能教一门课程，课程都能开全</a:t>
            </a:r>
            <a:r>
              <a:rPr lang="zh-CN" altLang="en-US" dirty="0"/>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3BA6727-C69B-4287-8113-F27E3E7D737C}"/>
              </a:ext>
            </a:extLst>
          </p:cNvPr>
          <p:cNvSpPr>
            <a:spLocks noGrp="1"/>
          </p:cNvSpPr>
          <p:nvPr>
            <p:ph type="sldNum" sz="quarter" idx="12"/>
          </p:nvPr>
        </p:nvSpPr>
        <p:spPr/>
        <p:txBody>
          <a:bodyPr/>
          <a:lstStyle/>
          <a:p>
            <a:pPr>
              <a:defRPr/>
            </a:pPr>
            <a:fld id="{D6B0C445-38C7-476C-B8DB-AD12CB209A06}" type="slidenum">
              <a:rPr lang="zh-CN" altLang="en-US"/>
              <a:pPr>
                <a:defRPr/>
              </a:pPr>
              <a:t>77</a:t>
            </a:fld>
            <a:endParaRPr lang="en-US" altLang="zh-CN"/>
          </a:p>
        </p:txBody>
      </p:sp>
      <p:sp>
        <p:nvSpPr>
          <p:cNvPr id="64515" name="Rectangle 2">
            <a:extLst>
              <a:ext uri="{FF2B5EF4-FFF2-40B4-BE49-F238E27FC236}">
                <a16:creationId xmlns:a16="http://schemas.microsoft.com/office/drawing/2014/main" id="{CB2FB1AF-ECB0-4BBC-A7E0-A2269788A76F}"/>
              </a:ext>
            </a:extLst>
          </p:cNvPr>
          <p:cNvSpPr>
            <a:spLocks noGrp="1" noChangeArrowheads="1"/>
          </p:cNvSpPr>
          <p:nvPr>
            <p:ph type="title"/>
          </p:nvPr>
        </p:nvSpPr>
        <p:spPr/>
        <p:txBody>
          <a:bodyPr/>
          <a:lstStyle/>
          <a:p>
            <a:pPr eaLnBrk="1" hangingPunct="1"/>
            <a:r>
              <a:rPr lang="zh-CN" altLang="en-US"/>
              <a:t>1.2.3 二分匹配</a:t>
            </a:r>
            <a:endParaRPr lang="en-US" altLang="zh-CN"/>
          </a:p>
        </p:txBody>
      </p:sp>
      <p:sp>
        <p:nvSpPr>
          <p:cNvPr id="64516" name="Rectangle 3">
            <a:extLst>
              <a:ext uri="{FF2B5EF4-FFF2-40B4-BE49-F238E27FC236}">
                <a16:creationId xmlns:a16="http://schemas.microsoft.com/office/drawing/2014/main" id="{32686937-A50E-4367-94AF-ECDDBE07089D}"/>
              </a:ext>
            </a:extLst>
          </p:cNvPr>
          <p:cNvSpPr>
            <a:spLocks noGrp="1" noChangeArrowheads="1"/>
          </p:cNvSpPr>
          <p:nvPr>
            <p:ph type="body" idx="1"/>
          </p:nvPr>
        </p:nvSpPr>
        <p:spPr>
          <a:xfrm>
            <a:off x="827584" y="1985169"/>
            <a:ext cx="7772400" cy="4114800"/>
          </a:xfrm>
        </p:spPr>
        <p:txBody>
          <a:bodyPr/>
          <a:lstStyle/>
          <a:p>
            <a:pPr eaLnBrk="1" hangingPunct="1"/>
            <a:r>
              <a:rPr lang="zh-CN" altLang="en-US" dirty="0">
                <a:solidFill>
                  <a:schemeClr val="hlink"/>
                </a:solidFill>
              </a:rPr>
              <a:t>匹配</a:t>
            </a:r>
            <a:r>
              <a:rPr lang="zh-CN" altLang="en-US" dirty="0"/>
              <a:t>： 每个男人和每个女人至多属于一个有序对</a:t>
            </a:r>
          </a:p>
          <a:p>
            <a:pPr eaLnBrk="1" hangingPunct="1"/>
            <a:r>
              <a:rPr lang="zh-CN" altLang="en-US" dirty="0">
                <a:solidFill>
                  <a:schemeClr val="hlink"/>
                </a:solidFill>
              </a:rPr>
              <a:t>完美匹配</a:t>
            </a:r>
            <a:r>
              <a:rPr lang="zh-CN" altLang="en-US" dirty="0"/>
              <a:t>： 每个男人和每个女人都属于其中某个对的匹配。</a:t>
            </a:r>
          </a:p>
          <a:p>
            <a:pPr eaLnBrk="1" hangingPunct="1"/>
            <a:r>
              <a:rPr lang="zh-CN" altLang="en-US" dirty="0">
                <a:solidFill>
                  <a:schemeClr val="hlink"/>
                </a:solidFill>
              </a:rPr>
              <a:t>二部图</a:t>
            </a:r>
            <a:r>
              <a:rPr lang="zh-CN" altLang="en-US" dirty="0"/>
              <a:t>：</a:t>
            </a:r>
            <a:r>
              <a:rPr lang="en-US" altLang="zh-CN" dirty="0"/>
              <a:t>G=(V,E), </a:t>
            </a:r>
            <a:r>
              <a:rPr lang="zh-CN" altLang="en-US" dirty="0"/>
              <a:t>如果他的结点集</a:t>
            </a:r>
            <a:r>
              <a:rPr lang="en-US" altLang="zh-CN" dirty="0"/>
              <a:t>V</a:t>
            </a:r>
            <a:r>
              <a:rPr lang="zh-CN" altLang="en-US" dirty="0"/>
              <a:t>可以划分成集合</a:t>
            </a:r>
            <a:r>
              <a:rPr lang="en-US" altLang="zh-CN" dirty="0"/>
              <a:t>X</a:t>
            </a:r>
            <a:r>
              <a:rPr lang="zh-CN" altLang="en-US" dirty="0"/>
              <a:t>和</a:t>
            </a:r>
            <a:r>
              <a:rPr lang="en-US" altLang="zh-CN" dirty="0"/>
              <a:t>Y, </a:t>
            </a:r>
            <a:r>
              <a:rPr lang="zh-CN" altLang="en-US" dirty="0"/>
              <a:t>每条边有一个端点在</a:t>
            </a:r>
            <a:r>
              <a:rPr lang="en-US" altLang="zh-CN" dirty="0"/>
              <a:t>X</a:t>
            </a:r>
            <a:r>
              <a:rPr lang="zh-CN" altLang="en-US" dirty="0"/>
              <a:t>中，另一个端点在</a:t>
            </a:r>
            <a:r>
              <a:rPr lang="en-US" altLang="zh-CN" dirty="0"/>
              <a:t>Y</a:t>
            </a:r>
            <a:r>
              <a:rPr lang="zh-CN" altLang="en-US" dirty="0"/>
              <a:t>中</a:t>
            </a:r>
            <a:r>
              <a:rPr lang="en-US" altLang="zh-CN" dirty="0"/>
              <a:t>, </a:t>
            </a:r>
            <a:r>
              <a:rPr lang="zh-CN" altLang="en-US" dirty="0"/>
              <a:t>则</a:t>
            </a:r>
            <a:r>
              <a:rPr lang="en-US" altLang="zh-CN" dirty="0"/>
              <a:t>G</a:t>
            </a:r>
            <a:r>
              <a:rPr lang="zh-CN" altLang="en-US" dirty="0"/>
              <a:t>是二部图。</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4264F6E8-5051-4434-8648-56A6C0401A18}"/>
              </a:ext>
            </a:extLst>
          </p:cNvPr>
          <p:cNvSpPr>
            <a:spLocks noGrp="1"/>
          </p:cNvSpPr>
          <p:nvPr>
            <p:ph type="sldNum" sz="quarter" idx="12"/>
          </p:nvPr>
        </p:nvSpPr>
        <p:spPr/>
        <p:txBody>
          <a:bodyPr/>
          <a:lstStyle/>
          <a:p>
            <a:pPr>
              <a:defRPr/>
            </a:pPr>
            <a:fld id="{8017597B-C930-4C51-8A5D-1A2415BAEF6A}" type="slidenum">
              <a:rPr lang="zh-CN" altLang="en-US"/>
              <a:pPr>
                <a:defRPr/>
              </a:pPr>
              <a:t>78</a:t>
            </a:fld>
            <a:endParaRPr lang="en-US" altLang="zh-CN"/>
          </a:p>
        </p:txBody>
      </p:sp>
      <p:sp>
        <p:nvSpPr>
          <p:cNvPr id="65539" name="Rectangle 2">
            <a:extLst>
              <a:ext uri="{FF2B5EF4-FFF2-40B4-BE49-F238E27FC236}">
                <a16:creationId xmlns:a16="http://schemas.microsoft.com/office/drawing/2014/main" id="{2D1EDDC5-38B7-4529-A198-0C7B92A84FCC}"/>
              </a:ext>
            </a:extLst>
          </p:cNvPr>
          <p:cNvSpPr>
            <a:spLocks noGrp="1" noChangeArrowheads="1"/>
          </p:cNvSpPr>
          <p:nvPr>
            <p:ph type="title"/>
          </p:nvPr>
        </p:nvSpPr>
        <p:spPr/>
        <p:txBody>
          <a:bodyPr/>
          <a:lstStyle/>
          <a:p>
            <a:pPr eaLnBrk="1" hangingPunct="1"/>
            <a:r>
              <a:rPr lang="zh-CN" altLang="en-US"/>
              <a:t>1.2.3 二分匹配</a:t>
            </a:r>
          </a:p>
        </p:txBody>
      </p:sp>
      <p:sp>
        <p:nvSpPr>
          <p:cNvPr id="65540" name="Rectangle 3">
            <a:extLst>
              <a:ext uri="{FF2B5EF4-FFF2-40B4-BE49-F238E27FC236}">
                <a16:creationId xmlns:a16="http://schemas.microsoft.com/office/drawing/2014/main" id="{47A6C5AD-F59B-4FD3-BED0-7CBD5F1D66FB}"/>
              </a:ext>
            </a:extLst>
          </p:cNvPr>
          <p:cNvSpPr>
            <a:spLocks noGrp="1" noChangeArrowheads="1"/>
          </p:cNvSpPr>
          <p:nvPr>
            <p:ph type="body" idx="1"/>
          </p:nvPr>
        </p:nvSpPr>
        <p:spPr>
          <a:xfrm>
            <a:off x="609600" y="2017713"/>
            <a:ext cx="8345488" cy="4114800"/>
          </a:xfrm>
        </p:spPr>
        <p:txBody>
          <a:bodyPr/>
          <a:lstStyle/>
          <a:p>
            <a:pPr eaLnBrk="1" hangingPunct="1"/>
            <a:r>
              <a:rPr lang="zh-CN" altLang="en-US" dirty="0"/>
              <a:t>与稳定匹配的不同：</a:t>
            </a:r>
          </a:p>
          <a:p>
            <a:pPr eaLnBrk="1" hangingPunct="1">
              <a:buFont typeface="Wingdings" panose="05000000000000000000" pitchFamily="2" charset="2"/>
              <a:buChar char="ü"/>
            </a:pPr>
            <a:r>
              <a:rPr lang="zh-CN" altLang="en-US" dirty="0"/>
              <a:t> 没有优先表的概念</a:t>
            </a:r>
          </a:p>
          <a:p>
            <a:pPr eaLnBrk="1" hangingPunct="1">
              <a:buFont typeface="Wingdings" panose="05000000000000000000" pitchFamily="2" charset="2"/>
              <a:buChar char="ü"/>
            </a:pPr>
            <a:r>
              <a:rPr lang="zh-CN" altLang="en-US" dirty="0"/>
              <a:t>从每个       到每个       不一定存在一条边</a:t>
            </a:r>
          </a:p>
          <a:p>
            <a:pPr eaLnBrk="1" hangingPunct="1">
              <a:buFont typeface="Wingdings" panose="05000000000000000000" pitchFamily="2" charset="2"/>
              <a:buNone/>
            </a:pPr>
            <a:r>
              <a:rPr lang="zh-CN" altLang="en-US" dirty="0"/>
              <a:t>  </a:t>
            </a:r>
          </a:p>
          <a:p>
            <a:pPr eaLnBrk="1" hangingPunct="1">
              <a:buFont typeface="Wingdings" panose="05000000000000000000" pitchFamily="2" charset="2"/>
              <a:buNone/>
            </a:pPr>
            <a:r>
              <a:rPr lang="zh-CN" altLang="en-US" dirty="0"/>
              <a:t>  可能的匹配集有很复杂的结构</a:t>
            </a:r>
          </a:p>
        </p:txBody>
      </p:sp>
      <p:graphicFrame>
        <p:nvGraphicFramePr>
          <p:cNvPr id="65541" name="Object 4">
            <a:extLst>
              <a:ext uri="{FF2B5EF4-FFF2-40B4-BE49-F238E27FC236}">
                <a16:creationId xmlns:a16="http://schemas.microsoft.com/office/drawing/2014/main" id="{786D0590-85E9-46FB-B35F-DF153F8997AF}"/>
              </a:ext>
            </a:extLst>
          </p:cNvPr>
          <p:cNvGraphicFramePr>
            <a:graphicFrameLocks noChangeAspect="1"/>
          </p:cNvGraphicFramePr>
          <p:nvPr/>
        </p:nvGraphicFramePr>
        <p:xfrm>
          <a:off x="2286000" y="3290888"/>
          <a:ext cx="838200" cy="366712"/>
        </p:xfrm>
        <a:graphic>
          <a:graphicData uri="http://schemas.openxmlformats.org/presentationml/2006/ole">
            <mc:AlternateContent xmlns:mc="http://schemas.openxmlformats.org/markup-compatibility/2006">
              <mc:Choice xmlns:v="urn:schemas-microsoft-com:vml" Requires="v">
                <p:oleObj name="Equation" r:id="rId2" imgW="405872" imgH="177569" progId="Equation.3">
                  <p:embed/>
                </p:oleObj>
              </mc:Choice>
              <mc:Fallback>
                <p:oleObj name="Equation" r:id="rId2" imgW="405872" imgH="177569"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290888"/>
                        <a:ext cx="8382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2" name="Object 5">
            <a:extLst>
              <a:ext uri="{FF2B5EF4-FFF2-40B4-BE49-F238E27FC236}">
                <a16:creationId xmlns:a16="http://schemas.microsoft.com/office/drawing/2014/main" id="{D437C8B6-A4D2-4F66-8149-C5433C10DC84}"/>
              </a:ext>
            </a:extLst>
          </p:cNvPr>
          <p:cNvGraphicFramePr>
            <a:graphicFrameLocks noChangeAspect="1"/>
          </p:cNvGraphicFramePr>
          <p:nvPr/>
        </p:nvGraphicFramePr>
        <p:xfrm>
          <a:off x="4343400" y="3276600"/>
          <a:ext cx="838200" cy="447675"/>
        </p:xfrm>
        <a:graphic>
          <a:graphicData uri="http://schemas.openxmlformats.org/presentationml/2006/ole">
            <mc:AlternateContent xmlns:mc="http://schemas.openxmlformats.org/markup-compatibility/2006">
              <mc:Choice xmlns:v="urn:schemas-microsoft-com:vml" Requires="v">
                <p:oleObj name="Equation" r:id="rId4" imgW="380835" imgH="203112" progId="Equation.3">
                  <p:embed/>
                </p:oleObj>
              </mc:Choice>
              <mc:Fallback>
                <p:oleObj name="Equation" r:id="rId4" imgW="380835" imgH="203112"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3276600"/>
                        <a:ext cx="83820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5D8DFA0-5EEE-419D-91A4-D8B164406EB5}"/>
              </a:ext>
            </a:extLst>
          </p:cNvPr>
          <p:cNvSpPr>
            <a:spLocks noGrp="1"/>
          </p:cNvSpPr>
          <p:nvPr>
            <p:ph type="sldNum" sz="quarter" idx="12"/>
          </p:nvPr>
        </p:nvSpPr>
        <p:spPr/>
        <p:txBody>
          <a:bodyPr/>
          <a:lstStyle/>
          <a:p>
            <a:pPr>
              <a:defRPr/>
            </a:pPr>
            <a:fld id="{1596E374-E103-4059-AB42-6A41BCF42ECE}" type="slidenum">
              <a:rPr lang="zh-CN" altLang="en-US"/>
              <a:pPr>
                <a:defRPr/>
              </a:pPr>
              <a:t>79</a:t>
            </a:fld>
            <a:endParaRPr lang="en-US" altLang="zh-CN"/>
          </a:p>
        </p:txBody>
      </p:sp>
      <p:sp>
        <p:nvSpPr>
          <p:cNvPr id="66563" name="Rectangle 2">
            <a:extLst>
              <a:ext uri="{FF2B5EF4-FFF2-40B4-BE49-F238E27FC236}">
                <a16:creationId xmlns:a16="http://schemas.microsoft.com/office/drawing/2014/main" id="{727FA812-41EC-4430-B573-792E84E37826}"/>
              </a:ext>
            </a:extLst>
          </p:cNvPr>
          <p:cNvSpPr>
            <a:spLocks noGrp="1" noChangeArrowheads="1"/>
          </p:cNvSpPr>
          <p:nvPr>
            <p:ph type="title"/>
          </p:nvPr>
        </p:nvSpPr>
        <p:spPr/>
        <p:txBody>
          <a:bodyPr/>
          <a:lstStyle/>
          <a:p>
            <a:pPr eaLnBrk="1" hangingPunct="1"/>
            <a:r>
              <a:rPr lang="zh-CN" altLang="en-US"/>
              <a:t>1.2.3 二分匹配</a:t>
            </a:r>
          </a:p>
        </p:txBody>
      </p:sp>
      <p:sp>
        <p:nvSpPr>
          <p:cNvPr id="67587" name="Rectangle 3">
            <a:extLst>
              <a:ext uri="{FF2B5EF4-FFF2-40B4-BE49-F238E27FC236}">
                <a16:creationId xmlns:a16="http://schemas.microsoft.com/office/drawing/2014/main" id="{124CCC0F-8878-4281-8038-9CF919674FD2}"/>
              </a:ext>
            </a:extLst>
          </p:cNvPr>
          <p:cNvSpPr>
            <a:spLocks noGrp="1" noChangeArrowheads="1"/>
          </p:cNvSpPr>
          <p:nvPr>
            <p:ph type="body" idx="1"/>
          </p:nvPr>
        </p:nvSpPr>
        <p:spPr>
          <a:xfrm>
            <a:off x="685800" y="1950889"/>
            <a:ext cx="7772400" cy="4114800"/>
          </a:xfrm>
        </p:spPr>
        <p:txBody>
          <a:bodyPr/>
          <a:lstStyle/>
          <a:p>
            <a:pPr eaLnBrk="1" hangingPunct="1">
              <a:buFont typeface="Wingdings" panose="05000000000000000000" pitchFamily="2" charset="2"/>
              <a:buNone/>
            </a:pPr>
            <a:r>
              <a:rPr lang="zh-CN" altLang="en-US" b="1" dirty="0"/>
              <a:t>二分匹配问题</a:t>
            </a:r>
            <a:r>
              <a:rPr lang="zh-CN" altLang="en-US" dirty="0"/>
              <a:t>：</a:t>
            </a:r>
          </a:p>
          <a:p>
            <a:pPr eaLnBrk="1" hangingPunct="1"/>
            <a:r>
              <a:rPr lang="zh-CN" altLang="en-US" dirty="0"/>
              <a:t>给定一个任意的二部图</a:t>
            </a:r>
            <a:r>
              <a:rPr lang="en-US" altLang="zh-CN" dirty="0"/>
              <a:t>G,</a:t>
            </a:r>
            <a:r>
              <a:rPr lang="zh-CN" altLang="en-US" dirty="0"/>
              <a:t>求一个</a:t>
            </a:r>
            <a:r>
              <a:rPr lang="zh-CN" altLang="en-US" dirty="0">
                <a:solidFill>
                  <a:srgbClr val="FF0000"/>
                </a:solidFill>
              </a:rPr>
              <a:t>最大的匹配。</a:t>
            </a:r>
          </a:p>
          <a:p>
            <a:pPr eaLnBrk="1" hangingPunct="1"/>
            <a:endParaRPr lang="zh-CN" altLang="en-US" dirty="0"/>
          </a:p>
          <a:p>
            <a:pPr eaLnBrk="1" hangingPunct="1"/>
            <a:r>
              <a:rPr lang="zh-CN" altLang="en-US" dirty="0"/>
              <a:t>如果|</a:t>
            </a:r>
            <a:r>
              <a:rPr lang="en-US" altLang="zh-CN" dirty="0"/>
              <a:t>X|=|Y|=n,</a:t>
            </a:r>
            <a:r>
              <a:rPr lang="zh-CN" altLang="en-US" dirty="0"/>
              <a:t>那么</a:t>
            </a:r>
            <a:r>
              <a:rPr lang="zh-CN" altLang="en-US" dirty="0">
                <a:solidFill>
                  <a:srgbClr val="FF0000"/>
                </a:solidFill>
              </a:rPr>
              <a:t>当且仅当最大匹配的大小为</a:t>
            </a:r>
            <a:r>
              <a:rPr lang="en-US" altLang="zh-CN" dirty="0">
                <a:solidFill>
                  <a:srgbClr val="FF0000"/>
                </a:solidFill>
              </a:rPr>
              <a:t>n</a:t>
            </a:r>
            <a:r>
              <a:rPr lang="zh-CN" altLang="en-US" dirty="0">
                <a:solidFill>
                  <a:srgbClr val="FF0000"/>
                </a:solidFill>
              </a:rPr>
              <a:t>时</a:t>
            </a:r>
            <a:r>
              <a:rPr lang="zh-CN" altLang="en-US" dirty="0"/>
              <a:t>存在一个</a:t>
            </a:r>
            <a:r>
              <a:rPr lang="zh-CN" altLang="en-US" dirty="0">
                <a:solidFill>
                  <a:srgbClr val="FF0000"/>
                </a:solidFill>
              </a:rPr>
              <a:t>完美匹配</a:t>
            </a:r>
            <a:r>
              <a:rPr lang="en-US" altLang="zh-CN" dirty="0"/>
              <a:t>.</a:t>
            </a:r>
          </a:p>
          <a:p>
            <a:pPr eaLnBrk="1" hangingPunct="1"/>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B498765-32A3-4BC6-8B87-AD11726B23CD}"/>
              </a:ext>
            </a:extLst>
          </p:cNvPr>
          <p:cNvSpPr>
            <a:spLocks noGrp="1"/>
          </p:cNvSpPr>
          <p:nvPr>
            <p:ph type="sldNum" sz="quarter" idx="12"/>
          </p:nvPr>
        </p:nvSpPr>
        <p:spPr/>
        <p:txBody>
          <a:bodyPr/>
          <a:lstStyle/>
          <a:p>
            <a:pPr>
              <a:defRPr/>
            </a:pPr>
            <a:fld id="{4D66ABAE-8D8A-42C8-A5A6-FFD81E29558A}" type="slidenum">
              <a:rPr lang="zh-CN" altLang="en-US"/>
              <a:pPr>
                <a:defRPr/>
              </a:pPr>
              <a:t>80</a:t>
            </a:fld>
            <a:endParaRPr lang="en-US" altLang="zh-CN"/>
          </a:p>
        </p:txBody>
      </p:sp>
      <p:sp>
        <p:nvSpPr>
          <p:cNvPr id="67587" name="Rectangle 2">
            <a:extLst>
              <a:ext uri="{FF2B5EF4-FFF2-40B4-BE49-F238E27FC236}">
                <a16:creationId xmlns:a16="http://schemas.microsoft.com/office/drawing/2014/main" id="{4268A50A-1BAA-425D-AB64-D5C0AB0E38AF}"/>
              </a:ext>
            </a:extLst>
          </p:cNvPr>
          <p:cNvSpPr>
            <a:spLocks noGrp="1" noChangeArrowheads="1"/>
          </p:cNvSpPr>
          <p:nvPr>
            <p:ph type="title"/>
          </p:nvPr>
        </p:nvSpPr>
        <p:spPr/>
        <p:txBody>
          <a:bodyPr/>
          <a:lstStyle/>
          <a:p>
            <a:pPr eaLnBrk="1" hangingPunct="1"/>
            <a:r>
              <a:rPr lang="zh-CN" altLang="en-US"/>
              <a:t>1.2.3 二分匹配</a:t>
            </a:r>
          </a:p>
        </p:txBody>
      </p:sp>
      <p:sp>
        <p:nvSpPr>
          <p:cNvPr id="67588" name="Rectangle 3">
            <a:extLst>
              <a:ext uri="{FF2B5EF4-FFF2-40B4-BE49-F238E27FC236}">
                <a16:creationId xmlns:a16="http://schemas.microsoft.com/office/drawing/2014/main" id="{90CDC788-9697-49A6-90B4-C9B9270BB439}"/>
              </a:ext>
            </a:extLst>
          </p:cNvPr>
          <p:cNvSpPr>
            <a:spLocks noGrp="1" noChangeArrowheads="1"/>
          </p:cNvSpPr>
          <p:nvPr>
            <p:ph type="body" idx="1"/>
          </p:nvPr>
        </p:nvSpPr>
        <p:spPr/>
        <p:txBody>
          <a:bodyPr/>
          <a:lstStyle/>
          <a:p>
            <a:pPr eaLnBrk="1" hangingPunct="1">
              <a:buFont typeface="Wingdings" panose="05000000000000000000" pitchFamily="2" charset="2"/>
              <a:buNone/>
            </a:pPr>
            <a:r>
              <a:rPr lang="zh-CN" altLang="en-US"/>
              <a:t> 例：寻找二分匹配</a:t>
            </a:r>
          </a:p>
        </p:txBody>
      </p:sp>
      <p:graphicFrame>
        <p:nvGraphicFramePr>
          <p:cNvPr id="67589" name="Object 64">
            <a:extLst>
              <a:ext uri="{FF2B5EF4-FFF2-40B4-BE49-F238E27FC236}">
                <a16:creationId xmlns:a16="http://schemas.microsoft.com/office/drawing/2014/main" id="{DD0B8EDD-23F4-40EA-B359-57457A999C43}"/>
              </a:ext>
            </a:extLst>
          </p:cNvPr>
          <p:cNvGraphicFramePr>
            <a:graphicFrameLocks noChangeAspect="1"/>
          </p:cNvGraphicFramePr>
          <p:nvPr/>
        </p:nvGraphicFramePr>
        <p:xfrm>
          <a:off x="2438400" y="2667000"/>
          <a:ext cx="3657600" cy="3617913"/>
        </p:xfrm>
        <a:graphic>
          <a:graphicData uri="http://schemas.openxmlformats.org/presentationml/2006/ole">
            <mc:AlternateContent xmlns:mc="http://schemas.openxmlformats.org/markup-compatibility/2006">
              <mc:Choice xmlns:v="urn:schemas-microsoft-com:vml" Requires="v">
                <p:oleObj name="BMP 图像" r:id="rId2" imgW="3200000" imgH="3467584" progId="Paint.Picture">
                  <p:embed/>
                </p:oleObj>
              </mc:Choice>
              <mc:Fallback>
                <p:oleObj name="BMP 图像" r:id="rId2" imgW="3200000" imgH="3467584" progId="Paint.Picture">
                  <p:embed/>
                  <p:pic>
                    <p:nvPicPr>
                      <p:cNvPr id="0" name="Object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667000"/>
                        <a:ext cx="3657600" cy="3617913"/>
                      </a:xfrm>
                      <a:prstGeom prst="rect">
                        <a:avLst/>
                      </a:prstGeom>
                      <a:noFill/>
                      <a:ln>
                        <a:noFill/>
                      </a:ln>
                      <a:effectLst/>
                      <a:extLst>
                        <a:ext uri="{909E8E84-426E-40DD-AFC4-6F175D3DCCD1}">
                          <a14:hiddenFill xmlns:a14="http://schemas.microsoft.com/office/drawing/2010/main">
                            <a:solidFill>
                              <a:srgbClr val="003399"/>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文本框 2">
            <a:extLst>
              <a:ext uri="{FF2B5EF4-FFF2-40B4-BE49-F238E27FC236}">
                <a16:creationId xmlns:a16="http://schemas.microsoft.com/office/drawing/2014/main" id="{6D140791-A3A8-9E0C-6962-57E58CF258C2}"/>
              </a:ext>
            </a:extLst>
          </p:cNvPr>
          <p:cNvSpPr txBox="1"/>
          <p:nvPr/>
        </p:nvSpPr>
        <p:spPr>
          <a:xfrm>
            <a:off x="6781800" y="2921684"/>
            <a:ext cx="1390600" cy="3108543"/>
          </a:xfrm>
          <a:prstGeom prst="rect">
            <a:avLst/>
          </a:prstGeom>
          <a:noFill/>
        </p:spPr>
        <p:txBody>
          <a:bodyPr wrap="square">
            <a:spAutoFit/>
          </a:bodyPr>
          <a:lstStyle/>
          <a:p>
            <a:pPr algn="just" eaLnBrk="1" hangingPunct="1"/>
            <a:r>
              <a:rPr lang="zh-CN" altLang="en-US" sz="2800" dirty="0">
                <a:solidFill>
                  <a:srgbClr val="FF0000"/>
                </a:solidFill>
              </a:rPr>
              <a:t>匹配： 每个男人和每个女人至多属于一个有序对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6F22D54-3BBD-41B0-B407-D00E07B60E15}"/>
              </a:ext>
            </a:extLst>
          </p:cNvPr>
          <p:cNvSpPr>
            <a:spLocks noGrp="1"/>
          </p:cNvSpPr>
          <p:nvPr>
            <p:ph type="sldNum" sz="quarter" idx="12"/>
          </p:nvPr>
        </p:nvSpPr>
        <p:spPr/>
        <p:txBody>
          <a:bodyPr/>
          <a:lstStyle/>
          <a:p>
            <a:pPr>
              <a:defRPr/>
            </a:pPr>
            <a:fld id="{E3466DFD-F531-48E6-B21F-D6105104789F}" type="slidenum">
              <a:rPr lang="zh-CN" altLang="en-US"/>
              <a:pPr>
                <a:defRPr/>
              </a:pPr>
              <a:t>81</a:t>
            </a:fld>
            <a:endParaRPr lang="en-US" altLang="zh-CN"/>
          </a:p>
        </p:txBody>
      </p:sp>
      <p:sp>
        <p:nvSpPr>
          <p:cNvPr id="69635" name="Rectangle 2">
            <a:extLst>
              <a:ext uri="{FF2B5EF4-FFF2-40B4-BE49-F238E27FC236}">
                <a16:creationId xmlns:a16="http://schemas.microsoft.com/office/drawing/2014/main" id="{FB6844ED-4F12-4445-80FE-82836DB35495}"/>
              </a:ext>
            </a:extLst>
          </p:cNvPr>
          <p:cNvSpPr>
            <a:spLocks noGrp="1" noChangeArrowheads="1"/>
          </p:cNvSpPr>
          <p:nvPr>
            <p:ph type="title"/>
          </p:nvPr>
        </p:nvSpPr>
        <p:spPr/>
        <p:txBody>
          <a:bodyPr/>
          <a:lstStyle/>
          <a:p>
            <a:pPr eaLnBrk="1" hangingPunct="1"/>
            <a:r>
              <a:rPr lang="zh-CN" altLang="en-US"/>
              <a:t>1.2.3 二分匹配</a:t>
            </a:r>
            <a:endParaRPr lang="en-US" altLang="zh-CN"/>
          </a:p>
        </p:txBody>
      </p:sp>
      <p:sp>
        <p:nvSpPr>
          <p:cNvPr id="69636" name="Rectangle 3">
            <a:extLst>
              <a:ext uri="{FF2B5EF4-FFF2-40B4-BE49-F238E27FC236}">
                <a16:creationId xmlns:a16="http://schemas.microsoft.com/office/drawing/2014/main" id="{34810881-40AB-4EC6-95BE-57D513E90617}"/>
              </a:ext>
            </a:extLst>
          </p:cNvPr>
          <p:cNvSpPr>
            <a:spLocks noGrp="1" noChangeArrowheads="1"/>
          </p:cNvSpPr>
          <p:nvPr>
            <p:ph type="body" idx="1"/>
          </p:nvPr>
        </p:nvSpPr>
        <p:spPr>
          <a:xfrm>
            <a:off x="914400" y="2017218"/>
            <a:ext cx="7772400" cy="4114800"/>
          </a:xfrm>
        </p:spPr>
        <p:txBody>
          <a:bodyPr/>
          <a:lstStyle/>
          <a:p>
            <a:pPr eaLnBrk="1" hangingPunct="1"/>
            <a:r>
              <a:rPr lang="zh-CN" altLang="en-US" dirty="0"/>
              <a:t>选择性的</a:t>
            </a:r>
            <a:r>
              <a:rPr lang="zh-CN" altLang="en-US" dirty="0">
                <a:solidFill>
                  <a:srgbClr val="FF0000"/>
                </a:solidFill>
              </a:rPr>
              <a:t>回溯</a:t>
            </a:r>
            <a:r>
              <a:rPr lang="zh-CN" altLang="en-US" dirty="0"/>
              <a:t>，归纳的建立越来越大的匹配。这种处理叫做</a:t>
            </a:r>
            <a:r>
              <a:rPr lang="zh-CN" altLang="en-US" b="1" dirty="0">
                <a:solidFill>
                  <a:srgbClr val="FF0000"/>
                </a:solidFill>
              </a:rPr>
              <a:t>增广</a:t>
            </a:r>
            <a:r>
              <a:rPr lang="zh-CN" altLang="en-US" dirty="0"/>
              <a:t>。</a:t>
            </a:r>
            <a:r>
              <a:rPr lang="zh-CN" altLang="en-US" dirty="0">
                <a:solidFill>
                  <a:srgbClr val="FF0000"/>
                </a:solidFill>
              </a:rPr>
              <a:t>网络流问题中，增广构成了其中的核心要素</a:t>
            </a:r>
            <a:r>
              <a:rPr lang="zh-CN" altLang="en-US" dirty="0"/>
              <a:t>。</a:t>
            </a:r>
            <a:endParaRPr lang="en-US" altLang="zh-CN" dirty="0"/>
          </a:p>
          <a:p>
            <a:pPr eaLnBrk="1" hangingPunct="1"/>
            <a:r>
              <a:rPr lang="zh-CN" altLang="en-US" dirty="0"/>
              <a:t>解决二部图的二分匹配问题常见的方法有</a:t>
            </a:r>
            <a:r>
              <a:rPr lang="zh-CN" altLang="en-US" dirty="0">
                <a:solidFill>
                  <a:srgbClr val="FF0000"/>
                </a:solidFill>
              </a:rPr>
              <a:t>匈牙利算法</a:t>
            </a:r>
            <a:r>
              <a:rPr lang="zh-CN" altLang="en-US" dirty="0"/>
              <a:t>和</a:t>
            </a:r>
            <a:r>
              <a:rPr lang="zh-CN" altLang="en-US" dirty="0">
                <a:solidFill>
                  <a:srgbClr val="FF0000"/>
                </a:solidFill>
              </a:rPr>
              <a:t>基于最大流的算法。</a:t>
            </a:r>
            <a:endParaRPr lang="en-US" altLang="zh-CN" dirty="0">
              <a:solidFill>
                <a:srgbClr val="FF0000"/>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5E279E6-ECF9-44D7-917F-B86B06BF27F0}"/>
              </a:ext>
            </a:extLst>
          </p:cNvPr>
          <p:cNvSpPr>
            <a:spLocks noGrp="1"/>
          </p:cNvSpPr>
          <p:nvPr>
            <p:ph type="sldNum" sz="quarter" idx="12"/>
          </p:nvPr>
        </p:nvSpPr>
        <p:spPr/>
        <p:txBody>
          <a:bodyPr/>
          <a:lstStyle/>
          <a:p>
            <a:pPr>
              <a:defRPr/>
            </a:pPr>
            <a:fld id="{CA0B15D8-9F89-4D9E-8431-AA0ED9A115F3}" type="slidenum">
              <a:rPr lang="zh-CN" altLang="en-US"/>
              <a:pPr>
                <a:defRPr/>
              </a:pPr>
              <a:t>82</a:t>
            </a:fld>
            <a:endParaRPr lang="en-US" altLang="zh-CN"/>
          </a:p>
        </p:txBody>
      </p:sp>
      <p:sp>
        <p:nvSpPr>
          <p:cNvPr id="68611" name="Rectangle 2">
            <a:extLst>
              <a:ext uri="{FF2B5EF4-FFF2-40B4-BE49-F238E27FC236}">
                <a16:creationId xmlns:a16="http://schemas.microsoft.com/office/drawing/2014/main" id="{8D1E1E92-C14E-4A77-BBBD-7F7A6CBE519F}"/>
              </a:ext>
            </a:extLst>
          </p:cNvPr>
          <p:cNvSpPr>
            <a:spLocks noGrp="1" noChangeArrowheads="1"/>
          </p:cNvSpPr>
          <p:nvPr>
            <p:ph type="title"/>
          </p:nvPr>
        </p:nvSpPr>
        <p:spPr/>
        <p:txBody>
          <a:bodyPr/>
          <a:lstStyle/>
          <a:p>
            <a:pPr eaLnBrk="1" hangingPunct="1"/>
            <a:r>
              <a:rPr lang="zh-CN" altLang="en-US"/>
              <a:t>1.2.3 二分匹配</a:t>
            </a:r>
          </a:p>
        </p:txBody>
      </p:sp>
      <p:graphicFrame>
        <p:nvGraphicFramePr>
          <p:cNvPr id="68612" name="Object 4">
            <a:extLst>
              <a:ext uri="{FF2B5EF4-FFF2-40B4-BE49-F238E27FC236}">
                <a16:creationId xmlns:a16="http://schemas.microsoft.com/office/drawing/2014/main" id="{6000679A-494C-44D6-943F-8C8B2AF1562B}"/>
              </a:ext>
            </a:extLst>
          </p:cNvPr>
          <p:cNvGraphicFramePr>
            <a:graphicFrameLocks noGrp="1" noChangeAspect="1"/>
          </p:cNvGraphicFramePr>
          <p:nvPr>
            <p:ph type="body" idx="1"/>
          </p:nvPr>
        </p:nvGraphicFramePr>
        <p:xfrm>
          <a:off x="2438400" y="2133600"/>
          <a:ext cx="3652838" cy="4114800"/>
        </p:xfrm>
        <a:graphic>
          <a:graphicData uri="http://schemas.openxmlformats.org/presentationml/2006/ole">
            <mc:AlternateContent xmlns:mc="http://schemas.openxmlformats.org/markup-compatibility/2006">
              <mc:Choice xmlns:v="urn:schemas-microsoft-com:vml" Requires="v">
                <p:oleObj name="BMP 图像" r:id="rId2" imgW="2257740" imgH="2542857" progId="Paint.Picture">
                  <p:embed/>
                </p:oleObj>
              </mc:Choice>
              <mc:Fallback>
                <p:oleObj name="BMP 图像" r:id="rId2" imgW="2257740" imgH="2542857"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133600"/>
                        <a:ext cx="3652838" cy="411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70049424-5CE3-491C-9888-35513347ACDF}"/>
              </a:ext>
            </a:extLst>
          </p:cNvPr>
          <p:cNvSpPr>
            <a:spLocks noGrp="1"/>
          </p:cNvSpPr>
          <p:nvPr>
            <p:ph type="sldNum" sz="quarter" idx="12"/>
          </p:nvPr>
        </p:nvSpPr>
        <p:spPr/>
        <p:txBody>
          <a:bodyPr/>
          <a:lstStyle/>
          <a:p>
            <a:pPr>
              <a:defRPr/>
            </a:pPr>
            <a:fld id="{A2561A68-80E0-4E65-8A55-4F62333EAB14}" type="slidenum">
              <a:rPr lang="zh-CN" altLang="en-US"/>
              <a:pPr>
                <a:defRPr/>
              </a:pPr>
              <a:t>83</a:t>
            </a:fld>
            <a:endParaRPr lang="en-US" altLang="zh-CN"/>
          </a:p>
        </p:txBody>
      </p:sp>
      <p:sp>
        <p:nvSpPr>
          <p:cNvPr id="70659" name="Rectangle 2">
            <a:extLst>
              <a:ext uri="{FF2B5EF4-FFF2-40B4-BE49-F238E27FC236}">
                <a16:creationId xmlns:a16="http://schemas.microsoft.com/office/drawing/2014/main" id="{4B1B8C41-DC71-492D-9D7A-C47BFE9FB4AD}"/>
              </a:ext>
            </a:extLst>
          </p:cNvPr>
          <p:cNvSpPr>
            <a:spLocks noGrp="1" noChangeArrowheads="1"/>
          </p:cNvSpPr>
          <p:nvPr>
            <p:ph type="title"/>
          </p:nvPr>
        </p:nvSpPr>
        <p:spPr/>
        <p:txBody>
          <a:bodyPr/>
          <a:lstStyle/>
          <a:p>
            <a:pPr eaLnBrk="1" hangingPunct="1"/>
            <a:r>
              <a:rPr lang="zh-CN" altLang="en-US"/>
              <a:t>1.2.4 独立集</a:t>
            </a:r>
            <a:endParaRPr lang="en-US" altLang="zh-CN"/>
          </a:p>
        </p:txBody>
      </p:sp>
      <p:sp>
        <p:nvSpPr>
          <p:cNvPr id="70660" name="Rectangle 3">
            <a:extLst>
              <a:ext uri="{FF2B5EF4-FFF2-40B4-BE49-F238E27FC236}">
                <a16:creationId xmlns:a16="http://schemas.microsoft.com/office/drawing/2014/main" id="{E0C8C817-019B-4489-BBBB-934649D23A0B}"/>
              </a:ext>
            </a:extLst>
          </p:cNvPr>
          <p:cNvSpPr>
            <a:spLocks noGrp="1" noChangeArrowheads="1"/>
          </p:cNvSpPr>
          <p:nvPr>
            <p:ph type="body" idx="1"/>
          </p:nvPr>
        </p:nvSpPr>
        <p:spPr>
          <a:xfrm>
            <a:off x="685800" y="2006071"/>
            <a:ext cx="7772400" cy="4114800"/>
          </a:xfrm>
        </p:spPr>
        <p:txBody>
          <a:bodyPr/>
          <a:lstStyle/>
          <a:p>
            <a:pPr eaLnBrk="1" hangingPunct="1"/>
            <a:r>
              <a:rPr lang="zh-CN" altLang="en-US" dirty="0"/>
              <a:t>给定图</a:t>
            </a:r>
            <a:r>
              <a:rPr lang="en-US" altLang="zh-CN" dirty="0"/>
              <a:t>G=(V,E),</a:t>
            </a:r>
            <a:r>
              <a:rPr lang="zh-CN" altLang="en-US" dirty="0"/>
              <a:t> 如果在</a:t>
            </a:r>
            <a:r>
              <a:rPr lang="en-US" altLang="zh-CN" dirty="0"/>
              <a:t>S</a:t>
            </a:r>
            <a:r>
              <a:rPr lang="zh-CN" altLang="en-US" dirty="0"/>
              <a:t>中</a:t>
            </a:r>
            <a:r>
              <a:rPr lang="zh-CN" altLang="en-US" dirty="0">
                <a:solidFill>
                  <a:srgbClr val="FF0000"/>
                </a:solidFill>
              </a:rPr>
              <a:t>没有两个节点与同一条边相交</a:t>
            </a:r>
            <a:r>
              <a:rPr lang="zh-CN" altLang="en-US" dirty="0"/>
              <a:t>，结点集合         是</a:t>
            </a:r>
            <a:r>
              <a:rPr lang="zh-CN" altLang="en-US" dirty="0">
                <a:solidFill>
                  <a:schemeClr val="hlink"/>
                </a:solidFill>
              </a:rPr>
              <a:t>独立</a:t>
            </a:r>
            <a:r>
              <a:rPr lang="zh-CN" altLang="en-US" dirty="0"/>
              <a:t>的。</a:t>
            </a:r>
          </a:p>
          <a:p>
            <a:pPr eaLnBrk="1" hangingPunct="1">
              <a:buFont typeface="Wingdings" panose="05000000000000000000" pitchFamily="2" charset="2"/>
              <a:buNone/>
            </a:pPr>
            <a:r>
              <a:rPr lang="zh-CN" altLang="en-US" dirty="0"/>
              <a:t> </a:t>
            </a:r>
          </a:p>
          <a:p>
            <a:pPr eaLnBrk="1" hangingPunct="1">
              <a:buFont typeface="Wingdings" panose="05000000000000000000" pitchFamily="2" charset="2"/>
              <a:buNone/>
            </a:pPr>
            <a:r>
              <a:rPr lang="zh-CN" altLang="en-US" dirty="0">
                <a:solidFill>
                  <a:schemeClr val="hlink"/>
                </a:solidFill>
              </a:rPr>
              <a:t>独立集问题</a:t>
            </a:r>
            <a:r>
              <a:rPr lang="zh-CN" altLang="en-US" dirty="0"/>
              <a:t>：给定</a:t>
            </a:r>
            <a:r>
              <a:rPr lang="en-US" altLang="zh-CN" dirty="0"/>
              <a:t>G, </a:t>
            </a:r>
            <a:r>
              <a:rPr lang="zh-CN" altLang="en-US" dirty="0"/>
              <a:t>找一个最大的独立集。</a:t>
            </a:r>
            <a:endParaRPr lang="en-US" altLang="zh-CN" dirty="0"/>
          </a:p>
        </p:txBody>
      </p:sp>
      <p:graphicFrame>
        <p:nvGraphicFramePr>
          <p:cNvPr id="70661" name="Object 4">
            <a:extLst>
              <a:ext uri="{FF2B5EF4-FFF2-40B4-BE49-F238E27FC236}">
                <a16:creationId xmlns:a16="http://schemas.microsoft.com/office/drawing/2014/main" id="{DBD0EB91-72AB-442D-A475-E5856486641E}"/>
              </a:ext>
            </a:extLst>
          </p:cNvPr>
          <p:cNvGraphicFramePr>
            <a:graphicFrameLocks noChangeAspect="1"/>
          </p:cNvGraphicFramePr>
          <p:nvPr>
            <p:extLst>
              <p:ext uri="{D42A27DB-BD31-4B8C-83A1-F6EECF244321}">
                <p14:modId xmlns:p14="http://schemas.microsoft.com/office/powerpoint/2010/main" val="2360615005"/>
              </p:ext>
            </p:extLst>
          </p:nvPr>
        </p:nvGraphicFramePr>
        <p:xfrm>
          <a:off x="6084168" y="2564904"/>
          <a:ext cx="1008112" cy="458551"/>
        </p:xfrm>
        <a:graphic>
          <a:graphicData uri="http://schemas.openxmlformats.org/presentationml/2006/ole">
            <mc:AlternateContent xmlns:mc="http://schemas.openxmlformats.org/markup-compatibility/2006">
              <mc:Choice xmlns:v="urn:schemas-microsoft-com:vml" Requires="v">
                <p:oleObj name="Equation" r:id="rId2" imgW="419100" imgH="190500" progId="Equation.3">
                  <p:embed/>
                </p:oleObj>
              </mc:Choice>
              <mc:Fallback>
                <p:oleObj name="Equation" r:id="rId2" imgW="419100" imgH="1905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2564904"/>
                        <a:ext cx="1008112" cy="458551"/>
                      </a:xfrm>
                      <a:prstGeom prst="rect">
                        <a:avLst/>
                      </a:prstGeom>
                      <a:noFill/>
                      <a:ln>
                        <a:noFill/>
                      </a:ln>
                      <a:effectLst/>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5">
            <a:extLst>
              <a:ext uri="{FF2B5EF4-FFF2-40B4-BE49-F238E27FC236}">
                <a16:creationId xmlns:a16="http://schemas.microsoft.com/office/drawing/2014/main" id="{3FCAC750-D14B-4897-929B-79FF8658BB34}"/>
              </a:ext>
            </a:extLst>
          </p:cNvPr>
          <p:cNvSpPr>
            <a:spLocks noGrp="1"/>
          </p:cNvSpPr>
          <p:nvPr>
            <p:ph type="sldNum" sz="quarter" idx="12"/>
          </p:nvPr>
        </p:nvSpPr>
        <p:spPr/>
        <p:txBody>
          <a:bodyPr/>
          <a:lstStyle/>
          <a:p>
            <a:pPr>
              <a:defRPr/>
            </a:pPr>
            <a:fld id="{CEBEB8A5-1D1E-4FE3-81EF-BF63BB9FDE39}" type="slidenum">
              <a:rPr lang="zh-CN" altLang="en-US"/>
              <a:pPr>
                <a:defRPr/>
              </a:pPr>
              <a:t>84</a:t>
            </a:fld>
            <a:endParaRPr lang="en-US" altLang="zh-CN"/>
          </a:p>
        </p:txBody>
      </p:sp>
      <p:sp>
        <p:nvSpPr>
          <p:cNvPr id="71683" name="Rectangle 2">
            <a:extLst>
              <a:ext uri="{FF2B5EF4-FFF2-40B4-BE49-F238E27FC236}">
                <a16:creationId xmlns:a16="http://schemas.microsoft.com/office/drawing/2014/main" id="{6AA59BAC-D64F-44F6-A79A-716224C8E351}"/>
              </a:ext>
            </a:extLst>
          </p:cNvPr>
          <p:cNvSpPr>
            <a:spLocks noGrp="1" noChangeArrowheads="1"/>
          </p:cNvSpPr>
          <p:nvPr>
            <p:ph type="title"/>
          </p:nvPr>
        </p:nvSpPr>
        <p:spPr/>
        <p:txBody>
          <a:bodyPr/>
          <a:lstStyle/>
          <a:p>
            <a:pPr eaLnBrk="1" hangingPunct="1"/>
            <a:r>
              <a:rPr lang="zh-CN" altLang="en-US"/>
              <a:t>1.2.4 独立集</a:t>
            </a:r>
          </a:p>
        </p:txBody>
      </p:sp>
      <p:sp>
        <p:nvSpPr>
          <p:cNvPr id="71684" name="Rectangle 3">
            <a:extLst>
              <a:ext uri="{FF2B5EF4-FFF2-40B4-BE49-F238E27FC236}">
                <a16:creationId xmlns:a16="http://schemas.microsoft.com/office/drawing/2014/main" id="{F64FC24B-C2FB-4928-B9ED-91C3F3451769}"/>
              </a:ext>
            </a:extLst>
          </p:cNvPr>
          <p:cNvSpPr>
            <a:spLocks noGrp="1" noChangeArrowheads="1"/>
          </p:cNvSpPr>
          <p:nvPr>
            <p:ph type="body" idx="1"/>
          </p:nvPr>
        </p:nvSpPr>
        <p:spPr/>
        <p:txBody>
          <a:bodyPr/>
          <a:lstStyle/>
          <a:p>
            <a:pPr eaLnBrk="1" hangingPunct="1"/>
            <a:r>
              <a:rPr lang="zh-CN" altLang="en-US" dirty="0"/>
              <a:t>例：寻找最大的独立集</a:t>
            </a:r>
            <a:endParaRPr lang="en-US" altLang="zh-CN" dirty="0"/>
          </a:p>
        </p:txBody>
      </p:sp>
      <p:sp>
        <p:nvSpPr>
          <p:cNvPr id="71685" name="Oval 4">
            <a:extLst>
              <a:ext uri="{FF2B5EF4-FFF2-40B4-BE49-F238E27FC236}">
                <a16:creationId xmlns:a16="http://schemas.microsoft.com/office/drawing/2014/main" id="{AAAB6592-A770-4F80-B07A-6C0944F21C2C}"/>
              </a:ext>
            </a:extLst>
          </p:cNvPr>
          <p:cNvSpPr>
            <a:spLocks noChangeAspect="1" noChangeArrowheads="1"/>
          </p:cNvSpPr>
          <p:nvPr/>
        </p:nvSpPr>
        <p:spPr bwMode="auto">
          <a:xfrm>
            <a:off x="3514427" y="4843661"/>
            <a:ext cx="280988" cy="285750"/>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a:latin typeface="Comic Sans MS" panose="030F0702030302020204" pitchFamily="66" charset="0"/>
              </a:rPr>
              <a:t>6</a:t>
            </a:r>
          </a:p>
        </p:txBody>
      </p:sp>
      <p:sp>
        <p:nvSpPr>
          <p:cNvPr id="71686" name="Oval 5">
            <a:extLst>
              <a:ext uri="{FF2B5EF4-FFF2-40B4-BE49-F238E27FC236}">
                <a16:creationId xmlns:a16="http://schemas.microsoft.com/office/drawing/2014/main" id="{E735F66A-020E-4988-B716-11F71CA0260B}"/>
              </a:ext>
            </a:extLst>
          </p:cNvPr>
          <p:cNvSpPr>
            <a:spLocks noChangeAspect="1" noChangeArrowheads="1"/>
          </p:cNvSpPr>
          <p:nvPr/>
        </p:nvSpPr>
        <p:spPr bwMode="auto">
          <a:xfrm>
            <a:off x="5582940" y="2827536"/>
            <a:ext cx="282575" cy="287338"/>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a:latin typeface="Comic Sans MS" panose="030F0702030302020204" pitchFamily="66" charset="0"/>
              </a:rPr>
              <a:t>2</a:t>
            </a:r>
          </a:p>
        </p:txBody>
      </p:sp>
      <p:sp>
        <p:nvSpPr>
          <p:cNvPr id="71687" name="Oval 6">
            <a:extLst>
              <a:ext uri="{FF2B5EF4-FFF2-40B4-BE49-F238E27FC236}">
                <a16:creationId xmlns:a16="http://schemas.microsoft.com/office/drawing/2014/main" id="{EAB66CF8-0160-4EEA-BF3A-32589A039395}"/>
              </a:ext>
            </a:extLst>
          </p:cNvPr>
          <p:cNvSpPr>
            <a:spLocks noChangeAspect="1" noChangeArrowheads="1"/>
          </p:cNvSpPr>
          <p:nvPr/>
        </p:nvSpPr>
        <p:spPr bwMode="auto">
          <a:xfrm>
            <a:off x="6359227" y="3783211"/>
            <a:ext cx="282575" cy="287338"/>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a:latin typeface="Comic Sans MS" panose="030F0702030302020204" pitchFamily="66" charset="0"/>
              </a:rPr>
              <a:t>5</a:t>
            </a:r>
          </a:p>
        </p:txBody>
      </p:sp>
      <p:sp>
        <p:nvSpPr>
          <p:cNvPr id="71688" name="Oval 7">
            <a:extLst>
              <a:ext uri="{FF2B5EF4-FFF2-40B4-BE49-F238E27FC236}">
                <a16:creationId xmlns:a16="http://schemas.microsoft.com/office/drawing/2014/main" id="{AE0CB262-82FB-43DB-95AA-132BB118C7CA}"/>
              </a:ext>
            </a:extLst>
          </p:cNvPr>
          <p:cNvSpPr>
            <a:spLocks noChangeAspect="1" noChangeArrowheads="1"/>
          </p:cNvSpPr>
          <p:nvPr/>
        </p:nvSpPr>
        <p:spPr bwMode="auto">
          <a:xfrm>
            <a:off x="3133427" y="2854524"/>
            <a:ext cx="280988" cy="287337"/>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a:latin typeface="Comic Sans MS" panose="030F0702030302020204" pitchFamily="66" charset="0"/>
              </a:rPr>
              <a:t>1</a:t>
            </a:r>
          </a:p>
        </p:txBody>
      </p:sp>
      <p:cxnSp>
        <p:nvCxnSpPr>
          <p:cNvPr id="71689" name="AutoShape 8">
            <a:extLst>
              <a:ext uri="{FF2B5EF4-FFF2-40B4-BE49-F238E27FC236}">
                <a16:creationId xmlns:a16="http://schemas.microsoft.com/office/drawing/2014/main" id="{16BBFD7F-615D-4636-BB9A-EB36C3351081}"/>
              </a:ext>
            </a:extLst>
          </p:cNvPr>
          <p:cNvCxnSpPr>
            <a:cxnSpLocks noChangeShapeType="1"/>
            <a:stCxn id="71694" idx="4"/>
            <a:endCxn id="71691" idx="1"/>
          </p:cNvCxnSpPr>
          <p:nvPr/>
        </p:nvCxnSpPr>
        <p:spPr bwMode="auto">
          <a:xfrm>
            <a:off x="5232102" y="4070549"/>
            <a:ext cx="479425" cy="773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690" name="AutoShape 9">
            <a:extLst>
              <a:ext uri="{FF2B5EF4-FFF2-40B4-BE49-F238E27FC236}">
                <a16:creationId xmlns:a16="http://schemas.microsoft.com/office/drawing/2014/main" id="{6321C186-0D74-42FA-9B5F-02BBEF1BA4A7}"/>
              </a:ext>
            </a:extLst>
          </p:cNvPr>
          <p:cNvCxnSpPr>
            <a:cxnSpLocks noChangeShapeType="1"/>
          </p:cNvCxnSpPr>
          <p:nvPr/>
        </p:nvCxnSpPr>
        <p:spPr bwMode="auto">
          <a:xfrm flipV="1">
            <a:off x="3425527" y="2968824"/>
            <a:ext cx="2168525" cy="269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1691" name="Oval 10">
            <a:extLst>
              <a:ext uri="{FF2B5EF4-FFF2-40B4-BE49-F238E27FC236}">
                <a16:creationId xmlns:a16="http://schemas.microsoft.com/office/drawing/2014/main" id="{A17A4E5F-F57C-4D3D-AED5-235B60397C13}"/>
              </a:ext>
            </a:extLst>
          </p:cNvPr>
          <p:cNvSpPr>
            <a:spLocks noChangeAspect="1" noChangeArrowheads="1"/>
          </p:cNvSpPr>
          <p:nvPr/>
        </p:nvSpPr>
        <p:spPr bwMode="auto">
          <a:xfrm>
            <a:off x="5670252" y="4802386"/>
            <a:ext cx="280988" cy="284163"/>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dirty="0">
                <a:latin typeface="Comic Sans MS" panose="030F0702030302020204" pitchFamily="66" charset="0"/>
              </a:rPr>
              <a:t>7</a:t>
            </a:r>
          </a:p>
        </p:txBody>
      </p:sp>
      <p:cxnSp>
        <p:nvCxnSpPr>
          <p:cNvPr id="71692" name="AutoShape 11">
            <a:extLst>
              <a:ext uri="{FF2B5EF4-FFF2-40B4-BE49-F238E27FC236}">
                <a16:creationId xmlns:a16="http://schemas.microsoft.com/office/drawing/2014/main" id="{C009C856-F319-4041-8F17-85B320190761}"/>
              </a:ext>
            </a:extLst>
          </p:cNvPr>
          <p:cNvCxnSpPr>
            <a:cxnSpLocks noChangeShapeType="1"/>
            <a:stCxn id="71688" idx="3"/>
            <a:endCxn id="71693" idx="0"/>
          </p:cNvCxnSpPr>
          <p:nvPr/>
        </p:nvCxnSpPr>
        <p:spPr bwMode="auto">
          <a:xfrm flipH="1">
            <a:off x="2855615" y="3100586"/>
            <a:ext cx="319087" cy="9747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1693" name="Oval 12">
            <a:extLst>
              <a:ext uri="{FF2B5EF4-FFF2-40B4-BE49-F238E27FC236}">
                <a16:creationId xmlns:a16="http://schemas.microsoft.com/office/drawing/2014/main" id="{91482C0F-03E1-4905-A1AA-41D2CC0B3D90}"/>
              </a:ext>
            </a:extLst>
          </p:cNvPr>
          <p:cNvSpPr>
            <a:spLocks noChangeAspect="1" noChangeArrowheads="1"/>
          </p:cNvSpPr>
          <p:nvPr/>
        </p:nvSpPr>
        <p:spPr bwMode="auto">
          <a:xfrm>
            <a:off x="2714327" y="4075311"/>
            <a:ext cx="282575" cy="287338"/>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a:latin typeface="Comic Sans MS" panose="030F0702030302020204" pitchFamily="66" charset="0"/>
              </a:rPr>
              <a:t>3</a:t>
            </a:r>
          </a:p>
        </p:txBody>
      </p:sp>
      <p:sp>
        <p:nvSpPr>
          <p:cNvPr id="71694" name="Oval 13">
            <a:extLst>
              <a:ext uri="{FF2B5EF4-FFF2-40B4-BE49-F238E27FC236}">
                <a16:creationId xmlns:a16="http://schemas.microsoft.com/office/drawing/2014/main" id="{25F05900-CB7F-4163-ACDF-53063F3E4196}"/>
              </a:ext>
            </a:extLst>
          </p:cNvPr>
          <p:cNvSpPr>
            <a:spLocks noChangeAspect="1" noChangeArrowheads="1"/>
          </p:cNvSpPr>
          <p:nvPr/>
        </p:nvSpPr>
        <p:spPr bwMode="auto">
          <a:xfrm>
            <a:off x="5089227" y="3783211"/>
            <a:ext cx="282575" cy="287338"/>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a:latin typeface="Comic Sans MS" panose="030F0702030302020204" pitchFamily="66" charset="0"/>
              </a:rPr>
              <a:t>4</a:t>
            </a:r>
          </a:p>
        </p:txBody>
      </p:sp>
      <p:cxnSp>
        <p:nvCxnSpPr>
          <p:cNvPr id="71695" name="AutoShape 14">
            <a:extLst>
              <a:ext uri="{FF2B5EF4-FFF2-40B4-BE49-F238E27FC236}">
                <a16:creationId xmlns:a16="http://schemas.microsoft.com/office/drawing/2014/main" id="{123CA108-2DFA-40D1-BA1B-5B490FEE8127}"/>
              </a:ext>
            </a:extLst>
          </p:cNvPr>
          <p:cNvCxnSpPr>
            <a:cxnSpLocks noChangeShapeType="1"/>
            <a:stCxn id="71693" idx="5"/>
            <a:endCxn id="71685" idx="1"/>
          </p:cNvCxnSpPr>
          <p:nvPr/>
        </p:nvCxnSpPr>
        <p:spPr bwMode="auto">
          <a:xfrm>
            <a:off x="2955627" y="4321374"/>
            <a:ext cx="600075" cy="5651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696" name="AutoShape 15">
            <a:extLst>
              <a:ext uri="{FF2B5EF4-FFF2-40B4-BE49-F238E27FC236}">
                <a16:creationId xmlns:a16="http://schemas.microsoft.com/office/drawing/2014/main" id="{78F5CF65-4C21-4099-B956-F0BC4281E2AC}"/>
              </a:ext>
            </a:extLst>
          </p:cNvPr>
          <p:cNvCxnSpPr>
            <a:cxnSpLocks noChangeShapeType="1"/>
            <a:stCxn id="71694" idx="0"/>
            <a:endCxn id="71686" idx="4"/>
          </p:cNvCxnSpPr>
          <p:nvPr/>
        </p:nvCxnSpPr>
        <p:spPr bwMode="auto">
          <a:xfrm flipV="1">
            <a:off x="5232102" y="3114874"/>
            <a:ext cx="493713" cy="6683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697" name="AutoShape 16">
            <a:extLst>
              <a:ext uri="{FF2B5EF4-FFF2-40B4-BE49-F238E27FC236}">
                <a16:creationId xmlns:a16="http://schemas.microsoft.com/office/drawing/2014/main" id="{53F68082-9CB4-4D63-827C-367DED6417D8}"/>
              </a:ext>
            </a:extLst>
          </p:cNvPr>
          <p:cNvCxnSpPr>
            <a:cxnSpLocks noChangeShapeType="1"/>
            <a:stCxn id="71687" idx="4"/>
            <a:endCxn id="71691" idx="7"/>
          </p:cNvCxnSpPr>
          <p:nvPr/>
        </p:nvCxnSpPr>
        <p:spPr bwMode="auto">
          <a:xfrm flipH="1">
            <a:off x="5909965" y="4070549"/>
            <a:ext cx="592137" cy="773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698" name="AutoShape 17">
            <a:extLst>
              <a:ext uri="{FF2B5EF4-FFF2-40B4-BE49-F238E27FC236}">
                <a16:creationId xmlns:a16="http://schemas.microsoft.com/office/drawing/2014/main" id="{B7D1B800-8294-49C0-B07E-66A119135673}"/>
              </a:ext>
            </a:extLst>
          </p:cNvPr>
          <p:cNvCxnSpPr>
            <a:cxnSpLocks noChangeShapeType="1"/>
            <a:stCxn id="71685" idx="6"/>
            <a:endCxn id="71691" idx="2"/>
          </p:cNvCxnSpPr>
          <p:nvPr/>
        </p:nvCxnSpPr>
        <p:spPr bwMode="auto">
          <a:xfrm flipV="1">
            <a:off x="3795415" y="4945261"/>
            <a:ext cx="1874837" cy="412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699" name="AutoShape 18">
            <a:extLst>
              <a:ext uri="{FF2B5EF4-FFF2-40B4-BE49-F238E27FC236}">
                <a16:creationId xmlns:a16="http://schemas.microsoft.com/office/drawing/2014/main" id="{046B161C-0AEF-41BA-B445-A0CD31D299D1}"/>
              </a:ext>
            </a:extLst>
          </p:cNvPr>
          <p:cNvCxnSpPr>
            <a:cxnSpLocks noChangeShapeType="1"/>
            <a:stCxn id="71693" idx="6"/>
            <a:endCxn id="71686" idx="3"/>
          </p:cNvCxnSpPr>
          <p:nvPr/>
        </p:nvCxnSpPr>
        <p:spPr bwMode="auto">
          <a:xfrm flipV="1">
            <a:off x="2996902" y="3072011"/>
            <a:ext cx="2627313" cy="11477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700" name="AutoShape 19">
            <a:extLst>
              <a:ext uri="{FF2B5EF4-FFF2-40B4-BE49-F238E27FC236}">
                <a16:creationId xmlns:a16="http://schemas.microsoft.com/office/drawing/2014/main" id="{4F6DA33A-F494-456A-A383-FB2C50CF7C0A}"/>
              </a:ext>
            </a:extLst>
          </p:cNvPr>
          <p:cNvCxnSpPr>
            <a:cxnSpLocks noChangeShapeType="1"/>
            <a:stCxn id="71686" idx="5"/>
            <a:endCxn id="71687" idx="0"/>
          </p:cNvCxnSpPr>
          <p:nvPr/>
        </p:nvCxnSpPr>
        <p:spPr bwMode="auto">
          <a:xfrm>
            <a:off x="5824240" y="3072011"/>
            <a:ext cx="677862" cy="711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2" name="Group 20">
            <a:extLst>
              <a:ext uri="{FF2B5EF4-FFF2-40B4-BE49-F238E27FC236}">
                <a16:creationId xmlns:a16="http://schemas.microsoft.com/office/drawing/2014/main" id="{B60B6002-F74B-4818-8611-86FE8E6CD8A3}"/>
              </a:ext>
            </a:extLst>
          </p:cNvPr>
          <p:cNvGrpSpPr>
            <a:grpSpLocks/>
          </p:cNvGrpSpPr>
          <p:nvPr/>
        </p:nvGrpSpPr>
        <p:grpSpPr bwMode="auto">
          <a:xfrm>
            <a:off x="3131840" y="2852936"/>
            <a:ext cx="3508375" cy="2274888"/>
            <a:chOff x="2188" y="2145"/>
            <a:chExt cx="1953" cy="1243"/>
          </a:xfrm>
        </p:grpSpPr>
        <p:sp>
          <p:nvSpPr>
            <p:cNvPr id="71703" name="Oval 21">
              <a:extLst>
                <a:ext uri="{FF2B5EF4-FFF2-40B4-BE49-F238E27FC236}">
                  <a16:creationId xmlns:a16="http://schemas.microsoft.com/office/drawing/2014/main" id="{61F45DF2-24F1-4F23-921B-40EC71245B44}"/>
                </a:ext>
              </a:extLst>
            </p:cNvPr>
            <p:cNvSpPr>
              <a:spLocks noChangeAspect="1" noChangeArrowheads="1"/>
            </p:cNvSpPr>
            <p:nvPr/>
          </p:nvSpPr>
          <p:spPr bwMode="auto">
            <a:xfrm>
              <a:off x="2400" y="3232"/>
              <a:ext cx="157" cy="156"/>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dirty="0">
                  <a:solidFill>
                    <a:srgbClr val="FF0000"/>
                  </a:solidFill>
                  <a:latin typeface="Comic Sans MS" panose="030F0702030302020204" pitchFamily="66" charset="0"/>
                </a:rPr>
                <a:t>6</a:t>
              </a:r>
            </a:p>
          </p:txBody>
        </p:sp>
        <p:sp>
          <p:nvSpPr>
            <p:cNvPr id="71704" name="Oval 22">
              <a:extLst>
                <a:ext uri="{FF2B5EF4-FFF2-40B4-BE49-F238E27FC236}">
                  <a16:creationId xmlns:a16="http://schemas.microsoft.com/office/drawing/2014/main" id="{C7B2CB70-2FD9-40DD-916A-6A6A7EBBD3C8}"/>
                </a:ext>
              </a:extLst>
            </p:cNvPr>
            <p:cNvSpPr>
              <a:spLocks noChangeAspect="1" noChangeArrowheads="1"/>
            </p:cNvSpPr>
            <p:nvPr/>
          </p:nvSpPr>
          <p:spPr bwMode="auto">
            <a:xfrm>
              <a:off x="3984" y="2652"/>
              <a:ext cx="157" cy="157"/>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dirty="0">
                  <a:solidFill>
                    <a:srgbClr val="FF0000"/>
                  </a:solidFill>
                  <a:latin typeface="Comic Sans MS" panose="030F0702030302020204" pitchFamily="66" charset="0"/>
                </a:rPr>
                <a:t>5</a:t>
              </a:r>
            </a:p>
          </p:txBody>
        </p:sp>
        <p:sp>
          <p:nvSpPr>
            <p:cNvPr id="3" name="Oval 23">
              <a:extLst>
                <a:ext uri="{FF2B5EF4-FFF2-40B4-BE49-F238E27FC236}">
                  <a16:creationId xmlns:a16="http://schemas.microsoft.com/office/drawing/2014/main" id="{076C631E-EEA0-4D86-AE61-8313EC38CF4F}"/>
                </a:ext>
              </a:extLst>
            </p:cNvPr>
            <p:cNvSpPr>
              <a:spLocks noChangeAspect="1" noChangeArrowheads="1"/>
            </p:cNvSpPr>
            <p:nvPr/>
          </p:nvSpPr>
          <p:spPr bwMode="auto">
            <a:xfrm>
              <a:off x="2188" y="2145"/>
              <a:ext cx="157" cy="157"/>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dirty="0">
                  <a:solidFill>
                    <a:srgbClr val="FF0000"/>
                  </a:solidFill>
                  <a:latin typeface="Comic Sans MS" panose="030F0702030302020204" pitchFamily="66" charset="0"/>
                </a:rPr>
                <a:t>1</a:t>
              </a:r>
            </a:p>
          </p:txBody>
        </p:sp>
        <p:sp>
          <p:nvSpPr>
            <p:cNvPr id="71706" name="Oval 24">
              <a:extLst>
                <a:ext uri="{FF2B5EF4-FFF2-40B4-BE49-F238E27FC236}">
                  <a16:creationId xmlns:a16="http://schemas.microsoft.com/office/drawing/2014/main" id="{3AC80602-5220-464B-BF15-677C2BDF978F}"/>
                </a:ext>
              </a:extLst>
            </p:cNvPr>
            <p:cNvSpPr>
              <a:spLocks noChangeAspect="1" noChangeArrowheads="1"/>
            </p:cNvSpPr>
            <p:nvPr/>
          </p:nvSpPr>
          <p:spPr bwMode="auto">
            <a:xfrm>
              <a:off x="3277" y="2652"/>
              <a:ext cx="157" cy="157"/>
            </a:xfrm>
            <a:prstGeom prst="ellipse">
              <a:avLst/>
            </a:prstGeom>
            <a:solidFill>
              <a:srgbClr val="C0C0C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dirty="0">
                  <a:solidFill>
                    <a:srgbClr val="FF0000"/>
                  </a:solidFill>
                  <a:latin typeface="Comic Sans MS" panose="030F0702030302020204" pitchFamily="66" charset="0"/>
                </a:rPr>
                <a:t>4</a:t>
              </a:r>
            </a:p>
          </p:txBody>
        </p:sp>
      </p:grpSp>
      <p:sp>
        <p:nvSpPr>
          <p:cNvPr id="71705" name="Text Box 25">
            <a:extLst>
              <a:ext uri="{FF2B5EF4-FFF2-40B4-BE49-F238E27FC236}">
                <a16:creationId xmlns:a16="http://schemas.microsoft.com/office/drawing/2014/main" id="{ACB65682-79FC-4C2D-92B1-A0145798FCBE}"/>
              </a:ext>
            </a:extLst>
          </p:cNvPr>
          <p:cNvSpPr txBox="1">
            <a:spLocks noChangeArrowheads="1"/>
          </p:cNvSpPr>
          <p:nvPr/>
        </p:nvSpPr>
        <p:spPr bwMode="auto">
          <a:xfrm>
            <a:off x="1752600" y="5562600"/>
            <a:ext cx="3810000" cy="52200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91440" rIns="137160" bIns="9144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nSpc>
                <a:spcPts val="2300"/>
              </a:lnSpc>
              <a:spcBef>
                <a:spcPct val="50000"/>
              </a:spcBef>
              <a:buClrTx/>
              <a:buSzTx/>
              <a:buFontTx/>
              <a:buNone/>
            </a:pPr>
            <a:r>
              <a:rPr lang="zh-CN" altLang="en-US" sz="2800" b="1">
                <a:solidFill>
                  <a:schemeClr val="hlink"/>
                </a:solidFill>
                <a:latin typeface="Courier New" panose="02070309020205020404" pitchFamily="49" charset="0"/>
              </a:rPr>
              <a:t>{1，4，5，6}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1705"/>
                                        </p:tgtEl>
                                        <p:attrNameLst>
                                          <p:attrName>style.visibility</p:attrName>
                                        </p:attrNameLst>
                                      </p:cBhvr>
                                      <p:to>
                                        <p:strVal val="visible"/>
                                      </p:to>
                                    </p:set>
                                    <p:anim calcmode="lin" valueType="num">
                                      <p:cBhvr additive="base">
                                        <p:cTn id="11" dur="500" fill="hold"/>
                                        <p:tgtEl>
                                          <p:spTgt spid="71705"/>
                                        </p:tgtEl>
                                        <p:attrNameLst>
                                          <p:attrName>ppt_x</p:attrName>
                                        </p:attrNameLst>
                                      </p:cBhvr>
                                      <p:tavLst>
                                        <p:tav tm="0">
                                          <p:val>
                                            <p:strVal val="#ppt_x"/>
                                          </p:val>
                                        </p:tav>
                                        <p:tav tm="100000">
                                          <p:val>
                                            <p:strVal val="#ppt_x"/>
                                          </p:val>
                                        </p:tav>
                                      </p:tavLst>
                                    </p:anim>
                                    <p:anim calcmode="lin" valueType="num">
                                      <p:cBhvr additive="base">
                                        <p:cTn id="12" dur="500" fill="hold"/>
                                        <p:tgtEl>
                                          <p:spTgt spid="717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5"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A598E29-88F6-4485-A9F8-E6E4E6CBFFBD}"/>
              </a:ext>
            </a:extLst>
          </p:cNvPr>
          <p:cNvSpPr>
            <a:spLocks noGrp="1"/>
          </p:cNvSpPr>
          <p:nvPr>
            <p:ph type="sldNum" sz="quarter" idx="12"/>
          </p:nvPr>
        </p:nvSpPr>
        <p:spPr/>
        <p:txBody>
          <a:bodyPr/>
          <a:lstStyle/>
          <a:p>
            <a:pPr>
              <a:defRPr/>
            </a:pPr>
            <a:fld id="{38A3D814-8D18-4292-9055-4D7062BE594A}" type="slidenum">
              <a:rPr lang="zh-CN" altLang="en-US"/>
              <a:pPr>
                <a:defRPr/>
              </a:pPr>
              <a:t>85</a:t>
            </a:fld>
            <a:endParaRPr lang="en-US" altLang="zh-CN" dirty="0"/>
          </a:p>
        </p:txBody>
      </p:sp>
      <p:sp>
        <p:nvSpPr>
          <p:cNvPr id="72707" name="Rectangle 2">
            <a:extLst>
              <a:ext uri="{FF2B5EF4-FFF2-40B4-BE49-F238E27FC236}">
                <a16:creationId xmlns:a16="http://schemas.microsoft.com/office/drawing/2014/main" id="{6C42DEB6-A0DB-4008-A5CC-5B45AEDF1EE2}"/>
              </a:ext>
            </a:extLst>
          </p:cNvPr>
          <p:cNvSpPr>
            <a:spLocks noGrp="1" noChangeArrowheads="1"/>
          </p:cNvSpPr>
          <p:nvPr>
            <p:ph type="title"/>
          </p:nvPr>
        </p:nvSpPr>
        <p:spPr/>
        <p:txBody>
          <a:bodyPr/>
          <a:lstStyle/>
          <a:p>
            <a:pPr eaLnBrk="1" hangingPunct="1"/>
            <a:r>
              <a:rPr lang="zh-CN" altLang="en-US" dirty="0"/>
              <a:t>1.2.4 独立集</a:t>
            </a:r>
          </a:p>
        </p:txBody>
      </p:sp>
      <p:sp>
        <p:nvSpPr>
          <p:cNvPr id="2" name="Rectangle 3">
            <a:extLst>
              <a:ext uri="{FF2B5EF4-FFF2-40B4-BE49-F238E27FC236}">
                <a16:creationId xmlns:a16="http://schemas.microsoft.com/office/drawing/2014/main" id="{3C167DA9-4E02-4C72-84D4-B1E2349F6AD4}"/>
              </a:ext>
            </a:extLst>
          </p:cNvPr>
          <p:cNvSpPr>
            <a:spLocks noGrp="1" noChangeArrowheads="1"/>
          </p:cNvSpPr>
          <p:nvPr>
            <p:ph type="body" idx="1"/>
          </p:nvPr>
        </p:nvSpPr>
        <p:spPr>
          <a:xfrm>
            <a:off x="914400" y="1772816"/>
            <a:ext cx="7772400" cy="4114800"/>
          </a:xfrm>
        </p:spPr>
        <p:txBody>
          <a:bodyPr/>
          <a:lstStyle/>
          <a:p>
            <a:pPr eaLnBrk="1" hangingPunct="1"/>
            <a:r>
              <a:rPr lang="zh-CN" altLang="en-US" dirty="0"/>
              <a:t>邀请朋友吃饭：</a:t>
            </a:r>
            <a:endParaRPr lang="en-US" altLang="zh-CN" dirty="0"/>
          </a:p>
          <a:p>
            <a:pPr marL="0" indent="0" eaLnBrk="1" hangingPunct="1">
              <a:buNone/>
            </a:pPr>
            <a:r>
              <a:rPr lang="zh-CN" altLang="en-US" dirty="0"/>
              <a:t>节点是朋友，每对冲突朋友间一条边。</a:t>
            </a:r>
            <a:endParaRPr lang="en-US" altLang="zh-CN" dirty="0"/>
          </a:p>
          <a:p>
            <a:pPr eaLnBrk="1" hangingPunct="1"/>
            <a:r>
              <a:rPr lang="zh-CN" altLang="en-US" dirty="0"/>
              <a:t>区间调度：</a:t>
            </a:r>
            <a:endParaRPr lang="en-US" altLang="zh-CN" dirty="0"/>
          </a:p>
          <a:p>
            <a:pPr marL="0" indent="0" eaLnBrk="1" hangingPunct="1">
              <a:buNone/>
            </a:pPr>
            <a:r>
              <a:rPr lang="zh-CN" altLang="en-US" dirty="0"/>
              <a:t>节点是区间，每对重叠区间一条边。</a:t>
            </a:r>
            <a:endParaRPr lang="en-US" altLang="zh-CN" dirty="0"/>
          </a:p>
          <a:p>
            <a:pPr eaLnBrk="1" hangingPunct="1"/>
            <a:r>
              <a:rPr lang="zh-CN" altLang="en-US" dirty="0"/>
              <a:t>二分匹配（边到节点，节点到边）：</a:t>
            </a:r>
            <a:endParaRPr lang="en-US" altLang="zh-CN" dirty="0"/>
          </a:p>
          <a:p>
            <a:pPr marL="0" indent="0" eaLnBrk="1" hangingPunct="1">
              <a:buNone/>
            </a:pPr>
            <a:r>
              <a:rPr lang="zh-CN" altLang="en-US" dirty="0"/>
              <a:t>被选对象是边，共用一个端点的边产生冲突</a:t>
            </a:r>
            <a:endParaRPr lang="en-US" altLang="zh-CN" dirty="0"/>
          </a:p>
        </p:txBody>
      </p:sp>
      <p:sp>
        <p:nvSpPr>
          <p:cNvPr id="3" name="流程图: 接点 2">
            <a:extLst>
              <a:ext uri="{FF2B5EF4-FFF2-40B4-BE49-F238E27FC236}">
                <a16:creationId xmlns:a16="http://schemas.microsoft.com/office/drawing/2014/main" id="{0F7AC527-273A-1783-C2C8-3B7D80778A5E}"/>
              </a:ext>
            </a:extLst>
          </p:cNvPr>
          <p:cNvSpPr/>
          <p:nvPr/>
        </p:nvSpPr>
        <p:spPr bwMode="auto">
          <a:xfrm>
            <a:off x="2722204" y="5419898"/>
            <a:ext cx="360040" cy="36004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A</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4" name="流程图: 接点 3">
            <a:extLst>
              <a:ext uri="{FF2B5EF4-FFF2-40B4-BE49-F238E27FC236}">
                <a16:creationId xmlns:a16="http://schemas.microsoft.com/office/drawing/2014/main" id="{7272E6A7-B6B5-32DF-8B38-E3930180B096}"/>
              </a:ext>
            </a:extLst>
          </p:cNvPr>
          <p:cNvSpPr/>
          <p:nvPr/>
        </p:nvSpPr>
        <p:spPr bwMode="auto">
          <a:xfrm>
            <a:off x="2741605" y="6060644"/>
            <a:ext cx="360040" cy="36004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C</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5" name="流程图: 接点 4">
            <a:extLst>
              <a:ext uri="{FF2B5EF4-FFF2-40B4-BE49-F238E27FC236}">
                <a16:creationId xmlns:a16="http://schemas.microsoft.com/office/drawing/2014/main" id="{0441398E-D0D2-F095-4AED-31CF461A218B}"/>
              </a:ext>
            </a:extLst>
          </p:cNvPr>
          <p:cNvSpPr/>
          <p:nvPr/>
        </p:nvSpPr>
        <p:spPr bwMode="auto">
          <a:xfrm>
            <a:off x="3563888" y="6060644"/>
            <a:ext cx="360040" cy="36004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D</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7" name="流程图: 接点 6">
            <a:extLst>
              <a:ext uri="{FF2B5EF4-FFF2-40B4-BE49-F238E27FC236}">
                <a16:creationId xmlns:a16="http://schemas.microsoft.com/office/drawing/2014/main" id="{E0B6C1A6-AF8F-E504-B5A1-514525F7CC54}"/>
              </a:ext>
            </a:extLst>
          </p:cNvPr>
          <p:cNvSpPr/>
          <p:nvPr/>
        </p:nvSpPr>
        <p:spPr bwMode="auto">
          <a:xfrm>
            <a:off x="3563888" y="5419898"/>
            <a:ext cx="360040" cy="36004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B</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cxnSp>
        <p:nvCxnSpPr>
          <p:cNvPr id="9" name="直接连接符 8">
            <a:extLst>
              <a:ext uri="{FF2B5EF4-FFF2-40B4-BE49-F238E27FC236}">
                <a16:creationId xmlns:a16="http://schemas.microsoft.com/office/drawing/2014/main" id="{3379B84A-0D6C-6482-7D44-9D2D69A97A79}"/>
              </a:ext>
            </a:extLst>
          </p:cNvPr>
          <p:cNvCxnSpPr>
            <a:stCxn id="3" idx="6"/>
            <a:endCxn id="7" idx="2"/>
          </p:cNvCxnSpPr>
          <p:nvPr/>
        </p:nvCxnSpPr>
        <p:spPr bwMode="auto">
          <a:xfrm>
            <a:off x="3082244" y="5599918"/>
            <a:ext cx="481644"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 name="直接连接符 9">
            <a:extLst>
              <a:ext uri="{FF2B5EF4-FFF2-40B4-BE49-F238E27FC236}">
                <a16:creationId xmlns:a16="http://schemas.microsoft.com/office/drawing/2014/main" id="{528F629C-F5E7-91F4-E95A-E68AB0589C48}"/>
              </a:ext>
            </a:extLst>
          </p:cNvPr>
          <p:cNvCxnSpPr>
            <a:stCxn id="4" idx="6"/>
            <a:endCxn id="5" idx="2"/>
          </p:cNvCxnSpPr>
          <p:nvPr/>
        </p:nvCxnSpPr>
        <p:spPr bwMode="auto">
          <a:xfrm>
            <a:off x="3101645" y="6240664"/>
            <a:ext cx="462243"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 name="直接连接符 10">
            <a:extLst>
              <a:ext uri="{FF2B5EF4-FFF2-40B4-BE49-F238E27FC236}">
                <a16:creationId xmlns:a16="http://schemas.microsoft.com/office/drawing/2014/main" id="{3BAE9464-7F1B-308E-DED1-8EFEC1E42C19}"/>
              </a:ext>
            </a:extLst>
          </p:cNvPr>
          <p:cNvCxnSpPr>
            <a:stCxn id="3" idx="5"/>
            <a:endCxn id="5" idx="2"/>
          </p:cNvCxnSpPr>
          <p:nvPr/>
        </p:nvCxnSpPr>
        <p:spPr bwMode="auto">
          <a:xfrm>
            <a:off x="3029517" y="5727211"/>
            <a:ext cx="534371" cy="513453"/>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 name="文本框 15">
            <a:extLst>
              <a:ext uri="{FF2B5EF4-FFF2-40B4-BE49-F238E27FC236}">
                <a16:creationId xmlns:a16="http://schemas.microsoft.com/office/drawing/2014/main" id="{77D11ECD-020A-18A0-3B9C-FD69DBE0568A}"/>
              </a:ext>
            </a:extLst>
          </p:cNvPr>
          <p:cNvSpPr txBox="1"/>
          <p:nvPr/>
        </p:nvSpPr>
        <p:spPr>
          <a:xfrm>
            <a:off x="3203848" y="5301208"/>
            <a:ext cx="277640" cy="338554"/>
          </a:xfrm>
          <a:prstGeom prst="rect">
            <a:avLst/>
          </a:prstGeom>
          <a:noFill/>
        </p:spPr>
        <p:txBody>
          <a:bodyPr wrap="none" rtlCol="0">
            <a:spAutoFit/>
          </a:bodyPr>
          <a:lstStyle/>
          <a:p>
            <a:r>
              <a:rPr lang="en-US" altLang="zh-CN" dirty="0">
                <a:solidFill>
                  <a:schemeClr val="tx1"/>
                </a:solidFill>
              </a:rPr>
              <a:t>1</a:t>
            </a:r>
            <a:endParaRPr lang="zh-CN" altLang="en-US" dirty="0">
              <a:solidFill>
                <a:schemeClr val="tx1"/>
              </a:solidFill>
            </a:endParaRPr>
          </a:p>
        </p:txBody>
      </p:sp>
      <p:sp>
        <p:nvSpPr>
          <p:cNvPr id="17" name="文本框 16">
            <a:extLst>
              <a:ext uri="{FF2B5EF4-FFF2-40B4-BE49-F238E27FC236}">
                <a16:creationId xmlns:a16="http://schemas.microsoft.com/office/drawing/2014/main" id="{E639F8C2-2C93-5953-3435-7B5DF50C9D5A}"/>
              </a:ext>
            </a:extLst>
          </p:cNvPr>
          <p:cNvSpPr txBox="1"/>
          <p:nvPr/>
        </p:nvSpPr>
        <p:spPr>
          <a:xfrm>
            <a:off x="3216248" y="6240664"/>
            <a:ext cx="309700" cy="338554"/>
          </a:xfrm>
          <a:prstGeom prst="rect">
            <a:avLst/>
          </a:prstGeom>
          <a:noFill/>
        </p:spPr>
        <p:txBody>
          <a:bodyPr wrap="none" rtlCol="0">
            <a:spAutoFit/>
          </a:bodyPr>
          <a:lstStyle/>
          <a:p>
            <a:r>
              <a:rPr lang="en-US" altLang="zh-CN" dirty="0">
                <a:solidFill>
                  <a:schemeClr val="tx1"/>
                </a:solidFill>
              </a:rPr>
              <a:t>3</a:t>
            </a:r>
            <a:endParaRPr lang="zh-CN" altLang="en-US" dirty="0">
              <a:solidFill>
                <a:schemeClr val="tx1"/>
              </a:solidFill>
            </a:endParaRPr>
          </a:p>
        </p:txBody>
      </p:sp>
      <p:sp>
        <p:nvSpPr>
          <p:cNvPr id="18" name="文本框 17">
            <a:extLst>
              <a:ext uri="{FF2B5EF4-FFF2-40B4-BE49-F238E27FC236}">
                <a16:creationId xmlns:a16="http://schemas.microsoft.com/office/drawing/2014/main" id="{A2F3D011-AD39-1C72-027D-BCA4012E5AEF}"/>
              </a:ext>
            </a:extLst>
          </p:cNvPr>
          <p:cNvSpPr txBox="1"/>
          <p:nvPr/>
        </p:nvSpPr>
        <p:spPr>
          <a:xfrm>
            <a:off x="3216248" y="5730041"/>
            <a:ext cx="309700" cy="338554"/>
          </a:xfrm>
          <a:prstGeom prst="rect">
            <a:avLst/>
          </a:prstGeom>
          <a:noFill/>
        </p:spPr>
        <p:txBody>
          <a:bodyPr wrap="none" rtlCol="0">
            <a:spAutoFit/>
          </a:bodyPr>
          <a:lstStyle/>
          <a:p>
            <a:r>
              <a:rPr lang="en-US" altLang="zh-CN" dirty="0">
                <a:solidFill>
                  <a:schemeClr val="tx1"/>
                </a:solidFill>
              </a:rPr>
              <a:t>2</a:t>
            </a:r>
            <a:endParaRPr lang="zh-CN" altLang="en-US" dirty="0">
              <a:solidFill>
                <a:schemeClr val="tx1"/>
              </a:solidFill>
            </a:endParaRPr>
          </a:p>
        </p:txBody>
      </p:sp>
      <p:sp>
        <p:nvSpPr>
          <p:cNvPr id="19" name="流程图: 接点 18">
            <a:extLst>
              <a:ext uri="{FF2B5EF4-FFF2-40B4-BE49-F238E27FC236}">
                <a16:creationId xmlns:a16="http://schemas.microsoft.com/office/drawing/2014/main" id="{A3766B66-264F-C760-C6B7-62F4187DA27A}"/>
              </a:ext>
            </a:extLst>
          </p:cNvPr>
          <p:cNvSpPr/>
          <p:nvPr/>
        </p:nvSpPr>
        <p:spPr bwMode="auto">
          <a:xfrm>
            <a:off x="4613813" y="5403927"/>
            <a:ext cx="360040" cy="36004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1</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20" name="流程图: 接点 19">
            <a:extLst>
              <a:ext uri="{FF2B5EF4-FFF2-40B4-BE49-F238E27FC236}">
                <a16:creationId xmlns:a16="http://schemas.microsoft.com/office/drawing/2014/main" id="{EE29747C-7BB1-A7BC-2E11-4C48EFAE89C5}"/>
              </a:ext>
            </a:extLst>
          </p:cNvPr>
          <p:cNvSpPr/>
          <p:nvPr/>
        </p:nvSpPr>
        <p:spPr bwMode="auto">
          <a:xfrm>
            <a:off x="4613813" y="6060644"/>
            <a:ext cx="360040" cy="36004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3</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sp>
        <p:nvSpPr>
          <p:cNvPr id="21" name="流程图: 接点 20">
            <a:extLst>
              <a:ext uri="{FF2B5EF4-FFF2-40B4-BE49-F238E27FC236}">
                <a16:creationId xmlns:a16="http://schemas.microsoft.com/office/drawing/2014/main" id="{73607D62-45C2-F8BD-5269-7548917599E1}"/>
              </a:ext>
            </a:extLst>
          </p:cNvPr>
          <p:cNvSpPr/>
          <p:nvPr/>
        </p:nvSpPr>
        <p:spPr bwMode="auto">
          <a:xfrm>
            <a:off x="5539345" y="5834889"/>
            <a:ext cx="360040" cy="360040"/>
          </a:xfrm>
          <a:prstGeom prst="flowChartConnector">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2</a:t>
            </a:r>
            <a:endParaRPr kumimoji="1" lang="zh-CN" altLang="en-US" sz="1600" b="0"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p:txBody>
      </p:sp>
      <p:cxnSp>
        <p:nvCxnSpPr>
          <p:cNvPr id="24" name="直接连接符 23">
            <a:extLst>
              <a:ext uri="{FF2B5EF4-FFF2-40B4-BE49-F238E27FC236}">
                <a16:creationId xmlns:a16="http://schemas.microsoft.com/office/drawing/2014/main" id="{D541D5F5-FBB5-2C9A-9AF7-776F3D54E4B6}"/>
              </a:ext>
            </a:extLst>
          </p:cNvPr>
          <p:cNvCxnSpPr>
            <a:stCxn id="20" idx="6"/>
            <a:endCxn id="21" idx="2"/>
          </p:cNvCxnSpPr>
          <p:nvPr/>
        </p:nvCxnSpPr>
        <p:spPr bwMode="auto">
          <a:xfrm flipV="1">
            <a:off x="4973853" y="6014909"/>
            <a:ext cx="565492" cy="225755"/>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5" name="直接连接符 24">
            <a:extLst>
              <a:ext uri="{FF2B5EF4-FFF2-40B4-BE49-F238E27FC236}">
                <a16:creationId xmlns:a16="http://schemas.microsoft.com/office/drawing/2014/main" id="{6B8D2E57-3D0C-5D24-6530-0ED0A040282B}"/>
              </a:ext>
            </a:extLst>
          </p:cNvPr>
          <p:cNvCxnSpPr>
            <a:endCxn id="21" idx="1"/>
          </p:cNvCxnSpPr>
          <p:nvPr/>
        </p:nvCxnSpPr>
        <p:spPr bwMode="auto">
          <a:xfrm>
            <a:off x="4973853" y="5599918"/>
            <a:ext cx="618219" cy="287698"/>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7" name="文本框 26">
            <a:extLst>
              <a:ext uri="{FF2B5EF4-FFF2-40B4-BE49-F238E27FC236}">
                <a16:creationId xmlns:a16="http://schemas.microsoft.com/office/drawing/2014/main" id="{6B818045-73BB-538C-B32E-566D8313A047}"/>
              </a:ext>
            </a:extLst>
          </p:cNvPr>
          <p:cNvSpPr txBox="1"/>
          <p:nvPr/>
        </p:nvSpPr>
        <p:spPr>
          <a:xfrm>
            <a:off x="5151564" y="6091215"/>
            <a:ext cx="332142" cy="338554"/>
          </a:xfrm>
          <a:prstGeom prst="rect">
            <a:avLst/>
          </a:prstGeom>
          <a:noFill/>
        </p:spPr>
        <p:txBody>
          <a:bodyPr wrap="none" rtlCol="0">
            <a:spAutoFit/>
          </a:bodyPr>
          <a:lstStyle/>
          <a:p>
            <a:r>
              <a:rPr lang="en-US" altLang="zh-CN" dirty="0">
                <a:solidFill>
                  <a:schemeClr val="tx1"/>
                </a:solidFill>
              </a:rPr>
              <a:t>D</a:t>
            </a:r>
            <a:endParaRPr lang="zh-CN" altLang="en-US" dirty="0">
              <a:solidFill>
                <a:schemeClr val="tx1"/>
              </a:solidFill>
            </a:endParaRPr>
          </a:p>
        </p:txBody>
      </p:sp>
      <p:sp>
        <p:nvSpPr>
          <p:cNvPr id="28" name="文本框 27">
            <a:extLst>
              <a:ext uri="{FF2B5EF4-FFF2-40B4-BE49-F238E27FC236}">
                <a16:creationId xmlns:a16="http://schemas.microsoft.com/office/drawing/2014/main" id="{B062AAF9-B941-D2D1-120E-871C32382100}"/>
              </a:ext>
            </a:extLst>
          </p:cNvPr>
          <p:cNvSpPr txBox="1"/>
          <p:nvPr/>
        </p:nvSpPr>
        <p:spPr>
          <a:xfrm>
            <a:off x="5157101" y="5430641"/>
            <a:ext cx="335348" cy="338554"/>
          </a:xfrm>
          <a:prstGeom prst="rect">
            <a:avLst/>
          </a:prstGeom>
          <a:noFill/>
        </p:spPr>
        <p:txBody>
          <a:bodyPr wrap="none" rtlCol="0">
            <a:spAutoFit/>
          </a:bodyPr>
          <a:lstStyle/>
          <a:p>
            <a:r>
              <a:rPr lang="en-US" altLang="zh-CN" dirty="0">
                <a:solidFill>
                  <a:schemeClr val="tx1"/>
                </a:solidFill>
              </a:rPr>
              <a:t>A</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circle(in)">
                                      <p:cBhvr>
                                        <p:cTn id="47" dur="2000"/>
                                        <p:tgtEl>
                                          <p:spTgt spid="19"/>
                                        </p:tgtEl>
                                      </p:cBhvr>
                                    </p:animEffect>
                                  </p:childTnLst>
                                </p:cTn>
                              </p:par>
                              <p:par>
                                <p:cTn id="48" presetID="6" presetClass="entr" presetSubtype="16"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circle(in)">
                                      <p:cBhvr>
                                        <p:cTn id="50" dur="2000"/>
                                        <p:tgtEl>
                                          <p:spTgt spid="20"/>
                                        </p:tgtEl>
                                      </p:cBhvr>
                                    </p:animEffect>
                                  </p:childTnLst>
                                </p:cTn>
                              </p:par>
                              <p:par>
                                <p:cTn id="51" presetID="6" presetClass="entr" presetSubtype="16"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circle(in)">
                                      <p:cBhvr>
                                        <p:cTn id="53" dur="2000"/>
                                        <p:tgtEl>
                                          <p:spTgt spid="21"/>
                                        </p:tgtEl>
                                      </p:cBhvr>
                                    </p:animEffect>
                                  </p:childTnLst>
                                </p:cTn>
                              </p:par>
                              <p:par>
                                <p:cTn id="54" presetID="6" presetClass="entr" presetSubtype="16"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circle(in)">
                                      <p:cBhvr>
                                        <p:cTn id="56" dur="2000"/>
                                        <p:tgtEl>
                                          <p:spTgt spid="24"/>
                                        </p:tgtEl>
                                      </p:cBhvr>
                                    </p:animEffect>
                                  </p:childTnLst>
                                </p:cTn>
                              </p:par>
                              <p:par>
                                <p:cTn id="57" presetID="6" presetClass="entr" presetSubtype="16"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circle(in)">
                                      <p:cBhvr>
                                        <p:cTn id="59" dur="2000"/>
                                        <p:tgtEl>
                                          <p:spTgt spid="25"/>
                                        </p:tgtEl>
                                      </p:cBhvr>
                                    </p:animEffect>
                                  </p:childTnLst>
                                </p:cTn>
                              </p:par>
                              <p:par>
                                <p:cTn id="60" presetID="6" presetClass="entr" presetSubtype="16"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circle(in)">
                                      <p:cBhvr>
                                        <p:cTn id="62" dur="2000"/>
                                        <p:tgtEl>
                                          <p:spTgt spid="27"/>
                                        </p:tgtEl>
                                      </p:cBhvr>
                                    </p:animEffect>
                                  </p:childTnLst>
                                </p:cTn>
                              </p:par>
                              <p:par>
                                <p:cTn id="63" presetID="6" presetClass="entr" presetSubtype="16"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circle(in)">
                                      <p:cBhvr>
                                        <p:cTn id="65"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utoUpdateAnimBg="0"/>
      <p:bldP spid="3" grpId="0" animBg="1"/>
      <p:bldP spid="4" grpId="0" animBg="1"/>
      <p:bldP spid="5" grpId="0" animBg="1"/>
      <p:bldP spid="7" grpId="0" animBg="1"/>
      <p:bldP spid="16" grpId="0"/>
      <p:bldP spid="17" grpId="0"/>
      <p:bldP spid="18" grpId="0"/>
      <p:bldP spid="19" grpId="0" animBg="1"/>
      <p:bldP spid="20" grpId="0" animBg="1"/>
      <p:bldP spid="21" grpId="0" animBg="1"/>
      <p:bldP spid="27" grpId="0"/>
      <p:bldP spid="28" grpId="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865AFD9-0790-0B95-C6C6-147DC01A7861}"/>
            </a:ext>
          </a:extLst>
        </p:cNvPr>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4A2A741-A42E-8509-7E43-525D1859233A}"/>
              </a:ext>
            </a:extLst>
          </p:cNvPr>
          <p:cNvSpPr>
            <a:spLocks noGrp="1"/>
          </p:cNvSpPr>
          <p:nvPr>
            <p:ph type="sldNum" sz="quarter" idx="12"/>
          </p:nvPr>
        </p:nvSpPr>
        <p:spPr/>
        <p:txBody>
          <a:bodyPr/>
          <a:lstStyle/>
          <a:p>
            <a:pPr>
              <a:defRPr/>
            </a:pPr>
            <a:fld id="{38A3D814-8D18-4292-9055-4D7062BE594A}" type="slidenum">
              <a:rPr lang="zh-CN" altLang="en-US"/>
              <a:pPr>
                <a:defRPr/>
              </a:pPr>
              <a:t>86</a:t>
            </a:fld>
            <a:endParaRPr lang="en-US" altLang="zh-CN"/>
          </a:p>
        </p:txBody>
      </p:sp>
      <p:sp>
        <p:nvSpPr>
          <p:cNvPr id="72707" name="Rectangle 2">
            <a:extLst>
              <a:ext uri="{FF2B5EF4-FFF2-40B4-BE49-F238E27FC236}">
                <a16:creationId xmlns:a16="http://schemas.microsoft.com/office/drawing/2014/main" id="{2B13FE45-170F-D575-B880-DD56BC863FFF}"/>
              </a:ext>
            </a:extLst>
          </p:cNvPr>
          <p:cNvSpPr>
            <a:spLocks noGrp="1" noChangeArrowheads="1"/>
          </p:cNvSpPr>
          <p:nvPr>
            <p:ph type="title"/>
          </p:nvPr>
        </p:nvSpPr>
        <p:spPr/>
        <p:txBody>
          <a:bodyPr/>
          <a:lstStyle/>
          <a:p>
            <a:pPr eaLnBrk="1" hangingPunct="1"/>
            <a:r>
              <a:rPr lang="zh-CN" altLang="en-US"/>
              <a:t>1.2.4 独立集</a:t>
            </a:r>
          </a:p>
        </p:txBody>
      </p:sp>
      <p:sp>
        <p:nvSpPr>
          <p:cNvPr id="2" name="Rectangle 3">
            <a:extLst>
              <a:ext uri="{FF2B5EF4-FFF2-40B4-BE49-F238E27FC236}">
                <a16:creationId xmlns:a16="http://schemas.microsoft.com/office/drawing/2014/main" id="{C89F4A5A-73E3-162E-0379-06A3F2B58B73}"/>
              </a:ext>
            </a:extLst>
          </p:cNvPr>
          <p:cNvSpPr>
            <a:spLocks noGrp="1" noChangeArrowheads="1"/>
          </p:cNvSpPr>
          <p:nvPr>
            <p:ph type="body" idx="1"/>
          </p:nvPr>
        </p:nvSpPr>
        <p:spPr>
          <a:xfrm>
            <a:off x="914400" y="1985169"/>
            <a:ext cx="7772400" cy="4114800"/>
          </a:xfrm>
        </p:spPr>
        <p:txBody>
          <a:bodyPr/>
          <a:lstStyle/>
          <a:p>
            <a:pPr eaLnBrk="1" hangingPunct="1"/>
            <a:r>
              <a:rPr lang="zh-CN" altLang="en-US" dirty="0"/>
              <a:t>独立集问题是</a:t>
            </a:r>
            <a:r>
              <a:rPr lang="en-US" altLang="zh-CN" dirty="0"/>
              <a:t>NP</a:t>
            </a:r>
            <a:r>
              <a:rPr lang="zh-CN" altLang="en-US" dirty="0"/>
              <a:t>完全问题中的一个：目前还不知道有任何有效的算法，据猜想，不存在有效的算法解决这一问题。</a:t>
            </a:r>
            <a:endParaRPr lang="en-US" altLang="zh-CN" dirty="0"/>
          </a:p>
          <a:p>
            <a:pPr eaLnBrk="1" hangingPunct="1"/>
            <a:r>
              <a:rPr lang="zh-CN" altLang="en-US" dirty="0"/>
              <a:t>可以用蛮力算法，但是效率不高。</a:t>
            </a:r>
          </a:p>
          <a:p>
            <a:pPr eaLnBrk="1" hangingPunct="1"/>
            <a:r>
              <a:rPr lang="zh-CN" altLang="en-US" dirty="0"/>
              <a:t>检查某个集合是大的独立集(</a:t>
            </a:r>
            <a:r>
              <a:rPr lang="zh-CN" altLang="en-US" b="1" dirty="0"/>
              <a:t>验证</a:t>
            </a:r>
            <a:r>
              <a:rPr lang="zh-CN" altLang="en-US" dirty="0"/>
              <a:t>)；真正找到一个大的独立集(</a:t>
            </a:r>
            <a:r>
              <a:rPr lang="zh-CN" altLang="en-US" b="1" dirty="0"/>
              <a:t>求解</a:t>
            </a:r>
            <a:r>
              <a:rPr lang="zh-CN" altLang="en-US" dirty="0"/>
              <a:t>)；难度上存在很大的差别。</a:t>
            </a:r>
            <a:endParaRPr lang="en-US" altLang="zh-CN" dirty="0"/>
          </a:p>
        </p:txBody>
      </p:sp>
    </p:spTree>
    <p:extLst>
      <p:ext uri="{BB962C8B-B14F-4D97-AF65-F5344CB8AC3E}">
        <p14:creationId xmlns:p14="http://schemas.microsoft.com/office/powerpoint/2010/main" val="30899811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5190404-17C0-4391-AC97-CBD939A8DF79}"/>
              </a:ext>
            </a:extLst>
          </p:cNvPr>
          <p:cNvSpPr>
            <a:spLocks noGrp="1"/>
          </p:cNvSpPr>
          <p:nvPr>
            <p:ph type="sldNum" sz="quarter" idx="12"/>
          </p:nvPr>
        </p:nvSpPr>
        <p:spPr/>
        <p:txBody>
          <a:bodyPr/>
          <a:lstStyle/>
          <a:p>
            <a:pPr>
              <a:defRPr/>
            </a:pPr>
            <a:fld id="{F4ABDC19-A2A8-4602-9302-D614D972B131}" type="slidenum">
              <a:rPr lang="zh-CN" altLang="en-US"/>
              <a:pPr>
                <a:defRPr/>
              </a:pPr>
              <a:t>87</a:t>
            </a:fld>
            <a:endParaRPr lang="en-US" altLang="zh-CN"/>
          </a:p>
        </p:txBody>
      </p:sp>
      <p:sp>
        <p:nvSpPr>
          <p:cNvPr id="73731" name="Rectangle 2">
            <a:extLst>
              <a:ext uri="{FF2B5EF4-FFF2-40B4-BE49-F238E27FC236}">
                <a16:creationId xmlns:a16="http://schemas.microsoft.com/office/drawing/2014/main" id="{C2C43FD0-C14A-4CE6-8522-04C56F2E54E9}"/>
              </a:ext>
            </a:extLst>
          </p:cNvPr>
          <p:cNvSpPr>
            <a:spLocks noGrp="1" noChangeArrowheads="1"/>
          </p:cNvSpPr>
          <p:nvPr>
            <p:ph type="title"/>
          </p:nvPr>
        </p:nvSpPr>
        <p:spPr/>
        <p:txBody>
          <a:bodyPr/>
          <a:lstStyle/>
          <a:p>
            <a:pPr eaLnBrk="1" hangingPunct="1"/>
            <a:r>
              <a:rPr lang="zh-CN" altLang="en-US"/>
              <a:t>1.2.5 竞争的便利店选址问题</a:t>
            </a:r>
            <a:endParaRPr lang="en-US" altLang="zh-CN"/>
          </a:p>
        </p:txBody>
      </p:sp>
      <p:sp>
        <p:nvSpPr>
          <p:cNvPr id="73732" name="Rectangle 3">
            <a:extLst>
              <a:ext uri="{FF2B5EF4-FFF2-40B4-BE49-F238E27FC236}">
                <a16:creationId xmlns:a16="http://schemas.microsoft.com/office/drawing/2014/main" id="{636A76C9-1BBE-4A58-8B0E-BF0730BE504B}"/>
              </a:ext>
            </a:extLst>
          </p:cNvPr>
          <p:cNvSpPr>
            <a:spLocks noGrp="1" noChangeArrowheads="1"/>
          </p:cNvSpPr>
          <p:nvPr>
            <p:ph type="body" idx="1"/>
          </p:nvPr>
        </p:nvSpPr>
        <p:spPr>
          <a:xfrm>
            <a:off x="914400" y="1985169"/>
            <a:ext cx="7772400" cy="4114800"/>
          </a:xfrm>
        </p:spPr>
        <p:txBody>
          <a:bodyPr/>
          <a:lstStyle/>
          <a:p>
            <a:pPr marL="0" indent="0" eaLnBrk="1" hangingPunct="1">
              <a:buNone/>
            </a:pPr>
            <a:r>
              <a:rPr lang="zh-CN" altLang="en-US" sz="2800" dirty="0"/>
              <a:t>问题的提出</a:t>
            </a:r>
          </a:p>
          <a:p>
            <a:pPr eaLnBrk="1" hangingPunct="1"/>
            <a:r>
              <a:rPr lang="zh-CN" altLang="en-US" sz="2800" dirty="0"/>
              <a:t>竞争策略：</a:t>
            </a:r>
          </a:p>
          <a:p>
            <a:pPr eaLnBrk="1" hangingPunct="1">
              <a:buFont typeface="Wingdings" panose="05000000000000000000" pitchFamily="2" charset="2"/>
              <a:buNone/>
            </a:pPr>
            <a:r>
              <a:rPr lang="en-US" altLang="zh-CN" sz="2800" dirty="0"/>
              <a:t>   </a:t>
            </a:r>
            <a:r>
              <a:rPr lang="zh-CN" altLang="en-US" sz="2800" dirty="0"/>
              <a:t>两家咖啡公司：瑞幸</a:t>
            </a:r>
            <a:r>
              <a:rPr lang="en-US" altLang="zh-CN" sz="2800" dirty="0"/>
              <a:t>, </a:t>
            </a:r>
            <a:r>
              <a:rPr lang="zh-CN" altLang="en-US" sz="2800" dirty="0"/>
              <a:t>星巴克竞争某个地区的市场份额，交替开咖啡馆</a:t>
            </a:r>
            <a:r>
              <a:rPr lang="en-US" altLang="zh-CN" sz="2800" dirty="0"/>
              <a:t>。</a:t>
            </a:r>
            <a:r>
              <a:rPr lang="zh-CN" altLang="en-US" sz="2800" dirty="0"/>
              <a:t>假设他们必须遵从分区规章(</a:t>
            </a:r>
            <a:r>
              <a:rPr lang="zh-CN" altLang="en-US" sz="2800" dirty="0">
                <a:solidFill>
                  <a:schemeClr val="hlink"/>
                </a:solidFill>
              </a:rPr>
              <a:t>1.相邻地区禁止开咖啡店; 2.一个地区只开一家</a:t>
            </a:r>
            <a:r>
              <a:rPr lang="en-US" altLang="zh-CN" sz="2800" dirty="0"/>
              <a:t>)，</a:t>
            </a:r>
            <a:r>
              <a:rPr lang="zh-CN" altLang="en-US" sz="2800" dirty="0"/>
              <a:t>要求两家咖啡馆不允许位置太接近，每个公司都想使布局尽可能方便</a:t>
            </a:r>
            <a:r>
              <a:rPr lang="en-US" altLang="zh-CN" sz="2800" dirty="0"/>
              <a:t>，</a:t>
            </a:r>
            <a:r>
              <a:rPr lang="zh-CN" altLang="en-US" sz="2800" dirty="0"/>
              <a:t>谁是赢家？</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A8C3365-3D65-4666-80FD-7F26CBBAA15E}"/>
              </a:ext>
            </a:extLst>
          </p:cNvPr>
          <p:cNvSpPr>
            <a:spLocks noGrp="1"/>
          </p:cNvSpPr>
          <p:nvPr>
            <p:ph type="sldNum" sz="quarter" idx="12"/>
          </p:nvPr>
        </p:nvSpPr>
        <p:spPr/>
        <p:txBody>
          <a:bodyPr/>
          <a:lstStyle/>
          <a:p>
            <a:pPr>
              <a:defRPr/>
            </a:pPr>
            <a:fld id="{6322DDA8-5EC0-4A34-80B3-B56BF424185B}" type="slidenum">
              <a:rPr lang="zh-CN" altLang="en-US"/>
              <a:pPr>
                <a:defRPr/>
              </a:pPr>
              <a:t>88</a:t>
            </a:fld>
            <a:endParaRPr lang="en-US" altLang="zh-CN"/>
          </a:p>
        </p:txBody>
      </p:sp>
      <p:sp>
        <p:nvSpPr>
          <p:cNvPr id="74755" name="Rectangle 2">
            <a:extLst>
              <a:ext uri="{FF2B5EF4-FFF2-40B4-BE49-F238E27FC236}">
                <a16:creationId xmlns:a16="http://schemas.microsoft.com/office/drawing/2014/main" id="{127CCDAD-3EEA-40D9-A299-9D4D5A6D60EA}"/>
              </a:ext>
            </a:extLst>
          </p:cNvPr>
          <p:cNvSpPr>
            <a:spLocks noGrp="1" noChangeArrowheads="1"/>
          </p:cNvSpPr>
          <p:nvPr>
            <p:ph type="title"/>
          </p:nvPr>
        </p:nvSpPr>
        <p:spPr/>
        <p:txBody>
          <a:bodyPr/>
          <a:lstStyle/>
          <a:p>
            <a:pPr eaLnBrk="1" hangingPunct="1"/>
            <a:r>
              <a:rPr lang="zh-CN" altLang="en-US"/>
              <a:t>1.2.5 竞争的便利店选址问题</a:t>
            </a:r>
            <a:endParaRPr lang="en-US" altLang="zh-CN"/>
          </a:p>
        </p:txBody>
      </p:sp>
      <p:sp>
        <p:nvSpPr>
          <p:cNvPr id="74756" name="Rectangle 3">
            <a:extLst>
              <a:ext uri="{FF2B5EF4-FFF2-40B4-BE49-F238E27FC236}">
                <a16:creationId xmlns:a16="http://schemas.microsoft.com/office/drawing/2014/main" id="{4AE902B8-686F-4DDF-B86F-4B2B10D7E65E}"/>
              </a:ext>
            </a:extLst>
          </p:cNvPr>
          <p:cNvSpPr>
            <a:spLocks noGrp="1" noChangeArrowheads="1"/>
          </p:cNvSpPr>
          <p:nvPr>
            <p:ph type="body" idx="1"/>
          </p:nvPr>
        </p:nvSpPr>
        <p:spPr>
          <a:xfrm>
            <a:off x="912399" y="1987603"/>
            <a:ext cx="7772400" cy="4114800"/>
          </a:xfrm>
        </p:spPr>
        <p:txBody>
          <a:bodyPr/>
          <a:lstStyle/>
          <a:p>
            <a:pPr eaLnBrk="1" hangingPunct="1"/>
            <a:r>
              <a:rPr lang="zh-CN" altLang="en-US" dirty="0"/>
              <a:t>问题中的地区被划分为</a:t>
            </a:r>
            <a:r>
              <a:rPr lang="en-US" altLang="zh-CN" dirty="0"/>
              <a:t>n</a:t>
            </a:r>
            <a:r>
              <a:rPr lang="zh-CN" altLang="en-US" dirty="0"/>
              <a:t>个小区，标记为1，2，</a:t>
            </a:r>
            <a:r>
              <a:rPr lang="zh-CN" altLang="en-US" dirty="0">
                <a:latin typeface="Times New Roman" panose="02020603050405020304" pitchFamily="18" charset="0"/>
              </a:rPr>
              <a:t>…</a:t>
            </a:r>
            <a:r>
              <a:rPr lang="zh-CN" altLang="en-US" dirty="0"/>
              <a:t>, </a:t>
            </a:r>
            <a:r>
              <a:rPr lang="en-US" altLang="zh-CN" dirty="0"/>
              <a:t>n. </a:t>
            </a:r>
            <a:r>
              <a:rPr lang="zh-CN" altLang="en-US" dirty="0"/>
              <a:t>每个小区</a:t>
            </a:r>
            <a:r>
              <a:rPr lang="en-US" altLang="zh-CN" dirty="0" err="1"/>
              <a:t>i</a:t>
            </a:r>
            <a:r>
              <a:rPr lang="zh-CN" altLang="en-US" dirty="0"/>
              <a:t>有一个值</a:t>
            </a:r>
            <a:r>
              <a:rPr lang="en-US" altLang="zh-CN" dirty="0"/>
              <a:t>b</a:t>
            </a:r>
            <a:r>
              <a:rPr lang="en-US" altLang="zh-CN" sz="1600" dirty="0"/>
              <a:t>i</a:t>
            </a:r>
            <a:r>
              <a:rPr lang="en-US" altLang="zh-CN" dirty="0"/>
              <a:t>, </a:t>
            </a:r>
            <a:r>
              <a:rPr lang="zh-CN" altLang="en-US" dirty="0"/>
              <a:t>是在那里开一家咖啡馆的公司所得的收入.</a:t>
            </a:r>
          </a:p>
          <a:p>
            <a:pPr eaLnBrk="1" hangingPunct="1"/>
            <a:r>
              <a:rPr lang="zh-CN" altLang="en-US" dirty="0"/>
              <a:t>通过图</a:t>
            </a:r>
            <a:r>
              <a:rPr lang="en-US" altLang="zh-CN" dirty="0"/>
              <a:t>G=(V,E)</a:t>
            </a:r>
            <a:r>
              <a:rPr lang="zh-CN" altLang="en-US" dirty="0"/>
              <a:t>建模,</a:t>
            </a:r>
            <a:r>
              <a:rPr lang="en-US" altLang="zh-CN" dirty="0"/>
              <a:t>V</a:t>
            </a:r>
            <a:r>
              <a:rPr lang="zh-CN" altLang="en-US" dirty="0"/>
              <a:t>对应小区的集合,分区要求就是, 所开的全部咖啡馆的集合构成</a:t>
            </a:r>
            <a:r>
              <a:rPr lang="en-US" altLang="zh-CN" dirty="0"/>
              <a:t>G</a:t>
            </a:r>
            <a:r>
              <a:rPr lang="zh-CN" altLang="en-US" dirty="0"/>
              <a:t>的一个独立集.</a:t>
            </a:r>
          </a:p>
          <a:p>
            <a:pPr eaLnBrk="1" hangingPunct="1">
              <a:buFont typeface="Wingdings" panose="05000000000000000000" pitchFamily="2" charset="2"/>
              <a:buNone/>
            </a:pPr>
            <a:endParaRPr lang="en-US" altLang="zh-C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1C08F58-3000-451A-87B6-48FA9349DF9D}"/>
              </a:ext>
            </a:extLst>
          </p:cNvPr>
          <p:cNvSpPr>
            <a:spLocks noGrp="1"/>
          </p:cNvSpPr>
          <p:nvPr>
            <p:ph type="sldNum" sz="quarter" idx="12"/>
          </p:nvPr>
        </p:nvSpPr>
        <p:spPr/>
        <p:txBody>
          <a:bodyPr/>
          <a:lstStyle/>
          <a:p>
            <a:pPr>
              <a:defRPr/>
            </a:pPr>
            <a:fld id="{5037903A-15AF-41CF-B5FF-9B3AD6D3464B}" type="slidenum">
              <a:rPr lang="zh-CN" altLang="en-US"/>
              <a:pPr>
                <a:defRPr/>
              </a:pPr>
              <a:t>89</a:t>
            </a:fld>
            <a:endParaRPr lang="en-US" altLang="zh-CN"/>
          </a:p>
        </p:txBody>
      </p:sp>
      <p:sp>
        <p:nvSpPr>
          <p:cNvPr id="75779" name="Rectangle 2">
            <a:extLst>
              <a:ext uri="{FF2B5EF4-FFF2-40B4-BE49-F238E27FC236}">
                <a16:creationId xmlns:a16="http://schemas.microsoft.com/office/drawing/2014/main" id="{49F2C9D7-1B2C-4FE0-A27E-175BE6279FAE}"/>
              </a:ext>
            </a:extLst>
          </p:cNvPr>
          <p:cNvSpPr>
            <a:spLocks noGrp="1" noChangeArrowheads="1"/>
          </p:cNvSpPr>
          <p:nvPr>
            <p:ph type="title"/>
          </p:nvPr>
        </p:nvSpPr>
        <p:spPr/>
        <p:txBody>
          <a:bodyPr/>
          <a:lstStyle/>
          <a:p>
            <a:pPr eaLnBrk="1" hangingPunct="1"/>
            <a:r>
              <a:rPr lang="zh-CN" altLang="en-US"/>
              <a:t>1.2.5 竞争的便利店选址问题</a:t>
            </a:r>
          </a:p>
        </p:txBody>
      </p:sp>
      <p:sp>
        <p:nvSpPr>
          <p:cNvPr id="75780" name="Rectangle 3">
            <a:extLst>
              <a:ext uri="{FF2B5EF4-FFF2-40B4-BE49-F238E27FC236}">
                <a16:creationId xmlns:a16="http://schemas.microsoft.com/office/drawing/2014/main" id="{95928125-2C10-4BC5-AFA1-0488B77B6F9C}"/>
              </a:ext>
            </a:extLst>
          </p:cNvPr>
          <p:cNvSpPr>
            <a:spLocks noGrp="1" noChangeArrowheads="1"/>
          </p:cNvSpPr>
          <p:nvPr>
            <p:ph type="body" idx="1"/>
          </p:nvPr>
        </p:nvSpPr>
        <p:spPr>
          <a:xfrm>
            <a:off x="914400" y="2010118"/>
            <a:ext cx="7474024" cy="4114800"/>
          </a:xfrm>
        </p:spPr>
        <p:txBody>
          <a:bodyPr/>
          <a:lstStyle/>
          <a:p>
            <a:pPr algn="just" eaLnBrk="1" hangingPunct="1"/>
            <a:r>
              <a:rPr lang="zh-CN" altLang="en-US" dirty="0">
                <a:solidFill>
                  <a:schemeClr val="hlink"/>
                </a:solidFill>
              </a:rPr>
              <a:t>竞争的便利店选址问题</a:t>
            </a:r>
            <a:r>
              <a:rPr lang="zh-CN" altLang="en-US" dirty="0"/>
              <a:t>：由两个对手</a:t>
            </a:r>
            <a:r>
              <a:rPr lang="en-US" altLang="zh-CN" dirty="0"/>
              <a:t>P</a:t>
            </a:r>
            <a:r>
              <a:rPr lang="en-US" altLang="zh-CN" sz="1600" dirty="0"/>
              <a:t>1</a:t>
            </a:r>
            <a:r>
              <a:rPr lang="en-US" altLang="zh-CN" dirty="0"/>
              <a:t>, P</a:t>
            </a:r>
            <a:r>
              <a:rPr lang="en-US" altLang="zh-CN" sz="1600" dirty="0"/>
              <a:t>2</a:t>
            </a:r>
            <a:r>
              <a:rPr lang="zh-CN" altLang="en-US" dirty="0"/>
              <a:t>构成交替从</a:t>
            </a:r>
            <a:r>
              <a:rPr lang="en-US" altLang="zh-CN" dirty="0"/>
              <a:t>G</a:t>
            </a:r>
            <a:r>
              <a:rPr lang="zh-CN" altLang="en-US" dirty="0"/>
              <a:t>中选择结点, </a:t>
            </a:r>
            <a:r>
              <a:rPr lang="en-US" altLang="zh-CN" dirty="0"/>
              <a:t>P</a:t>
            </a:r>
            <a:r>
              <a:rPr lang="en-US" altLang="zh-CN" sz="1600" dirty="0"/>
              <a:t>1</a:t>
            </a:r>
            <a:r>
              <a:rPr lang="zh-CN" altLang="en-US" dirty="0"/>
              <a:t>走第一步. 假设对手</a:t>
            </a:r>
            <a:r>
              <a:rPr lang="en-US" altLang="zh-CN" dirty="0"/>
              <a:t>P</a:t>
            </a:r>
            <a:r>
              <a:rPr lang="en-US" altLang="zh-CN" sz="1600" dirty="0"/>
              <a:t>2</a:t>
            </a:r>
            <a:r>
              <a:rPr lang="zh-CN" altLang="en-US" dirty="0"/>
              <a:t>有一个界为</a:t>
            </a:r>
            <a:r>
              <a:rPr lang="en-US" altLang="zh-CN" dirty="0"/>
              <a:t>B</a:t>
            </a:r>
            <a:r>
              <a:rPr lang="zh-CN" altLang="en-US" dirty="0"/>
              <a:t>的目标,我们关心,对</a:t>
            </a:r>
            <a:r>
              <a:rPr lang="en-US" altLang="zh-CN" dirty="0"/>
              <a:t>P</a:t>
            </a:r>
            <a:r>
              <a:rPr lang="en-US" altLang="zh-CN" sz="1600" dirty="0"/>
              <a:t>2</a:t>
            </a:r>
            <a:r>
              <a:rPr lang="zh-CN" altLang="en-US" dirty="0"/>
              <a:t>是否存在一种策略不管</a:t>
            </a:r>
            <a:r>
              <a:rPr lang="en-US" altLang="zh-CN" dirty="0"/>
              <a:t>P</a:t>
            </a:r>
            <a:r>
              <a:rPr lang="en-US" altLang="zh-CN" sz="1600" dirty="0"/>
              <a:t>1</a:t>
            </a:r>
            <a:r>
              <a:rPr lang="zh-CN" altLang="en-US" dirty="0"/>
              <a:t>如何走, </a:t>
            </a:r>
            <a:r>
              <a:rPr lang="en-US" altLang="zh-CN" dirty="0"/>
              <a:t>P</a:t>
            </a:r>
            <a:r>
              <a:rPr lang="en-US" altLang="zh-CN" sz="1600" dirty="0"/>
              <a:t>2</a:t>
            </a:r>
            <a:r>
              <a:rPr lang="zh-CN" altLang="en-US" dirty="0"/>
              <a:t>是否都能选出一个总值至少是</a:t>
            </a:r>
            <a:r>
              <a:rPr lang="en-US" altLang="zh-CN" dirty="0"/>
              <a:t>B</a:t>
            </a:r>
            <a:r>
              <a:rPr lang="zh-CN" altLang="en-US" dirty="0"/>
              <a:t>的结点的集合? </a:t>
            </a:r>
            <a:endParaRPr lang="en-US" altLang="zh-CN"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5">
            <a:extLst>
              <a:ext uri="{FF2B5EF4-FFF2-40B4-BE49-F238E27FC236}">
                <a16:creationId xmlns:a16="http://schemas.microsoft.com/office/drawing/2014/main" id="{AC84C131-8939-48A6-8255-8E30EEB429AD}"/>
              </a:ext>
            </a:extLst>
          </p:cNvPr>
          <p:cNvSpPr>
            <a:spLocks noGrp="1"/>
          </p:cNvSpPr>
          <p:nvPr>
            <p:ph type="sldNum" sz="quarter" idx="12"/>
          </p:nvPr>
        </p:nvSpPr>
        <p:spPr/>
        <p:txBody>
          <a:bodyPr/>
          <a:lstStyle/>
          <a:p>
            <a:pPr>
              <a:defRPr/>
            </a:pPr>
            <a:fld id="{EDBAF82E-32C9-4728-8C6D-A9260BADC4B1}" type="slidenum">
              <a:rPr lang="zh-CN" altLang="en-US"/>
              <a:pPr>
                <a:defRPr/>
              </a:pPr>
              <a:t>90</a:t>
            </a:fld>
            <a:endParaRPr lang="en-US" altLang="zh-CN"/>
          </a:p>
        </p:txBody>
      </p:sp>
      <p:sp>
        <p:nvSpPr>
          <p:cNvPr id="76803" name="Rectangle 2">
            <a:extLst>
              <a:ext uri="{FF2B5EF4-FFF2-40B4-BE49-F238E27FC236}">
                <a16:creationId xmlns:a16="http://schemas.microsoft.com/office/drawing/2014/main" id="{BF1A9931-B71E-4C2E-B15C-1F47BBCCC5C9}"/>
              </a:ext>
            </a:extLst>
          </p:cNvPr>
          <p:cNvSpPr>
            <a:spLocks noGrp="1" noChangeArrowheads="1"/>
          </p:cNvSpPr>
          <p:nvPr>
            <p:ph type="title"/>
          </p:nvPr>
        </p:nvSpPr>
        <p:spPr/>
        <p:txBody>
          <a:bodyPr/>
          <a:lstStyle/>
          <a:p>
            <a:pPr eaLnBrk="1" hangingPunct="1"/>
            <a:r>
              <a:rPr lang="zh-CN" altLang="en-US" dirty="0"/>
              <a:t>1.2.5 竞争的便利店选址问题</a:t>
            </a:r>
          </a:p>
        </p:txBody>
      </p:sp>
      <p:sp>
        <p:nvSpPr>
          <p:cNvPr id="76804" name="Rectangle 3">
            <a:extLst>
              <a:ext uri="{FF2B5EF4-FFF2-40B4-BE49-F238E27FC236}">
                <a16:creationId xmlns:a16="http://schemas.microsoft.com/office/drawing/2014/main" id="{DAADB696-B139-4B62-8680-3E337A8A6346}"/>
              </a:ext>
            </a:extLst>
          </p:cNvPr>
          <p:cNvSpPr>
            <a:spLocks noGrp="1" noChangeArrowheads="1"/>
          </p:cNvSpPr>
          <p:nvPr>
            <p:ph type="body" idx="1"/>
          </p:nvPr>
        </p:nvSpPr>
        <p:spPr/>
        <p:txBody>
          <a:bodyPr/>
          <a:lstStyle/>
          <a:p>
            <a:pPr eaLnBrk="1" hangingPunct="1"/>
            <a:r>
              <a:rPr lang="zh-CN" altLang="en-US" dirty="0"/>
              <a:t>例子：</a:t>
            </a:r>
          </a:p>
          <a:p>
            <a:pPr eaLnBrk="1" hangingPunct="1"/>
            <a:endParaRPr lang="zh-CN" altLang="en-US" dirty="0"/>
          </a:p>
          <a:p>
            <a:pPr eaLnBrk="1" hangingPunct="1"/>
            <a:endParaRPr lang="zh-CN" altLang="en-US" dirty="0"/>
          </a:p>
          <a:p>
            <a:pPr eaLnBrk="1" hangingPunct="1"/>
            <a:r>
              <a:rPr lang="en-US" altLang="zh-CN" dirty="0"/>
              <a:t>B=20, P</a:t>
            </a:r>
            <a:r>
              <a:rPr lang="en-US" altLang="zh-CN" sz="1600" dirty="0"/>
              <a:t>2</a:t>
            </a:r>
            <a:r>
              <a:rPr lang="zh-CN" altLang="en-US" dirty="0"/>
              <a:t>有赢的策略；</a:t>
            </a:r>
            <a:r>
              <a:rPr lang="en-US" altLang="zh-CN" dirty="0"/>
              <a:t>B=25, P</a:t>
            </a:r>
            <a:r>
              <a:rPr lang="en-US" altLang="zh-CN" sz="1600" dirty="0"/>
              <a:t>2</a:t>
            </a:r>
            <a:r>
              <a:rPr lang="zh-CN" altLang="en-US" dirty="0"/>
              <a:t>就不再有赢的策略。</a:t>
            </a:r>
            <a:endParaRPr lang="en-US" altLang="zh-CN" dirty="0"/>
          </a:p>
          <a:p>
            <a:pPr eaLnBrk="1" hangingPunct="1"/>
            <a:endParaRPr lang="zh-CN" altLang="en-US" dirty="0"/>
          </a:p>
        </p:txBody>
      </p:sp>
      <p:sp>
        <p:nvSpPr>
          <p:cNvPr id="76805" name="Oval 4">
            <a:extLst>
              <a:ext uri="{FF2B5EF4-FFF2-40B4-BE49-F238E27FC236}">
                <a16:creationId xmlns:a16="http://schemas.microsoft.com/office/drawing/2014/main" id="{B5C49BB1-565D-4132-9AC9-89333FEE30F9}"/>
              </a:ext>
            </a:extLst>
          </p:cNvPr>
          <p:cNvSpPr>
            <a:spLocks noChangeAspect="1" noChangeArrowheads="1"/>
          </p:cNvSpPr>
          <p:nvPr/>
        </p:nvSpPr>
        <p:spPr bwMode="auto">
          <a:xfrm>
            <a:off x="1576388" y="3016250"/>
            <a:ext cx="249237" cy="2492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buClrTx/>
              <a:buSzTx/>
              <a:buNone/>
            </a:pPr>
            <a:endParaRPr kumimoji="0" lang="zh-CN" altLang="en-US" sz="1200"/>
          </a:p>
        </p:txBody>
      </p:sp>
      <p:sp>
        <p:nvSpPr>
          <p:cNvPr id="76806" name="Oval 5">
            <a:extLst>
              <a:ext uri="{FF2B5EF4-FFF2-40B4-BE49-F238E27FC236}">
                <a16:creationId xmlns:a16="http://schemas.microsoft.com/office/drawing/2014/main" id="{AF13BCD2-6AE5-402B-81A8-D46B0D7B61F4}"/>
              </a:ext>
            </a:extLst>
          </p:cNvPr>
          <p:cNvSpPr>
            <a:spLocks noChangeAspect="1" noChangeArrowheads="1"/>
          </p:cNvSpPr>
          <p:nvPr/>
        </p:nvSpPr>
        <p:spPr bwMode="auto">
          <a:xfrm>
            <a:off x="738188" y="3016250"/>
            <a:ext cx="249237" cy="249238"/>
          </a:xfrm>
          <a:prstGeom prst="ellipse">
            <a:avLst/>
          </a:prstGeom>
          <a:solidFill>
            <a:schemeClr val="bg1">
              <a:lumMod val="95000"/>
            </a:schemeClr>
          </a:solidFill>
          <a:ln w="9525">
            <a:solidFill>
              <a:schemeClr val="tx1"/>
            </a:solidFill>
            <a:round/>
            <a:headEnd/>
            <a:tailEnd/>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en-US" sz="1200">
              <a:latin typeface="Comic Sans MS" panose="030F0702030302020204" pitchFamily="66" charset="0"/>
            </a:endParaRPr>
          </a:p>
        </p:txBody>
      </p:sp>
      <p:cxnSp>
        <p:nvCxnSpPr>
          <p:cNvPr id="76807" name="AutoShape 6">
            <a:extLst>
              <a:ext uri="{FF2B5EF4-FFF2-40B4-BE49-F238E27FC236}">
                <a16:creationId xmlns:a16="http://schemas.microsoft.com/office/drawing/2014/main" id="{24EB4400-2ACE-41A8-A055-AF242F9F4F88}"/>
              </a:ext>
            </a:extLst>
          </p:cNvPr>
          <p:cNvCxnSpPr>
            <a:cxnSpLocks noChangeShapeType="1"/>
            <a:stCxn id="76806" idx="6"/>
            <a:endCxn id="76805" idx="2"/>
          </p:cNvCxnSpPr>
          <p:nvPr/>
        </p:nvCxnSpPr>
        <p:spPr bwMode="auto">
          <a:xfrm>
            <a:off x="987425" y="3141663"/>
            <a:ext cx="588963"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08" name="Rectangle 7">
            <a:extLst>
              <a:ext uri="{FF2B5EF4-FFF2-40B4-BE49-F238E27FC236}">
                <a16:creationId xmlns:a16="http://schemas.microsoft.com/office/drawing/2014/main" id="{92880EFB-4A4F-41AE-B8F8-B36F1C0CE7BD}"/>
              </a:ext>
            </a:extLst>
          </p:cNvPr>
          <p:cNvSpPr>
            <a:spLocks noChangeArrowheads="1"/>
          </p:cNvSpPr>
          <p:nvPr/>
        </p:nvSpPr>
        <p:spPr bwMode="auto">
          <a:xfrm>
            <a:off x="685800" y="2667000"/>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10</a:t>
            </a:r>
          </a:p>
        </p:txBody>
      </p:sp>
      <p:sp>
        <p:nvSpPr>
          <p:cNvPr id="76809" name="Rectangle 8">
            <a:extLst>
              <a:ext uri="{FF2B5EF4-FFF2-40B4-BE49-F238E27FC236}">
                <a16:creationId xmlns:a16="http://schemas.microsoft.com/office/drawing/2014/main" id="{3C23F30D-70C9-4B72-8B0F-28A42648A6DF}"/>
              </a:ext>
            </a:extLst>
          </p:cNvPr>
          <p:cNvSpPr>
            <a:spLocks noChangeArrowheads="1"/>
          </p:cNvSpPr>
          <p:nvPr/>
        </p:nvSpPr>
        <p:spPr bwMode="auto">
          <a:xfrm>
            <a:off x="1573213" y="2673350"/>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1</a:t>
            </a:r>
          </a:p>
        </p:txBody>
      </p:sp>
      <p:sp>
        <p:nvSpPr>
          <p:cNvPr id="76810" name="Oval 9">
            <a:extLst>
              <a:ext uri="{FF2B5EF4-FFF2-40B4-BE49-F238E27FC236}">
                <a16:creationId xmlns:a16="http://schemas.microsoft.com/office/drawing/2014/main" id="{49C4426C-700D-486A-8EAF-436DB308B280}"/>
              </a:ext>
            </a:extLst>
          </p:cNvPr>
          <p:cNvSpPr>
            <a:spLocks noChangeAspect="1" noChangeArrowheads="1"/>
          </p:cNvSpPr>
          <p:nvPr/>
        </p:nvSpPr>
        <p:spPr bwMode="auto">
          <a:xfrm>
            <a:off x="2414588" y="3016250"/>
            <a:ext cx="249237" cy="2492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en-US" sz="1200">
              <a:latin typeface="Comic Sans MS" panose="030F0702030302020204" pitchFamily="66" charset="0"/>
            </a:endParaRPr>
          </a:p>
        </p:txBody>
      </p:sp>
      <p:cxnSp>
        <p:nvCxnSpPr>
          <p:cNvPr id="76811" name="AutoShape 10">
            <a:extLst>
              <a:ext uri="{FF2B5EF4-FFF2-40B4-BE49-F238E27FC236}">
                <a16:creationId xmlns:a16="http://schemas.microsoft.com/office/drawing/2014/main" id="{25E52CF9-0F7E-4BE5-B3A3-02085771109E}"/>
              </a:ext>
            </a:extLst>
          </p:cNvPr>
          <p:cNvCxnSpPr>
            <a:cxnSpLocks noChangeShapeType="1"/>
            <a:stCxn id="76805" idx="6"/>
            <a:endCxn id="76810" idx="2"/>
          </p:cNvCxnSpPr>
          <p:nvPr/>
        </p:nvCxnSpPr>
        <p:spPr bwMode="auto">
          <a:xfrm>
            <a:off x="1825625" y="3141663"/>
            <a:ext cx="588963"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12" name="Rectangle 11">
            <a:extLst>
              <a:ext uri="{FF2B5EF4-FFF2-40B4-BE49-F238E27FC236}">
                <a16:creationId xmlns:a16="http://schemas.microsoft.com/office/drawing/2014/main" id="{2D5FC4A8-A01D-4167-9859-9A8B5DB3C0A4}"/>
              </a:ext>
            </a:extLst>
          </p:cNvPr>
          <p:cNvSpPr>
            <a:spLocks noChangeArrowheads="1"/>
          </p:cNvSpPr>
          <p:nvPr/>
        </p:nvSpPr>
        <p:spPr bwMode="auto">
          <a:xfrm>
            <a:off x="2411413" y="267335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5</a:t>
            </a:r>
          </a:p>
        </p:txBody>
      </p:sp>
      <p:sp>
        <p:nvSpPr>
          <p:cNvPr id="76813" name="Oval 12">
            <a:extLst>
              <a:ext uri="{FF2B5EF4-FFF2-40B4-BE49-F238E27FC236}">
                <a16:creationId xmlns:a16="http://schemas.microsoft.com/office/drawing/2014/main" id="{D93876FA-207B-4739-9EA2-1DD2E55C2D01}"/>
              </a:ext>
            </a:extLst>
          </p:cNvPr>
          <p:cNvSpPr>
            <a:spLocks noChangeAspect="1" noChangeArrowheads="1"/>
          </p:cNvSpPr>
          <p:nvPr/>
        </p:nvSpPr>
        <p:spPr bwMode="auto">
          <a:xfrm>
            <a:off x="3252788" y="3016250"/>
            <a:ext cx="249237" cy="249238"/>
          </a:xfrm>
          <a:prstGeom prst="ellipse">
            <a:avLst/>
          </a:prstGeom>
          <a:solidFill>
            <a:schemeClr val="bg1"/>
          </a:solidFill>
          <a:ln w="9525">
            <a:solidFill>
              <a:schemeClr val="tx1"/>
            </a:solidFill>
            <a:round/>
            <a:headEnd/>
            <a:tailEnd/>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buClrTx/>
              <a:buSzTx/>
              <a:buNone/>
            </a:pPr>
            <a:endParaRPr kumimoji="0" lang="zh-CN" altLang="en-US" sz="1200"/>
          </a:p>
        </p:txBody>
      </p:sp>
      <p:cxnSp>
        <p:nvCxnSpPr>
          <p:cNvPr id="76814" name="AutoShape 13">
            <a:extLst>
              <a:ext uri="{FF2B5EF4-FFF2-40B4-BE49-F238E27FC236}">
                <a16:creationId xmlns:a16="http://schemas.microsoft.com/office/drawing/2014/main" id="{C076C6D2-2B5D-4577-9BD7-1449163C2EE3}"/>
              </a:ext>
            </a:extLst>
          </p:cNvPr>
          <p:cNvCxnSpPr>
            <a:cxnSpLocks noChangeShapeType="1"/>
            <a:stCxn id="76810" idx="6"/>
            <a:endCxn id="76813" idx="2"/>
          </p:cNvCxnSpPr>
          <p:nvPr/>
        </p:nvCxnSpPr>
        <p:spPr bwMode="auto">
          <a:xfrm>
            <a:off x="2663825" y="3141663"/>
            <a:ext cx="588963"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15" name="Rectangle 14">
            <a:extLst>
              <a:ext uri="{FF2B5EF4-FFF2-40B4-BE49-F238E27FC236}">
                <a16:creationId xmlns:a16="http://schemas.microsoft.com/office/drawing/2014/main" id="{5B7B4F5D-BEEE-43EB-BE49-9D19AC7D79C5}"/>
              </a:ext>
            </a:extLst>
          </p:cNvPr>
          <p:cNvSpPr>
            <a:spLocks noChangeArrowheads="1"/>
          </p:cNvSpPr>
          <p:nvPr/>
        </p:nvSpPr>
        <p:spPr bwMode="auto">
          <a:xfrm>
            <a:off x="3249613" y="2673350"/>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15</a:t>
            </a:r>
          </a:p>
        </p:txBody>
      </p:sp>
      <p:sp>
        <p:nvSpPr>
          <p:cNvPr id="76816" name="Oval 15">
            <a:extLst>
              <a:ext uri="{FF2B5EF4-FFF2-40B4-BE49-F238E27FC236}">
                <a16:creationId xmlns:a16="http://schemas.microsoft.com/office/drawing/2014/main" id="{894BAACD-47AE-47B7-BFDC-D4E6D1337807}"/>
              </a:ext>
            </a:extLst>
          </p:cNvPr>
          <p:cNvSpPr>
            <a:spLocks noChangeAspect="1" noChangeArrowheads="1"/>
          </p:cNvSpPr>
          <p:nvPr/>
        </p:nvSpPr>
        <p:spPr bwMode="auto">
          <a:xfrm>
            <a:off x="4090988" y="3016250"/>
            <a:ext cx="249237" cy="2492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en-US" sz="1200">
              <a:latin typeface="Comic Sans MS" panose="030F0702030302020204" pitchFamily="66" charset="0"/>
            </a:endParaRPr>
          </a:p>
        </p:txBody>
      </p:sp>
      <p:cxnSp>
        <p:nvCxnSpPr>
          <p:cNvPr id="76817" name="AutoShape 16">
            <a:extLst>
              <a:ext uri="{FF2B5EF4-FFF2-40B4-BE49-F238E27FC236}">
                <a16:creationId xmlns:a16="http://schemas.microsoft.com/office/drawing/2014/main" id="{BDF9B1EC-6940-4D29-A7BD-992ED4ED9E7B}"/>
              </a:ext>
            </a:extLst>
          </p:cNvPr>
          <p:cNvCxnSpPr>
            <a:cxnSpLocks noChangeShapeType="1"/>
            <a:stCxn id="76813" idx="6"/>
            <a:endCxn id="76816" idx="2"/>
          </p:cNvCxnSpPr>
          <p:nvPr/>
        </p:nvCxnSpPr>
        <p:spPr bwMode="auto">
          <a:xfrm>
            <a:off x="3502025" y="3141663"/>
            <a:ext cx="588963"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18" name="Rectangle 17">
            <a:extLst>
              <a:ext uri="{FF2B5EF4-FFF2-40B4-BE49-F238E27FC236}">
                <a16:creationId xmlns:a16="http://schemas.microsoft.com/office/drawing/2014/main" id="{AA6621CF-F773-4005-8520-096BB2F0D88E}"/>
              </a:ext>
            </a:extLst>
          </p:cNvPr>
          <p:cNvSpPr>
            <a:spLocks noChangeArrowheads="1"/>
          </p:cNvSpPr>
          <p:nvPr/>
        </p:nvSpPr>
        <p:spPr bwMode="auto">
          <a:xfrm>
            <a:off x="4087813" y="267335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5</a:t>
            </a:r>
          </a:p>
        </p:txBody>
      </p:sp>
      <p:sp>
        <p:nvSpPr>
          <p:cNvPr id="76819" name="Oval 18">
            <a:extLst>
              <a:ext uri="{FF2B5EF4-FFF2-40B4-BE49-F238E27FC236}">
                <a16:creationId xmlns:a16="http://schemas.microsoft.com/office/drawing/2014/main" id="{33F1CE99-9710-4B0A-B6D4-6E60E6CB880D}"/>
              </a:ext>
            </a:extLst>
          </p:cNvPr>
          <p:cNvSpPr>
            <a:spLocks noChangeAspect="1" noChangeArrowheads="1"/>
          </p:cNvSpPr>
          <p:nvPr/>
        </p:nvSpPr>
        <p:spPr bwMode="auto">
          <a:xfrm>
            <a:off x="4945063" y="3013075"/>
            <a:ext cx="249237" cy="2492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buClrTx/>
              <a:buSzTx/>
              <a:buNone/>
            </a:pPr>
            <a:endParaRPr kumimoji="0" lang="zh-CN" altLang="en-US" sz="1200"/>
          </a:p>
        </p:txBody>
      </p:sp>
      <p:cxnSp>
        <p:nvCxnSpPr>
          <p:cNvPr id="76820" name="AutoShape 19">
            <a:extLst>
              <a:ext uri="{FF2B5EF4-FFF2-40B4-BE49-F238E27FC236}">
                <a16:creationId xmlns:a16="http://schemas.microsoft.com/office/drawing/2014/main" id="{B81ECC81-AD28-411F-A7F6-A82437CC80A9}"/>
              </a:ext>
            </a:extLst>
          </p:cNvPr>
          <p:cNvCxnSpPr>
            <a:cxnSpLocks noChangeShapeType="1"/>
            <a:stCxn id="76816" idx="6"/>
            <a:endCxn id="76819" idx="2"/>
          </p:cNvCxnSpPr>
          <p:nvPr/>
        </p:nvCxnSpPr>
        <p:spPr bwMode="auto">
          <a:xfrm flipV="1">
            <a:off x="4340225" y="3138488"/>
            <a:ext cx="604838" cy="31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21" name="Rectangle 20">
            <a:extLst>
              <a:ext uri="{FF2B5EF4-FFF2-40B4-BE49-F238E27FC236}">
                <a16:creationId xmlns:a16="http://schemas.microsoft.com/office/drawing/2014/main" id="{3B1024C6-F52D-4875-B355-1E82CE371190}"/>
              </a:ext>
            </a:extLst>
          </p:cNvPr>
          <p:cNvSpPr>
            <a:spLocks noChangeArrowheads="1"/>
          </p:cNvSpPr>
          <p:nvPr/>
        </p:nvSpPr>
        <p:spPr bwMode="auto">
          <a:xfrm>
            <a:off x="4941888" y="2670175"/>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1</a:t>
            </a:r>
          </a:p>
        </p:txBody>
      </p:sp>
      <p:sp>
        <p:nvSpPr>
          <p:cNvPr id="76822" name="Oval 21">
            <a:extLst>
              <a:ext uri="{FF2B5EF4-FFF2-40B4-BE49-F238E27FC236}">
                <a16:creationId xmlns:a16="http://schemas.microsoft.com/office/drawing/2014/main" id="{1DFF3FF8-DE2A-4E1B-8CAA-DB67D4F5C6FF}"/>
              </a:ext>
            </a:extLst>
          </p:cNvPr>
          <p:cNvSpPr>
            <a:spLocks noChangeAspect="1" noChangeArrowheads="1"/>
          </p:cNvSpPr>
          <p:nvPr/>
        </p:nvSpPr>
        <p:spPr bwMode="auto">
          <a:xfrm>
            <a:off x="5783263" y="3013075"/>
            <a:ext cx="249237" cy="249238"/>
          </a:xfrm>
          <a:prstGeom prst="ellipse">
            <a:avLst/>
          </a:prstGeom>
          <a:solidFill>
            <a:srgbClr val="FF0000"/>
          </a:solidFill>
          <a:ln w="9525">
            <a:solidFill>
              <a:srgbClr val="FF0000"/>
            </a:solidFill>
            <a:round/>
            <a:headEnd/>
            <a:tailEnd/>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en-US" sz="1200">
              <a:latin typeface="Comic Sans MS" panose="030F0702030302020204" pitchFamily="66" charset="0"/>
            </a:endParaRPr>
          </a:p>
        </p:txBody>
      </p:sp>
      <p:cxnSp>
        <p:nvCxnSpPr>
          <p:cNvPr id="76823" name="AutoShape 22">
            <a:extLst>
              <a:ext uri="{FF2B5EF4-FFF2-40B4-BE49-F238E27FC236}">
                <a16:creationId xmlns:a16="http://schemas.microsoft.com/office/drawing/2014/main" id="{2807DAF7-1557-4B7C-90D6-ECE38C446F07}"/>
              </a:ext>
            </a:extLst>
          </p:cNvPr>
          <p:cNvCxnSpPr>
            <a:cxnSpLocks noChangeShapeType="1"/>
            <a:stCxn id="76819" idx="6"/>
            <a:endCxn id="76822" idx="2"/>
          </p:cNvCxnSpPr>
          <p:nvPr/>
        </p:nvCxnSpPr>
        <p:spPr bwMode="auto">
          <a:xfrm>
            <a:off x="5194300" y="3138488"/>
            <a:ext cx="588963"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24" name="Rectangle 23">
            <a:extLst>
              <a:ext uri="{FF2B5EF4-FFF2-40B4-BE49-F238E27FC236}">
                <a16:creationId xmlns:a16="http://schemas.microsoft.com/office/drawing/2014/main" id="{2103E749-2D7D-4D06-9900-57666FB62B11}"/>
              </a:ext>
            </a:extLst>
          </p:cNvPr>
          <p:cNvSpPr>
            <a:spLocks noChangeArrowheads="1"/>
          </p:cNvSpPr>
          <p:nvPr/>
        </p:nvSpPr>
        <p:spPr bwMode="auto">
          <a:xfrm>
            <a:off x="5780088" y="2670175"/>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5</a:t>
            </a:r>
          </a:p>
        </p:txBody>
      </p:sp>
      <p:sp>
        <p:nvSpPr>
          <p:cNvPr id="76825" name="Oval 24">
            <a:extLst>
              <a:ext uri="{FF2B5EF4-FFF2-40B4-BE49-F238E27FC236}">
                <a16:creationId xmlns:a16="http://schemas.microsoft.com/office/drawing/2014/main" id="{8D9DF5E8-0E9B-4DDE-9B06-C374DB2DAAE9}"/>
              </a:ext>
            </a:extLst>
          </p:cNvPr>
          <p:cNvSpPr>
            <a:spLocks noChangeAspect="1" noChangeArrowheads="1"/>
          </p:cNvSpPr>
          <p:nvPr/>
        </p:nvSpPr>
        <p:spPr bwMode="auto">
          <a:xfrm>
            <a:off x="6621463" y="3013075"/>
            <a:ext cx="249237" cy="2492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en-US" sz="1200">
              <a:latin typeface="Comic Sans MS" panose="030F0702030302020204" pitchFamily="66" charset="0"/>
            </a:endParaRPr>
          </a:p>
        </p:txBody>
      </p:sp>
      <p:cxnSp>
        <p:nvCxnSpPr>
          <p:cNvPr id="76826" name="AutoShape 25">
            <a:extLst>
              <a:ext uri="{FF2B5EF4-FFF2-40B4-BE49-F238E27FC236}">
                <a16:creationId xmlns:a16="http://schemas.microsoft.com/office/drawing/2014/main" id="{45C79A39-D2E3-41F7-B997-F536A6F28334}"/>
              </a:ext>
            </a:extLst>
          </p:cNvPr>
          <p:cNvCxnSpPr>
            <a:cxnSpLocks noChangeShapeType="1"/>
            <a:stCxn id="76822" idx="6"/>
            <a:endCxn id="76825" idx="2"/>
          </p:cNvCxnSpPr>
          <p:nvPr/>
        </p:nvCxnSpPr>
        <p:spPr bwMode="auto">
          <a:xfrm>
            <a:off x="6032500" y="3138488"/>
            <a:ext cx="588963"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27" name="Rectangle 26">
            <a:extLst>
              <a:ext uri="{FF2B5EF4-FFF2-40B4-BE49-F238E27FC236}">
                <a16:creationId xmlns:a16="http://schemas.microsoft.com/office/drawing/2014/main" id="{099E4FD3-FFB4-48F2-8524-2305BC9E165A}"/>
              </a:ext>
            </a:extLst>
          </p:cNvPr>
          <p:cNvSpPr>
            <a:spLocks noChangeArrowheads="1"/>
          </p:cNvSpPr>
          <p:nvPr/>
        </p:nvSpPr>
        <p:spPr bwMode="auto">
          <a:xfrm>
            <a:off x="6618288" y="2670175"/>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1</a:t>
            </a:r>
          </a:p>
        </p:txBody>
      </p:sp>
      <p:sp>
        <p:nvSpPr>
          <p:cNvPr id="76828" name="Oval 27">
            <a:extLst>
              <a:ext uri="{FF2B5EF4-FFF2-40B4-BE49-F238E27FC236}">
                <a16:creationId xmlns:a16="http://schemas.microsoft.com/office/drawing/2014/main" id="{58BA7FEA-127F-4CBC-9D75-42AD1CA376EB}"/>
              </a:ext>
            </a:extLst>
          </p:cNvPr>
          <p:cNvSpPr>
            <a:spLocks noChangeAspect="1" noChangeArrowheads="1"/>
          </p:cNvSpPr>
          <p:nvPr/>
        </p:nvSpPr>
        <p:spPr bwMode="auto">
          <a:xfrm>
            <a:off x="7459663" y="3013075"/>
            <a:ext cx="249237" cy="249238"/>
          </a:xfrm>
          <a:prstGeom prst="ellipse">
            <a:avLst/>
          </a:prstGeom>
          <a:solidFill>
            <a:srgbClr val="FF0000"/>
          </a:solidFill>
          <a:ln w="9525">
            <a:solidFill>
              <a:schemeClr val="tx1"/>
            </a:solidFill>
            <a:round/>
            <a:headEnd/>
            <a:tailEnd/>
          </a:ln>
          <a:effec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en-US" sz="1200">
              <a:latin typeface="Comic Sans MS" panose="030F0702030302020204" pitchFamily="66" charset="0"/>
            </a:endParaRPr>
          </a:p>
        </p:txBody>
      </p:sp>
      <p:cxnSp>
        <p:nvCxnSpPr>
          <p:cNvPr id="76829" name="AutoShape 28">
            <a:extLst>
              <a:ext uri="{FF2B5EF4-FFF2-40B4-BE49-F238E27FC236}">
                <a16:creationId xmlns:a16="http://schemas.microsoft.com/office/drawing/2014/main" id="{4E0CAF9D-AE5C-4962-8094-915E11F8531E}"/>
              </a:ext>
            </a:extLst>
          </p:cNvPr>
          <p:cNvCxnSpPr>
            <a:cxnSpLocks noChangeShapeType="1"/>
            <a:stCxn id="76825" idx="6"/>
            <a:endCxn id="76828" idx="2"/>
          </p:cNvCxnSpPr>
          <p:nvPr/>
        </p:nvCxnSpPr>
        <p:spPr bwMode="auto">
          <a:xfrm>
            <a:off x="6870700" y="3138488"/>
            <a:ext cx="588963"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30" name="Rectangle 29">
            <a:extLst>
              <a:ext uri="{FF2B5EF4-FFF2-40B4-BE49-F238E27FC236}">
                <a16:creationId xmlns:a16="http://schemas.microsoft.com/office/drawing/2014/main" id="{FE645440-B21D-48F4-A73B-3F6D54DF6796}"/>
              </a:ext>
            </a:extLst>
          </p:cNvPr>
          <p:cNvSpPr>
            <a:spLocks noChangeArrowheads="1"/>
          </p:cNvSpPr>
          <p:nvPr/>
        </p:nvSpPr>
        <p:spPr bwMode="auto">
          <a:xfrm>
            <a:off x="7456488" y="2670175"/>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15</a:t>
            </a:r>
          </a:p>
        </p:txBody>
      </p:sp>
      <p:sp>
        <p:nvSpPr>
          <p:cNvPr id="76831" name="Oval 30">
            <a:extLst>
              <a:ext uri="{FF2B5EF4-FFF2-40B4-BE49-F238E27FC236}">
                <a16:creationId xmlns:a16="http://schemas.microsoft.com/office/drawing/2014/main" id="{786A8C58-E222-475A-A87B-3646C30599C5}"/>
              </a:ext>
            </a:extLst>
          </p:cNvPr>
          <p:cNvSpPr>
            <a:spLocks noChangeAspect="1" noChangeArrowheads="1"/>
          </p:cNvSpPr>
          <p:nvPr/>
        </p:nvSpPr>
        <p:spPr bwMode="auto">
          <a:xfrm>
            <a:off x="8308975" y="3016250"/>
            <a:ext cx="249238" cy="2492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en-US" sz="1200">
              <a:latin typeface="Comic Sans MS" panose="030F0702030302020204" pitchFamily="66" charset="0"/>
            </a:endParaRPr>
          </a:p>
        </p:txBody>
      </p:sp>
      <p:cxnSp>
        <p:nvCxnSpPr>
          <p:cNvPr id="76832" name="AutoShape 31">
            <a:extLst>
              <a:ext uri="{FF2B5EF4-FFF2-40B4-BE49-F238E27FC236}">
                <a16:creationId xmlns:a16="http://schemas.microsoft.com/office/drawing/2014/main" id="{0CD2B78B-05D4-47C2-8BF5-9B33B048B15A}"/>
              </a:ext>
            </a:extLst>
          </p:cNvPr>
          <p:cNvCxnSpPr>
            <a:cxnSpLocks noChangeShapeType="1"/>
            <a:stCxn id="76828" idx="6"/>
            <a:endCxn id="76831" idx="2"/>
          </p:cNvCxnSpPr>
          <p:nvPr/>
        </p:nvCxnSpPr>
        <p:spPr bwMode="auto">
          <a:xfrm>
            <a:off x="7708900" y="3138488"/>
            <a:ext cx="600075" cy="31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6833" name="Rectangle 32">
            <a:extLst>
              <a:ext uri="{FF2B5EF4-FFF2-40B4-BE49-F238E27FC236}">
                <a16:creationId xmlns:a16="http://schemas.microsoft.com/office/drawing/2014/main" id="{23D430C3-D350-45B3-AED9-36199C4EB687}"/>
              </a:ext>
            </a:extLst>
          </p:cNvPr>
          <p:cNvSpPr>
            <a:spLocks noChangeArrowheads="1"/>
          </p:cNvSpPr>
          <p:nvPr/>
        </p:nvSpPr>
        <p:spPr bwMode="auto">
          <a:xfrm>
            <a:off x="8305800" y="2673350"/>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400">
                <a:latin typeface="Comic Sans MS" panose="030F0702030302020204" pitchFamily="66" charset="0"/>
              </a:rPr>
              <a:t>10</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92FA5E8-2F26-431B-A239-E8F18669F4A5}"/>
              </a:ext>
            </a:extLst>
          </p:cNvPr>
          <p:cNvSpPr>
            <a:spLocks noGrp="1"/>
          </p:cNvSpPr>
          <p:nvPr>
            <p:ph type="sldNum" sz="quarter" idx="12"/>
          </p:nvPr>
        </p:nvSpPr>
        <p:spPr/>
        <p:txBody>
          <a:bodyPr/>
          <a:lstStyle/>
          <a:p>
            <a:pPr>
              <a:defRPr/>
            </a:pPr>
            <a:fld id="{248F586A-93E0-43A8-8410-D9B716476B02}" type="slidenum">
              <a:rPr lang="zh-CN" altLang="en-US"/>
              <a:pPr>
                <a:defRPr/>
              </a:pPr>
              <a:t>91</a:t>
            </a:fld>
            <a:endParaRPr lang="en-US" altLang="zh-CN"/>
          </a:p>
        </p:txBody>
      </p:sp>
      <p:sp>
        <p:nvSpPr>
          <p:cNvPr id="77827" name="Rectangle 2">
            <a:extLst>
              <a:ext uri="{FF2B5EF4-FFF2-40B4-BE49-F238E27FC236}">
                <a16:creationId xmlns:a16="http://schemas.microsoft.com/office/drawing/2014/main" id="{D0475CCF-62BE-4A18-A009-8CFF55FFF1F1}"/>
              </a:ext>
            </a:extLst>
          </p:cNvPr>
          <p:cNvSpPr>
            <a:spLocks noGrp="1" noChangeArrowheads="1"/>
          </p:cNvSpPr>
          <p:nvPr>
            <p:ph type="title"/>
          </p:nvPr>
        </p:nvSpPr>
        <p:spPr/>
        <p:txBody>
          <a:bodyPr/>
          <a:lstStyle/>
          <a:p>
            <a:pPr eaLnBrk="1" hangingPunct="1"/>
            <a:r>
              <a:rPr lang="zh-CN" altLang="en-US"/>
              <a:t>1.2.5 竞争的便利店选址问题</a:t>
            </a:r>
          </a:p>
        </p:txBody>
      </p:sp>
      <p:sp>
        <p:nvSpPr>
          <p:cNvPr id="2" name="Rectangle 3">
            <a:extLst>
              <a:ext uri="{FF2B5EF4-FFF2-40B4-BE49-F238E27FC236}">
                <a16:creationId xmlns:a16="http://schemas.microsoft.com/office/drawing/2014/main" id="{63E6B8D3-86EC-4BA8-9DC4-442065F310F1}"/>
              </a:ext>
            </a:extLst>
          </p:cNvPr>
          <p:cNvSpPr>
            <a:spLocks noGrp="1" noChangeArrowheads="1"/>
          </p:cNvSpPr>
          <p:nvPr>
            <p:ph type="body" idx="1"/>
          </p:nvPr>
        </p:nvSpPr>
        <p:spPr>
          <a:xfrm>
            <a:off x="914400" y="1985169"/>
            <a:ext cx="7772400" cy="4114800"/>
          </a:xfrm>
        </p:spPr>
        <p:txBody>
          <a:bodyPr/>
          <a:lstStyle/>
          <a:p>
            <a:pPr marL="0" indent="0" eaLnBrk="1" hangingPunct="1">
              <a:buNone/>
            </a:pPr>
            <a:r>
              <a:rPr lang="zh-CN" altLang="en-US" dirty="0"/>
              <a:t>从例子可以看出，对于一个大的图确信</a:t>
            </a:r>
            <a:r>
              <a:rPr lang="en-US" altLang="zh-CN" dirty="0"/>
              <a:t>P</a:t>
            </a:r>
            <a:r>
              <a:rPr lang="en-US" altLang="zh-CN" sz="1600" dirty="0"/>
              <a:t>2</a:t>
            </a:r>
            <a:r>
              <a:rPr lang="zh-CN" altLang="en-US" dirty="0"/>
              <a:t>有一个赢的策略也是困难的。为了验证需要对可能的交替过程一个个状态进行冗长分析，无法给出简短证明。验证一个解也是很困难的：</a:t>
            </a:r>
            <a:endParaRPr lang="en-US" altLang="zh-CN" dirty="0"/>
          </a:p>
          <a:p>
            <a:pPr eaLnBrk="1" hangingPunct="1"/>
            <a:r>
              <a:rPr lang="zh-CN" altLang="en-US" sz="3000" b="1" dirty="0">
                <a:latin typeface="Inter"/>
              </a:rPr>
              <a:t>博弈过程的复杂性</a:t>
            </a:r>
          </a:p>
          <a:p>
            <a:pPr eaLnBrk="1" hangingPunct="1"/>
            <a:r>
              <a:rPr lang="zh-CN" altLang="en-US" sz="3000" b="1" dirty="0">
                <a:latin typeface="Inter"/>
              </a:rPr>
              <a:t>目标界的敏感性</a:t>
            </a:r>
            <a:endParaRPr lang="en-US" altLang="zh-CN" sz="3000" b="1" dirty="0">
              <a:latin typeface="Inter"/>
            </a:endParaRPr>
          </a:p>
          <a:p>
            <a:pPr eaLnBrk="1" hangingPunct="1"/>
            <a:r>
              <a:rPr lang="zh-CN" altLang="en-US" sz="3000" b="1" dirty="0">
                <a:latin typeface="Inter"/>
              </a:rPr>
              <a:t>图结构和结点价值的多样性</a:t>
            </a:r>
          </a:p>
          <a:p>
            <a:pPr marL="0" indent="0" eaLnBrk="1" hangingPunct="1">
              <a:buNone/>
            </a:pPr>
            <a:endParaRPr lang="zh-CN" altLang="en-US" b="1" dirty="0">
              <a:latin typeface="Inter"/>
            </a:endParaRPr>
          </a:p>
          <a:p>
            <a:pPr eaLnBrk="1" hangingPunct="1"/>
            <a:endParaRPr lang="en-US" altLang="zh-C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5FB512F-7CEF-4CC5-8C95-B6694887060E}"/>
              </a:ext>
            </a:extLst>
          </p:cNvPr>
          <p:cNvSpPr>
            <a:spLocks noGrp="1"/>
          </p:cNvSpPr>
          <p:nvPr>
            <p:ph type="sldNum" sz="quarter" idx="12"/>
          </p:nvPr>
        </p:nvSpPr>
        <p:spPr/>
        <p:txBody>
          <a:bodyPr/>
          <a:lstStyle/>
          <a:p>
            <a:pPr>
              <a:defRPr/>
            </a:pPr>
            <a:fld id="{40843079-35A9-47AC-AAAB-24F21A23FBCC}" type="slidenum">
              <a:rPr lang="zh-CN" altLang="en-US"/>
              <a:pPr>
                <a:defRPr/>
              </a:pPr>
              <a:t>92</a:t>
            </a:fld>
            <a:endParaRPr lang="en-US" altLang="zh-CN"/>
          </a:p>
        </p:txBody>
      </p:sp>
      <p:sp>
        <p:nvSpPr>
          <p:cNvPr id="80899" name="Rectangle 2">
            <a:extLst>
              <a:ext uri="{FF2B5EF4-FFF2-40B4-BE49-F238E27FC236}">
                <a16:creationId xmlns:a16="http://schemas.microsoft.com/office/drawing/2014/main" id="{706F50C6-AFA1-42BB-8B5B-DBA08D830895}"/>
              </a:ext>
            </a:extLst>
          </p:cNvPr>
          <p:cNvSpPr>
            <a:spLocks noGrp="1" noChangeArrowheads="1"/>
          </p:cNvSpPr>
          <p:nvPr>
            <p:ph type="title"/>
          </p:nvPr>
        </p:nvSpPr>
        <p:spPr/>
        <p:txBody>
          <a:bodyPr/>
          <a:lstStyle/>
          <a:p>
            <a:pPr eaLnBrk="1" hangingPunct="1"/>
            <a:r>
              <a:rPr lang="zh-CN" altLang="en-US"/>
              <a:t>1.2.5竞争的便利店选址问题</a:t>
            </a:r>
            <a:endParaRPr lang="en-US" altLang="zh-CN"/>
          </a:p>
        </p:txBody>
      </p:sp>
      <p:sp>
        <p:nvSpPr>
          <p:cNvPr id="80900" name="Rectangle 3">
            <a:extLst>
              <a:ext uri="{FF2B5EF4-FFF2-40B4-BE49-F238E27FC236}">
                <a16:creationId xmlns:a16="http://schemas.microsoft.com/office/drawing/2014/main" id="{ED433802-F37C-422D-BFBD-D4491F90FA49}"/>
              </a:ext>
            </a:extLst>
          </p:cNvPr>
          <p:cNvSpPr>
            <a:spLocks noGrp="1" noChangeArrowheads="1"/>
          </p:cNvSpPr>
          <p:nvPr>
            <p:ph type="body" idx="1"/>
          </p:nvPr>
        </p:nvSpPr>
        <p:spPr>
          <a:xfrm>
            <a:off x="971600" y="2012552"/>
            <a:ext cx="7772400" cy="4114800"/>
          </a:xfrm>
        </p:spPr>
        <p:txBody>
          <a:bodyPr/>
          <a:lstStyle/>
          <a:p>
            <a:pPr eaLnBrk="1" hangingPunct="1"/>
            <a:r>
              <a:rPr lang="en-US" altLang="zh-CN" dirty="0"/>
              <a:t>PSPACE</a:t>
            </a:r>
            <a:r>
              <a:rPr lang="zh-CN" altLang="en-US" dirty="0"/>
              <a:t>完全问题类</a:t>
            </a:r>
          </a:p>
          <a:p>
            <a:pPr eaLnBrk="1" hangingPunct="1"/>
            <a:endParaRPr lang="zh-CN" altLang="en-US" dirty="0"/>
          </a:p>
          <a:p>
            <a:pPr eaLnBrk="1" hangingPunct="1"/>
            <a:r>
              <a:rPr lang="en-US" altLang="zh-CN" dirty="0"/>
              <a:t>PSPACE</a:t>
            </a:r>
            <a:r>
              <a:rPr lang="zh-CN" altLang="en-US" dirty="0"/>
              <a:t>完全问题严格难于</a:t>
            </a:r>
            <a:r>
              <a:rPr lang="en-US" altLang="zh-CN" dirty="0"/>
              <a:t>NP</a:t>
            </a:r>
            <a:r>
              <a:rPr lang="zh-CN" altLang="en-US" dirty="0"/>
              <a:t>完全问题</a:t>
            </a:r>
          </a:p>
          <a:p>
            <a:pPr eaLnBrk="1" hangingPunct="1"/>
            <a:endParaRPr lang="zh-CN" altLang="en-US" dirty="0"/>
          </a:p>
          <a:p>
            <a:pPr eaLnBrk="1" hangingPunct="1"/>
            <a:r>
              <a:rPr lang="en-US" altLang="zh-CN" dirty="0"/>
              <a:t>PSPACE</a:t>
            </a:r>
            <a:r>
              <a:rPr lang="zh-CN" altLang="en-US" dirty="0"/>
              <a:t>完全的概念涉及到对策策略，规划，人工智能领域的基本课题</a:t>
            </a:r>
          </a:p>
          <a:p>
            <a:pPr eaLnBrk="1" hangingPunct="1">
              <a:buFont typeface="Wingdings" panose="05000000000000000000" pitchFamily="2" charset="2"/>
              <a:buNone/>
            </a:pPr>
            <a:endParaRPr lang="en-US" altLang="zh-C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1C20AFB-E851-47C4-B130-A1C656128477}"/>
              </a:ext>
            </a:extLst>
          </p:cNvPr>
          <p:cNvSpPr>
            <a:spLocks noGrp="1"/>
          </p:cNvSpPr>
          <p:nvPr>
            <p:ph type="sldNum" sz="quarter" idx="12"/>
          </p:nvPr>
        </p:nvSpPr>
        <p:spPr/>
        <p:txBody>
          <a:bodyPr/>
          <a:lstStyle/>
          <a:p>
            <a:pPr>
              <a:defRPr/>
            </a:pPr>
            <a:fld id="{E5DB691C-D987-44D8-8002-C690332DD31F}" type="slidenum">
              <a:rPr lang="zh-CN" altLang="en-US"/>
              <a:pPr>
                <a:defRPr/>
              </a:pPr>
              <a:t>93</a:t>
            </a:fld>
            <a:endParaRPr lang="en-US" altLang="zh-CN"/>
          </a:p>
        </p:txBody>
      </p:sp>
      <p:sp>
        <p:nvSpPr>
          <p:cNvPr id="81923" name="Rectangle 2">
            <a:extLst>
              <a:ext uri="{FF2B5EF4-FFF2-40B4-BE49-F238E27FC236}">
                <a16:creationId xmlns:a16="http://schemas.microsoft.com/office/drawing/2014/main" id="{612D608F-ED00-4D38-9E46-7529A6E953FC}"/>
              </a:ext>
            </a:extLst>
          </p:cNvPr>
          <p:cNvSpPr>
            <a:spLocks noGrp="1" noChangeArrowheads="1"/>
          </p:cNvSpPr>
          <p:nvPr>
            <p:ph type="title"/>
          </p:nvPr>
        </p:nvSpPr>
        <p:spPr/>
        <p:txBody>
          <a:bodyPr/>
          <a:lstStyle/>
          <a:p>
            <a:pPr eaLnBrk="1" hangingPunct="1"/>
            <a:r>
              <a:rPr lang="zh-CN" altLang="en-US"/>
              <a:t>小结</a:t>
            </a:r>
          </a:p>
        </p:txBody>
      </p:sp>
      <p:sp>
        <p:nvSpPr>
          <p:cNvPr id="81924" name="Rectangle 3">
            <a:extLst>
              <a:ext uri="{FF2B5EF4-FFF2-40B4-BE49-F238E27FC236}">
                <a16:creationId xmlns:a16="http://schemas.microsoft.com/office/drawing/2014/main" id="{0850DC74-25C5-4DC6-ACCF-4AF18D1674ED}"/>
              </a:ext>
            </a:extLst>
          </p:cNvPr>
          <p:cNvSpPr>
            <a:spLocks noGrp="1" noChangeArrowheads="1"/>
          </p:cNvSpPr>
          <p:nvPr>
            <p:ph type="body" idx="1"/>
          </p:nvPr>
        </p:nvSpPr>
        <p:spPr>
          <a:xfrm>
            <a:off x="914400" y="2005047"/>
            <a:ext cx="7330008" cy="4114800"/>
          </a:xfrm>
        </p:spPr>
        <p:txBody>
          <a:bodyPr/>
          <a:lstStyle/>
          <a:p>
            <a:pPr eaLnBrk="1" hangingPunct="1"/>
            <a:r>
              <a:rPr lang="zh-CN" altLang="en-US" sz="2800" dirty="0"/>
              <a:t>区间调度：贪心算法。</a:t>
            </a:r>
          </a:p>
          <a:p>
            <a:pPr eaLnBrk="1" hangingPunct="1"/>
            <a:r>
              <a:rPr lang="zh-CN" altLang="en-US" sz="2800" dirty="0"/>
              <a:t>加权区间调度：动态规划算法。</a:t>
            </a:r>
          </a:p>
          <a:p>
            <a:pPr eaLnBrk="1" hangingPunct="1"/>
            <a:r>
              <a:rPr lang="zh-CN" altLang="en-US" sz="2800" dirty="0"/>
              <a:t>二分匹配：匈牙利算法和基于最大流的算法。</a:t>
            </a:r>
          </a:p>
          <a:p>
            <a:pPr eaLnBrk="1" hangingPunct="1"/>
            <a:r>
              <a:rPr lang="zh-CN" altLang="en-US" sz="2800" dirty="0"/>
              <a:t>独立集：</a:t>
            </a:r>
            <a:r>
              <a:rPr lang="en-US" altLang="zh-CN" sz="2800" dirty="0"/>
              <a:t>NP</a:t>
            </a:r>
            <a:r>
              <a:rPr lang="zh-CN" altLang="en-US" sz="2800" dirty="0"/>
              <a:t>完全问题。</a:t>
            </a:r>
          </a:p>
          <a:p>
            <a:pPr eaLnBrk="1" hangingPunct="1"/>
            <a:r>
              <a:rPr lang="zh-CN" altLang="en-US" sz="2800" dirty="0"/>
              <a:t>竞争性设施选址：</a:t>
            </a:r>
            <a:r>
              <a:rPr lang="en-US" altLang="zh-CN" sz="2800" dirty="0"/>
              <a:t>PSPACE</a:t>
            </a:r>
            <a:r>
              <a:rPr lang="zh-CN" altLang="en-US" sz="2800" dirty="0"/>
              <a:t>完全问题。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7|6.3|14.1|10"/>
</p:tagLst>
</file>

<file path=ppt/tags/tag2.xml><?xml version="1.0" encoding="utf-8"?>
<p:tagLst xmlns:a="http://schemas.openxmlformats.org/drawingml/2006/main" xmlns:r="http://schemas.openxmlformats.org/officeDocument/2006/relationships" xmlns:p="http://schemas.openxmlformats.org/presentationml/2006/main">
  <p:tag name="TIMING" val="|1.2|4.5|4.5|13.5|5.6|6.3"/>
</p:tagLst>
</file>

<file path=ppt/tags/tag3.xml><?xml version="1.0" encoding="utf-8"?>
<p:tagLst xmlns:a="http://schemas.openxmlformats.org/drawingml/2006/main" xmlns:r="http://schemas.openxmlformats.org/officeDocument/2006/relationships" xmlns:p="http://schemas.openxmlformats.org/presentationml/2006/main">
  <p:tag name="TIMING" val="|2.1|17.8"/>
</p:tagLst>
</file>

<file path=ppt/tags/tag4.xml><?xml version="1.0" encoding="utf-8"?>
<p:tagLst xmlns:a="http://schemas.openxmlformats.org/drawingml/2006/main" xmlns:r="http://schemas.openxmlformats.org/officeDocument/2006/relationships" xmlns:p="http://schemas.openxmlformats.org/presentationml/2006/main">
  <p:tag name="TIMING" val="|0.8|22.5|26.4|7.5"/>
</p:tagLst>
</file>

<file path=ppt/tags/tag5.xml><?xml version="1.0" encoding="utf-8"?>
<p:tagLst xmlns:a="http://schemas.openxmlformats.org/drawingml/2006/main" xmlns:r="http://schemas.openxmlformats.org/officeDocument/2006/relationships" xmlns:p="http://schemas.openxmlformats.org/presentationml/2006/main">
  <p:tag name="TIMING" val="|15.3|1.2|12.8|19.1"/>
</p:tagLst>
</file>

<file path=ppt/tags/tag6.xml><?xml version="1.0" encoding="utf-8"?>
<p:tagLst xmlns:a="http://schemas.openxmlformats.org/drawingml/2006/main" xmlns:r="http://schemas.openxmlformats.org/officeDocument/2006/relationships" xmlns:p="http://schemas.openxmlformats.org/presentationml/2006/main">
  <p:tag name="TIMING" val="|1.1|39.8|15.6"/>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2075" tIns="46038" rIns="92075" bIns="46038"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altLang="zh-CN" sz="1600" b="0" i="0" u="none" strike="noStrike" cap="none" normalizeH="0" baseline="0" smtClean="0">
            <a:ln>
              <a:noFill/>
            </a:ln>
            <a:solidFill>
              <a:srgbClr val="00FF00"/>
            </a:solidFill>
            <a:effectLst/>
            <a:latin typeface="Comic Sans MS" panose="030F0702030302020204" pitchFamily="66"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2075" tIns="46038" rIns="92075" bIns="46038"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altLang="zh-CN" sz="1600" b="0" i="0" u="none" strike="noStrike" cap="none" normalizeH="0" baseline="0" smtClean="0">
            <a:ln>
              <a:noFill/>
            </a:ln>
            <a:solidFill>
              <a:srgbClr val="00FF00"/>
            </a:solidFill>
            <a:effectLst/>
            <a:latin typeface="Comic Sans MS" panose="030F0702030302020204" pitchFamily="66"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7513</TotalTime>
  <Words>10260</Words>
  <Application>Microsoft Office PowerPoint</Application>
  <PresentationFormat>全屏显示(4:3)</PresentationFormat>
  <Paragraphs>977</Paragraphs>
  <Slides>93</Slides>
  <Notes>35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93</vt:i4>
      </vt:variant>
    </vt:vector>
  </HeadingPairs>
  <TitlesOfParts>
    <vt:vector size="109" baseType="lpstr">
      <vt:lpstr>Arial Unicode MS</vt:lpstr>
      <vt:lpstr>Helvetica Neue</vt:lpstr>
      <vt:lpstr>Hiragino Sans GB</vt:lpstr>
      <vt:lpstr>Inter</vt:lpstr>
      <vt:lpstr>黑体</vt:lpstr>
      <vt:lpstr>Arial</vt:lpstr>
      <vt:lpstr>Calibri</vt:lpstr>
      <vt:lpstr>Comic Sans MS</vt:lpstr>
      <vt:lpstr>Courier New</vt:lpstr>
      <vt:lpstr>Symbol</vt:lpstr>
      <vt:lpstr>Tahoma</vt:lpstr>
      <vt:lpstr>Times New Roman</vt:lpstr>
      <vt:lpstr>Wingdings</vt:lpstr>
      <vt:lpstr>Blends</vt:lpstr>
      <vt:lpstr>Equation</vt:lpstr>
      <vt:lpstr>BMP 图像</vt:lpstr>
      <vt:lpstr>第一章 引言：某些典型的问题</vt:lpstr>
      <vt:lpstr>课程目标</vt:lpstr>
      <vt:lpstr>课程目标</vt:lpstr>
      <vt:lpstr>课程目标</vt:lpstr>
      <vt:lpstr>课程目标</vt:lpstr>
      <vt:lpstr>成绩评定</vt:lpstr>
      <vt:lpstr>教   材</vt:lpstr>
      <vt:lpstr>主要内容介绍</vt:lpstr>
      <vt:lpstr>第一个问题： 稳定匹配</vt:lpstr>
      <vt:lpstr>第一个问题： 稳定匹配</vt:lpstr>
      <vt:lpstr>第一个问题： 稳定匹配</vt:lpstr>
      <vt:lpstr>1.1 第一个问题： 稳定匹配</vt:lpstr>
      <vt:lpstr>问题的提出</vt:lpstr>
      <vt:lpstr>问题的提出</vt:lpstr>
      <vt:lpstr>PowerPoint 演示文稿</vt:lpstr>
      <vt:lpstr>问题的背景</vt:lpstr>
      <vt:lpstr>第一个问题： 稳定匹配</vt:lpstr>
      <vt:lpstr>第一个问题： 稳定匹配</vt:lpstr>
      <vt:lpstr>第一个问题： 稳定匹配</vt:lpstr>
      <vt:lpstr>1.1 问题的形式化</vt:lpstr>
      <vt:lpstr>1.1 问题</vt:lpstr>
      <vt:lpstr>1.1 问题</vt:lpstr>
      <vt:lpstr>1.1 问题</vt:lpstr>
      <vt:lpstr>1.1 问题</vt:lpstr>
      <vt:lpstr>1.1 问题</vt:lpstr>
      <vt:lpstr>1.1 问题</vt:lpstr>
      <vt:lpstr>1.1 问题</vt:lpstr>
      <vt:lpstr>例子</vt:lpstr>
      <vt:lpstr>例子</vt:lpstr>
      <vt:lpstr>例子</vt:lpstr>
      <vt:lpstr>例子</vt:lpstr>
      <vt:lpstr>例子</vt:lpstr>
      <vt:lpstr>算法</vt:lpstr>
      <vt:lpstr>算法</vt:lpstr>
      <vt:lpstr>算法</vt:lpstr>
      <vt:lpstr>算法</vt:lpstr>
      <vt:lpstr>算法</vt:lpstr>
      <vt:lpstr>算法</vt:lpstr>
      <vt:lpstr>分析算法</vt:lpstr>
      <vt:lpstr>分析算法</vt:lpstr>
      <vt:lpstr>分析算法</vt:lpstr>
      <vt:lpstr>分析算法</vt:lpstr>
      <vt:lpstr>分析算法</vt:lpstr>
      <vt:lpstr>分析算法</vt:lpstr>
      <vt:lpstr>分析算法</vt:lpstr>
      <vt:lpstr>分析算法</vt:lpstr>
      <vt:lpstr>实现算法</vt:lpstr>
      <vt:lpstr>实现算法</vt:lpstr>
      <vt:lpstr>推广</vt:lpstr>
      <vt:lpstr>推广</vt:lpstr>
      <vt:lpstr>推广</vt:lpstr>
      <vt:lpstr>推广</vt:lpstr>
      <vt:lpstr>推广</vt:lpstr>
      <vt:lpstr>推广</vt:lpstr>
      <vt:lpstr>推广</vt:lpstr>
      <vt:lpstr>推广</vt:lpstr>
      <vt:lpstr>推广</vt:lpstr>
      <vt:lpstr>推广</vt:lpstr>
      <vt:lpstr>推广</vt:lpstr>
      <vt:lpstr>推广</vt:lpstr>
      <vt:lpstr>推广</vt:lpstr>
      <vt:lpstr>扩展</vt:lpstr>
      <vt:lpstr>扩展</vt:lpstr>
      <vt:lpstr>扩展</vt:lpstr>
      <vt:lpstr>总结</vt:lpstr>
      <vt:lpstr>1.2 五个典型问题</vt:lpstr>
      <vt:lpstr>1.2 五个典型问题</vt:lpstr>
      <vt:lpstr>1.2 五个典型问题</vt:lpstr>
      <vt:lpstr>1.2.1 区间调度问题</vt:lpstr>
      <vt:lpstr>1.2.1 区间调度问题</vt:lpstr>
      <vt:lpstr>1.2.1 区间调度问题</vt:lpstr>
      <vt:lpstr>1.2.2 带权的区间调度</vt:lpstr>
      <vt:lpstr>1.2.2 带权的区间调度</vt:lpstr>
      <vt:lpstr>1.2.2 带权的区间调度</vt:lpstr>
      <vt:lpstr>1.2.2 带权的区间调度</vt:lpstr>
      <vt:lpstr>1.2.3 二分匹配</vt:lpstr>
      <vt:lpstr>1.2.3 二分匹配</vt:lpstr>
      <vt:lpstr>1.2.3 二分匹配</vt:lpstr>
      <vt:lpstr>1.2.3 二分匹配</vt:lpstr>
      <vt:lpstr>1.2.3 二分匹配</vt:lpstr>
      <vt:lpstr>1.2.3 二分匹配</vt:lpstr>
      <vt:lpstr>1.2.3 二分匹配</vt:lpstr>
      <vt:lpstr>1.2.4 独立集</vt:lpstr>
      <vt:lpstr>1.2.4 独立集</vt:lpstr>
      <vt:lpstr>1.2.4 独立集</vt:lpstr>
      <vt:lpstr>1.2.4 独立集</vt:lpstr>
      <vt:lpstr>1.2.5 竞争的便利店选址问题</vt:lpstr>
      <vt:lpstr>1.2.5 竞争的便利店选址问题</vt:lpstr>
      <vt:lpstr>1.2.5 竞争的便利店选址问题</vt:lpstr>
      <vt:lpstr>1.2.5 竞争的便利店选址问题</vt:lpstr>
      <vt:lpstr>1.2.5 竞争的便利店选址问题</vt:lpstr>
      <vt:lpstr>1.2.5竞争的便利店选址问题</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Ming Su</dc:creator>
  <cp:lastModifiedBy>David Ma</cp:lastModifiedBy>
  <cp:revision>343</cp:revision>
  <dcterms:created xsi:type="dcterms:W3CDTF">2008-09-06T02:26:29Z</dcterms:created>
  <dcterms:modified xsi:type="dcterms:W3CDTF">2025-02-18T14:40:27Z</dcterms:modified>
</cp:coreProperties>
</file>