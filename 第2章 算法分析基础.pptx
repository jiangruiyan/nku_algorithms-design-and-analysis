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mp4" ContentType="video/mp4"/>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62" r:id="rId5"/>
    <p:sldId id="292" r:id="rId6"/>
    <p:sldId id="307" r:id="rId7"/>
    <p:sldId id="291" r:id="rId8"/>
    <p:sldId id="257" r:id="rId9"/>
    <p:sldId id="258" r:id="rId10"/>
    <p:sldId id="310" r:id="rId11"/>
    <p:sldId id="311" r:id="rId12"/>
    <p:sldId id="261" r:id="rId13"/>
    <p:sldId id="259" r:id="rId14"/>
    <p:sldId id="290" r:id="rId15"/>
    <p:sldId id="260" r:id="rId16"/>
    <p:sldId id="263" r:id="rId17"/>
    <p:sldId id="309" r:id="rId18"/>
    <p:sldId id="264" r:id="rId19"/>
    <p:sldId id="327" r:id="rId20"/>
    <p:sldId id="265" r:id="rId21"/>
    <p:sldId id="266" r:id="rId22"/>
    <p:sldId id="267" r:id="rId23"/>
    <p:sldId id="268" r:id="rId24"/>
    <p:sldId id="312" r:id="rId25"/>
    <p:sldId id="314" r:id="rId26"/>
    <p:sldId id="269" r:id="rId27"/>
    <p:sldId id="315" r:id="rId28"/>
    <p:sldId id="316" r:id="rId29"/>
    <p:sldId id="330" r:id="rId30"/>
    <p:sldId id="317" r:id="rId31"/>
    <p:sldId id="270" r:id="rId32"/>
    <p:sldId id="318" r:id="rId33"/>
    <p:sldId id="271" r:id="rId34"/>
    <p:sldId id="350" r:id="rId35"/>
    <p:sldId id="351" r:id="rId36"/>
    <p:sldId id="334" r:id="rId37"/>
    <p:sldId id="335" r:id="rId38"/>
    <p:sldId id="336" r:id="rId39"/>
    <p:sldId id="337" r:id="rId40"/>
    <p:sldId id="338" r:id="rId41"/>
    <p:sldId id="339" r:id="rId42"/>
    <p:sldId id="340" r:id="rId43"/>
    <p:sldId id="341" r:id="rId44"/>
    <p:sldId id="342" r:id="rId45"/>
    <p:sldId id="343" r:id="rId46"/>
    <p:sldId id="344" r:id="rId47"/>
    <p:sldId id="345" r:id="rId48"/>
    <p:sldId id="346" r:id="rId49"/>
    <p:sldId id="349" r:id="rId50"/>
    <p:sldId id="347" r:id="rId51"/>
    <p:sldId id="289" r:id="rId52"/>
    <p:sldId id="288" r:id="rId53"/>
    <p:sldId id="273" r:id="rId54"/>
    <p:sldId id="274" r:id="rId55"/>
    <p:sldId id="275" r:id="rId56"/>
    <p:sldId id="276" r:id="rId57"/>
    <p:sldId id="277" r:id="rId58"/>
    <p:sldId id="319" r:id="rId59"/>
    <p:sldId id="320" r:id="rId60"/>
    <p:sldId id="278" r:id="rId61"/>
    <p:sldId id="321" r:id="rId62"/>
    <p:sldId id="279" r:id="rId63"/>
    <p:sldId id="322" r:id="rId64"/>
    <p:sldId id="323" r:id="rId65"/>
    <p:sldId id="280" r:id="rId66"/>
    <p:sldId id="281" r:id="rId67"/>
    <p:sldId id="282" r:id="rId68"/>
    <p:sldId id="283" r:id="rId69"/>
    <p:sldId id="284" r:id="rId70"/>
    <p:sldId id="285" r:id="rId71"/>
    <p:sldId id="324" r:id="rId72"/>
    <p:sldId id="325" r:id="rId73"/>
    <p:sldId id="326" r:id="rId74"/>
    <p:sldId id="286" r:id="rId75"/>
    <p:sldId id="287" r:id="rId76"/>
    <p:sldId id="331" r:id="rId77"/>
    <p:sldId id="332" r:id="rId78"/>
    <p:sldId id="333" r:id="rId79"/>
  </p:sldIdLst>
  <p:sldSz cx="9144000" cy="6858000" type="screen4x3"/>
  <p:notesSz cx="6858000" cy="9144000"/>
  <p:defaultTextStyle>
    <a:defPPr>
      <a:defRPr lang="en-US"/>
    </a:defPPr>
    <a:lvl1pPr algn="l" rtl="0" eaLnBrk="0" fontAlgn="base" hangingPunct="0">
      <a:spcBef>
        <a:spcPct val="0"/>
      </a:spcBef>
      <a:spcAft>
        <a:spcPct val="0"/>
      </a:spcAft>
      <a:defRPr sz="1400" b="1" kern="1200">
        <a:solidFill>
          <a:schemeClr val="bg2"/>
        </a:solidFill>
        <a:latin typeface="Courier New" panose="02070309020205020404" pitchFamily="49" charset="0"/>
        <a:ea typeface="宋体" panose="02010600030101010101" pitchFamily="2" charset="-122"/>
        <a:cs typeface="+mn-cs"/>
      </a:defRPr>
    </a:lvl1pPr>
    <a:lvl2pPr marL="457200" algn="l" rtl="0" eaLnBrk="0" fontAlgn="base" hangingPunct="0">
      <a:spcBef>
        <a:spcPct val="0"/>
      </a:spcBef>
      <a:spcAft>
        <a:spcPct val="0"/>
      </a:spcAft>
      <a:defRPr sz="1400" b="1" kern="1200">
        <a:solidFill>
          <a:schemeClr val="bg2"/>
        </a:solidFill>
        <a:latin typeface="Courier New" panose="02070309020205020404" pitchFamily="49" charset="0"/>
        <a:ea typeface="宋体" panose="02010600030101010101" pitchFamily="2" charset="-122"/>
        <a:cs typeface="+mn-cs"/>
      </a:defRPr>
    </a:lvl2pPr>
    <a:lvl3pPr marL="914400" algn="l" rtl="0" eaLnBrk="0" fontAlgn="base" hangingPunct="0">
      <a:spcBef>
        <a:spcPct val="0"/>
      </a:spcBef>
      <a:spcAft>
        <a:spcPct val="0"/>
      </a:spcAft>
      <a:defRPr sz="1400" b="1" kern="1200">
        <a:solidFill>
          <a:schemeClr val="bg2"/>
        </a:solidFill>
        <a:latin typeface="Courier New" panose="02070309020205020404" pitchFamily="49" charset="0"/>
        <a:ea typeface="宋体" panose="02010600030101010101" pitchFamily="2" charset="-122"/>
        <a:cs typeface="+mn-cs"/>
      </a:defRPr>
    </a:lvl3pPr>
    <a:lvl4pPr marL="1371600" algn="l" rtl="0" eaLnBrk="0" fontAlgn="base" hangingPunct="0">
      <a:spcBef>
        <a:spcPct val="0"/>
      </a:spcBef>
      <a:spcAft>
        <a:spcPct val="0"/>
      </a:spcAft>
      <a:defRPr sz="1400" b="1" kern="1200">
        <a:solidFill>
          <a:schemeClr val="bg2"/>
        </a:solidFill>
        <a:latin typeface="Courier New" panose="02070309020205020404" pitchFamily="49" charset="0"/>
        <a:ea typeface="宋体" panose="02010600030101010101" pitchFamily="2" charset="-122"/>
        <a:cs typeface="+mn-cs"/>
      </a:defRPr>
    </a:lvl4pPr>
    <a:lvl5pPr marL="1828800" algn="l" rtl="0" eaLnBrk="0" fontAlgn="base" hangingPunct="0">
      <a:spcBef>
        <a:spcPct val="0"/>
      </a:spcBef>
      <a:spcAft>
        <a:spcPct val="0"/>
      </a:spcAft>
      <a:defRPr sz="1400" b="1" kern="1200">
        <a:solidFill>
          <a:schemeClr val="bg2"/>
        </a:solidFill>
        <a:latin typeface="Courier New" panose="02070309020205020404" pitchFamily="49" charset="0"/>
        <a:ea typeface="宋体" panose="02010600030101010101" pitchFamily="2" charset="-122"/>
        <a:cs typeface="+mn-cs"/>
      </a:defRPr>
    </a:lvl5pPr>
    <a:lvl6pPr marL="2286000" algn="l" defTabSz="914400" rtl="0" eaLnBrk="1" latinLnBrk="0" hangingPunct="1">
      <a:defRPr sz="1400" b="1" kern="1200">
        <a:solidFill>
          <a:schemeClr val="bg2"/>
        </a:solidFill>
        <a:latin typeface="Courier New" panose="02070309020205020404" pitchFamily="49" charset="0"/>
        <a:ea typeface="宋体" panose="02010600030101010101" pitchFamily="2" charset="-122"/>
        <a:cs typeface="+mn-cs"/>
      </a:defRPr>
    </a:lvl6pPr>
    <a:lvl7pPr marL="2743200" algn="l" defTabSz="914400" rtl="0" eaLnBrk="1" latinLnBrk="0" hangingPunct="1">
      <a:defRPr sz="1400" b="1" kern="1200">
        <a:solidFill>
          <a:schemeClr val="bg2"/>
        </a:solidFill>
        <a:latin typeface="Courier New" panose="02070309020205020404" pitchFamily="49" charset="0"/>
        <a:ea typeface="宋体" panose="02010600030101010101" pitchFamily="2" charset="-122"/>
        <a:cs typeface="+mn-cs"/>
      </a:defRPr>
    </a:lvl7pPr>
    <a:lvl8pPr marL="3200400" algn="l" defTabSz="914400" rtl="0" eaLnBrk="1" latinLnBrk="0" hangingPunct="1">
      <a:defRPr sz="1400" b="1" kern="1200">
        <a:solidFill>
          <a:schemeClr val="bg2"/>
        </a:solidFill>
        <a:latin typeface="Courier New" panose="02070309020205020404" pitchFamily="49" charset="0"/>
        <a:ea typeface="宋体" panose="02010600030101010101" pitchFamily="2" charset="-122"/>
        <a:cs typeface="+mn-cs"/>
      </a:defRPr>
    </a:lvl8pPr>
    <a:lvl9pPr marL="3657600" algn="l" defTabSz="914400" rtl="0" eaLnBrk="1" latinLnBrk="0" hangingPunct="1">
      <a:defRPr sz="1400" b="1" kern="1200">
        <a:solidFill>
          <a:schemeClr val="bg2"/>
        </a:solidFill>
        <a:latin typeface="Courier New" panose="02070309020205020404" pitchFamily="49"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9868" autoAdjust="0"/>
    <p:restoredTop sz="82625" autoAdjust="0"/>
  </p:normalViewPr>
  <p:slideViewPr>
    <p:cSldViewPr showGuides="1">
      <p:cViewPr varScale="1">
        <p:scale>
          <a:sx n="73" d="100"/>
          <a:sy n="73" d="100"/>
        </p:scale>
        <p:origin x="922"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2" Type="http://schemas.openxmlformats.org/officeDocument/2006/relationships/tableStyles" Target="tableStyles.xml"/><Relationship Id="rId81" Type="http://schemas.openxmlformats.org/officeDocument/2006/relationships/viewProps" Target="viewProps.xml"/><Relationship Id="rId80" Type="http://schemas.openxmlformats.org/officeDocument/2006/relationships/presProps" Target="presProps.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0FA4177A-7CFB-48CF-B7E3-0165A0539FC3}" type="doc">
      <dgm:prSet loTypeId="urn:microsoft.com/office/officeart/2005/8/layout/orgChart1" loCatId="hierarchy" qsTypeId="urn:microsoft.com/office/officeart/2005/8/quickstyle/simple1" qsCatId="simple" csTypeId="urn:microsoft.com/office/officeart/2005/8/colors/accent1_2" csCatId="accent1" phldr="0"/>
      <dgm:spPr/>
      <dgm:t>
        <a:bodyPr/>
        <a:lstStyle/>
        <a:p>
          <a:endParaRPr lang="zh-CN" altLang="en-US"/>
        </a:p>
      </dgm:t>
    </dgm:pt>
    <dgm:pt modelId="{ADD5AC07-A953-4676-8EFB-507E04AFF0A4}" type="pres">
      <dgm:prSet presAssocID="{0FA4177A-7CFB-48CF-B7E3-0165A0539FC3}" presName="hierChild1" presStyleCnt="0">
        <dgm:presLayoutVars>
          <dgm:orgChart val="1"/>
          <dgm:chPref val="1"/>
          <dgm:dir/>
          <dgm:animOne val="branch"/>
          <dgm:animLvl val="lvl"/>
          <dgm:resizeHandles/>
        </dgm:presLayoutVars>
      </dgm:prSet>
      <dgm:spPr/>
    </dgm:pt>
  </dgm:ptLst>
  <dgm:cxnLst>
    <dgm:cxn modelId="{6E1130D4-8F64-45E7-9057-BFCA8A32FD06}" type="presOf" srcId="{0FA4177A-7CFB-48CF-B7E3-0165A0539FC3}" destId="{ADD5AC07-A953-4676-8EFB-507E04AFF0A4}" srcOrd="0" destOrd="0" presId="urn:microsoft.com/office/officeart/2005/8/layout/orgChart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linDir" val="fromT"/>
                  <dgm:param type="chAlign" val="r"/>
                </dgm:alg>
              </dgm:if>
              <dgm:if name="Name23" func="var" arg="hierBranch" op="equ" val="r">
                <dgm:alg type="hierChild">
                  <dgm:param type="linDir" val="fromT"/>
                  <dgm:param type="chAlign" val="l"/>
                </dgm:alg>
              </dgm:if>
              <dgm:if name="Name24" func="var" arg="hierBranch" op="equ" val="hang">
                <dgm:choose name="Name25">
                  <dgm:if name="Name26" func="var" arg="dir" op="equ" val="norm">
                    <dgm:alg type="hierChild">
                      <dgm:param type="linDir" val="fromL"/>
                      <dgm:param type="chAlign" val="l"/>
                      <dgm:param type="secLinDir" val="fromT"/>
                      <dgm:param type="secChAlign" val="t"/>
                    </dgm:alg>
                  </dgm:if>
                  <dgm:else name="Name27">
                    <dgm:alg type="hierChild">
                      <dgm:param type="linDir" val="fromR"/>
                      <dgm:param type="chAlign" val="l"/>
                      <dgm:param type="secLinDir" val="fromT"/>
                      <dgm:param type="secChAlign" val="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dim" val="1D"/>
                        <dgm:param type="endSty" val="noArr"/>
                        <dgm:param type="connRout" val="bend"/>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dim" val="1D"/>
                            <dgm:param type="endSty" val="noArr"/>
                            <dgm:param type="connRout" val="bend"/>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dim" val="1D"/>
                                    <dgm:param type="endSty" val="noArr"/>
                                    <dgm:param type="connRout" val="bend"/>
                                    <dgm:param type="begPts" val="bCtr"/>
                                    <dgm:param type="endPts" val="midL midR"/>
                                  </dgm:alg>
                                </dgm:if>
                                <dgm:else name="Name45">
                                  <dgm:alg type="conn">
                                    <dgm:param type="srcNode" val="rootConnector"/>
                                    <dgm:param type="dim" val="1D"/>
                                    <dgm:param type="endSty" val="noArr"/>
                                    <dgm:param type="connRout" val="bend"/>
                                    <dgm:param type="begPts" val="bCtr"/>
                                    <dgm:param type="endPts" val="midL midR"/>
                                  </dgm:alg>
                                </dgm:else>
                              </dgm:choose>
                            </dgm:if>
                            <dgm:else name="Name46">
                              <dgm:alg type="conn">
                                <dgm:param type="dim" val="1D"/>
                                <dgm:param type="endSty" val="noArr"/>
                                <dgm:param type="connRout" val="bend"/>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dim" val="1D"/>
                        <dgm:param type="endSty" val="noArr"/>
                        <dgm:param type="connRout" val="bend"/>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dim" val="1D"/>
                                <dgm:param type="endSty" val="noArr"/>
                                <dgm:param type="connRout" val="bend"/>
                                <dgm:param type="begPts" val="bCtr"/>
                                <dgm:param type="endPts" val="midL midR"/>
                              </dgm:alg>
                            </dgm:if>
                            <dgm:else name="Name55">
                              <dgm:alg type="conn">
                                <dgm:param type="srcNode" val="rootConnector1"/>
                                <dgm:param type="dim" val="1D"/>
                                <dgm:param type="endSty" val="noArr"/>
                                <dgm:param type="connRout" val="bend"/>
                                <dgm:param type="begPts" val="bCtr"/>
                                <dgm:param type="endPts" val="midL midR"/>
                              </dgm:alg>
                            </dgm:else>
                          </dgm:choose>
                        </dgm:if>
                        <dgm:else name="Name56">
                          <dgm:choose name="Name57">
                            <dgm:if name="Name58" axis="par ch" ptType="node asst" func="cnt" op="gte" val="1">
                              <dgm:alg type="conn">
                                <dgm:param type="dim" val="1D"/>
                                <dgm:param type="endSty" val="noArr"/>
                                <dgm:param type="connRout" val="bend"/>
                                <dgm:param type="begPts" val="bCtr"/>
                                <dgm:param type="endPts" val="midL midR"/>
                              </dgm:alg>
                            </dgm:if>
                            <dgm:else name="Name59">
                              <dgm:alg type="conn">
                                <dgm:param type="srcNode" val="rootConnector"/>
                                <dgm:param type="dim" val="1D"/>
                                <dgm:param type="endSty" val="noArr"/>
                                <dgm:param type="connRout" val="bend"/>
                                <dgm:param type="begPts" val="bCtr"/>
                                <dgm:param type="endPts" val="midL mid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linDir" val="fromT"/>
                        <dgm:param type="chAlign" val="r"/>
                      </dgm:alg>
                    </dgm:if>
                    <dgm:if name="Name85" func="var" arg="hierBranch" op="equ" val="r">
                      <dgm:alg type="hierChild">
                        <dgm:param type="linDir" val="fromT"/>
                        <dgm:param type="chAlign" val="l"/>
                      </dgm:alg>
                    </dgm:if>
                    <dgm:if name="Name86" func="var" arg="hierBranch" op="equ" val="hang">
                      <dgm:choose name="Name87">
                        <dgm:if name="Name88" func="var" arg="dir" op="equ" val="norm">
                          <dgm:alg type="hierChild">
                            <dgm:param type="linDir" val="fromL"/>
                            <dgm:param type="chAlign" val="l"/>
                            <dgm:param type="secLinDir" val="fromT"/>
                            <dgm:param type="secChAlign" val="t"/>
                          </dgm:alg>
                        </dgm:if>
                        <dgm:else name="Name89">
                          <dgm:alg type="hierChild">
                            <dgm:param type="linDir" val="fromR"/>
                            <dgm:param type="chAlign" val="l"/>
                            <dgm:param type="secLinDir" val="fromT"/>
                            <dgm:param type="secChAlign" val="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linDir" val="fromT"/>
                            <dgm:param type="chAlign" val="l"/>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linDir" val="fromL"/>
                        <dgm:param type="chAlign" val="l"/>
                        <dgm:param type="secLinDir" val="fromT"/>
                        <dgm:param type="secChAlign" val="t"/>
                      </dgm:alg>
                    </dgm:if>
                    <dgm:else name="Name105">
                      <dgm:alg type="hierChild">
                        <dgm:param type="linDir" val="fromR"/>
                        <dgm:param type="chAlign" val="l"/>
                        <dgm:param type="secLinDir" val="fromT"/>
                        <dgm:param type="secChAlign" val="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linDir" val="fromL"/>
                  <dgm:param type="chAlign" val="l"/>
                  <dgm:param type="secLinDir" val="fromT"/>
                  <dgm:param type="secChAlign" val="t"/>
                </dgm:alg>
              </dgm:if>
              <dgm:else name="Name109">
                <dgm:alg type="hierChild">
                  <dgm:param type="linDir" val="fromR"/>
                  <dgm:param type="chAlign" val="l"/>
                  <dgm:param type="secLinDir" val="fromT"/>
                  <dgm:param type="secChAlign" val="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dim" val="1D"/>
                    <dgm:param type="endSty" val="noArr"/>
                    <dgm:param type="connRout" val="bend"/>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linDir" val="fromT"/>
                        <dgm:param type="chAlign" val="r"/>
                      </dgm:alg>
                    </dgm:if>
                    <dgm:if name="Name129" func="var" arg="hierBranch" op="equ" val="r">
                      <dgm:alg type="hierChild">
                        <dgm:param type="linDir" val="fromT"/>
                        <dgm:param type="chAlign" val="l"/>
                      </dgm:alg>
                    </dgm:if>
                    <dgm:if name="Name130" func="var" arg="hierBranch" op="equ" val="hang">
                      <dgm:choose name="Name131">
                        <dgm:if name="Name132" func="var" arg="dir" op="equ" val="norm">
                          <dgm:alg type="hierChild">
                            <dgm:param type="linDir" val="fromL"/>
                            <dgm:param type="chAlign" val="l"/>
                            <dgm:param type="secLinDir" val="fromT"/>
                            <dgm:param type="secChAlign" val="t"/>
                          </dgm:alg>
                        </dgm:if>
                        <dgm:else name="Name133">
                          <dgm:alg type="hierChild">
                            <dgm:param type="linDir" val="fromR"/>
                            <dgm:param type="chAlign" val="l"/>
                            <dgm:param type="secLinDir" val="fromT"/>
                            <dgm:param type="secChAlign" val="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linDir" val="fromT"/>
                            <dgm:param type="chAlign" val="l"/>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linDir" val="fromL"/>
                        <dgm:param type="chAlign" val="l"/>
                        <dgm:param type="secLinDir" val="fromT"/>
                        <dgm:param type="secChAlign" val="t"/>
                      </dgm:alg>
                    </dgm:if>
                    <dgm:else name="Name146">
                      <dgm:alg type="hierChild">
                        <dgm:param type="linDir" val="fromR"/>
                        <dgm:param type="chAlign" val="l"/>
                        <dgm:param type="secLinDir" val="fromT"/>
                        <dgm:param type="secChAlign" val="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image" Target="../media/image7.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28.wmf"/><Relationship Id="rId1" Type="http://schemas.openxmlformats.org/officeDocument/2006/relationships/image" Target="../media/image27.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lnSpc>
                <a:spcPct val="100000"/>
              </a:lnSpc>
              <a:defRPr kumimoji="1" sz="1200" b="0">
                <a:solidFill>
                  <a:schemeClr val="tx1"/>
                </a:solidFill>
                <a:latin typeface="Tahoma" panose="020B0604030504040204" pitchFamily="34" charset="0"/>
                <a:cs typeface="Courier New" panose="02070309020205020404" pitchFamily="49" charset="0"/>
              </a:defRPr>
            </a:lvl1pPr>
          </a:lstStyle>
          <a:p>
            <a:pPr>
              <a:defRPr/>
            </a:pPr>
            <a:endParaRPr lang="zh-CN" altLang="en-US"/>
          </a:p>
        </p:txBody>
      </p:sp>
      <p:sp>
        <p:nvSpPr>
          <p:cNvPr id="9219"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lnSpc>
                <a:spcPct val="100000"/>
              </a:lnSpc>
              <a:defRPr kumimoji="1" sz="1200" b="0">
                <a:solidFill>
                  <a:schemeClr val="tx1"/>
                </a:solidFill>
                <a:latin typeface="Tahoma" panose="020B0604030504040204" pitchFamily="34" charset="0"/>
                <a:cs typeface="Courier New" panose="02070309020205020404" pitchFamily="49" charset="0"/>
              </a:defRPr>
            </a:lvl1pPr>
          </a:lstStyle>
          <a:p>
            <a:pPr>
              <a:defRPr/>
            </a:pPr>
            <a:endParaRPr lang="en-US" altLang="zh-CN"/>
          </a:p>
        </p:txBody>
      </p:sp>
      <p:sp>
        <p:nvSpPr>
          <p:cNvPr id="307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221"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9222"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lnSpc>
                <a:spcPct val="100000"/>
              </a:lnSpc>
              <a:defRPr kumimoji="1" sz="1200" b="0">
                <a:solidFill>
                  <a:schemeClr val="tx1"/>
                </a:solidFill>
                <a:latin typeface="Tahoma" panose="020B0604030504040204" pitchFamily="34" charset="0"/>
                <a:cs typeface="Courier New" panose="02070309020205020404" pitchFamily="49" charset="0"/>
              </a:defRPr>
            </a:lvl1pPr>
          </a:lstStyle>
          <a:p>
            <a:pPr>
              <a:defRPr/>
            </a:pPr>
            <a:endParaRPr lang="en-US" altLang="zh-CN"/>
          </a:p>
        </p:txBody>
      </p:sp>
      <p:sp>
        <p:nvSpPr>
          <p:cNvPr id="9223"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lnSpc>
                <a:spcPct val="100000"/>
              </a:lnSpc>
              <a:defRPr kumimoji="1" sz="1200" b="0" smtClean="0">
                <a:solidFill>
                  <a:schemeClr val="tx1"/>
                </a:solidFill>
                <a:latin typeface="Tahoma" panose="020B0604030504040204" pitchFamily="34" charset="0"/>
                <a:cs typeface="Courier New" panose="02070309020205020404" pitchFamily="49" charset="0"/>
              </a:defRPr>
            </a:lvl1pPr>
          </a:lstStyle>
          <a:p>
            <a:pPr>
              <a:defRPr/>
            </a:pPr>
            <a:fld id="{113DE142-C549-46BB-A92D-D7EB5B9215C7}" type="slidenum">
              <a:rPr lang="zh-CN" altLang="en-US"/>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113DE142-C549-46BB-A92D-D7EB5B9215C7}" type="slidenum">
              <a:rPr lang="zh-CN" altLang="en-US" smtClean="0"/>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E2B3010-6487-4927-8CC3-CEFA02E35B32}" type="slidenum">
              <a:rPr lang="en-US" altLang="zh-CN" smtClean="0"/>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defRPr/>
            </a:pPr>
            <a:r>
              <a:rPr lang="en-US" altLang="zh-CN" sz="1200" dirty="0"/>
              <a:t>(4)</a:t>
            </a:r>
            <a:r>
              <a:rPr lang="zh-CN" altLang="en-US" sz="1200" b="1" dirty="0">
                <a:solidFill>
                  <a:srgbClr val="3907F1"/>
                </a:solidFill>
              </a:rPr>
              <a:t>有限性</a:t>
            </a:r>
            <a:r>
              <a:rPr lang="zh-CN" altLang="en-US" sz="1200" dirty="0"/>
              <a:t>：算法中每条指令的执行次数是有限的，执行每条指令的时间也是有限的。</a:t>
            </a:r>
            <a:endParaRPr lang="zh-CN" altLang="en-US" sz="1200" dirty="0"/>
          </a:p>
          <a:p>
            <a:endParaRPr lang="zh-CN" altLang="en-US" dirty="0"/>
          </a:p>
        </p:txBody>
      </p:sp>
      <p:sp>
        <p:nvSpPr>
          <p:cNvPr id="4" name="灯片编号占位符 3"/>
          <p:cNvSpPr>
            <a:spLocks noGrp="1"/>
          </p:cNvSpPr>
          <p:nvPr>
            <p:ph type="sldNum" sz="quarter" idx="5"/>
          </p:nvPr>
        </p:nvSpPr>
        <p:spPr/>
        <p:txBody>
          <a:bodyPr/>
          <a:lstStyle/>
          <a:p>
            <a:fld id="{DE2B3010-6487-4927-8CC3-CEFA02E35B32}" type="slidenum">
              <a:rPr lang="en-US" altLang="zh-CN" smtClean="0"/>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r>
              <a:rPr lang="zh-CN" altLang="en-US" dirty="0"/>
              <a:t>算法设计与分析，主要是用来要解决问题。我们来看一下在计算机上面解决问题，是什么样的一种过程。</a:t>
            </a:r>
            <a:endParaRPr lang="en-US" altLang="zh-CN" dirty="0"/>
          </a:p>
          <a:p>
            <a:endParaRPr lang="en-US" altLang="zh-CN" dirty="0"/>
          </a:p>
          <a:p>
            <a:r>
              <a:rPr lang="en-US" altLang="zh-CN" dirty="0"/>
              <a:t>1. </a:t>
            </a:r>
            <a:r>
              <a:rPr lang="zh-CN" altLang="en-US" dirty="0"/>
              <a:t>首先，对于一个具体的问题，我们要理解问题。理解问题也就是要分析问题。他的输入是什么、他的输出是什么？就是说我要解决的这个问题，有哪一些东西是已知的。需要根据这些已知条件，要产生一个什么样的一种结果，这个是要理解问题。</a:t>
            </a:r>
            <a:endParaRPr lang="en-US" altLang="zh-CN" dirty="0"/>
          </a:p>
          <a:p>
            <a:r>
              <a:rPr lang="zh-CN" altLang="en-US" dirty="0"/>
              <a:t>理解问题实际上就是要确定输入和输出，也就是说要输入的是什么，输出是什么结果</a:t>
            </a:r>
            <a:endParaRPr lang="en-US" altLang="zh-CN" dirty="0"/>
          </a:p>
          <a:p>
            <a:endParaRPr lang="en-US" altLang="zh-CN" dirty="0"/>
          </a:p>
          <a:p>
            <a:r>
              <a:rPr lang="en-US" altLang="zh-CN" dirty="0"/>
              <a:t>2. </a:t>
            </a:r>
            <a:r>
              <a:rPr lang="zh-CN" altLang="en-US" dirty="0"/>
              <a:t>然后就要根据对问题的理解。来确定数据结构或者是确定算法设计策略。就是根据给定问题要判断一下，根据这样子的一种输入，得到这样子一种输出。我们是可以精确的得到呢，还是说在有限的资源底下不能够解决。如果能够精确的得到，我们设计的算法就是精确算法。如果不能够精确的得到，只能得到近似的一个结果，我们设计的算法就是近似算法。所以这里面就有数据结构的选择，算法设计策略的选择。</a:t>
            </a:r>
            <a:endParaRPr lang="en-US" altLang="zh-CN" dirty="0"/>
          </a:p>
          <a:p>
            <a:endParaRPr lang="en-US" altLang="zh-CN" dirty="0"/>
          </a:p>
          <a:p>
            <a:r>
              <a:rPr lang="en-US" altLang="zh-CN" dirty="0"/>
              <a:t>3. </a:t>
            </a:r>
            <a:r>
              <a:rPr lang="zh-CN" altLang="en-US" dirty="0"/>
              <a:t>算法设计策略选择完了以后，接下来要设计算法，实际上你要设计解决这个问题的指令序列。从输入怎么到输出，要拿出这样的一种算法的一个设计。</a:t>
            </a:r>
            <a:endParaRPr lang="en-US" altLang="zh-CN" dirty="0"/>
          </a:p>
          <a:p>
            <a:endParaRPr lang="en-US" altLang="zh-CN" dirty="0"/>
          </a:p>
          <a:p>
            <a:r>
              <a:rPr lang="en-US" altLang="zh-CN" dirty="0"/>
              <a:t>4. </a:t>
            </a:r>
            <a:r>
              <a:rPr lang="zh-CN" altLang="en-US" dirty="0"/>
              <a:t>设计算法完了以后，接下来要做什么事情呢？因为我们通常讲的算法设计出来了以后，能否解决问题呢？我们还要进行分析，要证明这个算法的正确性。就是说证明设计好的算法，根据给定的输入，可以正确地得到期望的输出，这个实际上是一种正确性的分析。</a:t>
            </a:r>
            <a:endParaRPr lang="en-US" altLang="zh-CN" dirty="0"/>
          </a:p>
          <a:p>
            <a:endParaRPr lang="en-US" altLang="zh-CN" dirty="0"/>
          </a:p>
          <a:p>
            <a:r>
              <a:rPr lang="en-US" altLang="zh-CN" dirty="0"/>
              <a:t>5. </a:t>
            </a:r>
            <a:r>
              <a:rPr lang="zh-CN" altLang="en-US" dirty="0"/>
              <a:t>接下来，还要有一个分析就是分析算法。分析算法通常指的是什么呢？指的是复杂性的问题。复杂性的分析就涉及到什么呢？就是算法的效率，你要用多少的时间，你要用多少的空间。是否可行，是否在我这个掌握的资源的范围之内来解决。</a:t>
            </a:r>
            <a:endParaRPr lang="en-US" altLang="zh-CN" dirty="0"/>
          </a:p>
          <a:p>
            <a:endParaRPr lang="en-US" altLang="zh-CN" dirty="0"/>
          </a:p>
          <a:p>
            <a:r>
              <a:rPr lang="en-US" altLang="zh-CN" dirty="0"/>
              <a:t>6. </a:t>
            </a:r>
            <a:r>
              <a:rPr lang="zh-CN" altLang="en-US" dirty="0"/>
              <a:t>这些都走完了以后呢，才去设计程序。</a:t>
            </a:r>
            <a:endParaRPr lang="en-US" altLang="zh-CN" dirty="0"/>
          </a:p>
          <a:p>
            <a:endParaRPr lang="en-US" altLang="zh-CN" dirty="0"/>
          </a:p>
          <a:p>
            <a:r>
              <a:rPr lang="zh-CN" altLang="en-US" dirty="0"/>
              <a:t>所以就是这样一个过程，在框图中，从上往下的箭头表示从理解问题到设计算法的一个策略选择，设计算法策略到设计算法、到证明正确性、分析算法、设计程序。还有一些箭头是往回打的。往回打什么意思呢？就是说设计出来的算法，不一定合适，要回头再重新考虑我的策略是否正确。实际上这是一个循环。</a:t>
            </a:r>
            <a:endParaRPr lang="en-US" altLang="zh-CN" dirty="0"/>
          </a:p>
          <a:p>
            <a:endParaRPr lang="en-US" altLang="zh-CN" dirty="0"/>
          </a:p>
          <a:p>
            <a:r>
              <a:rPr lang="zh-CN" altLang="en-US" dirty="0"/>
              <a:t>有的同学一上来马上就写程序，很可能你写出来的那个就是不对的，这不是一个良好的一种习惯。</a:t>
            </a:r>
            <a:endParaRPr lang="zh-CN" altLang="en-US" dirty="0"/>
          </a:p>
        </p:txBody>
      </p:sp>
      <p:sp>
        <p:nvSpPr>
          <p:cNvPr id="4" name="灯片编号占位符 3"/>
          <p:cNvSpPr>
            <a:spLocks noGrp="1"/>
          </p:cNvSpPr>
          <p:nvPr>
            <p:ph type="sldNum" sz="quarter" idx="5"/>
          </p:nvPr>
        </p:nvSpPr>
        <p:spPr/>
        <p:txBody>
          <a:bodyPr/>
          <a:lstStyle/>
          <a:p>
            <a:fld id="{DE2B3010-6487-4927-8CC3-CEFA02E35B32}" type="slidenum">
              <a:rPr lang="en-US" altLang="zh-CN" smtClean="0"/>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r>
              <a:rPr lang="zh-CN" altLang="en-US" dirty="0"/>
              <a:t>在解决常见问题的时候，比如稳定匹配，最自然的方法是不是就是蛮力搜索，通过枚举的方式穷举所有可能的匹配，来找到最好的匹配方案。这种方法在面对规模比较大的问题的时候，通常慢的几乎不能用。</a:t>
            </a:r>
            <a:endParaRPr lang="en-US" altLang="zh-CN" dirty="0"/>
          </a:p>
          <a:p>
            <a:endParaRPr lang="zh-CN" altLang="en-US" dirty="0"/>
          </a:p>
        </p:txBody>
      </p:sp>
      <p:sp>
        <p:nvSpPr>
          <p:cNvPr id="4" name="灯片编号占位符 3"/>
          <p:cNvSpPr>
            <a:spLocks noGrp="1"/>
          </p:cNvSpPr>
          <p:nvPr>
            <p:ph type="sldNum" sz="quarter" idx="5"/>
          </p:nvPr>
        </p:nvSpPr>
        <p:spPr/>
        <p:txBody>
          <a:bodyPr/>
          <a:lstStyle/>
          <a:p>
            <a:pPr>
              <a:defRPr/>
            </a:pPr>
            <a:fld id="{113DE142-C549-46BB-A92D-D7EB5B9215C7}" type="slidenum">
              <a:rPr lang="zh-CN" altLang="en-US" smtClean="0"/>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r>
              <a:rPr lang="zh-CN" altLang="en-US" b="0" i="0" dirty="0">
                <a:solidFill>
                  <a:srgbClr val="333333"/>
                </a:solidFill>
                <a:effectLst/>
                <a:latin typeface="Helvetica Neue"/>
              </a:rPr>
              <a:t>接下来就是讲算法的复杂性分析，复杂性的分析对我们算法设计来讲是非常重要的。</a:t>
            </a:r>
            <a:endParaRPr lang="en-US" altLang="zh-CN" b="0" i="0" dirty="0">
              <a:solidFill>
                <a:srgbClr val="333333"/>
              </a:solidFill>
              <a:effectLst/>
              <a:latin typeface="Helvetica Neue"/>
            </a:endParaRPr>
          </a:p>
          <a:p>
            <a:endParaRPr lang="en-US" altLang="zh-CN" b="0" i="0" dirty="0">
              <a:solidFill>
                <a:srgbClr val="333333"/>
              </a:solidFill>
              <a:effectLst/>
              <a:latin typeface="Helvetica Neue"/>
            </a:endParaRPr>
          </a:p>
          <a:p>
            <a:r>
              <a:rPr lang="zh-CN" altLang="en-US" b="0" i="0" dirty="0">
                <a:solidFill>
                  <a:srgbClr val="333333"/>
                </a:solidFill>
                <a:effectLst/>
                <a:latin typeface="Helvetica Neue"/>
              </a:rPr>
              <a:t>算法的复杂性讲的是什么呢？讲的算法要解决特定问题的算法，它所需要的计算机资源。它所耗费的计算机资源就叫它复杂性，他耗费的资源越多，复杂性就越高。耗费的资源越少，复杂性就越小。</a:t>
            </a:r>
            <a:endParaRPr lang="en-US" altLang="zh-CN" b="0" i="0" dirty="0">
              <a:solidFill>
                <a:srgbClr val="333333"/>
              </a:solidFill>
              <a:effectLst/>
              <a:latin typeface="Helvetica Neue"/>
            </a:endParaRPr>
          </a:p>
          <a:p>
            <a:endParaRPr lang="en-US" altLang="zh-CN" b="0" i="0" dirty="0">
              <a:solidFill>
                <a:srgbClr val="333333"/>
              </a:solidFill>
              <a:effectLst/>
              <a:latin typeface="Helvetica Neue"/>
            </a:endParaRPr>
          </a:p>
          <a:p>
            <a:r>
              <a:rPr lang="zh-CN" altLang="en-US" b="0" i="0" dirty="0">
                <a:solidFill>
                  <a:srgbClr val="333333"/>
                </a:solidFill>
                <a:effectLst/>
                <a:latin typeface="Helvetica Neue"/>
              </a:rPr>
              <a:t>所以我们设计算法的追求是什么？在保证正确性的前提下。复杂性越低越好，对不对。用很少的资源来解决我这个问题。那这样子我解决的问题的规模就可以比较大。</a:t>
            </a:r>
            <a:endParaRPr lang="en-US" altLang="zh-CN" b="0" i="0" dirty="0">
              <a:solidFill>
                <a:srgbClr val="333333"/>
              </a:solidFill>
              <a:effectLst/>
              <a:latin typeface="Helvetica Neue"/>
            </a:endParaRPr>
          </a:p>
          <a:p>
            <a:endParaRPr lang="en-US" altLang="zh-CN" b="0" i="0" dirty="0">
              <a:solidFill>
                <a:srgbClr val="333333"/>
              </a:solidFill>
              <a:effectLst/>
              <a:latin typeface="Helvetica Neue"/>
            </a:endParaRPr>
          </a:p>
          <a:p>
            <a:r>
              <a:rPr lang="zh-CN" altLang="en-US" b="0" i="0" dirty="0">
                <a:solidFill>
                  <a:srgbClr val="333333"/>
                </a:solidFill>
                <a:effectLst/>
                <a:latin typeface="Helvetica Neue"/>
              </a:rPr>
              <a:t>有哪些计算机资源呢？我们这里最关心的计算机资源是什么呢？时间和空间。</a:t>
            </a:r>
            <a:endParaRPr lang="en-US" altLang="zh-CN" b="0" i="0" dirty="0">
              <a:solidFill>
                <a:srgbClr val="333333"/>
              </a:solidFill>
              <a:effectLst/>
              <a:latin typeface="Helvetica Neue"/>
            </a:endParaRPr>
          </a:p>
          <a:p>
            <a:r>
              <a:rPr lang="zh-CN" altLang="en-US" b="0" i="0" dirty="0">
                <a:solidFill>
                  <a:srgbClr val="333333"/>
                </a:solidFill>
                <a:effectLst/>
                <a:latin typeface="Helvetica Neue"/>
              </a:rPr>
              <a:t>时间资源，就是说你解这个问题需要多少时间。</a:t>
            </a:r>
            <a:endParaRPr lang="en-US" altLang="zh-CN" b="0" i="0" dirty="0">
              <a:solidFill>
                <a:srgbClr val="333333"/>
              </a:solidFill>
              <a:effectLst/>
              <a:latin typeface="Helvetica Neue"/>
            </a:endParaRPr>
          </a:p>
          <a:p>
            <a:r>
              <a:rPr lang="zh-CN" altLang="en-US" b="0" i="0" dirty="0">
                <a:solidFill>
                  <a:srgbClr val="333333"/>
                </a:solidFill>
                <a:effectLst/>
                <a:latin typeface="Helvetica Neue"/>
              </a:rPr>
              <a:t>再一个我们很关心的资源是空间。空间是什么呢？就是我们占用的计算机的存储，我需要多少的存储来解决问题？我们现在计算机的这个存储是有限的，如果你需要的存储非常大，超过它的存储，就解决不了问题。</a:t>
            </a:r>
            <a:endParaRPr lang="en-US" altLang="zh-CN" b="0" i="0" dirty="0">
              <a:solidFill>
                <a:srgbClr val="333333"/>
              </a:solidFill>
              <a:effectLst/>
              <a:latin typeface="Helvetica Neue"/>
            </a:endParaRPr>
          </a:p>
          <a:p>
            <a:endParaRPr lang="en-US" altLang="zh-CN" b="0" i="0" dirty="0">
              <a:solidFill>
                <a:srgbClr val="333333"/>
              </a:solidFill>
              <a:effectLst/>
              <a:latin typeface="Helvetica Neue"/>
            </a:endParaRPr>
          </a:p>
          <a:p>
            <a:r>
              <a:rPr lang="zh-CN" altLang="en-US" b="0" i="0" dirty="0">
                <a:solidFill>
                  <a:srgbClr val="333333"/>
                </a:solidFill>
                <a:effectLst/>
                <a:latin typeface="Helvetica Neue"/>
              </a:rPr>
              <a:t>所以我们关心的复杂性是时间</a:t>
            </a:r>
            <a:r>
              <a:rPr lang="en-US" altLang="zh-CN" b="0" i="0" dirty="0">
                <a:solidFill>
                  <a:srgbClr val="333333"/>
                </a:solidFill>
                <a:effectLst/>
                <a:latin typeface="Helvetica Neue"/>
              </a:rPr>
              <a:t>Tn</a:t>
            </a:r>
            <a:r>
              <a:rPr lang="zh-CN" altLang="en-US" b="0" i="0" dirty="0">
                <a:solidFill>
                  <a:srgbClr val="333333"/>
                </a:solidFill>
                <a:effectLst/>
                <a:latin typeface="Helvetica Neue"/>
              </a:rPr>
              <a:t>。和空间</a:t>
            </a:r>
            <a:r>
              <a:rPr lang="en-US" altLang="zh-CN" b="0" i="0" dirty="0">
                <a:solidFill>
                  <a:srgbClr val="333333"/>
                </a:solidFill>
                <a:effectLst/>
                <a:latin typeface="Helvetica Neue"/>
              </a:rPr>
              <a:t>Sn</a:t>
            </a:r>
            <a:r>
              <a:rPr lang="zh-CN" altLang="en-US" b="0" i="0" dirty="0">
                <a:solidFill>
                  <a:srgbClr val="333333"/>
                </a:solidFill>
                <a:effectLst/>
                <a:latin typeface="Helvetica Neue"/>
              </a:rPr>
              <a:t>这两个复杂性。</a:t>
            </a:r>
            <a:r>
              <a:rPr lang="en-US" altLang="zh-CN" b="0" i="0" dirty="0">
                <a:solidFill>
                  <a:srgbClr val="333333"/>
                </a:solidFill>
                <a:effectLst/>
                <a:latin typeface="Helvetica Neue"/>
              </a:rPr>
              <a:t>T</a:t>
            </a:r>
            <a:r>
              <a:rPr lang="zh-CN" altLang="en-US" b="0" i="0" dirty="0">
                <a:solidFill>
                  <a:srgbClr val="333333"/>
                </a:solidFill>
                <a:effectLst/>
                <a:latin typeface="Helvetica Neue"/>
              </a:rPr>
              <a:t>代表时间复杂性，</a:t>
            </a:r>
            <a:r>
              <a:rPr lang="en-US" altLang="zh-CN" b="0" i="0" dirty="0">
                <a:solidFill>
                  <a:srgbClr val="333333"/>
                </a:solidFill>
                <a:effectLst/>
                <a:latin typeface="Helvetica Neue"/>
              </a:rPr>
              <a:t>S</a:t>
            </a:r>
            <a:r>
              <a:rPr lang="zh-CN" altLang="en-US" b="0" i="0" dirty="0">
                <a:solidFill>
                  <a:srgbClr val="333333"/>
                </a:solidFill>
                <a:effectLst/>
                <a:latin typeface="Helvetica Neue"/>
              </a:rPr>
              <a:t>代表空间复杂性。</a:t>
            </a:r>
            <a:r>
              <a:rPr lang="en-US" altLang="zh-CN" b="0" i="0" dirty="0">
                <a:solidFill>
                  <a:srgbClr val="333333"/>
                </a:solidFill>
                <a:effectLst/>
                <a:latin typeface="Helvetica Neue"/>
              </a:rPr>
              <a:t>n</a:t>
            </a:r>
            <a:r>
              <a:rPr lang="zh-CN" altLang="en-US" b="0" i="0" dirty="0">
                <a:solidFill>
                  <a:srgbClr val="333333"/>
                </a:solidFill>
                <a:effectLst/>
                <a:latin typeface="Helvetica Neue"/>
              </a:rPr>
              <a:t>是什么，</a:t>
            </a:r>
            <a:r>
              <a:rPr lang="en-US" altLang="zh-CN" b="0" i="0" dirty="0">
                <a:solidFill>
                  <a:srgbClr val="333333"/>
                </a:solidFill>
                <a:effectLst/>
                <a:latin typeface="Helvetica Neue"/>
              </a:rPr>
              <a:t>n</a:t>
            </a:r>
            <a:r>
              <a:rPr lang="zh-CN" altLang="en-US" b="0" i="0" dirty="0">
                <a:solidFill>
                  <a:srgbClr val="333333"/>
                </a:solidFill>
                <a:effectLst/>
                <a:latin typeface="Helvetica Neue"/>
              </a:rPr>
              <a:t>是问题的规模，也就是输入的大小，比如说你给我一个问题，它的输入是多大，它的复杂性是随着输入的增长而增长，所以这个</a:t>
            </a:r>
            <a:r>
              <a:rPr lang="en-US" altLang="zh-CN" b="0" i="0" dirty="0">
                <a:solidFill>
                  <a:srgbClr val="333333"/>
                </a:solidFill>
                <a:effectLst/>
                <a:latin typeface="Helvetica Neue"/>
              </a:rPr>
              <a:t>n</a:t>
            </a:r>
            <a:r>
              <a:rPr lang="zh-CN" altLang="en-US" b="0" i="0" dirty="0">
                <a:solidFill>
                  <a:srgbClr val="333333"/>
                </a:solidFill>
                <a:effectLst/>
                <a:latin typeface="Helvetica Neue"/>
              </a:rPr>
              <a:t>是问题的输入的规模。</a:t>
            </a:r>
            <a:endParaRPr lang="en-US" altLang="zh-CN" b="0" i="0" dirty="0">
              <a:solidFill>
                <a:srgbClr val="333333"/>
              </a:solidFill>
              <a:effectLst/>
              <a:latin typeface="Helvetica Neue"/>
            </a:endParaRPr>
          </a:p>
          <a:p>
            <a:endParaRPr lang="zh-CN" altLang="en-US" dirty="0"/>
          </a:p>
        </p:txBody>
      </p:sp>
      <p:sp>
        <p:nvSpPr>
          <p:cNvPr id="4" name="灯片编号占位符 3"/>
          <p:cNvSpPr>
            <a:spLocks noGrp="1"/>
          </p:cNvSpPr>
          <p:nvPr>
            <p:ph type="sldNum" sz="quarter" idx="5"/>
          </p:nvPr>
        </p:nvSpPr>
        <p:spPr/>
        <p:txBody>
          <a:bodyPr/>
          <a:lstStyle/>
          <a:p>
            <a:fld id="{DE2B3010-6487-4927-8CC3-CEFA02E35B32}" type="slidenum">
              <a:rPr lang="en-US" altLang="zh-CN" smtClean="0"/>
            </a:fld>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r>
              <a:rPr lang="zh-CN" altLang="en-US" b="0" i="0" dirty="0">
                <a:solidFill>
                  <a:srgbClr val="333333"/>
                </a:solidFill>
                <a:effectLst/>
                <a:latin typeface="Helvetica Neue"/>
              </a:rPr>
              <a:t>算法的复杂性，通常讲这三种情况下的复杂性，</a:t>
            </a:r>
            <a:endParaRPr lang="en-US" altLang="zh-CN" b="0" i="0" dirty="0">
              <a:solidFill>
                <a:srgbClr val="333333"/>
              </a:solidFill>
              <a:effectLst/>
              <a:latin typeface="Helvetica Neue"/>
            </a:endParaRPr>
          </a:p>
          <a:p>
            <a:r>
              <a:rPr lang="zh-CN" altLang="en-US" b="0" i="0" dirty="0">
                <a:solidFill>
                  <a:srgbClr val="333333"/>
                </a:solidFill>
                <a:effectLst/>
                <a:latin typeface="Helvetica Neue"/>
              </a:rPr>
              <a:t>第一种是最常考虑的，是叫最坏情况下的时间复杂性。什么叫最坏情况？我这里给出了最坏情况下的表达式，大家看一下，最坏情况下用</a:t>
            </a:r>
            <a:r>
              <a:rPr lang="en-US" altLang="zh-CN" b="0" i="0" dirty="0">
                <a:solidFill>
                  <a:srgbClr val="333333"/>
                </a:solidFill>
                <a:effectLst/>
                <a:latin typeface="Helvetica Neue"/>
              </a:rPr>
              <a:t>max </a:t>
            </a:r>
            <a:r>
              <a:rPr lang="zh-CN" altLang="en-US" b="0" i="0" dirty="0">
                <a:solidFill>
                  <a:srgbClr val="333333"/>
                </a:solidFill>
                <a:effectLst/>
                <a:latin typeface="Helvetica Neue"/>
              </a:rPr>
              <a:t>来表达。它表示在所有的时间中取一个最大值。什么时间呢？就是计算一个问题的实例</a:t>
            </a:r>
            <a:r>
              <a:rPr lang="en-US" altLang="zh-CN" b="0" i="0" dirty="0" err="1">
                <a:solidFill>
                  <a:srgbClr val="333333"/>
                </a:solidFill>
                <a:effectLst/>
                <a:latin typeface="Helvetica Neue"/>
              </a:rPr>
              <a:t>i</a:t>
            </a:r>
            <a:r>
              <a:rPr lang="zh-CN" altLang="en-US" b="0" i="0" dirty="0">
                <a:solidFill>
                  <a:srgbClr val="333333"/>
                </a:solidFill>
                <a:effectLst/>
                <a:latin typeface="Helvetica Neue"/>
              </a:rPr>
              <a:t>所需要的时间，这个问题</a:t>
            </a:r>
            <a:r>
              <a:rPr lang="en-US" altLang="zh-CN" b="0" i="0" dirty="0" err="1">
                <a:solidFill>
                  <a:srgbClr val="333333"/>
                </a:solidFill>
                <a:effectLst/>
                <a:latin typeface="Helvetica Neue"/>
              </a:rPr>
              <a:t>i</a:t>
            </a:r>
            <a:r>
              <a:rPr lang="zh-CN" altLang="en-US" b="0" i="0" dirty="0">
                <a:solidFill>
                  <a:srgbClr val="333333"/>
                </a:solidFill>
                <a:effectLst/>
                <a:latin typeface="Helvetica Neue"/>
              </a:rPr>
              <a:t>的规模都是</a:t>
            </a:r>
            <a:r>
              <a:rPr lang="en-US" altLang="zh-CN" b="0" i="0" dirty="0">
                <a:solidFill>
                  <a:srgbClr val="333333"/>
                </a:solidFill>
                <a:effectLst/>
                <a:latin typeface="Helvetica Neue"/>
              </a:rPr>
              <a:t>n</a:t>
            </a:r>
            <a:r>
              <a:rPr lang="zh-CN" altLang="en-US" b="0" i="0" dirty="0">
                <a:solidFill>
                  <a:srgbClr val="333333"/>
                </a:solidFill>
                <a:effectLst/>
                <a:latin typeface="Helvetica Neue"/>
              </a:rPr>
              <a:t>，在所有规模都是</a:t>
            </a:r>
            <a:r>
              <a:rPr lang="en-US" altLang="zh-CN" b="0" i="0" dirty="0">
                <a:solidFill>
                  <a:srgbClr val="333333"/>
                </a:solidFill>
                <a:effectLst/>
                <a:latin typeface="Helvetica Neue"/>
              </a:rPr>
              <a:t>n</a:t>
            </a:r>
            <a:r>
              <a:rPr lang="zh-CN" altLang="en-US" b="0" i="0" dirty="0">
                <a:solidFill>
                  <a:srgbClr val="333333"/>
                </a:solidFill>
                <a:effectLst/>
                <a:latin typeface="Helvetica Neue"/>
              </a:rPr>
              <a:t>的实例中，用设计好的算法去计算它所需要的时间。不同的实例所需时间不同，在所有的规模是</a:t>
            </a:r>
            <a:r>
              <a:rPr lang="en-US" altLang="zh-CN" b="0" i="0" dirty="0">
                <a:solidFill>
                  <a:srgbClr val="333333"/>
                </a:solidFill>
                <a:effectLst/>
                <a:latin typeface="Helvetica Neue"/>
              </a:rPr>
              <a:t>n</a:t>
            </a:r>
            <a:r>
              <a:rPr lang="zh-CN" altLang="en-US" b="0" i="0" dirty="0">
                <a:solidFill>
                  <a:srgbClr val="333333"/>
                </a:solidFill>
                <a:effectLst/>
                <a:latin typeface="Helvetica Neue"/>
              </a:rPr>
              <a:t>的实例中间算法运行时间最大的那个，就是最坏的情况下的时间复杂性。</a:t>
            </a:r>
            <a:endParaRPr lang="en-US" altLang="zh-CN" b="0" i="0" dirty="0">
              <a:solidFill>
                <a:srgbClr val="333333"/>
              </a:solidFill>
              <a:effectLst/>
              <a:latin typeface="Helvetica Neue"/>
            </a:endParaRPr>
          </a:p>
          <a:p>
            <a:endParaRPr lang="en-US" altLang="zh-CN" b="0" i="0" dirty="0">
              <a:solidFill>
                <a:srgbClr val="333333"/>
              </a:solidFill>
              <a:effectLst/>
              <a:latin typeface="Helvetica Neue"/>
            </a:endParaRPr>
          </a:p>
          <a:p>
            <a:r>
              <a:rPr lang="zh-CN" altLang="en-US" b="0" i="0" dirty="0">
                <a:solidFill>
                  <a:srgbClr val="333333"/>
                </a:solidFill>
                <a:effectLst/>
                <a:latin typeface="Helvetica Neue"/>
              </a:rPr>
              <a:t>比如说举一个例子：排序，给你</a:t>
            </a:r>
            <a:r>
              <a:rPr lang="en-US" altLang="zh-CN" b="0" i="0" dirty="0">
                <a:solidFill>
                  <a:srgbClr val="333333"/>
                </a:solidFill>
                <a:effectLst/>
                <a:latin typeface="Helvetica Neue"/>
              </a:rPr>
              <a:t>N</a:t>
            </a:r>
            <a:r>
              <a:rPr lang="zh-CN" altLang="en-US" b="0" i="0" dirty="0">
                <a:solidFill>
                  <a:srgbClr val="333333"/>
                </a:solidFill>
                <a:effectLst/>
                <a:latin typeface="Helvetica Neue"/>
              </a:rPr>
              <a:t>个数，让你去排序。你可以设计一个算法来排序。那么给你的这</a:t>
            </a:r>
            <a:r>
              <a:rPr lang="en-US" altLang="zh-CN" b="0" i="0" dirty="0">
                <a:solidFill>
                  <a:srgbClr val="333333"/>
                </a:solidFill>
                <a:effectLst/>
                <a:latin typeface="Helvetica Neue"/>
              </a:rPr>
              <a:t>N</a:t>
            </a:r>
            <a:r>
              <a:rPr lang="zh-CN" altLang="en-US" b="0" i="0" dirty="0">
                <a:solidFill>
                  <a:srgbClr val="333333"/>
                </a:solidFill>
                <a:effectLst/>
                <a:latin typeface="Helvetica Neue"/>
              </a:rPr>
              <a:t>个数，它的情况可能是完全不一样的，这</a:t>
            </a:r>
            <a:r>
              <a:rPr lang="en-US" altLang="zh-CN" b="0" i="0" dirty="0">
                <a:solidFill>
                  <a:srgbClr val="333333"/>
                </a:solidFill>
                <a:effectLst/>
                <a:latin typeface="Helvetica Neue"/>
              </a:rPr>
              <a:t>N</a:t>
            </a:r>
            <a:r>
              <a:rPr lang="zh-CN" altLang="en-US" b="0" i="0" dirty="0">
                <a:solidFill>
                  <a:srgbClr val="333333"/>
                </a:solidFill>
                <a:effectLst/>
                <a:latin typeface="Helvetica Neue"/>
              </a:rPr>
              <a:t>个数如果都不一样的话，有多少种可能呢。有</a:t>
            </a:r>
            <a:r>
              <a:rPr lang="en-US" altLang="zh-CN" b="0" i="0" dirty="0">
                <a:solidFill>
                  <a:srgbClr val="333333"/>
                </a:solidFill>
                <a:effectLst/>
                <a:latin typeface="Helvetica Neue"/>
              </a:rPr>
              <a:t>N</a:t>
            </a:r>
            <a:r>
              <a:rPr lang="zh-CN" altLang="en-US" b="0" i="0" dirty="0">
                <a:solidFill>
                  <a:srgbClr val="333333"/>
                </a:solidFill>
                <a:effectLst/>
                <a:latin typeface="Helvetica Neue"/>
              </a:rPr>
              <a:t>！种可能。</a:t>
            </a:r>
            <a:endParaRPr lang="en-US" altLang="zh-CN" b="0" i="0" dirty="0">
              <a:solidFill>
                <a:srgbClr val="333333"/>
              </a:solidFill>
              <a:effectLst/>
              <a:latin typeface="Helvetica Neue"/>
            </a:endParaRPr>
          </a:p>
          <a:p>
            <a:endParaRPr lang="en-US" altLang="zh-CN" b="0" i="0" dirty="0">
              <a:solidFill>
                <a:srgbClr val="333333"/>
              </a:solidFill>
              <a:effectLst/>
              <a:latin typeface="Helvetica Neue"/>
            </a:endParaRPr>
          </a:p>
          <a:p>
            <a:r>
              <a:rPr lang="zh-CN" altLang="en-US" b="0" i="0" dirty="0">
                <a:solidFill>
                  <a:srgbClr val="333333"/>
                </a:solidFill>
                <a:effectLst/>
                <a:latin typeface="Helvetica Neue"/>
              </a:rPr>
              <a:t>使用某个算法去排序，可能对某个输入很快，对另外一个输入可能很慢。比如说给定的输入数据已经排好序了，然后叫你去排序，这个实例比较容易，只是要检查一下，因为已经排好序了，什么事情都不用做；如果给定的输入数据顺序很乱，可能要花很多的时间。</a:t>
            </a:r>
            <a:endParaRPr lang="en-US" altLang="zh-CN" b="0" i="0" dirty="0">
              <a:solidFill>
                <a:srgbClr val="333333"/>
              </a:solidFill>
              <a:effectLst/>
              <a:latin typeface="Helvetica Neue"/>
            </a:endParaRPr>
          </a:p>
          <a:p>
            <a:r>
              <a:rPr lang="zh-CN" altLang="en-US" b="0" i="0" dirty="0">
                <a:solidFill>
                  <a:srgbClr val="333333"/>
                </a:solidFill>
                <a:effectLst/>
                <a:latin typeface="Helvetica Neue"/>
              </a:rPr>
              <a:t>那么最坏情况下的时间复杂性指的是什么呢？就是这</a:t>
            </a:r>
            <a:r>
              <a:rPr lang="en-US" altLang="zh-CN" b="0" i="0" dirty="0">
                <a:solidFill>
                  <a:srgbClr val="333333"/>
                </a:solidFill>
                <a:effectLst/>
                <a:latin typeface="Helvetica Neue"/>
              </a:rPr>
              <a:t>N</a:t>
            </a:r>
            <a:r>
              <a:rPr lang="zh-CN" altLang="en-US" b="0" i="0" dirty="0">
                <a:solidFill>
                  <a:srgbClr val="333333"/>
                </a:solidFill>
                <a:effectLst/>
                <a:latin typeface="Helvetica Neue"/>
              </a:rPr>
              <a:t>！种情况。每一个实例都用你这个算法去排序，你要的最多的时间是哪一个？那个就是最坏情况下时间复杂性。</a:t>
            </a:r>
            <a:endParaRPr lang="en-US" altLang="zh-CN" b="0" i="0" dirty="0">
              <a:solidFill>
                <a:srgbClr val="333333"/>
              </a:solidFill>
              <a:effectLst/>
              <a:latin typeface="Helvetica Neue"/>
            </a:endParaRPr>
          </a:p>
          <a:p>
            <a:endParaRPr lang="en-US" altLang="zh-CN" b="0" i="0" dirty="0">
              <a:solidFill>
                <a:srgbClr val="333333"/>
              </a:solidFill>
              <a:effectLst/>
              <a:latin typeface="Helvetica Neue"/>
            </a:endParaRPr>
          </a:p>
          <a:p>
            <a:r>
              <a:rPr lang="en-US" altLang="zh-CN" b="0" i="0" dirty="0">
                <a:solidFill>
                  <a:srgbClr val="333333"/>
                </a:solidFill>
                <a:effectLst/>
                <a:latin typeface="Helvetica Neue"/>
              </a:rPr>
              <a:t>2. </a:t>
            </a:r>
            <a:r>
              <a:rPr lang="zh-CN" altLang="en-US" b="0" i="0" dirty="0">
                <a:solidFill>
                  <a:srgbClr val="333333"/>
                </a:solidFill>
                <a:effectLst/>
                <a:latin typeface="Helvetica Neue"/>
              </a:rPr>
              <a:t>还有一个，就是最好情况下的时间复杂性。这个算法你的什么样的一个输入，这个算法是最好的。最少你以用到多少时间排序，比如说我们刚才讲的这个排序的这个问题，最好的情况下能够做到什么呢？</a:t>
            </a:r>
            <a:r>
              <a:rPr lang="en-US" altLang="zh-CN" b="0" i="0" dirty="0">
                <a:solidFill>
                  <a:srgbClr val="333333"/>
                </a:solidFill>
                <a:effectLst/>
                <a:latin typeface="Helvetica Neue"/>
              </a:rPr>
              <a:t>O</a:t>
            </a:r>
            <a:r>
              <a:rPr lang="zh-CN" altLang="en-US" b="0" i="0" dirty="0">
                <a:solidFill>
                  <a:srgbClr val="333333"/>
                </a:solidFill>
                <a:effectLst/>
                <a:latin typeface="Helvetica Neue"/>
              </a:rPr>
              <a:t>（</a:t>
            </a:r>
            <a:r>
              <a:rPr lang="en-US" altLang="zh-CN" b="0" i="0" dirty="0">
                <a:solidFill>
                  <a:srgbClr val="333333"/>
                </a:solidFill>
                <a:effectLst/>
                <a:latin typeface="Helvetica Neue"/>
              </a:rPr>
              <a:t>n</a:t>
            </a:r>
            <a:r>
              <a:rPr lang="zh-CN" altLang="en-US" b="0" i="0" dirty="0">
                <a:solidFill>
                  <a:srgbClr val="333333"/>
                </a:solidFill>
                <a:effectLst/>
                <a:latin typeface="Helvetica Neue"/>
              </a:rPr>
              <a:t>）时间就可以做到。因为已经是排好序，检查一下就可以了，什么都不要做。</a:t>
            </a:r>
            <a:endParaRPr lang="en-US" altLang="zh-CN" b="0" i="0" dirty="0">
              <a:solidFill>
                <a:srgbClr val="333333"/>
              </a:solidFill>
              <a:effectLst/>
              <a:latin typeface="Helvetica Neue"/>
            </a:endParaRPr>
          </a:p>
          <a:p>
            <a:endParaRPr lang="en-US" altLang="zh-CN" b="0" i="0" dirty="0">
              <a:solidFill>
                <a:srgbClr val="333333"/>
              </a:solidFill>
              <a:effectLst/>
              <a:latin typeface="Helvetica Neue"/>
            </a:endParaRPr>
          </a:p>
          <a:p>
            <a:r>
              <a:rPr lang="en-US" altLang="zh-CN" b="0" i="0" dirty="0">
                <a:solidFill>
                  <a:srgbClr val="333333"/>
                </a:solidFill>
                <a:effectLst/>
                <a:latin typeface="Helvetica Neue"/>
              </a:rPr>
              <a:t>3. </a:t>
            </a:r>
            <a:r>
              <a:rPr lang="zh-CN" altLang="en-US" b="0" i="0" dirty="0">
                <a:solidFill>
                  <a:srgbClr val="333333"/>
                </a:solidFill>
                <a:effectLst/>
                <a:latin typeface="Helvetica Neue"/>
              </a:rPr>
              <a:t>还有一种是平均情况下时间复杂性。平均情况下讲的是什么呢？如果每个实例出现的概率是不一样的，对于每一个按照这种概率分布条件底下的时间，算一个平均值。比如最简单的排序问题。排序问题有</a:t>
            </a:r>
            <a:r>
              <a:rPr lang="en-US" altLang="zh-CN" b="0" i="0" dirty="0">
                <a:solidFill>
                  <a:srgbClr val="333333"/>
                </a:solidFill>
                <a:effectLst/>
                <a:latin typeface="Helvetica Neue"/>
              </a:rPr>
              <a:t>N</a:t>
            </a:r>
            <a:r>
              <a:rPr lang="zh-CN" altLang="en-US" b="0" i="0" dirty="0">
                <a:solidFill>
                  <a:srgbClr val="333333"/>
                </a:solidFill>
                <a:effectLst/>
                <a:latin typeface="Helvetica Neue"/>
              </a:rPr>
              <a:t>！种不同的输入。那么对这个</a:t>
            </a:r>
            <a:r>
              <a:rPr lang="en-US" altLang="zh-CN" b="0" i="0" dirty="0">
                <a:solidFill>
                  <a:srgbClr val="333333"/>
                </a:solidFill>
                <a:effectLst/>
                <a:latin typeface="Helvetica Neue"/>
              </a:rPr>
              <a:t>N</a:t>
            </a:r>
            <a:r>
              <a:rPr lang="zh-CN" altLang="en-US" b="0" i="0" dirty="0">
                <a:solidFill>
                  <a:srgbClr val="333333"/>
                </a:solidFill>
                <a:effectLst/>
                <a:latin typeface="Helvetica Neue"/>
              </a:rPr>
              <a:t>！种不同的输入都用这个算法去排一下，看看需要多少时间。把所有的这些时间加起来，除上一个</a:t>
            </a:r>
            <a:r>
              <a:rPr lang="en-US" altLang="zh-CN" b="0" i="0" dirty="0">
                <a:solidFill>
                  <a:srgbClr val="333333"/>
                </a:solidFill>
                <a:effectLst/>
                <a:latin typeface="Helvetica Neue"/>
              </a:rPr>
              <a:t>N</a:t>
            </a:r>
            <a:r>
              <a:rPr lang="zh-CN" altLang="en-US" b="0" i="0" dirty="0">
                <a:solidFill>
                  <a:srgbClr val="333333"/>
                </a:solidFill>
                <a:effectLst/>
                <a:latin typeface="Helvetica Neue"/>
              </a:rPr>
              <a:t>！就是</a:t>
            </a:r>
            <a:r>
              <a:rPr lang="zh-CN" altLang="en-US" sz="1200" b="1" dirty="0">
                <a:solidFill>
                  <a:srgbClr val="3907F1"/>
                </a:solidFill>
              </a:rPr>
              <a:t>平均</a:t>
            </a:r>
            <a:r>
              <a:rPr lang="zh-CN" altLang="en-US" b="0" i="0" dirty="0">
                <a:solidFill>
                  <a:srgbClr val="333333"/>
                </a:solidFill>
                <a:effectLst/>
                <a:latin typeface="Helvetica Neue"/>
              </a:rPr>
              <a:t>时间。</a:t>
            </a:r>
            <a:endParaRPr lang="en-US" altLang="zh-CN" b="0" i="0" dirty="0">
              <a:solidFill>
                <a:srgbClr val="333333"/>
              </a:solidFill>
              <a:effectLst/>
              <a:latin typeface="Helvetica Neue"/>
            </a:endParaRPr>
          </a:p>
          <a:p>
            <a:r>
              <a:rPr lang="en-US" altLang="zh-CN" b="0" i="0" dirty="0">
                <a:solidFill>
                  <a:srgbClr val="333333"/>
                </a:solidFill>
                <a:effectLst/>
                <a:latin typeface="Helvetica Neue"/>
              </a:rPr>
              <a:t>T/n</a:t>
            </a:r>
            <a:r>
              <a:rPr lang="zh-CN" altLang="en-US" b="0" i="0" dirty="0">
                <a:solidFill>
                  <a:srgbClr val="333333"/>
                </a:solidFill>
                <a:effectLst/>
                <a:latin typeface="Helvetica Neue"/>
              </a:rPr>
              <a:t>！</a:t>
            </a:r>
            <a:endParaRPr lang="en-US" altLang="zh-CN" b="0" i="0" dirty="0">
              <a:solidFill>
                <a:srgbClr val="333333"/>
              </a:solidFill>
              <a:effectLst/>
              <a:latin typeface="Helvetica Neue"/>
            </a:endParaRPr>
          </a:p>
          <a:p>
            <a:r>
              <a:rPr lang="zh-CN" altLang="en-US" b="0" i="0" dirty="0">
                <a:solidFill>
                  <a:srgbClr val="333333"/>
                </a:solidFill>
                <a:effectLst/>
                <a:latin typeface="Helvetica Neue"/>
              </a:rPr>
              <a:t>这个实际上隐含了一个前提，就是说所有这个问题实例出现的概率是一样的。都是</a:t>
            </a:r>
            <a:r>
              <a:rPr lang="en-US" altLang="zh-CN" b="0" i="0" dirty="0">
                <a:solidFill>
                  <a:srgbClr val="333333"/>
                </a:solidFill>
                <a:effectLst/>
                <a:latin typeface="Helvetica Neue"/>
              </a:rPr>
              <a:t>N</a:t>
            </a:r>
            <a:r>
              <a:rPr lang="zh-CN" altLang="en-US" b="0" i="0" dirty="0">
                <a:solidFill>
                  <a:srgbClr val="333333"/>
                </a:solidFill>
                <a:effectLst/>
                <a:latin typeface="Helvetica Neue"/>
              </a:rPr>
              <a:t>！分之一，这样子做才是才是它的平均时间。</a:t>
            </a:r>
            <a:endParaRPr lang="en-US" altLang="zh-CN" b="0" i="0" dirty="0">
              <a:solidFill>
                <a:srgbClr val="333333"/>
              </a:solidFill>
              <a:effectLst/>
              <a:latin typeface="Helvetica Neue"/>
            </a:endParaRPr>
          </a:p>
          <a:p>
            <a:endParaRPr lang="en-US" altLang="zh-CN" b="0" i="0" dirty="0">
              <a:solidFill>
                <a:srgbClr val="333333"/>
              </a:solidFill>
              <a:effectLst/>
              <a:latin typeface="Helvetica Neue"/>
            </a:endParaRPr>
          </a:p>
          <a:p>
            <a:r>
              <a:rPr lang="zh-CN" altLang="en-US" b="0" i="0" dirty="0">
                <a:solidFill>
                  <a:srgbClr val="333333"/>
                </a:solidFill>
                <a:effectLst/>
                <a:latin typeface="Helvetica Neue"/>
              </a:rPr>
              <a:t>那么出现的概率如果是不一样的呢？比如说每一个实例出现的概率是</a:t>
            </a:r>
            <a:r>
              <a:rPr lang="en-US" altLang="zh-CN" b="0" i="0" dirty="0">
                <a:solidFill>
                  <a:srgbClr val="333333"/>
                </a:solidFill>
                <a:effectLst/>
                <a:latin typeface="Helvetica Neue"/>
              </a:rPr>
              <a:t>Pi</a:t>
            </a:r>
            <a:r>
              <a:rPr lang="zh-CN" altLang="en-US" b="0" i="0" dirty="0">
                <a:solidFill>
                  <a:srgbClr val="333333"/>
                </a:solidFill>
                <a:effectLst/>
                <a:latin typeface="Helvetica Neue"/>
              </a:rPr>
              <a:t>。那么在这种情况下，它的平均时间是什么呢？就是数学期望，就是在这个概率分布底下的计算时间的数学期望。</a:t>
            </a:r>
            <a:endParaRPr lang="en-US" altLang="zh-CN" b="0" i="0" dirty="0">
              <a:solidFill>
                <a:srgbClr val="333333"/>
              </a:solidFill>
              <a:effectLst/>
              <a:latin typeface="Helvetica Neue"/>
            </a:endParaRPr>
          </a:p>
          <a:p>
            <a:endParaRPr lang="en-US" altLang="zh-CN" b="0" i="0" dirty="0">
              <a:solidFill>
                <a:srgbClr val="333333"/>
              </a:solidFill>
              <a:effectLst/>
              <a:latin typeface="Helvetica Neue"/>
            </a:endParaRPr>
          </a:p>
          <a:p>
            <a:r>
              <a:rPr lang="zh-CN" altLang="en-US" b="0" i="0" dirty="0">
                <a:solidFill>
                  <a:srgbClr val="333333"/>
                </a:solidFill>
                <a:effectLst/>
                <a:latin typeface="Helvetica Neue"/>
              </a:rPr>
              <a:t>这就是平均情况下的计算复杂性。</a:t>
            </a:r>
            <a:endParaRPr lang="en-US" altLang="zh-CN" b="0" i="0" dirty="0">
              <a:solidFill>
                <a:srgbClr val="333333"/>
              </a:solidFill>
              <a:effectLst/>
              <a:latin typeface="Helvetica Neue"/>
            </a:endParaRPr>
          </a:p>
          <a:p>
            <a:endParaRPr lang="en-US" altLang="zh-CN" b="0" i="0" dirty="0">
              <a:solidFill>
                <a:srgbClr val="333333"/>
              </a:solidFill>
              <a:effectLst/>
              <a:latin typeface="Helvetica Neue"/>
            </a:endParaRPr>
          </a:p>
          <a:p>
            <a:r>
              <a:rPr lang="zh-CN" altLang="en-US" b="0" i="0" dirty="0">
                <a:solidFill>
                  <a:srgbClr val="333333"/>
                </a:solidFill>
                <a:effectLst/>
                <a:latin typeface="Helvetica Neue"/>
              </a:rPr>
              <a:t>这三种复杂性各有用处，我们最常用的是什么呢？是最坏的情况下计算复杂性，为什么我们最常用这个呢？因为它比较容易分析。我们在分析算法的时候，只要估计最坏情况下的时间复杂性，是比较容易的。最好情况下，出现的情形比较特殊，比较简单，用的比较少。平均情况下比较准确，但是分析起来比较难，会用到一些概率统计的方法，相对复杂，所以用的比较少。</a:t>
            </a:r>
            <a:endParaRPr lang="en-US" altLang="zh-CN" b="0" i="0" dirty="0">
              <a:solidFill>
                <a:srgbClr val="333333"/>
              </a:solidFill>
              <a:effectLst/>
              <a:latin typeface="Helvetica Neue"/>
            </a:endParaRPr>
          </a:p>
          <a:p>
            <a:endParaRPr lang="en-US" altLang="zh-CN" b="0" i="0" dirty="0">
              <a:solidFill>
                <a:srgbClr val="333333"/>
              </a:solidFill>
              <a:effectLst/>
              <a:latin typeface="Helvetica Neue"/>
            </a:endParaRPr>
          </a:p>
          <a:p>
            <a:endParaRPr lang="zh-CN" altLang="en-US" dirty="0"/>
          </a:p>
        </p:txBody>
      </p:sp>
      <p:sp>
        <p:nvSpPr>
          <p:cNvPr id="4" name="灯片编号占位符 3"/>
          <p:cNvSpPr>
            <a:spLocks noGrp="1"/>
          </p:cNvSpPr>
          <p:nvPr>
            <p:ph type="sldNum" sz="quarter" idx="5"/>
          </p:nvPr>
        </p:nvSpPr>
        <p:spPr/>
        <p:txBody>
          <a:bodyPr/>
          <a:lstStyle/>
          <a:p>
            <a:fld id="{DE2B3010-6487-4927-8CC3-CEFA02E35B32}" type="slidenum">
              <a:rPr lang="en-US" altLang="zh-CN" smtClean="0"/>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r>
              <a:rPr lang="zh-CN" altLang="en-US" dirty="0"/>
              <a:t>程序设计语言中的一步</a:t>
            </a:r>
            <a:endParaRPr lang="zh-CN" altLang="en-US" dirty="0"/>
          </a:p>
        </p:txBody>
      </p:sp>
      <p:sp>
        <p:nvSpPr>
          <p:cNvPr id="4" name="灯片编号占位符 3"/>
          <p:cNvSpPr>
            <a:spLocks noGrp="1"/>
          </p:cNvSpPr>
          <p:nvPr>
            <p:ph type="sldNum" sz="quarter" idx="5"/>
          </p:nvPr>
        </p:nvSpPr>
        <p:spPr/>
        <p:txBody>
          <a:bodyPr/>
          <a:lstStyle/>
          <a:p>
            <a:pPr>
              <a:defRPr/>
            </a:pPr>
            <a:fld id="{113DE142-C549-46BB-A92D-D7EB5B9215C7}" type="slidenum">
              <a:rPr lang="zh-CN" altLang="en-US" smtClean="0"/>
            </a:fld>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113DE142-C549-46BB-A92D-D7EB5B9215C7}" type="slidenum">
              <a:rPr lang="zh-CN" altLang="en-US" smtClean="0"/>
            </a:fld>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113DE142-C549-46BB-A92D-D7EB5B9215C7}" type="slidenum">
              <a:rPr lang="zh-CN" altLang="en-US" smtClean="0"/>
            </a:fld>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r>
              <a:rPr lang="zh-CN" altLang="en-US" dirty="0"/>
              <a:t>把我们关于效率的定义提得如此详细而精确有一个最终的、基本的好处</a:t>
            </a:r>
            <a:r>
              <a:rPr lang="en-US" altLang="zh-CN" dirty="0"/>
              <a:t>,</a:t>
            </a:r>
            <a:r>
              <a:rPr lang="zh-CN" altLang="en-US" dirty="0"/>
              <a:t>它能表示否定</a:t>
            </a:r>
            <a:r>
              <a:rPr lang="en-US" altLang="zh-CN" dirty="0"/>
              <a:t>,</a:t>
            </a:r>
            <a:r>
              <a:rPr lang="zh-CN" altLang="en-US" dirty="0"/>
              <a:t>它能够表达下面的概念</a:t>
            </a:r>
            <a:r>
              <a:rPr lang="en-US" altLang="zh-CN" dirty="0"/>
              <a:t>:</a:t>
            </a:r>
            <a:endParaRPr lang="en-US" altLang="zh-CN" dirty="0"/>
          </a:p>
          <a:p>
            <a:r>
              <a:rPr lang="zh-CN" altLang="en-US" dirty="0"/>
              <a:t>对某个特定的问题不存在有效的算法</a:t>
            </a:r>
            <a:r>
              <a:rPr lang="en-US" altLang="zh-CN" dirty="0"/>
              <a:t>,</a:t>
            </a:r>
            <a:endParaRPr lang="en-US" altLang="zh-CN" dirty="0"/>
          </a:p>
          <a:p>
            <a:endParaRPr lang="en-US" altLang="zh-CN" dirty="0"/>
          </a:p>
          <a:p>
            <a:r>
              <a:rPr lang="zh-CN" altLang="en-US" dirty="0"/>
              <a:t>在某种意义下</a:t>
            </a:r>
            <a:r>
              <a:rPr lang="en-US" altLang="zh-CN" dirty="0"/>
              <a:t>,</a:t>
            </a:r>
            <a:r>
              <a:rPr lang="zh-CN" altLang="en-US" dirty="0"/>
              <a:t>能够做到这一点是将我们关于算法的研究转入高质量科学的先决条件</a:t>
            </a:r>
            <a:r>
              <a:rPr lang="en-US" altLang="zh-CN" dirty="0"/>
              <a:t>,</a:t>
            </a:r>
            <a:r>
              <a:rPr lang="zh-CN" altLang="en-US" dirty="0"/>
              <a:t>因为它允许我们将有效算法的存在或不存在作为一个良好定义的问题来询问</a:t>
            </a:r>
            <a:r>
              <a:rPr lang="en-US" altLang="zh-CN" dirty="0"/>
              <a:t>.</a:t>
            </a:r>
            <a:endParaRPr lang="en-US" altLang="zh-CN" dirty="0"/>
          </a:p>
          <a:p>
            <a:endParaRPr lang="en-US" altLang="zh-CN" dirty="0"/>
          </a:p>
          <a:p>
            <a:r>
              <a:rPr lang="zh-CN" altLang="en-US" dirty="0"/>
              <a:t>相反</a:t>
            </a:r>
            <a:r>
              <a:rPr lang="en-US" altLang="zh-CN" dirty="0"/>
              <a:t>,</a:t>
            </a:r>
            <a:r>
              <a:rPr lang="zh-CN" altLang="en-US" dirty="0"/>
              <a:t>我们前面的两个定义完全是主观的</a:t>
            </a:r>
            <a:r>
              <a:rPr lang="en-US" altLang="zh-CN" dirty="0"/>
              <a:t>,</a:t>
            </a:r>
            <a:r>
              <a:rPr lang="zh-CN" altLang="en-US" dirty="0"/>
              <a:t>因此限制了我们的范围只能是以具体的概念讨论某些问题</a:t>
            </a:r>
            <a:r>
              <a:rPr lang="en-US" altLang="zh-CN" dirty="0"/>
              <a:t>.</a:t>
            </a:r>
            <a:endParaRPr lang="zh-CN" altLang="en-US" dirty="0"/>
          </a:p>
        </p:txBody>
      </p:sp>
      <p:sp>
        <p:nvSpPr>
          <p:cNvPr id="4" name="灯片编号占位符 3"/>
          <p:cNvSpPr>
            <a:spLocks noGrp="1"/>
          </p:cNvSpPr>
          <p:nvPr>
            <p:ph type="sldNum" sz="quarter" idx="5"/>
          </p:nvPr>
        </p:nvSpPr>
        <p:spPr/>
        <p:txBody>
          <a:bodyPr/>
          <a:lstStyle/>
          <a:p>
            <a:pPr>
              <a:defRPr/>
            </a:pPr>
            <a:fld id="{113DE142-C549-46BB-A92D-D7EB5B9215C7}" type="slidenum">
              <a:rPr lang="zh-CN" altLang="en-US" smtClean="0"/>
            </a:fld>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r>
              <a:rPr lang="zh-CN" altLang="en-US" dirty="0"/>
              <a:t>下面讲算法的渐近复杂性的概念。</a:t>
            </a:r>
            <a:endParaRPr lang="en-US" altLang="zh-CN" dirty="0"/>
          </a:p>
          <a:p>
            <a:r>
              <a:rPr lang="zh-CN" altLang="en-US" dirty="0"/>
              <a:t>渐进复杂性讲的是什么呢？讲的是计算复杂性这个函数随着</a:t>
            </a:r>
            <a:r>
              <a:rPr lang="en-US" altLang="zh-CN" dirty="0"/>
              <a:t>n</a:t>
            </a:r>
            <a:r>
              <a:rPr lang="zh-CN" altLang="en-US" dirty="0"/>
              <a:t>的规模增长，即</a:t>
            </a:r>
            <a:r>
              <a:rPr lang="en-US" altLang="zh-CN" dirty="0"/>
              <a:t>n</a:t>
            </a:r>
            <a:r>
              <a:rPr lang="zh-CN" altLang="en-US" dirty="0"/>
              <a:t>趋向于无穷的时候，这个它的时间</a:t>
            </a:r>
            <a:r>
              <a:rPr lang="en-US" altLang="zh-CN" dirty="0"/>
              <a:t>TN</a:t>
            </a:r>
            <a:r>
              <a:rPr lang="zh-CN" altLang="en-US" dirty="0"/>
              <a:t>趋向于无穷的性态。</a:t>
            </a:r>
            <a:endParaRPr lang="en-US" altLang="zh-CN" dirty="0"/>
          </a:p>
          <a:p>
            <a:endParaRPr lang="en-US" altLang="zh-CN" dirty="0"/>
          </a:p>
          <a:p>
            <a:r>
              <a:rPr lang="zh-CN" altLang="en-US" dirty="0"/>
              <a:t>我们讲它的渐进性态的时候呢，会用一个小</a:t>
            </a:r>
            <a:r>
              <a:rPr lang="en-US" altLang="zh-CN" dirty="0" err="1"/>
              <a:t>fn</a:t>
            </a:r>
            <a:r>
              <a:rPr lang="zh-CN" altLang="en-US" dirty="0"/>
              <a:t>来表达，大</a:t>
            </a:r>
            <a:r>
              <a:rPr lang="en-US" altLang="zh-CN" dirty="0"/>
              <a:t>Tn</a:t>
            </a:r>
            <a:r>
              <a:rPr lang="zh-CN" altLang="en-US" dirty="0"/>
              <a:t>是表示算法的复杂性，算法的复杂性的函数表达式是很难表达的，非常复杂，我们只希望表达他的一个阶。阶用这个小</a:t>
            </a:r>
            <a:r>
              <a:rPr lang="en-US" altLang="zh-CN" dirty="0" err="1"/>
              <a:t>fn</a:t>
            </a:r>
            <a:r>
              <a:rPr lang="zh-CN" altLang="en-US" dirty="0"/>
              <a:t>来表达是比较容易的，只要小</a:t>
            </a:r>
            <a:r>
              <a:rPr lang="en-US" altLang="zh-CN" dirty="0" err="1"/>
              <a:t>fn</a:t>
            </a:r>
            <a:r>
              <a:rPr lang="zh-CN" altLang="en-US" dirty="0"/>
              <a:t>和大</a:t>
            </a:r>
            <a:r>
              <a:rPr lang="en-US" altLang="zh-CN" dirty="0"/>
              <a:t>Tn</a:t>
            </a:r>
            <a:r>
              <a:rPr lang="zh-CN" altLang="en-US" dirty="0"/>
              <a:t>是同阶就可以。</a:t>
            </a:r>
            <a:endParaRPr lang="en-US" altLang="zh-CN" dirty="0"/>
          </a:p>
          <a:p>
            <a:endParaRPr lang="en-US" altLang="zh-CN" dirty="0"/>
          </a:p>
          <a:p>
            <a:r>
              <a:rPr lang="zh-CN" altLang="en-US" dirty="0"/>
              <a:t>同阶的含义是什么呢？就是从数学上面来讲，</a:t>
            </a:r>
            <a:r>
              <a:rPr lang="en-US" altLang="zh-CN" dirty="0"/>
              <a:t>TN</a:t>
            </a:r>
            <a:r>
              <a:rPr lang="zh-CN" altLang="en-US" dirty="0"/>
              <a:t>减去一个小</a:t>
            </a:r>
            <a:r>
              <a:rPr lang="en-US" altLang="zh-CN" dirty="0" err="1"/>
              <a:t>fN</a:t>
            </a:r>
            <a:r>
              <a:rPr lang="zh-CN" altLang="en-US" dirty="0"/>
              <a:t>，再除上一个大</a:t>
            </a:r>
            <a:r>
              <a:rPr lang="en-US" altLang="zh-CN" dirty="0"/>
              <a:t>Tn</a:t>
            </a:r>
            <a:r>
              <a:rPr lang="zh-CN" altLang="en-US" dirty="0"/>
              <a:t>，这样的一个量是趋向于一个无穷小量，也就是说我把这个</a:t>
            </a:r>
            <a:r>
              <a:rPr lang="en-US" altLang="zh-CN" dirty="0"/>
              <a:t>TN</a:t>
            </a:r>
            <a:r>
              <a:rPr lang="zh-CN" altLang="en-US" dirty="0"/>
              <a:t>的主要部分拿出来，比如：</a:t>
            </a:r>
            <a:endParaRPr lang="en-US" altLang="zh-CN" dirty="0"/>
          </a:p>
          <a:p>
            <a:endParaRPr lang="en-US" altLang="zh-CN" dirty="0"/>
          </a:p>
          <a:p>
            <a:r>
              <a:rPr lang="zh-CN" altLang="en-US" dirty="0"/>
              <a:t>例子 </a:t>
            </a:r>
            <a:r>
              <a:rPr lang="en-US" altLang="zh-CN" dirty="0"/>
              <a:t>T(n)=n^2+nlogn+...</a:t>
            </a:r>
            <a:endParaRPr lang="en-US" altLang="zh-CN" dirty="0"/>
          </a:p>
          <a:p>
            <a:endParaRPr lang="en-US" altLang="zh-CN" dirty="0"/>
          </a:p>
          <a:p>
            <a:r>
              <a:rPr lang="zh-CN" altLang="en-US" dirty="0"/>
              <a:t>主项在</a:t>
            </a:r>
            <a:r>
              <a:rPr lang="en-US" altLang="zh-CN" dirty="0"/>
              <a:t>N</a:t>
            </a:r>
            <a:r>
              <a:rPr lang="zh-CN" altLang="en-US" dirty="0"/>
              <a:t>平方，它的渐进性态就是</a:t>
            </a:r>
            <a:r>
              <a:rPr lang="en-US" altLang="zh-CN" dirty="0"/>
              <a:t>N</a:t>
            </a:r>
            <a:r>
              <a:rPr lang="zh-CN" altLang="en-US" dirty="0"/>
              <a:t>平方的，所以这个小</a:t>
            </a:r>
            <a:r>
              <a:rPr lang="en-US" altLang="zh-CN" dirty="0" err="1"/>
              <a:t>fN</a:t>
            </a:r>
            <a:r>
              <a:rPr lang="zh-CN" altLang="en-US" dirty="0"/>
              <a:t>就是</a:t>
            </a:r>
            <a:r>
              <a:rPr lang="en-US" altLang="zh-CN" dirty="0"/>
              <a:t>N</a:t>
            </a:r>
            <a:r>
              <a:rPr lang="zh-CN" altLang="en-US" dirty="0"/>
              <a:t>平方。那么大</a:t>
            </a:r>
            <a:r>
              <a:rPr lang="en-US" altLang="zh-CN" dirty="0"/>
              <a:t>TN</a:t>
            </a:r>
            <a:r>
              <a:rPr lang="zh-CN" altLang="en-US" dirty="0"/>
              <a:t>减去小</a:t>
            </a:r>
            <a:r>
              <a:rPr lang="en-US" altLang="zh-CN" dirty="0" err="1"/>
              <a:t>fn</a:t>
            </a:r>
            <a:r>
              <a:rPr lang="zh-CN" altLang="en-US" dirty="0"/>
              <a:t>以后，剩下的是什么呢？剩下的是低阶项，跟这个大</a:t>
            </a:r>
            <a:r>
              <a:rPr lang="en-US" altLang="zh-CN" dirty="0"/>
              <a:t>TN</a:t>
            </a:r>
            <a:r>
              <a:rPr lang="zh-CN" altLang="en-US" dirty="0"/>
              <a:t>比起来是一个无穷小量。所以在数学上，这个小</a:t>
            </a:r>
            <a:r>
              <a:rPr lang="en-US" altLang="zh-CN" dirty="0" err="1"/>
              <a:t>fn</a:t>
            </a:r>
            <a:r>
              <a:rPr lang="zh-CN" altLang="en-US" dirty="0"/>
              <a:t>是大</a:t>
            </a:r>
            <a:r>
              <a:rPr lang="en-US" altLang="zh-CN" dirty="0"/>
              <a:t>TN</a:t>
            </a:r>
            <a:r>
              <a:rPr lang="zh-CN" altLang="en-US" dirty="0"/>
              <a:t>的一个渐进的表达式。大</a:t>
            </a:r>
            <a:r>
              <a:rPr lang="en-US" altLang="zh-CN" dirty="0"/>
              <a:t>TN</a:t>
            </a:r>
            <a:r>
              <a:rPr lang="zh-CN" altLang="en-US" dirty="0"/>
              <a:t>略去低阶项以后，留下的主项就是小</a:t>
            </a:r>
            <a:r>
              <a:rPr lang="en-US" altLang="zh-CN" dirty="0" err="1"/>
              <a:t>fN</a:t>
            </a:r>
            <a:r>
              <a:rPr lang="zh-CN" altLang="en-US" dirty="0"/>
              <a:t>，就是它的渐进性态。</a:t>
            </a:r>
            <a:endParaRPr lang="zh-CN" altLang="en-US" dirty="0"/>
          </a:p>
        </p:txBody>
      </p:sp>
      <p:sp>
        <p:nvSpPr>
          <p:cNvPr id="4" name="灯片编号占位符 3"/>
          <p:cNvSpPr>
            <a:spLocks noGrp="1"/>
          </p:cNvSpPr>
          <p:nvPr>
            <p:ph type="sldNum" sz="quarter" idx="5"/>
          </p:nvPr>
        </p:nvSpPr>
        <p:spPr/>
        <p:txBody>
          <a:bodyPr/>
          <a:lstStyle/>
          <a:p>
            <a:fld id="{DE2B3010-6487-4927-8CC3-CEFA02E35B32}" type="slidenum">
              <a:rPr lang="en-US" altLang="zh-CN" smtClean="0"/>
            </a:fld>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113DE142-C549-46BB-A92D-D7EB5B9215C7}" type="slidenum">
              <a:rPr lang="zh-CN" altLang="en-US" smtClean="0"/>
            </a:fld>
            <a:endParaRPr lang="en-US"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113DE142-C549-46BB-A92D-D7EB5B9215C7}" type="slidenum">
              <a:rPr lang="zh-CN" altLang="en-US" smtClean="0"/>
            </a:fld>
            <a:endParaRPr lang="en-US"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113DE142-C549-46BB-A92D-D7EB5B9215C7}" type="slidenum">
              <a:rPr lang="zh-CN" altLang="en-US" smtClean="0"/>
            </a:fld>
            <a:endParaRPr lang="en-US"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r>
              <a:rPr lang="en-US" altLang="zh-CN" dirty="0"/>
              <a:t>1</a:t>
            </a:r>
            <a:endParaRPr lang="zh-CN" altLang="en-US" dirty="0"/>
          </a:p>
        </p:txBody>
      </p:sp>
      <p:sp>
        <p:nvSpPr>
          <p:cNvPr id="4" name="灯片编号占位符 3"/>
          <p:cNvSpPr>
            <a:spLocks noGrp="1"/>
          </p:cNvSpPr>
          <p:nvPr>
            <p:ph type="sldNum" sz="quarter" idx="5"/>
          </p:nvPr>
        </p:nvSpPr>
        <p:spPr/>
        <p:txBody>
          <a:bodyPr/>
          <a:lstStyle/>
          <a:p>
            <a:pPr>
              <a:defRPr/>
            </a:pPr>
            <a:fld id="{113DE142-C549-46BB-A92D-D7EB5B9215C7}" type="slidenum">
              <a:rPr lang="zh-CN" altLang="en-US" smtClean="0"/>
            </a:fld>
            <a:endParaRPr lang="en-US"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113DE142-C549-46BB-A92D-D7EB5B9215C7}" type="slidenum">
              <a:rPr lang="zh-CN" altLang="en-US" smtClean="0"/>
            </a:fld>
            <a:endParaRPr lang="en-US"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113DE142-C549-46BB-A92D-D7EB5B9215C7}" type="slidenum">
              <a:rPr lang="zh-CN" altLang="en-US" smtClean="0"/>
            </a:fld>
            <a:endParaRPr lang="en-US"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r>
              <a:rPr lang="zh-CN" altLang="en-US" dirty="0"/>
              <a:t>按照</a:t>
            </a:r>
            <a:r>
              <a:rPr lang="en-US" altLang="zh-CN" dirty="0"/>
              <a:t>PPT</a:t>
            </a:r>
            <a:r>
              <a:rPr lang="zh-CN" altLang="en-US" dirty="0"/>
              <a:t>讲解</a:t>
            </a:r>
            <a:endParaRPr lang="zh-CN" altLang="en-US" dirty="0"/>
          </a:p>
        </p:txBody>
      </p:sp>
      <p:sp>
        <p:nvSpPr>
          <p:cNvPr id="4" name="灯片编号占位符 3"/>
          <p:cNvSpPr>
            <a:spLocks noGrp="1"/>
          </p:cNvSpPr>
          <p:nvPr>
            <p:ph type="sldNum" sz="quarter" idx="5"/>
          </p:nvPr>
        </p:nvSpPr>
        <p:spPr/>
        <p:txBody>
          <a:bodyPr/>
          <a:lstStyle/>
          <a:p>
            <a:fld id="{DE2B3010-6487-4927-8CC3-CEFA02E35B32}" type="slidenum">
              <a:rPr lang="en-US" altLang="zh-CN" smtClean="0"/>
            </a:fld>
            <a:endParaRPr lang="en-US"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113DE142-C549-46BB-A92D-D7EB5B9215C7}" type="slidenum">
              <a:rPr lang="zh-CN" altLang="en-US" smtClean="0"/>
            </a:fld>
            <a:endParaRPr lang="en-US"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r>
              <a:rPr lang="zh-CN" altLang="en-US" dirty="0"/>
              <a:t>洛必达法则</a:t>
            </a:r>
            <a:endParaRPr lang="zh-CN" altLang="en-US" dirty="0"/>
          </a:p>
        </p:txBody>
      </p:sp>
      <p:sp>
        <p:nvSpPr>
          <p:cNvPr id="4" name="灯片编号占位符 3"/>
          <p:cNvSpPr>
            <a:spLocks noGrp="1"/>
          </p:cNvSpPr>
          <p:nvPr>
            <p:ph type="sldNum" sz="quarter" idx="5"/>
          </p:nvPr>
        </p:nvSpPr>
        <p:spPr/>
        <p:txBody>
          <a:bodyPr/>
          <a:lstStyle/>
          <a:p>
            <a:pPr>
              <a:defRPr/>
            </a:pPr>
            <a:fld id="{113DE142-C549-46BB-A92D-D7EB5B9215C7}" type="slidenum">
              <a:rPr lang="zh-CN" altLang="en-US" smtClean="0"/>
            </a:fld>
            <a:endParaRPr lang="en-US"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113DE142-C549-46BB-A92D-D7EB5B9215C7}" type="slidenum">
              <a:rPr lang="zh-CN" altLang="en-US" smtClean="0"/>
            </a:fld>
            <a:endParaRPr lang="en-US"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t>因为男人从自由到约会状态</a:t>
            </a:r>
            <a:r>
              <a:rPr lang="en-US" altLang="zh-CN" dirty="0"/>
              <a:t>,</a:t>
            </a:r>
            <a:r>
              <a:rPr lang="zh-CN" altLang="en-US" dirty="0"/>
              <a:t>并且可能再次回到自由</a:t>
            </a:r>
            <a:r>
              <a:rPr lang="en-US" altLang="zh-CN" dirty="0"/>
              <a:t>,</a:t>
            </a:r>
            <a:r>
              <a:rPr lang="zh-CN" altLang="en-US" dirty="0"/>
              <a:t>自由男人的表在算法执行期间需要变长或者缩短</a:t>
            </a:r>
            <a:r>
              <a:rPr lang="en-US" altLang="zh-CN" dirty="0"/>
              <a:t>,</a:t>
            </a:r>
            <a:r>
              <a:rPr lang="zh-CN" altLang="en-US" dirty="0"/>
              <a:t>在作为数组来维护的表中频繁地加入或者删除元素一般说来是麻烦的</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t>维护这样一个元素的动态集合通常有另一种更好的方法</a:t>
            </a:r>
            <a:r>
              <a:rPr lang="en-US" altLang="zh-CN" dirty="0"/>
              <a:t>,</a:t>
            </a:r>
            <a:r>
              <a:rPr lang="zh-CN" altLang="en-US" dirty="0"/>
              <a:t>就是通过一个链表</a:t>
            </a:r>
            <a:r>
              <a:rPr lang="en-US" altLang="zh-CN" dirty="0"/>
              <a:t>.</a:t>
            </a:r>
            <a:endParaRPr lang="zh-CN" altLang="en-US" dirty="0"/>
          </a:p>
          <a:p>
            <a:endParaRPr lang="zh-CN" altLang="en-US" dirty="0"/>
          </a:p>
        </p:txBody>
      </p:sp>
      <p:sp>
        <p:nvSpPr>
          <p:cNvPr id="4" name="灯片编号占位符 3"/>
          <p:cNvSpPr>
            <a:spLocks noGrp="1"/>
          </p:cNvSpPr>
          <p:nvPr>
            <p:ph type="sldNum" sz="quarter" idx="5"/>
          </p:nvPr>
        </p:nvSpPr>
        <p:spPr/>
        <p:txBody>
          <a:bodyPr/>
          <a:lstStyle/>
          <a:p>
            <a:pPr>
              <a:defRPr/>
            </a:pPr>
            <a:fld id="{113DE142-C549-46BB-A92D-D7EB5B9215C7}" type="slidenum">
              <a:rPr lang="zh-CN" altLang="en-US" smtClean="0"/>
            </a:fld>
            <a:endParaRPr lang="en-US"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113DE142-C549-46BB-A92D-D7EB5B9215C7}" type="slidenum">
              <a:rPr lang="zh-CN" altLang="en-US" smtClean="0"/>
            </a:fld>
            <a:endParaRPr lang="en-US"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113DE142-C549-46BB-A92D-D7EB5B9215C7}" type="slidenum">
              <a:rPr lang="zh-CN" altLang="en-US" smtClean="0"/>
            </a:fld>
            <a:endParaRPr lang="en-US"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113DE142-C549-46BB-A92D-D7EB5B9215C7}" type="slidenum">
              <a:rPr lang="zh-CN" altLang="en-US" smtClean="0"/>
            </a:fld>
            <a:endParaRPr lang="en-US"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113DE142-C549-46BB-A92D-D7EB5B9215C7}" type="slidenum">
              <a:rPr lang="zh-CN" altLang="en-US" smtClean="0"/>
            </a:fld>
            <a:endParaRPr lang="en-US"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113DE142-C549-46BB-A92D-D7EB5B9215C7}" type="slidenum">
              <a:rPr lang="zh-CN" altLang="en-US" smtClean="0"/>
            </a:fld>
            <a:endParaRPr lang="en-US" altLang="zh-C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113DE142-C549-46BB-A92D-D7EB5B9215C7}" type="slidenum">
              <a:rPr lang="zh-CN" altLang="en-US" smtClean="0"/>
            </a:fld>
            <a:endParaRPr lang="en-US" altLang="zh-CN"/>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113DE142-C549-46BB-A92D-D7EB5B9215C7}" type="slidenum">
              <a:rPr lang="zh-CN" altLang="en-US" smtClean="0"/>
            </a:fld>
            <a:endParaRPr lang="en-US" altLang="zh-CN"/>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113DE142-C549-46BB-A92D-D7EB5B9215C7}" type="slidenum">
              <a:rPr lang="zh-CN" altLang="en-US" smtClean="0"/>
            </a:fld>
            <a:endParaRPr lang="en-US" altLang="zh-CN"/>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113DE142-C549-46BB-A92D-D7EB5B9215C7}" type="slidenum">
              <a:rPr lang="zh-CN" altLang="en-US" smtClean="0"/>
            </a:fld>
            <a:endParaRPr lang="en-US" altLang="zh-CN"/>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113DE142-C549-46BB-A92D-D7EB5B9215C7}" type="slidenum">
              <a:rPr lang="zh-CN" altLang="en-US" smtClean="0"/>
            </a:fld>
            <a:endParaRPr lang="en-US" altLang="zh-CN"/>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113DE142-C549-46BB-A92D-D7EB5B9215C7}" type="slidenum">
              <a:rPr lang="zh-CN" altLang="en-US" smtClean="0"/>
            </a:fld>
            <a:endParaRPr lang="en-US" altLang="zh-CN"/>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113DE142-C549-46BB-A92D-D7EB5B9215C7}" type="slidenum">
              <a:rPr lang="zh-CN" altLang="en-US" smtClean="0"/>
            </a:fld>
            <a:endParaRPr lang="en-US" altLang="zh-CN"/>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r>
              <a:rPr lang="en-US" altLang="zh-CN" dirty="0"/>
              <a:t>For</a:t>
            </a:r>
            <a:r>
              <a:rPr lang="zh-CN" altLang="en-US" dirty="0"/>
              <a:t>循环</a:t>
            </a:r>
            <a:r>
              <a:rPr lang="en-US" altLang="zh-CN" dirty="0"/>
              <a:t>n-1</a:t>
            </a:r>
            <a:r>
              <a:rPr lang="zh-CN" altLang="en-US" dirty="0"/>
              <a:t>次</a:t>
            </a:r>
            <a:endParaRPr lang="en-US" altLang="zh-CN" dirty="0"/>
          </a:p>
          <a:p>
            <a:r>
              <a:rPr lang="zh-CN" altLang="en-US" dirty="0"/>
              <a:t>运行在</a:t>
            </a:r>
            <a:r>
              <a:rPr lang="en-US" altLang="zh-CN" dirty="0"/>
              <a:t>O(n)</a:t>
            </a:r>
            <a:r>
              <a:rPr lang="zh-CN" altLang="en-US" dirty="0"/>
              <a:t>时间</a:t>
            </a:r>
            <a:r>
              <a:rPr lang="en-US" altLang="zh-CN" dirty="0"/>
              <a:t>,</a:t>
            </a:r>
            <a:r>
              <a:rPr lang="zh-CN" altLang="en-US" dirty="0"/>
              <a:t>或者线性时间的算法有着一种非常自然的性质</a:t>
            </a:r>
            <a:r>
              <a:rPr lang="en-US" altLang="zh-CN" dirty="0"/>
              <a:t>:</a:t>
            </a:r>
            <a:r>
              <a:rPr lang="zh-CN" altLang="en-US" dirty="0"/>
              <a:t>它的运行时间至多是输入规模的常数倍。</a:t>
            </a:r>
            <a:endParaRPr lang="en-US" altLang="zh-CN" dirty="0"/>
          </a:p>
          <a:p>
            <a:endParaRPr lang="en-US" altLang="zh-CN" dirty="0"/>
          </a:p>
          <a:p>
            <a:r>
              <a:rPr lang="zh-CN" altLang="en-US" dirty="0"/>
              <a:t>使得算法至多具有这个运行时间的一种基本方法就是对输入的处理只进行一轮</a:t>
            </a:r>
            <a:r>
              <a:rPr lang="en-US" altLang="zh-CN" dirty="0"/>
              <a:t>,</a:t>
            </a:r>
            <a:r>
              <a:rPr lang="zh-CN" altLang="en-US" dirty="0"/>
              <a:t>且对遇到的每个输入项使用常数时间</a:t>
            </a:r>
            <a:endParaRPr lang="en-US" altLang="zh-CN" dirty="0"/>
          </a:p>
          <a:p>
            <a:endParaRPr lang="en-US" altLang="zh-CN" dirty="0"/>
          </a:p>
          <a:p>
            <a:r>
              <a:rPr lang="zh-CN" altLang="en-US" dirty="0"/>
              <a:t>作为例子</a:t>
            </a:r>
            <a:r>
              <a:rPr lang="en-US" altLang="zh-CN" dirty="0"/>
              <a:t>,</a:t>
            </a:r>
            <a:r>
              <a:rPr lang="zh-CN" altLang="en-US" dirty="0"/>
              <a:t>我们考虑两个简单的线性时间的算法</a:t>
            </a:r>
            <a:endParaRPr lang="en-US" altLang="zh-CN" dirty="0"/>
          </a:p>
          <a:p>
            <a:endParaRPr lang="en-US" altLang="zh-CN" dirty="0"/>
          </a:p>
          <a:p>
            <a:r>
              <a:rPr lang="zh-CN" altLang="en-US" dirty="0"/>
              <a:t>计算最大数 例如</a:t>
            </a:r>
            <a:r>
              <a:rPr lang="en-US" altLang="zh-CN" dirty="0"/>
              <a:t>,</a:t>
            </a:r>
            <a:r>
              <a:rPr lang="zh-CN" altLang="en-US" dirty="0"/>
              <a:t>计算</a:t>
            </a:r>
            <a:r>
              <a:rPr lang="en-US" altLang="zh-CN" dirty="0"/>
              <a:t>n</a:t>
            </a:r>
            <a:r>
              <a:rPr lang="zh-CN" altLang="en-US" dirty="0"/>
              <a:t>个数的最大数</a:t>
            </a:r>
            <a:r>
              <a:rPr lang="en-US" altLang="zh-CN" dirty="0"/>
              <a:t>,</a:t>
            </a:r>
            <a:r>
              <a:rPr lang="zh-CN" altLang="en-US" dirty="0"/>
              <a:t>可以用基本的“一轮”类型来完成</a:t>
            </a:r>
            <a:r>
              <a:rPr lang="en-US" altLang="zh-CN" dirty="0"/>
              <a:t>.</a:t>
            </a:r>
            <a:endParaRPr lang="en-US" altLang="zh-CN" dirty="0"/>
          </a:p>
          <a:p>
            <a:r>
              <a:rPr lang="zh-CN" altLang="en-US" dirty="0"/>
              <a:t>假设这些数作为输入是用一个表或者一个数组给出的</a:t>
            </a:r>
            <a:r>
              <a:rPr lang="en-US" altLang="zh-CN" dirty="0"/>
              <a:t>,</a:t>
            </a:r>
            <a:r>
              <a:rPr lang="zh-CN" altLang="en-US" dirty="0"/>
              <a:t>我们按次序处理数</a:t>
            </a:r>
            <a:r>
              <a:rPr lang="en-US" altLang="zh-CN" dirty="0"/>
              <a:t>a1,a2,…,an,</a:t>
            </a:r>
            <a:r>
              <a:rPr lang="zh-CN" altLang="en-US" dirty="0"/>
              <a:t>当我们进行时保持对最大的一个连续的估计</a:t>
            </a:r>
            <a:r>
              <a:rPr lang="en-US" altLang="zh-CN" dirty="0"/>
              <a:t>,</a:t>
            </a:r>
            <a:r>
              <a:rPr lang="zh-CN" altLang="en-US" dirty="0"/>
              <a:t>每次遇到一个数</a:t>
            </a:r>
            <a:r>
              <a:rPr lang="en-US" altLang="zh-CN" dirty="0"/>
              <a:t>;,</a:t>
            </a:r>
            <a:r>
              <a:rPr lang="zh-CN" altLang="en-US" dirty="0"/>
              <a:t>我们检查</a:t>
            </a:r>
            <a:r>
              <a:rPr lang="en-US" altLang="zh-CN" dirty="0"/>
              <a:t>ai</a:t>
            </a:r>
            <a:r>
              <a:rPr lang="zh-CN" altLang="en-US" dirty="0"/>
              <a:t>是否大于我们当前的估计值</a:t>
            </a:r>
            <a:r>
              <a:rPr lang="en-US" altLang="zh-CN" dirty="0"/>
              <a:t>,</a:t>
            </a:r>
            <a:r>
              <a:rPr lang="zh-CN" altLang="en-US" dirty="0"/>
              <a:t>如果是就把这个估计值更新成。</a:t>
            </a:r>
            <a:endParaRPr lang="en-US" altLang="zh-CN" dirty="0"/>
          </a:p>
          <a:p>
            <a:r>
              <a:rPr lang="zh-CN" altLang="en-US" dirty="0"/>
              <a:t>按这种方式</a:t>
            </a:r>
            <a:r>
              <a:rPr lang="en-US" altLang="zh-CN" dirty="0"/>
              <a:t>,</a:t>
            </a:r>
            <a:r>
              <a:rPr lang="zh-CN" altLang="en-US" dirty="0"/>
              <a:t>我们对每个元素都做常数的工作</a:t>
            </a:r>
            <a:r>
              <a:rPr lang="en-US" altLang="zh-CN" dirty="0"/>
              <a:t>,</a:t>
            </a:r>
            <a:r>
              <a:rPr lang="zh-CN" altLang="en-US" dirty="0"/>
              <a:t>以便得到</a:t>
            </a:r>
            <a:r>
              <a:rPr lang="en-US" altLang="zh-CN" dirty="0"/>
              <a:t>O(n)</a:t>
            </a:r>
            <a:r>
              <a:rPr lang="zh-CN" altLang="en-US" dirty="0"/>
              <a:t>的总运行时间</a:t>
            </a:r>
            <a:r>
              <a:rPr lang="en-US" altLang="zh-CN" dirty="0"/>
              <a:t>.</a:t>
            </a:r>
            <a:endParaRPr lang="zh-CN" altLang="en-US" dirty="0"/>
          </a:p>
        </p:txBody>
      </p:sp>
      <p:sp>
        <p:nvSpPr>
          <p:cNvPr id="4" name="灯片编号占位符 3"/>
          <p:cNvSpPr>
            <a:spLocks noGrp="1"/>
          </p:cNvSpPr>
          <p:nvPr>
            <p:ph type="sldNum" sz="quarter" idx="5"/>
          </p:nvPr>
        </p:nvSpPr>
        <p:spPr/>
        <p:txBody>
          <a:bodyPr/>
          <a:lstStyle/>
          <a:p>
            <a:pPr>
              <a:defRPr/>
            </a:pPr>
            <a:fld id="{113DE142-C549-46BB-A92D-D7EB5B9215C7}" type="slidenum">
              <a:rPr lang="zh-CN" altLang="en-US" smtClean="0"/>
            </a:fld>
            <a:endParaRPr lang="en-US" altLang="zh-CN"/>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r>
              <a:rPr lang="en-US" altLang="zh-CN" dirty="0"/>
              <a:t>2n-1</a:t>
            </a:r>
            <a:r>
              <a:rPr lang="zh-CN" altLang="en-US" dirty="0"/>
              <a:t>次比较，忽略低阶项和系数</a:t>
            </a:r>
            <a:endParaRPr lang="zh-CN" altLang="en-US" dirty="0"/>
          </a:p>
        </p:txBody>
      </p:sp>
      <p:sp>
        <p:nvSpPr>
          <p:cNvPr id="4" name="灯片编号占位符 3"/>
          <p:cNvSpPr>
            <a:spLocks noGrp="1"/>
          </p:cNvSpPr>
          <p:nvPr>
            <p:ph type="sldNum" sz="quarter" idx="5"/>
          </p:nvPr>
        </p:nvSpPr>
        <p:spPr/>
        <p:txBody>
          <a:bodyPr/>
          <a:lstStyle/>
          <a:p>
            <a:pPr>
              <a:defRPr/>
            </a:pPr>
            <a:fld id="{113DE142-C549-46BB-A92D-D7EB5B9215C7}" type="slidenum">
              <a:rPr lang="zh-CN" altLang="en-US" smtClean="0"/>
            </a:fld>
            <a:endParaRPr lang="en-US" altLang="zh-CN"/>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r>
              <a:rPr lang="en-US" altLang="zh-CN" dirty="0"/>
              <a:t>K</a:t>
            </a:r>
            <a:r>
              <a:rPr lang="zh-CN" altLang="en-US" dirty="0"/>
              <a:t>元子集的总数</a:t>
            </a:r>
            <a:endParaRPr lang="zh-CN" altLang="en-US" dirty="0"/>
          </a:p>
        </p:txBody>
      </p:sp>
      <p:sp>
        <p:nvSpPr>
          <p:cNvPr id="4" name="灯片编号占位符 3"/>
          <p:cNvSpPr>
            <a:spLocks noGrp="1"/>
          </p:cNvSpPr>
          <p:nvPr>
            <p:ph type="sldNum" sz="quarter" idx="5"/>
          </p:nvPr>
        </p:nvSpPr>
        <p:spPr/>
        <p:txBody>
          <a:bodyPr/>
          <a:lstStyle/>
          <a:p>
            <a:pPr>
              <a:defRPr/>
            </a:pPr>
            <a:fld id="{113DE142-C549-46BB-A92D-D7EB5B9215C7}" type="slidenum">
              <a:rPr lang="zh-CN" altLang="en-US" smtClean="0"/>
            </a:fld>
            <a:endParaRPr lang="en-US" altLang="zh-CN"/>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r>
              <a:rPr lang="zh-CN" altLang="en-US" dirty="0"/>
              <a:t>次迭代</a:t>
            </a:r>
            <a:r>
              <a:rPr lang="en-US" altLang="zh-CN" dirty="0"/>
              <a:t>.</a:t>
            </a:r>
            <a:r>
              <a:rPr lang="zh-CN" altLang="en-US" dirty="0"/>
              <a:t>在循环内部</a:t>
            </a:r>
            <a:r>
              <a:rPr lang="en-US" altLang="zh-CN" dirty="0"/>
              <a:t>,</a:t>
            </a:r>
            <a:r>
              <a:rPr lang="zh-CN" altLang="en-US" dirty="0"/>
              <a:t>我们检查集合</a:t>
            </a:r>
            <a:r>
              <a:rPr lang="en-US" altLang="zh-CN" dirty="0"/>
              <a:t>S</a:t>
            </a:r>
            <a:r>
              <a:rPr lang="zh-CN" altLang="en-US" dirty="0"/>
              <a:t>的每个对</a:t>
            </a:r>
            <a:r>
              <a:rPr lang="en-US" altLang="zh-CN" dirty="0"/>
              <a:t>,</a:t>
            </a:r>
            <a:r>
              <a:rPr lang="zh-CN" altLang="en-US" dirty="0"/>
              <a:t>而</a:t>
            </a:r>
            <a:r>
              <a:rPr lang="en-US" altLang="zh-CN" dirty="0"/>
              <a:t>S</a:t>
            </a:r>
            <a:r>
              <a:rPr lang="zh-CN" altLang="en-US" dirty="0"/>
              <a:t>可能大到有”个结点</a:t>
            </a:r>
            <a:r>
              <a:rPr lang="en-US" altLang="zh-CN" dirty="0"/>
              <a:t>.</a:t>
            </a:r>
            <a:r>
              <a:rPr lang="zh-CN" altLang="en-US" dirty="0"/>
              <a:t>因此这个循环的每次迭代至多用</a:t>
            </a:r>
            <a:r>
              <a:rPr lang="en-US" altLang="zh-CN" dirty="0"/>
              <a:t>O(n)</a:t>
            </a:r>
            <a:r>
              <a:rPr lang="zh-CN" altLang="en-US" dirty="0"/>
              <a:t>的时间</a:t>
            </a:r>
            <a:r>
              <a:rPr lang="en-US" altLang="zh-CN" dirty="0"/>
              <a:t>,</a:t>
            </a:r>
            <a:r>
              <a:rPr lang="zh-CN" altLang="en-US" dirty="0"/>
              <a:t>把这两项乘到一起</a:t>
            </a:r>
            <a:r>
              <a:rPr lang="en-US" altLang="zh-CN" dirty="0"/>
              <a:t>,</a:t>
            </a:r>
            <a:r>
              <a:rPr lang="zh-CN" altLang="en-US" dirty="0"/>
              <a:t>我们得到一个</a:t>
            </a:r>
            <a:r>
              <a:rPr lang="en-US" altLang="zh-CN" dirty="0"/>
              <a:t>O(n2”)</a:t>
            </a:r>
            <a:r>
              <a:rPr lang="zh-CN" altLang="en-US" dirty="0"/>
              <a:t>的运行时间</a:t>
            </a:r>
            <a:r>
              <a:rPr lang="en-US" altLang="zh-CN" dirty="0"/>
              <a:t>.</a:t>
            </a:r>
            <a:endParaRPr lang="zh-CN" altLang="en-US" dirty="0"/>
          </a:p>
        </p:txBody>
      </p:sp>
      <p:sp>
        <p:nvSpPr>
          <p:cNvPr id="4" name="灯片编号占位符 3"/>
          <p:cNvSpPr>
            <a:spLocks noGrp="1"/>
          </p:cNvSpPr>
          <p:nvPr>
            <p:ph type="sldNum" sz="quarter" idx="5"/>
          </p:nvPr>
        </p:nvSpPr>
        <p:spPr/>
        <p:txBody>
          <a:bodyPr/>
          <a:lstStyle/>
          <a:p>
            <a:pPr>
              <a:defRPr/>
            </a:pPr>
            <a:fld id="{113DE142-C549-46BB-A92D-D7EB5B9215C7}" type="slidenum">
              <a:rPr lang="zh-CN" altLang="en-US" smtClean="0"/>
            </a:fld>
            <a:endParaRPr lang="en-US" altLang="zh-CN"/>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113DE142-C549-46BB-A92D-D7EB5B9215C7}" type="slidenum">
              <a:rPr lang="zh-CN" altLang="en-US" smtClean="0"/>
            </a:fld>
            <a:endParaRPr lang="en-US" altLang="zh-CN"/>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113DE142-C549-46BB-A92D-D7EB5B9215C7}" type="slidenum">
              <a:rPr lang="zh-CN" altLang="en-US" smtClean="0"/>
            </a:fld>
            <a:endParaRPr lang="en-US" altLang="zh-CN"/>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dirty="0">
                <a:effectLst/>
                <a:latin typeface="Inter"/>
              </a:rPr>
              <a:t>在算法分析中，经常会遇到与阶乘相关的时间复杂度或空间复杂度，例如在排列组合问题、回溯算法等场景中。</a:t>
            </a:r>
            <a:endParaRPr lang="zh-CN" altLang="en-US" dirty="0"/>
          </a:p>
        </p:txBody>
      </p:sp>
      <p:sp>
        <p:nvSpPr>
          <p:cNvPr id="4" name="灯片编号占位符 3"/>
          <p:cNvSpPr>
            <a:spLocks noGrp="1"/>
          </p:cNvSpPr>
          <p:nvPr>
            <p:ph type="sldNum" sz="quarter" idx="5"/>
          </p:nvPr>
        </p:nvSpPr>
        <p:spPr/>
        <p:txBody>
          <a:bodyPr/>
          <a:lstStyle/>
          <a:p>
            <a:pPr>
              <a:defRPr/>
            </a:pPr>
            <a:fld id="{113DE142-C549-46BB-A92D-D7EB5B9215C7}" type="slidenum">
              <a:rPr lang="zh-CN" altLang="en-US" smtClean="0"/>
            </a:fld>
            <a:endParaRPr lang="en-US" altLang="zh-CN"/>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dirty="0">
                <a:effectLst/>
                <a:latin typeface="Inter"/>
              </a:rPr>
              <a:t>在算法分析中，经常会遇到与阶乘相关的时间复杂度或空间复杂度，例如在排列组合问题、回溯算法等场景中。</a:t>
            </a:r>
            <a:endParaRPr lang="zh-CN" altLang="en-US" dirty="0"/>
          </a:p>
        </p:txBody>
      </p:sp>
      <p:sp>
        <p:nvSpPr>
          <p:cNvPr id="4" name="灯片编号占位符 3"/>
          <p:cNvSpPr>
            <a:spLocks noGrp="1"/>
          </p:cNvSpPr>
          <p:nvPr>
            <p:ph type="sldNum" sz="quarter" idx="5"/>
          </p:nvPr>
        </p:nvSpPr>
        <p:spPr/>
        <p:txBody>
          <a:bodyPr/>
          <a:lstStyle/>
          <a:p>
            <a:pPr>
              <a:defRPr/>
            </a:pPr>
            <a:fld id="{113DE142-C549-46BB-A92D-D7EB5B9215C7}" type="slidenum">
              <a:rPr lang="zh-CN" altLang="en-US" smtClean="0"/>
            </a:fld>
            <a:endParaRPr lang="en-US" altLang="zh-CN"/>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dirty="0">
                <a:effectLst/>
                <a:latin typeface="Inter"/>
              </a:rPr>
              <a:t>在算法分析中，经常会遇到与阶乘相关的时间复杂度或空间复杂度，例如在排列组合问题、回溯算法等场景中。</a:t>
            </a:r>
            <a:endParaRPr lang="zh-CN" altLang="en-US" dirty="0"/>
          </a:p>
        </p:txBody>
      </p:sp>
      <p:sp>
        <p:nvSpPr>
          <p:cNvPr id="4" name="灯片编号占位符 3"/>
          <p:cNvSpPr>
            <a:spLocks noGrp="1"/>
          </p:cNvSpPr>
          <p:nvPr>
            <p:ph type="sldNum" sz="quarter" idx="5"/>
          </p:nvPr>
        </p:nvSpPr>
        <p:spPr/>
        <p:txBody>
          <a:bodyPr/>
          <a:lstStyle/>
          <a:p>
            <a:pPr>
              <a:defRPr/>
            </a:pPr>
            <a:fld id="{113DE142-C549-46BB-A92D-D7EB5B9215C7}" type="slidenum">
              <a:rPr lang="zh-CN" altLang="en-US" smtClean="0"/>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blipFill dpi="0" rotWithShape="0">
          <a:blip r:embed="rId2"/>
          <a:srcRect/>
          <a:stretch>
            <a:fillRect/>
          </a:stretch>
        </a:blipFill>
        <a:effectLst/>
      </p:bgPr>
    </p:bg>
    <p:spTree>
      <p:nvGrpSpPr>
        <p:cNvPr id="1" name=""/>
        <p:cNvGrpSpPr/>
        <p:nvPr/>
      </p:nvGrpSpPr>
      <p:grpSpPr>
        <a:xfrm>
          <a:off x="0" y="0"/>
          <a:ext cx="0" cy="0"/>
          <a:chOff x="0" y="0"/>
          <a:chExt cx="0" cy="0"/>
        </a:xfrm>
      </p:grpSpPr>
      <p:grpSp>
        <p:nvGrpSpPr>
          <p:cNvPr id="4" name="Group 2"/>
          <p:cNvGrpSpPr/>
          <p:nvPr/>
        </p:nvGrpSpPr>
        <p:grpSpPr bwMode="auto">
          <a:xfrm>
            <a:off x="2" y="2438404"/>
            <a:ext cx="9009063" cy="1052513"/>
            <a:chOff x="0" y="1536"/>
            <a:chExt cx="5675" cy="663"/>
          </a:xfrm>
        </p:grpSpPr>
        <p:grpSp>
          <p:nvGrpSpPr>
            <p:cNvPr id="5" name="Group 3"/>
            <p:cNvGrpSpPr/>
            <p:nvPr/>
          </p:nvGrpSpPr>
          <p:grpSpPr bwMode="auto">
            <a:xfrm>
              <a:off x="183" y="1604"/>
              <a:ext cx="448" cy="299"/>
              <a:chOff x="720" y="336"/>
              <a:chExt cx="624" cy="432"/>
            </a:xfrm>
          </p:grpSpPr>
          <p:sp>
            <p:nvSpPr>
              <p:cNvPr id="12" name="Rectangle 4"/>
              <p:cNvSpPr>
                <a:spLocks noChangeArrowheads="1"/>
              </p:cNvSpPr>
              <p:nvPr/>
            </p:nvSpPr>
            <p:spPr bwMode="auto">
              <a:xfrm>
                <a:off x="720" y="336"/>
                <a:ext cx="384" cy="432"/>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0000"/>
                  </a:lnSpc>
                  <a:defRPr sz="1400" b="1">
                    <a:solidFill>
                      <a:schemeClr val="bg2"/>
                    </a:solidFill>
                    <a:latin typeface="Courier New" panose="02070309020205020404" pitchFamily="49" charset="0"/>
                    <a:ea typeface="宋体" panose="02010600030101010101" pitchFamily="2" charset="-122"/>
                  </a:defRPr>
                </a:lvl1pPr>
                <a:lvl2pPr marL="742950" indent="-285750">
                  <a:lnSpc>
                    <a:spcPct val="110000"/>
                  </a:lnSpc>
                  <a:defRPr sz="1400" b="1">
                    <a:solidFill>
                      <a:schemeClr val="bg2"/>
                    </a:solidFill>
                    <a:latin typeface="Courier New" panose="02070309020205020404" pitchFamily="49" charset="0"/>
                    <a:ea typeface="宋体" panose="02010600030101010101" pitchFamily="2" charset="-122"/>
                  </a:defRPr>
                </a:lvl2pPr>
                <a:lvl3pPr marL="1143000" indent="-228600">
                  <a:lnSpc>
                    <a:spcPct val="110000"/>
                  </a:lnSpc>
                  <a:defRPr sz="1400" b="1">
                    <a:solidFill>
                      <a:schemeClr val="bg2"/>
                    </a:solidFill>
                    <a:latin typeface="Courier New" panose="02070309020205020404" pitchFamily="49" charset="0"/>
                    <a:ea typeface="宋体" panose="02010600030101010101" pitchFamily="2" charset="-122"/>
                  </a:defRPr>
                </a:lvl3pPr>
                <a:lvl4pPr marL="1600200" indent="-228600">
                  <a:lnSpc>
                    <a:spcPct val="110000"/>
                  </a:lnSpc>
                  <a:defRPr sz="1400" b="1">
                    <a:solidFill>
                      <a:schemeClr val="bg2"/>
                    </a:solidFill>
                    <a:latin typeface="Courier New" panose="02070309020205020404" pitchFamily="49" charset="0"/>
                    <a:ea typeface="宋体" panose="02010600030101010101" pitchFamily="2" charset="-122"/>
                  </a:defRPr>
                </a:lvl4pPr>
                <a:lvl5pPr marL="2057400" indent="-228600">
                  <a:lnSpc>
                    <a:spcPct val="110000"/>
                  </a:lnSpc>
                  <a:defRPr sz="1400" b="1">
                    <a:solidFill>
                      <a:schemeClr val="bg2"/>
                    </a:solidFill>
                    <a:latin typeface="Courier New" panose="02070309020205020404" pitchFamily="49" charset="0"/>
                    <a:ea typeface="宋体" panose="02010600030101010101" pitchFamily="2" charset="-122"/>
                  </a:defRPr>
                </a:lvl5pPr>
                <a:lvl6pPr marL="25146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6pPr>
                <a:lvl7pPr marL="29718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7pPr>
                <a:lvl8pPr marL="34290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8pPr>
                <a:lvl9pPr marL="38862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9pPr>
              </a:lstStyle>
              <a:p>
                <a:endParaRPr lang="zh-CN" altLang="en-US" sz="1400"/>
              </a:p>
            </p:txBody>
          </p:sp>
          <p:sp>
            <p:nvSpPr>
              <p:cNvPr id="13"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0000"/>
                  </a:lnSpc>
                  <a:defRPr sz="1400" b="1">
                    <a:solidFill>
                      <a:schemeClr val="bg2"/>
                    </a:solidFill>
                    <a:latin typeface="Courier New" panose="02070309020205020404" pitchFamily="49" charset="0"/>
                    <a:ea typeface="宋体" panose="02010600030101010101" pitchFamily="2" charset="-122"/>
                  </a:defRPr>
                </a:lvl1pPr>
                <a:lvl2pPr marL="742950" indent="-285750">
                  <a:lnSpc>
                    <a:spcPct val="110000"/>
                  </a:lnSpc>
                  <a:defRPr sz="1400" b="1">
                    <a:solidFill>
                      <a:schemeClr val="bg2"/>
                    </a:solidFill>
                    <a:latin typeface="Courier New" panose="02070309020205020404" pitchFamily="49" charset="0"/>
                    <a:ea typeface="宋体" panose="02010600030101010101" pitchFamily="2" charset="-122"/>
                  </a:defRPr>
                </a:lvl2pPr>
                <a:lvl3pPr marL="1143000" indent="-228600">
                  <a:lnSpc>
                    <a:spcPct val="110000"/>
                  </a:lnSpc>
                  <a:defRPr sz="1400" b="1">
                    <a:solidFill>
                      <a:schemeClr val="bg2"/>
                    </a:solidFill>
                    <a:latin typeface="Courier New" panose="02070309020205020404" pitchFamily="49" charset="0"/>
                    <a:ea typeface="宋体" panose="02010600030101010101" pitchFamily="2" charset="-122"/>
                  </a:defRPr>
                </a:lvl3pPr>
                <a:lvl4pPr marL="1600200" indent="-228600">
                  <a:lnSpc>
                    <a:spcPct val="110000"/>
                  </a:lnSpc>
                  <a:defRPr sz="1400" b="1">
                    <a:solidFill>
                      <a:schemeClr val="bg2"/>
                    </a:solidFill>
                    <a:latin typeface="Courier New" panose="02070309020205020404" pitchFamily="49" charset="0"/>
                    <a:ea typeface="宋体" panose="02010600030101010101" pitchFamily="2" charset="-122"/>
                  </a:defRPr>
                </a:lvl4pPr>
                <a:lvl5pPr marL="2057400" indent="-228600">
                  <a:lnSpc>
                    <a:spcPct val="110000"/>
                  </a:lnSpc>
                  <a:defRPr sz="1400" b="1">
                    <a:solidFill>
                      <a:schemeClr val="bg2"/>
                    </a:solidFill>
                    <a:latin typeface="Courier New" panose="02070309020205020404" pitchFamily="49" charset="0"/>
                    <a:ea typeface="宋体" panose="02010600030101010101" pitchFamily="2" charset="-122"/>
                  </a:defRPr>
                </a:lvl5pPr>
                <a:lvl6pPr marL="25146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6pPr>
                <a:lvl7pPr marL="29718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7pPr>
                <a:lvl8pPr marL="34290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8pPr>
                <a:lvl9pPr marL="38862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9pPr>
              </a:lstStyle>
              <a:p>
                <a:endParaRPr lang="zh-CN" altLang="en-US" sz="1400"/>
              </a:p>
            </p:txBody>
          </p:sp>
        </p:grpSp>
        <p:grpSp>
          <p:nvGrpSpPr>
            <p:cNvPr id="6" name="Group 6"/>
            <p:cNvGrpSpPr/>
            <p:nvPr/>
          </p:nvGrpSpPr>
          <p:grpSpPr bwMode="auto">
            <a:xfrm>
              <a:off x="261" y="1870"/>
              <a:ext cx="465" cy="299"/>
              <a:chOff x="912" y="2640"/>
              <a:chExt cx="672" cy="432"/>
            </a:xfrm>
          </p:grpSpPr>
          <p:sp>
            <p:nvSpPr>
              <p:cNvPr id="10" name="Rectangle 7"/>
              <p:cNvSpPr>
                <a:spLocks noChangeArrowheads="1"/>
              </p:cNvSpPr>
              <p:nvPr/>
            </p:nvSpPr>
            <p:spPr bwMode="auto">
              <a:xfrm>
                <a:off x="912" y="2640"/>
                <a:ext cx="384" cy="43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0000"/>
                  </a:lnSpc>
                  <a:defRPr sz="1400" b="1">
                    <a:solidFill>
                      <a:schemeClr val="bg2"/>
                    </a:solidFill>
                    <a:latin typeface="Courier New" panose="02070309020205020404" pitchFamily="49" charset="0"/>
                    <a:ea typeface="宋体" panose="02010600030101010101" pitchFamily="2" charset="-122"/>
                  </a:defRPr>
                </a:lvl1pPr>
                <a:lvl2pPr marL="742950" indent="-285750">
                  <a:lnSpc>
                    <a:spcPct val="110000"/>
                  </a:lnSpc>
                  <a:defRPr sz="1400" b="1">
                    <a:solidFill>
                      <a:schemeClr val="bg2"/>
                    </a:solidFill>
                    <a:latin typeface="Courier New" panose="02070309020205020404" pitchFamily="49" charset="0"/>
                    <a:ea typeface="宋体" panose="02010600030101010101" pitchFamily="2" charset="-122"/>
                  </a:defRPr>
                </a:lvl2pPr>
                <a:lvl3pPr marL="1143000" indent="-228600">
                  <a:lnSpc>
                    <a:spcPct val="110000"/>
                  </a:lnSpc>
                  <a:defRPr sz="1400" b="1">
                    <a:solidFill>
                      <a:schemeClr val="bg2"/>
                    </a:solidFill>
                    <a:latin typeface="Courier New" panose="02070309020205020404" pitchFamily="49" charset="0"/>
                    <a:ea typeface="宋体" panose="02010600030101010101" pitchFamily="2" charset="-122"/>
                  </a:defRPr>
                </a:lvl3pPr>
                <a:lvl4pPr marL="1600200" indent="-228600">
                  <a:lnSpc>
                    <a:spcPct val="110000"/>
                  </a:lnSpc>
                  <a:defRPr sz="1400" b="1">
                    <a:solidFill>
                      <a:schemeClr val="bg2"/>
                    </a:solidFill>
                    <a:latin typeface="Courier New" panose="02070309020205020404" pitchFamily="49" charset="0"/>
                    <a:ea typeface="宋体" panose="02010600030101010101" pitchFamily="2" charset="-122"/>
                  </a:defRPr>
                </a:lvl4pPr>
                <a:lvl5pPr marL="2057400" indent="-228600">
                  <a:lnSpc>
                    <a:spcPct val="110000"/>
                  </a:lnSpc>
                  <a:defRPr sz="1400" b="1">
                    <a:solidFill>
                      <a:schemeClr val="bg2"/>
                    </a:solidFill>
                    <a:latin typeface="Courier New" panose="02070309020205020404" pitchFamily="49" charset="0"/>
                    <a:ea typeface="宋体" panose="02010600030101010101" pitchFamily="2" charset="-122"/>
                  </a:defRPr>
                </a:lvl5pPr>
                <a:lvl6pPr marL="25146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6pPr>
                <a:lvl7pPr marL="29718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7pPr>
                <a:lvl8pPr marL="34290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8pPr>
                <a:lvl9pPr marL="38862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9pPr>
              </a:lstStyle>
              <a:p>
                <a:endParaRPr lang="zh-CN" altLang="en-US" sz="1400"/>
              </a:p>
            </p:txBody>
          </p:sp>
          <p:sp>
            <p:nvSpPr>
              <p:cNvPr id="11"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0000"/>
                  </a:lnSpc>
                  <a:defRPr sz="1400" b="1">
                    <a:solidFill>
                      <a:schemeClr val="bg2"/>
                    </a:solidFill>
                    <a:latin typeface="Courier New" panose="02070309020205020404" pitchFamily="49" charset="0"/>
                    <a:ea typeface="宋体" panose="02010600030101010101" pitchFamily="2" charset="-122"/>
                  </a:defRPr>
                </a:lvl1pPr>
                <a:lvl2pPr marL="742950" indent="-285750">
                  <a:lnSpc>
                    <a:spcPct val="110000"/>
                  </a:lnSpc>
                  <a:defRPr sz="1400" b="1">
                    <a:solidFill>
                      <a:schemeClr val="bg2"/>
                    </a:solidFill>
                    <a:latin typeface="Courier New" panose="02070309020205020404" pitchFamily="49" charset="0"/>
                    <a:ea typeface="宋体" panose="02010600030101010101" pitchFamily="2" charset="-122"/>
                  </a:defRPr>
                </a:lvl2pPr>
                <a:lvl3pPr marL="1143000" indent="-228600">
                  <a:lnSpc>
                    <a:spcPct val="110000"/>
                  </a:lnSpc>
                  <a:defRPr sz="1400" b="1">
                    <a:solidFill>
                      <a:schemeClr val="bg2"/>
                    </a:solidFill>
                    <a:latin typeface="Courier New" panose="02070309020205020404" pitchFamily="49" charset="0"/>
                    <a:ea typeface="宋体" panose="02010600030101010101" pitchFamily="2" charset="-122"/>
                  </a:defRPr>
                </a:lvl3pPr>
                <a:lvl4pPr marL="1600200" indent="-228600">
                  <a:lnSpc>
                    <a:spcPct val="110000"/>
                  </a:lnSpc>
                  <a:defRPr sz="1400" b="1">
                    <a:solidFill>
                      <a:schemeClr val="bg2"/>
                    </a:solidFill>
                    <a:latin typeface="Courier New" panose="02070309020205020404" pitchFamily="49" charset="0"/>
                    <a:ea typeface="宋体" panose="02010600030101010101" pitchFamily="2" charset="-122"/>
                  </a:defRPr>
                </a:lvl4pPr>
                <a:lvl5pPr marL="2057400" indent="-228600">
                  <a:lnSpc>
                    <a:spcPct val="110000"/>
                  </a:lnSpc>
                  <a:defRPr sz="1400" b="1">
                    <a:solidFill>
                      <a:schemeClr val="bg2"/>
                    </a:solidFill>
                    <a:latin typeface="Courier New" panose="02070309020205020404" pitchFamily="49" charset="0"/>
                    <a:ea typeface="宋体" panose="02010600030101010101" pitchFamily="2" charset="-122"/>
                  </a:defRPr>
                </a:lvl5pPr>
                <a:lvl6pPr marL="25146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6pPr>
                <a:lvl7pPr marL="29718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7pPr>
                <a:lvl8pPr marL="34290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8pPr>
                <a:lvl9pPr marL="38862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9pPr>
              </a:lstStyle>
              <a:p>
                <a:endParaRPr lang="zh-CN" altLang="en-US" sz="1400"/>
              </a:p>
            </p:txBody>
          </p:sp>
        </p:grpSp>
        <p:sp>
          <p:nvSpPr>
            <p:cNvPr id="7"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0000"/>
                </a:lnSpc>
                <a:defRPr sz="1400" b="1">
                  <a:solidFill>
                    <a:schemeClr val="bg2"/>
                  </a:solidFill>
                  <a:latin typeface="Courier New" panose="02070309020205020404" pitchFamily="49" charset="0"/>
                  <a:ea typeface="宋体" panose="02010600030101010101" pitchFamily="2" charset="-122"/>
                </a:defRPr>
              </a:lvl1pPr>
              <a:lvl2pPr marL="742950" indent="-285750">
                <a:lnSpc>
                  <a:spcPct val="110000"/>
                </a:lnSpc>
                <a:defRPr sz="1400" b="1">
                  <a:solidFill>
                    <a:schemeClr val="bg2"/>
                  </a:solidFill>
                  <a:latin typeface="Courier New" panose="02070309020205020404" pitchFamily="49" charset="0"/>
                  <a:ea typeface="宋体" panose="02010600030101010101" pitchFamily="2" charset="-122"/>
                </a:defRPr>
              </a:lvl2pPr>
              <a:lvl3pPr marL="1143000" indent="-228600">
                <a:lnSpc>
                  <a:spcPct val="110000"/>
                </a:lnSpc>
                <a:defRPr sz="1400" b="1">
                  <a:solidFill>
                    <a:schemeClr val="bg2"/>
                  </a:solidFill>
                  <a:latin typeface="Courier New" panose="02070309020205020404" pitchFamily="49" charset="0"/>
                  <a:ea typeface="宋体" panose="02010600030101010101" pitchFamily="2" charset="-122"/>
                </a:defRPr>
              </a:lvl3pPr>
              <a:lvl4pPr marL="1600200" indent="-228600">
                <a:lnSpc>
                  <a:spcPct val="110000"/>
                </a:lnSpc>
                <a:defRPr sz="1400" b="1">
                  <a:solidFill>
                    <a:schemeClr val="bg2"/>
                  </a:solidFill>
                  <a:latin typeface="Courier New" panose="02070309020205020404" pitchFamily="49" charset="0"/>
                  <a:ea typeface="宋体" panose="02010600030101010101" pitchFamily="2" charset="-122"/>
                </a:defRPr>
              </a:lvl4pPr>
              <a:lvl5pPr marL="2057400" indent="-228600">
                <a:lnSpc>
                  <a:spcPct val="110000"/>
                </a:lnSpc>
                <a:defRPr sz="1400" b="1">
                  <a:solidFill>
                    <a:schemeClr val="bg2"/>
                  </a:solidFill>
                  <a:latin typeface="Courier New" panose="02070309020205020404" pitchFamily="49" charset="0"/>
                  <a:ea typeface="宋体" panose="02010600030101010101" pitchFamily="2" charset="-122"/>
                </a:defRPr>
              </a:lvl5pPr>
              <a:lvl6pPr marL="25146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6pPr>
              <a:lvl7pPr marL="29718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7pPr>
              <a:lvl8pPr marL="34290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8pPr>
              <a:lvl9pPr marL="38862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9pPr>
            </a:lstStyle>
            <a:p>
              <a:endParaRPr lang="zh-CN" altLang="en-US" sz="1400"/>
            </a:p>
          </p:txBody>
        </p:sp>
        <p:sp>
          <p:nvSpPr>
            <p:cNvPr id="8" name="Rectangle 10"/>
            <p:cNvSpPr>
              <a:spLocks noChangeArrowheads="1"/>
            </p:cNvSpPr>
            <p:nvPr/>
          </p:nvSpPr>
          <p:spPr bwMode="auto">
            <a:xfrm>
              <a:off x="400" y="1536"/>
              <a:ext cx="20" cy="663"/>
            </a:xfrm>
            <a:prstGeom prst="rect">
              <a:avLst/>
            </a:prstGeom>
            <a:solidFill>
              <a:schemeClr val="bg2"/>
            </a:solid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0000"/>
                </a:lnSpc>
                <a:defRPr sz="1400" b="1">
                  <a:solidFill>
                    <a:schemeClr val="bg2"/>
                  </a:solidFill>
                  <a:latin typeface="Courier New" panose="02070309020205020404" pitchFamily="49" charset="0"/>
                  <a:ea typeface="宋体" panose="02010600030101010101" pitchFamily="2" charset="-122"/>
                </a:defRPr>
              </a:lvl1pPr>
              <a:lvl2pPr marL="742950" indent="-285750">
                <a:lnSpc>
                  <a:spcPct val="110000"/>
                </a:lnSpc>
                <a:defRPr sz="1400" b="1">
                  <a:solidFill>
                    <a:schemeClr val="bg2"/>
                  </a:solidFill>
                  <a:latin typeface="Courier New" panose="02070309020205020404" pitchFamily="49" charset="0"/>
                  <a:ea typeface="宋体" panose="02010600030101010101" pitchFamily="2" charset="-122"/>
                </a:defRPr>
              </a:lvl2pPr>
              <a:lvl3pPr marL="1143000" indent="-228600">
                <a:lnSpc>
                  <a:spcPct val="110000"/>
                </a:lnSpc>
                <a:defRPr sz="1400" b="1">
                  <a:solidFill>
                    <a:schemeClr val="bg2"/>
                  </a:solidFill>
                  <a:latin typeface="Courier New" panose="02070309020205020404" pitchFamily="49" charset="0"/>
                  <a:ea typeface="宋体" panose="02010600030101010101" pitchFamily="2" charset="-122"/>
                </a:defRPr>
              </a:lvl3pPr>
              <a:lvl4pPr marL="1600200" indent="-228600">
                <a:lnSpc>
                  <a:spcPct val="110000"/>
                </a:lnSpc>
                <a:defRPr sz="1400" b="1">
                  <a:solidFill>
                    <a:schemeClr val="bg2"/>
                  </a:solidFill>
                  <a:latin typeface="Courier New" panose="02070309020205020404" pitchFamily="49" charset="0"/>
                  <a:ea typeface="宋体" panose="02010600030101010101" pitchFamily="2" charset="-122"/>
                </a:defRPr>
              </a:lvl4pPr>
              <a:lvl5pPr marL="2057400" indent="-228600">
                <a:lnSpc>
                  <a:spcPct val="110000"/>
                </a:lnSpc>
                <a:defRPr sz="1400" b="1">
                  <a:solidFill>
                    <a:schemeClr val="bg2"/>
                  </a:solidFill>
                  <a:latin typeface="Courier New" panose="02070309020205020404" pitchFamily="49" charset="0"/>
                  <a:ea typeface="宋体" panose="02010600030101010101" pitchFamily="2" charset="-122"/>
                </a:defRPr>
              </a:lvl5pPr>
              <a:lvl6pPr marL="25146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6pPr>
              <a:lvl7pPr marL="29718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7pPr>
              <a:lvl8pPr marL="34290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8pPr>
              <a:lvl9pPr marL="38862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9pPr>
            </a:lstStyle>
            <a:p>
              <a:endParaRPr lang="zh-CN" altLang="en-US" sz="1400"/>
            </a:p>
          </p:txBody>
        </p:sp>
        <p:sp>
          <p:nvSpPr>
            <p:cNvPr id="9"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0000"/>
                </a:lnSpc>
                <a:defRPr sz="1400" b="1">
                  <a:solidFill>
                    <a:schemeClr val="bg2"/>
                  </a:solidFill>
                  <a:latin typeface="Courier New" panose="02070309020205020404" pitchFamily="49" charset="0"/>
                  <a:ea typeface="宋体" panose="02010600030101010101" pitchFamily="2" charset="-122"/>
                </a:defRPr>
              </a:lvl1pPr>
              <a:lvl2pPr marL="742950" indent="-285750">
                <a:lnSpc>
                  <a:spcPct val="110000"/>
                </a:lnSpc>
                <a:defRPr sz="1400" b="1">
                  <a:solidFill>
                    <a:schemeClr val="bg2"/>
                  </a:solidFill>
                  <a:latin typeface="Courier New" panose="02070309020205020404" pitchFamily="49" charset="0"/>
                  <a:ea typeface="宋体" panose="02010600030101010101" pitchFamily="2" charset="-122"/>
                </a:defRPr>
              </a:lvl2pPr>
              <a:lvl3pPr marL="1143000" indent="-228600">
                <a:lnSpc>
                  <a:spcPct val="110000"/>
                </a:lnSpc>
                <a:defRPr sz="1400" b="1">
                  <a:solidFill>
                    <a:schemeClr val="bg2"/>
                  </a:solidFill>
                  <a:latin typeface="Courier New" panose="02070309020205020404" pitchFamily="49" charset="0"/>
                  <a:ea typeface="宋体" panose="02010600030101010101" pitchFamily="2" charset="-122"/>
                </a:defRPr>
              </a:lvl3pPr>
              <a:lvl4pPr marL="1600200" indent="-228600">
                <a:lnSpc>
                  <a:spcPct val="110000"/>
                </a:lnSpc>
                <a:defRPr sz="1400" b="1">
                  <a:solidFill>
                    <a:schemeClr val="bg2"/>
                  </a:solidFill>
                  <a:latin typeface="Courier New" panose="02070309020205020404" pitchFamily="49" charset="0"/>
                  <a:ea typeface="宋体" panose="02010600030101010101" pitchFamily="2" charset="-122"/>
                </a:defRPr>
              </a:lvl4pPr>
              <a:lvl5pPr marL="2057400" indent="-228600">
                <a:lnSpc>
                  <a:spcPct val="110000"/>
                </a:lnSpc>
                <a:defRPr sz="1400" b="1">
                  <a:solidFill>
                    <a:schemeClr val="bg2"/>
                  </a:solidFill>
                  <a:latin typeface="Courier New" panose="02070309020205020404" pitchFamily="49" charset="0"/>
                  <a:ea typeface="宋体" panose="02010600030101010101" pitchFamily="2" charset="-122"/>
                </a:defRPr>
              </a:lvl5pPr>
              <a:lvl6pPr marL="25146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6pPr>
              <a:lvl7pPr marL="29718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7pPr>
              <a:lvl8pPr marL="34290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8pPr>
              <a:lvl9pPr marL="38862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9pPr>
            </a:lstStyle>
            <a:p>
              <a:endParaRPr lang="zh-CN" altLang="en-US" sz="1400"/>
            </a:p>
          </p:txBody>
        </p:sp>
      </p:grpSp>
      <p:sp>
        <p:nvSpPr>
          <p:cNvPr id="6156" name="Rectangle 12"/>
          <p:cNvSpPr>
            <a:spLocks noGrp="1" noChangeArrowheads="1"/>
          </p:cNvSpPr>
          <p:nvPr>
            <p:ph type="ctrTitle"/>
          </p:nvPr>
        </p:nvSpPr>
        <p:spPr>
          <a:xfrm>
            <a:off x="990600" y="1828800"/>
            <a:ext cx="7772400" cy="1143000"/>
          </a:xfrm>
        </p:spPr>
        <p:txBody>
          <a:bodyPr/>
          <a:lstStyle>
            <a:lvl1pPr>
              <a:defRPr/>
            </a:lvl1pPr>
          </a:lstStyle>
          <a:p>
            <a:pPr lvl="0"/>
            <a:r>
              <a:rPr lang="zh-CN" altLang="en-US" noProof="0"/>
              <a:t>单击此处编辑母版标题样式</a:t>
            </a:r>
            <a:endParaRPr lang="zh-CN" altLang="en-US" noProof="0"/>
          </a:p>
        </p:txBody>
      </p:sp>
      <p:sp>
        <p:nvSpPr>
          <p:cNvPr id="6157" name="Rectangle 1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pPr lvl="0"/>
            <a:r>
              <a:rPr lang="zh-CN" altLang="en-US" noProof="0"/>
              <a:t>单击此处编辑母版副标题样式</a:t>
            </a:r>
            <a:endParaRPr lang="zh-CN" altLang="en-US" noProof="0"/>
          </a:p>
        </p:txBody>
      </p:sp>
      <p:sp>
        <p:nvSpPr>
          <p:cNvPr id="14" name="Rectangle 14"/>
          <p:cNvSpPr>
            <a:spLocks noGrp="1" noChangeArrowheads="1"/>
          </p:cNvSpPr>
          <p:nvPr>
            <p:ph type="dt" sz="half" idx="10"/>
          </p:nvPr>
        </p:nvSpPr>
        <p:spPr>
          <a:xfrm>
            <a:off x="990600" y="6248400"/>
            <a:ext cx="1905000" cy="457200"/>
          </a:xfrm>
        </p:spPr>
        <p:txBody>
          <a:bodyPr/>
          <a:lstStyle>
            <a:lvl1pPr>
              <a:defRPr>
                <a:solidFill>
                  <a:schemeClr val="bg2"/>
                </a:solidFill>
              </a:defRPr>
            </a:lvl1pPr>
          </a:lstStyle>
          <a:p>
            <a:pPr>
              <a:defRPr/>
            </a:pPr>
            <a:endParaRPr lang="en-US" altLang="zh-CN"/>
          </a:p>
        </p:txBody>
      </p:sp>
      <p:sp>
        <p:nvSpPr>
          <p:cNvPr id="15" name="Rectangle 15"/>
          <p:cNvSpPr>
            <a:spLocks noGrp="1" noChangeArrowheads="1"/>
          </p:cNvSpPr>
          <p:nvPr>
            <p:ph type="ftr" sz="quarter" idx="11"/>
          </p:nvPr>
        </p:nvSpPr>
        <p:spPr>
          <a:xfrm>
            <a:off x="3429000" y="6248400"/>
            <a:ext cx="2895600" cy="457200"/>
          </a:xfrm>
        </p:spPr>
        <p:txBody>
          <a:bodyPr/>
          <a:lstStyle>
            <a:lvl1pPr>
              <a:defRPr>
                <a:solidFill>
                  <a:schemeClr val="bg2"/>
                </a:solidFill>
              </a:defRPr>
            </a:lvl1pPr>
          </a:lstStyle>
          <a:p>
            <a:pPr>
              <a:defRPr/>
            </a:pPr>
            <a:endParaRPr lang="en-US" altLang="zh-CN"/>
          </a:p>
        </p:txBody>
      </p:sp>
      <p:sp>
        <p:nvSpPr>
          <p:cNvPr id="16" name="Rectangle 16"/>
          <p:cNvSpPr>
            <a:spLocks noGrp="1" noChangeArrowheads="1"/>
          </p:cNvSpPr>
          <p:nvPr>
            <p:ph type="sldNum" sz="quarter" idx="12"/>
          </p:nvPr>
        </p:nvSpPr>
        <p:spPr>
          <a:xfrm>
            <a:off x="6858000" y="6248400"/>
            <a:ext cx="1905000" cy="457200"/>
          </a:xfrm>
        </p:spPr>
        <p:txBody>
          <a:bodyPr/>
          <a:lstStyle>
            <a:lvl1pPr>
              <a:defRPr smtClean="0">
                <a:solidFill>
                  <a:schemeClr val="bg2"/>
                </a:solidFill>
              </a:defRPr>
            </a:lvl1pPr>
          </a:lstStyle>
          <a:p>
            <a:pPr>
              <a:defRPr/>
            </a:pPr>
            <a:fld id="{12C76B88-E6AC-4D63-A11D-AC32900F11D9}" type="slidenum">
              <a:rPr lang="zh-CN" altLang="en-US"/>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11"/>
          <p:cNvSpPr>
            <a:spLocks noGrp="1" noChangeArrowheads="1"/>
          </p:cNvSpPr>
          <p:nvPr>
            <p:ph type="dt" sz="half" idx="10"/>
          </p:nvPr>
        </p:nvSpPr>
        <p:spPr/>
        <p:txBody>
          <a:bodyPr/>
          <a:lstStyle>
            <a:lvl1pPr>
              <a:defRPr/>
            </a:lvl1pPr>
          </a:lstStyle>
          <a:p>
            <a:pPr>
              <a:defRPr/>
            </a:pPr>
            <a:endParaRPr lang="en-US" altLang="zh-CN"/>
          </a:p>
        </p:txBody>
      </p:sp>
      <p:sp>
        <p:nvSpPr>
          <p:cNvPr id="5" name="Rectangle 12"/>
          <p:cNvSpPr>
            <a:spLocks noGrp="1" noChangeArrowheads="1"/>
          </p:cNvSpPr>
          <p:nvPr>
            <p:ph type="ftr" sz="quarter" idx="11"/>
          </p:nvPr>
        </p:nvSpPr>
        <p:spPr/>
        <p:txBody>
          <a:bodyPr/>
          <a:lstStyle>
            <a:lvl1pPr>
              <a:defRPr/>
            </a:lvl1pPr>
          </a:lstStyle>
          <a:p>
            <a:pPr>
              <a:defRPr/>
            </a:pPr>
            <a:endParaRPr lang="en-US" altLang="zh-CN"/>
          </a:p>
        </p:txBody>
      </p:sp>
      <p:sp>
        <p:nvSpPr>
          <p:cNvPr id="6" name="Rectangle 13"/>
          <p:cNvSpPr>
            <a:spLocks noGrp="1" noChangeArrowheads="1"/>
          </p:cNvSpPr>
          <p:nvPr>
            <p:ph type="sldNum" sz="quarter" idx="12"/>
          </p:nvPr>
        </p:nvSpPr>
        <p:spPr/>
        <p:txBody>
          <a:bodyPr/>
          <a:lstStyle>
            <a:lvl1pPr>
              <a:defRPr/>
            </a:lvl1pPr>
          </a:lstStyle>
          <a:p>
            <a:pPr>
              <a:defRPr/>
            </a:pPr>
            <a:fld id="{2C260F91-B37A-4771-9D7E-439702C46DFD}" type="slidenum">
              <a:rPr lang="zh-CN" altLang="en-US"/>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42"/>
            <a:ext cx="7886700" cy="2852737"/>
          </a:xfrm>
        </p:spPr>
        <p:txBody>
          <a:bodyPr/>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23888" y="4589467"/>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endParaRPr lang="zh-CN" altLang="en-US"/>
          </a:p>
        </p:txBody>
      </p:sp>
      <p:sp>
        <p:nvSpPr>
          <p:cNvPr id="4" name="Rectangle 11"/>
          <p:cNvSpPr>
            <a:spLocks noGrp="1" noChangeArrowheads="1"/>
          </p:cNvSpPr>
          <p:nvPr>
            <p:ph type="dt" sz="half" idx="10"/>
          </p:nvPr>
        </p:nvSpPr>
        <p:spPr/>
        <p:txBody>
          <a:bodyPr/>
          <a:lstStyle>
            <a:lvl1pPr>
              <a:defRPr/>
            </a:lvl1pPr>
          </a:lstStyle>
          <a:p>
            <a:pPr>
              <a:defRPr/>
            </a:pPr>
            <a:endParaRPr lang="en-US" altLang="zh-CN"/>
          </a:p>
        </p:txBody>
      </p:sp>
      <p:sp>
        <p:nvSpPr>
          <p:cNvPr id="5" name="Rectangle 12"/>
          <p:cNvSpPr>
            <a:spLocks noGrp="1" noChangeArrowheads="1"/>
          </p:cNvSpPr>
          <p:nvPr>
            <p:ph type="ftr" sz="quarter" idx="11"/>
          </p:nvPr>
        </p:nvSpPr>
        <p:spPr/>
        <p:txBody>
          <a:bodyPr/>
          <a:lstStyle>
            <a:lvl1pPr>
              <a:defRPr/>
            </a:lvl1pPr>
          </a:lstStyle>
          <a:p>
            <a:pPr>
              <a:defRPr/>
            </a:pPr>
            <a:endParaRPr lang="en-US" altLang="zh-CN"/>
          </a:p>
        </p:txBody>
      </p:sp>
      <p:sp>
        <p:nvSpPr>
          <p:cNvPr id="6" name="Rectangle 13"/>
          <p:cNvSpPr>
            <a:spLocks noGrp="1" noChangeArrowheads="1"/>
          </p:cNvSpPr>
          <p:nvPr>
            <p:ph type="sldNum" sz="quarter" idx="12"/>
          </p:nvPr>
        </p:nvSpPr>
        <p:spPr/>
        <p:txBody>
          <a:bodyPr/>
          <a:lstStyle>
            <a:lvl1pPr>
              <a:defRPr/>
            </a:lvl1pPr>
          </a:lstStyle>
          <a:p>
            <a:pPr>
              <a:defRPr/>
            </a:pPr>
            <a:fld id="{7611B694-776D-40A0-8AA1-5A071777B439}" type="slidenum">
              <a:rPr lang="zh-CN" altLang="en-US"/>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1182688" y="2017713"/>
            <a:ext cx="3810000" cy="4114800"/>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5145088" y="2017713"/>
            <a:ext cx="3810000" cy="4114800"/>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11"/>
          <p:cNvSpPr>
            <a:spLocks noGrp="1" noChangeArrowheads="1"/>
          </p:cNvSpPr>
          <p:nvPr>
            <p:ph type="dt" sz="half" idx="10"/>
          </p:nvPr>
        </p:nvSpPr>
        <p:spPr/>
        <p:txBody>
          <a:bodyPr/>
          <a:lstStyle>
            <a:lvl1pPr>
              <a:defRPr/>
            </a:lvl1pPr>
          </a:lstStyle>
          <a:p>
            <a:pPr>
              <a:defRPr/>
            </a:pPr>
            <a:endParaRPr lang="en-US" altLang="zh-CN"/>
          </a:p>
        </p:txBody>
      </p:sp>
      <p:sp>
        <p:nvSpPr>
          <p:cNvPr id="6" name="Rectangle 12"/>
          <p:cNvSpPr>
            <a:spLocks noGrp="1" noChangeArrowheads="1"/>
          </p:cNvSpPr>
          <p:nvPr>
            <p:ph type="ftr" sz="quarter" idx="11"/>
          </p:nvPr>
        </p:nvSpPr>
        <p:spPr/>
        <p:txBody>
          <a:bodyPr/>
          <a:lstStyle>
            <a:lvl1pPr>
              <a:defRPr/>
            </a:lvl1pPr>
          </a:lstStyle>
          <a:p>
            <a:pPr>
              <a:defRPr/>
            </a:pPr>
            <a:endParaRPr lang="en-US" altLang="zh-CN"/>
          </a:p>
        </p:txBody>
      </p:sp>
      <p:sp>
        <p:nvSpPr>
          <p:cNvPr id="7" name="Rectangle 13"/>
          <p:cNvSpPr>
            <a:spLocks noGrp="1" noChangeArrowheads="1"/>
          </p:cNvSpPr>
          <p:nvPr>
            <p:ph type="sldNum" sz="quarter" idx="12"/>
          </p:nvPr>
        </p:nvSpPr>
        <p:spPr/>
        <p:txBody>
          <a:bodyPr/>
          <a:lstStyle>
            <a:lvl1pPr>
              <a:defRPr/>
            </a:lvl1pPr>
          </a:lstStyle>
          <a:p>
            <a:pPr>
              <a:defRPr/>
            </a:pPr>
            <a:fld id="{8D44C641-8329-4D57-9DBD-9A4DB9DF2AD5}" type="slidenum">
              <a:rPr lang="zh-CN" altLang="en-US"/>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9"/>
            <a:ext cx="78867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30239"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630239" y="2505075"/>
            <a:ext cx="386873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4629150" y="2505075"/>
            <a:ext cx="38877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Rectangle 11"/>
          <p:cNvSpPr>
            <a:spLocks noGrp="1" noChangeArrowheads="1"/>
          </p:cNvSpPr>
          <p:nvPr>
            <p:ph type="dt" sz="half" idx="10"/>
          </p:nvPr>
        </p:nvSpPr>
        <p:spPr/>
        <p:txBody>
          <a:bodyPr/>
          <a:lstStyle>
            <a:lvl1pPr>
              <a:defRPr/>
            </a:lvl1pPr>
          </a:lstStyle>
          <a:p>
            <a:pPr>
              <a:defRPr/>
            </a:pPr>
            <a:endParaRPr lang="en-US" altLang="zh-CN"/>
          </a:p>
        </p:txBody>
      </p:sp>
      <p:sp>
        <p:nvSpPr>
          <p:cNvPr id="8" name="Rectangle 12"/>
          <p:cNvSpPr>
            <a:spLocks noGrp="1" noChangeArrowheads="1"/>
          </p:cNvSpPr>
          <p:nvPr>
            <p:ph type="ftr" sz="quarter" idx="11"/>
          </p:nvPr>
        </p:nvSpPr>
        <p:spPr/>
        <p:txBody>
          <a:bodyPr/>
          <a:lstStyle>
            <a:lvl1pPr>
              <a:defRPr/>
            </a:lvl1pPr>
          </a:lstStyle>
          <a:p>
            <a:pPr>
              <a:defRPr/>
            </a:pPr>
            <a:endParaRPr lang="en-US" altLang="zh-CN"/>
          </a:p>
        </p:txBody>
      </p:sp>
      <p:sp>
        <p:nvSpPr>
          <p:cNvPr id="9" name="Rectangle 13"/>
          <p:cNvSpPr>
            <a:spLocks noGrp="1" noChangeArrowheads="1"/>
          </p:cNvSpPr>
          <p:nvPr>
            <p:ph type="sldNum" sz="quarter" idx="12"/>
          </p:nvPr>
        </p:nvSpPr>
        <p:spPr/>
        <p:txBody>
          <a:bodyPr/>
          <a:lstStyle>
            <a:lvl1pPr>
              <a:defRPr/>
            </a:lvl1pPr>
          </a:lstStyle>
          <a:p>
            <a:pPr>
              <a:defRPr/>
            </a:pPr>
            <a:fld id="{2AA18F6A-50AA-4244-9E55-6855D18A18EE}" type="slidenum">
              <a:rPr lang="zh-CN" altLang="en-US"/>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Rectangle 11"/>
          <p:cNvSpPr>
            <a:spLocks noGrp="1" noChangeArrowheads="1"/>
          </p:cNvSpPr>
          <p:nvPr>
            <p:ph type="dt" sz="half" idx="10"/>
          </p:nvPr>
        </p:nvSpPr>
        <p:spPr/>
        <p:txBody>
          <a:bodyPr/>
          <a:lstStyle>
            <a:lvl1pPr>
              <a:defRPr/>
            </a:lvl1pPr>
          </a:lstStyle>
          <a:p>
            <a:pPr>
              <a:defRPr/>
            </a:pPr>
            <a:endParaRPr lang="en-US" altLang="zh-CN"/>
          </a:p>
        </p:txBody>
      </p:sp>
      <p:sp>
        <p:nvSpPr>
          <p:cNvPr id="4" name="Rectangle 12"/>
          <p:cNvSpPr>
            <a:spLocks noGrp="1" noChangeArrowheads="1"/>
          </p:cNvSpPr>
          <p:nvPr>
            <p:ph type="ftr" sz="quarter" idx="11"/>
          </p:nvPr>
        </p:nvSpPr>
        <p:spPr/>
        <p:txBody>
          <a:bodyPr/>
          <a:lstStyle>
            <a:lvl1pPr>
              <a:defRPr/>
            </a:lvl1pPr>
          </a:lstStyle>
          <a:p>
            <a:pPr>
              <a:defRPr/>
            </a:pPr>
            <a:endParaRPr lang="en-US" altLang="zh-CN"/>
          </a:p>
        </p:txBody>
      </p:sp>
      <p:sp>
        <p:nvSpPr>
          <p:cNvPr id="5" name="Rectangle 13"/>
          <p:cNvSpPr>
            <a:spLocks noGrp="1" noChangeArrowheads="1"/>
          </p:cNvSpPr>
          <p:nvPr>
            <p:ph type="sldNum" sz="quarter" idx="12"/>
          </p:nvPr>
        </p:nvSpPr>
        <p:spPr/>
        <p:txBody>
          <a:bodyPr/>
          <a:lstStyle>
            <a:lvl1pPr>
              <a:defRPr/>
            </a:lvl1pPr>
          </a:lstStyle>
          <a:p>
            <a:pPr>
              <a:defRPr/>
            </a:pPr>
            <a:fld id="{862D724E-16A7-4239-8DE0-AA8EE769745F}" type="slidenum">
              <a:rPr lang="zh-CN" altLang="en-US"/>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1"/>
          <p:cNvSpPr>
            <a:spLocks noGrp="1" noChangeArrowheads="1"/>
          </p:cNvSpPr>
          <p:nvPr>
            <p:ph type="dt" sz="half" idx="10"/>
          </p:nvPr>
        </p:nvSpPr>
        <p:spPr/>
        <p:txBody>
          <a:bodyPr/>
          <a:lstStyle>
            <a:lvl1pPr>
              <a:defRPr/>
            </a:lvl1pPr>
          </a:lstStyle>
          <a:p>
            <a:pPr>
              <a:defRPr/>
            </a:pPr>
            <a:endParaRPr lang="en-US" altLang="zh-CN"/>
          </a:p>
        </p:txBody>
      </p:sp>
      <p:sp>
        <p:nvSpPr>
          <p:cNvPr id="3" name="Rectangle 12"/>
          <p:cNvSpPr>
            <a:spLocks noGrp="1" noChangeArrowheads="1"/>
          </p:cNvSpPr>
          <p:nvPr>
            <p:ph type="ftr" sz="quarter" idx="11"/>
          </p:nvPr>
        </p:nvSpPr>
        <p:spPr/>
        <p:txBody>
          <a:bodyPr/>
          <a:lstStyle>
            <a:lvl1pPr>
              <a:defRPr/>
            </a:lvl1pPr>
          </a:lstStyle>
          <a:p>
            <a:pPr>
              <a:defRPr/>
            </a:pPr>
            <a:endParaRPr lang="en-US" altLang="zh-CN"/>
          </a:p>
        </p:txBody>
      </p:sp>
      <p:sp>
        <p:nvSpPr>
          <p:cNvPr id="4" name="Rectangle 13"/>
          <p:cNvSpPr>
            <a:spLocks noGrp="1" noChangeArrowheads="1"/>
          </p:cNvSpPr>
          <p:nvPr>
            <p:ph type="sldNum" sz="quarter" idx="12"/>
          </p:nvPr>
        </p:nvSpPr>
        <p:spPr/>
        <p:txBody>
          <a:bodyPr/>
          <a:lstStyle>
            <a:lvl1pPr>
              <a:defRPr/>
            </a:lvl1pPr>
          </a:lstStyle>
          <a:p>
            <a:pPr>
              <a:defRPr/>
            </a:pPr>
            <a:fld id="{40E6803B-40DB-48B1-BCBC-FC2C27E752B2}" type="slidenum">
              <a:rPr lang="zh-CN" altLang="en-US"/>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40" y="457200"/>
            <a:ext cx="2949575" cy="1600200"/>
          </a:xfrm>
        </p:spPr>
        <p:txBody>
          <a:bodyPr/>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3887788" y="987429"/>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630240"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Rectangle 11"/>
          <p:cNvSpPr>
            <a:spLocks noGrp="1" noChangeArrowheads="1"/>
          </p:cNvSpPr>
          <p:nvPr>
            <p:ph type="dt" sz="half" idx="10"/>
          </p:nvPr>
        </p:nvSpPr>
        <p:spPr/>
        <p:txBody>
          <a:bodyPr/>
          <a:lstStyle>
            <a:lvl1pPr>
              <a:defRPr/>
            </a:lvl1pPr>
          </a:lstStyle>
          <a:p>
            <a:pPr>
              <a:defRPr/>
            </a:pPr>
            <a:endParaRPr lang="en-US" altLang="zh-CN"/>
          </a:p>
        </p:txBody>
      </p:sp>
      <p:sp>
        <p:nvSpPr>
          <p:cNvPr id="6" name="Rectangle 12"/>
          <p:cNvSpPr>
            <a:spLocks noGrp="1" noChangeArrowheads="1"/>
          </p:cNvSpPr>
          <p:nvPr>
            <p:ph type="ftr" sz="quarter" idx="11"/>
          </p:nvPr>
        </p:nvSpPr>
        <p:spPr/>
        <p:txBody>
          <a:bodyPr/>
          <a:lstStyle>
            <a:lvl1pPr>
              <a:defRPr/>
            </a:lvl1pPr>
          </a:lstStyle>
          <a:p>
            <a:pPr>
              <a:defRPr/>
            </a:pPr>
            <a:endParaRPr lang="en-US" altLang="zh-CN"/>
          </a:p>
        </p:txBody>
      </p:sp>
      <p:sp>
        <p:nvSpPr>
          <p:cNvPr id="7" name="Rectangle 13"/>
          <p:cNvSpPr>
            <a:spLocks noGrp="1" noChangeArrowheads="1"/>
          </p:cNvSpPr>
          <p:nvPr>
            <p:ph type="sldNum" sz="quarter" idx="12"/>
          </p:nvPr>
        </p:nvSpPr>
        <p:spPr/>
        <p:txBody>
          <a:bodyPr/>
          <a:lstStyle>
            <a:lvl1pPr>
              <a:defRPr/>
            </a:lvl1pPr>
          </a:lstStyle>
          <a:p>
            <a:pPr>
              <a:defRPr/>
            </a:pPr>
            <a:fld id="{555AB8D5-43B8-4489-AFF8-641931F1FF73}" type="slidenum">
              <a:rPr lang="zh-CN" altLang="en-US"/>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40" y="457200"/>
            <a:ext cx="2949575" cy="1600200"/>
          </a:xfrm>
        </p:spPr>
        <p:txBody>
          <a:bodyPr/>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788" y="987429"/>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hasCustomPrompt="1"/>
          </p:nvPr>
        </p:nvSpPr>
        <p:spPr>
          <a:xfrm>
            <a:off x="630240"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Rectangle 11"/>
          <p:cNvSpPr>
            <a:spLocks noGrp="1" noChangeArrowheads="1"/>
          </p:cNvSpPr>
          <p:nvPr>
            <p:ph type="dt" sz="half" idx="10"/>
          </p:nvPr>
        </p:nvSpPr>
        <p:spPr/>
        <p:txBody>
          <a:bodyPr/>
          <a:lstStyle>
            <a:lvl1pPr>
              <a:defRPr/>
            </a:lvl1pPr>
          </a:lstStyle>
          <a:p>
            <a:pPr>
              <a:defRPr/>
            </a:pPr>
            <a:endParaRPr lang="en-US" altLang="zh-CN"/>
          </a:p>
        </p:txBody>
      </p:sp>
      <p:sp>
        <p:nvSpPr>
          <p:cNvPr id="6" name="Rectangle 12"/>
          <p:cNvSpPr>
            <a:spLocks noGrp="1" noChangeArrowheads="1"/>
          </p:cNvSpPr>
          <p:nvPr>
            <p:ph type="ftr" sz="quarter" idx="11"/>
          </p:nvPr>
        </p:nvSpPr>
        <p:spPr/>
        <p:txBody>
          <a:bodyPr/>
          <a:lstStyle>
            <a:lvl1pPr>
              <a:defRPr/>
            </a:lvl1pPr>
          </a:lstStyle>
          <a:p>
            <a:pPr>
              <a:defRPr/>
            </a:pPr>
            <a:endParaRPr lang="en-US" altLang="zh-CN"/>
          </a:p>
        </p:txBody>
      </p:sp>
      <p:sp>
        <p:nvSpPr>
          <p:cNvPr id="7" name="Rectangle 13"/>
          <p:cNvSpPr>
            <a:spLocks noGrp="1" noChangeArrowheads="1"/>
          </p:cNvSpPr>
          <p:nvPr>
            <p:ph type="sldNum" sz="quarter" idx="12"/>
          </p:nvPr>
        </p:nvSpPr>
        <p:spPr/>
        <p:txBody>
          <a:bodyPr/>
          <a:lstStyle>
            <a:lvl1pPr>
              <a:defRPr/>
            </a:lvl1pPr>
          </a:lstStyle>
          <a:p>
            <a:pPr>
              <a:defRPr/>
            </a:pPr>
            <a:fld id="{BCEA489A-9F5E-4D4D-B1B8-55B008B0EBCC}" type="slidenum">
              <a:rPr lang="zh-CN" altLang="en-US"/>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11"/>
          <p:cNvSpPr>
            <a:spLocks noGrp="1" noChangeArrowheads="1"/>
          </p:cNvSpPr>
          <p:nvPr>
            <p:ph type="dt" sz="half" idx="10"/>
          </p:nvPr>
        </p:nvSpPr>
        <p:spPr/>
        <p:txBody>
          <a:bodyPr/>
          <a:lstStyle>
            <a:lvl1pPr>
              <a:defRPr/>
            </a:lvl1pPr>
          </a:lstStyle>
          <a:p>
            <a:pPr>
              <a:defRPr/>
            </a:pPr>
            <a:endParaRPr lang="en-US" altLang="zh-CN"/>
          </a:p>
        </p:txBody>
      </p:sp>
      <p:sp>
        <p:nvSpPr>
          <p:cNvPr id="5" name="Rectangle 12"/>
          <p:cNvSpPr>
            <a:spLocks noGrp="1" noChangeArrowheads="1"/>
          </p:cNvSpPr>
          <p:nvPr>
            <p:ph type="ftr" sz="quarter" idx="11"/>
          </p:nvPr>
        </p:nvSpPr>
        <p:spPr/>
        <p:txBody>
          <a:bodyPr/>
          <a:lstStyle>
            <a:lvl1pPr>
              <a:defRPr/>
            </a:lvl1pPr>
          </a:lstStyle>
          <a:p>
            <a:pPr>
              <a:defRPr/>
            </a:pPr>
            <a:endParaRPr lang="en-US" altLang="zh-CN"/>
          </a:p>
        </p:txBody>
      </p:sp>
      <p:sp>
        <p:nvSpPr>
          <p:cNvPr id="6" name="Rectangle 13"/>
          <p:cNvSpPr>
            <a:spLocks noGrp="1" noChangeArrowheads="1"/>
          </p:cNvSpPr>
          <p:nvPr>
            <p:ph type="sldNum" sz="quarter" idx="12"/>
          </p:nvPr>
        </p:nvSpPr>
        <p:spPr/>
        <p:txBody>
          <a:bodyPr/>
          <a:lstStyle>
            <a:lvl1pPr>
              <a:defRPr/>
            </a:lvl1pPr>
          </a:lstStyle>
          <a:p>
            <a:pPr>
              <a:defRPr/>
            </a:pPr>
            <a:fld id="{C52E031D-A55A-40CF-BD1D-1ED519B017F9}" type="slidenum">
              <a:rPr lang="zh-CN" altLang="en-US"/>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004050" y="617542"/>
            <a:ext cx="1951038" cy="551497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1150938" y="617542"/>
            <a:ext cx="5700712" cy="5514975"/>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11"/>
          <p:cNvSpPr>
            <a:spLocks noGrp="1" noChangeArrowheads="1"/>
          </p:cNvSpPr>
          <p:nvPr>
            <p:ph type="dt" sz="half" idx="10"/>
          </p:nvPr>
        </p:nvSpPr>
        <p:spPr/>
        <p:txBody>
          <a:bodyPr/>
          <a:lstStyle>
            <a:lvl1pPr>
              <a:defRPr/>
            </a:lvl1pPr>
          </a:lstStyle>
          <a:p>
            <a:pPr>
              <a:defRPr/>
            </a:pPr>
            <a:endParaRPr lang="en-US" altLang="zh-CN"/>
          </a:p>
        </p:txBody>
      </p:sp>
      <p:sp>
        <p:nvSpPr>
          <p:cNvPr id="5" name="Rectangle 12"/>
          <p:cNvSpPr>
            <a:spLocks noGrp="1" noChangeArrowheads="1"/>
          </p:cNvSpPr>
          <p:nvPr>
            <p:ph type="ftr" sz="quarter" idx="11"/>
          </p:nvPr>
        </p:nvSpPr>
        <p:spPr/>
        <p:txBody>
          <a:bodyPr/>
          <a:lstStyle>
            <a:lvl1pPr>
              <a:defRPr/>
            </a:lvl1pPr>
          </a:lstStyle>
          <a:p>
            <a:pPr>
              <a:defRPr/>
            </a:pPr>
            <a:endParaRPr lang="en-US" altLang="zh-CN"/>
          </a:p>
        </p:txBody>
      </p:sp>
      <p:sp>
        <p:nvSpPr>
          <p:cNvPr id="6" name="Rectangle 13"/>
          <p:cNvSpPr>
            <a:spLocks noGrp="1" noChangeArrowheads="1"/>
          </p:cNvSpPr>
          <p:nvPr>
            <p:ph type="sldNum" sz="quarter" idx="12"/>
          </p:nvPr>
        </p:nvSpPr>
        <p:spPr/>
        <p:txBody>
          <a:bodyPr/>
          <a:lstStyle>
            <a:lvl1pPr>
              <a:defRPr/>
            </a:lvl1pPr>
          </a:lstStyle>
          <a:p>
            <a:pPr>
              <a:defRPr/>
            </a:pPr>
            <a:fld id="{353EFFAD-8DE2-4833-8807-6A15ACA1176E}" type="slidenum">
              <a:rPr lang="zh-CN" altLang="en-US"/>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dgm">
  <p:cSld name="标题和图示或组织结构图">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a:t>单击此处编辑母版标题样式</a:t>
            </a:r>
            <a:endParaRPr lang="zh-CN" altLang="en-US"/>
          </a:p>
        </p:txBody>
      </p:sp>
      <p:sp>
        <p:nvSpPr>
          <p:cNvPr id="3" name="SmartArt 占位符 2"/>
          <p:cNvSpPr>
            <a:spLocks noGrp="1"/>
          </p:cNvSpPr>
          <p:nvPr>
            <p:ph type="dgm" idx="1"/>
          </p:nvPr>
        </p:nvSpPr>
        <p:spPr>
          <a:xfrm>
            <a:off x="457200" y="1600204"/>
            <a:ext cx="8229600" cy="4525963"/>
          </a:xfrm>
        </p:spPr>
        <p:txBody>
          <a:bodyPr/>
          <a:lstStyle/>
          <a:p>
            <a:endParaRPr lang="zh-CN" altLang="en-US"/>
          </a:p>
        </p:txBody>
      </p:sp>
      <p:sp>
        <p:nvSpPr>
          <p:cNvPr id="4" name="日期占位符 3"/>
          <p:cNvSpPr>
            <a:spLocks noGrp="1"/>
          </p:cNvSpPr>
          <p:nvPr>
            <p:ph type="dt" sz="half" idx="10"/>
          </p:nvPr>
        </p:nvSpPr>
        <p:spPr>
          <a:xfrm>
            <a:off x="457200" y="6245225"/>
            <a:ext cx="2133600" cy="476250"/>
          </a:xfrm>
        </p:spPr>
        <p:txBody>
          <a:bodyPr/>
          <a:lstStyle>
            <a:lvl1pPr>
              <a:defRPr/>
            </a:lvl1pPr>
          </a:lstStyle>
          <a:p>
            <a:endParaRPr lang="en-US" altLang="zh-CN"/>
          </a:p>
        </p:txBody>
      </p:sp>
      <p:sp>
        <p:nvSpPr>
          <p:cNvPr id="5" name="页脚占位符 4"/>
          <p:cNvSpPr>
            <a:spLocks noGrp="1"/>
          </p:cNvSpPr>
          <p:nvPr>
            <p:ph type="ftr" sz="quarter" idx="11"/>
          </p:nvPr>
        </p:nvSpPr>
        <p:spPr>
          <a:xfrm>
            <a:off x="3124200" y="6245225"/>
            <a:ext cx="2895600" cy="476250"/>
          </a:xfrm>
        </p:spPr>
        <p:txBody>
          <a:bodyPr/>
          <a:lstStyle>
            <a:lvl1pPr>
              <a:defRPr/>
            </a:lvl1pPr>
          </a:lstStyle>
          <a:p>
            <a:endParaRPr lang="en-US" altLang="zh-CN"/>
          </a:p>
        </p:txBody>
      </p:sp>
      <p:sp>
        <p:nvSpPr>
          <p:cNvPr id="6" name="灯片编号占位符 5"/>
          <p:cNvSpPr>
            <a:spLocks noGrp="1"/>
          </p:cNvSpPr>
          <p:nvPr>
            <p:ph type="sldNum" sz="quarter" idx="12"/>
          </p:nvPr>
        </p:nvSpPr>
        <p:spPr>
          <a:xfrm>
            <a:off x="6553200" y="6245225"/>
            <a:ext cx="2133600" cy="476250"/>
          </a:xfrm>
        </p:spPr>
        <p:txBody>
          <a:bodyPr/>
          <a:lstStyle>
            <a:lvl1pPr>
              <a:defRPr/>
            </a:lvl1pPr>
          </a:lstStyle>
          <a:p>
            <a:fld id="{7A8D36AA-3E3A-46C6-9950-F070D0832B98}" type="slidenum">
              <a:rPr lang="en-US" altLang="zh-CN"/>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ltGray">
          <a:xfrm>
            <a:off x="417513" y="1098554"/>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0000"/>
              </a:lnSpc>
              <a:defRPr sz="1400" b="1">
                <a:solidFill>
                  <a:schemeClr val="bg2"/>
                </a:solidFill>
                <a:latin typeface="Courier New" panose="02070309020205020404" pitchFamily="49" charset="0"/>
                <a:ea typeface="宋体" panose="02010600030101010101" pitchFamily="2" charset="-122"/>
              </a:defRPr>
            </a:lvl1pPr>
            <a:lvl2pPr marL="742950" indent="-285750">
              <a:lnSpc>
                <a:spcPct val="110000"/>
              </a:lnSpc>
              <a:defRPr sz="1400" b="1">
                <a:solidFill>
                  <a:schemeClr val="bg2"/>
                </a:solidFill>
                <a:latin typeface="Courier New" panose="02070309020205020404" pitchFamily="49" charset="0"/>
                <a:ea typeface="宋体" panose="02010600030101010101" pitchFamily="2" charset="-122"/>
              </a:defRPr>
            </a:lvl2pPr>
            <a:lvl3pPr marL="1143000" indent="-228600">
              <a:lnSpc>
                <a:spcPct val="110000"/>
              </a:lnSpc>
              <a:defRPr sz="1400" b="1">
                <a:solidFill>
                  <a:schemeClr val="bg2"/>
                </a:solidFill>
                <a:latin typeface="Courier New" panose="02070309020205020404" pitchFamily="49" charset="0"/>
                <a:ea typeface="宋体" panose="02010600030101010101" pitchFamily="2" charset="-122"/>
              </a:defRPr>
            </a:lvl3pPr>
            <a:lvl4pPr marL="1600200" indent="-228600">
              <a:lnSpc>
                <a:spcPct val="110000"/>
              </a:lnSpc>
              <a:defRPr sz="1400" b="1">
                <a:solidFill>
                  <a:schemeClr val="bg2"/>
                </a:solidFill>
                <a:latin typeface="Courier New" panose="02070309020205020404" pitchFamily="49" charset="0"/>
                <a:ea typeface="宋体" panose="02010600030101010101" pitchFamily="2" charset="-122"/>
              </a:defRPr>
            </a:lvl4pPr>
            <a:lvl5pPr marL="2057400" indent="-228600">
              <a:lnSpc>
                <a:spcPct val="110000"/>
              </a:lnSpc>
              <a:defRPr sz="1400" b="1">
                <a:solidFill>
                  <a:schemeClr val="bg2"/>
                </a:solidFill>
                <a:latin typeface="Courier New" panose="02070309020205020404" pitchFamily="49" charset="0"/>
                <a:ea typeface="宋体" panose="02010600030101010101" pitchFamily="2" charset="-122"/>
              </a:defRPr>
            </a:lvl5pPr>
            <a:lvl6pPr marL="25146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6pPr>
            <a:lvl7pPr marL="29718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7pPr>
            <a:lvl8pPr marL="34290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8pPr>
            <a:lvl9pPr marL="38862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9pPr>
          </a:lstStyle>
          <a:p>
            <a:pPr algn="ctr" eaLnBrk="1" hangingPunct="1">
              <a:lnSpc>
                <a:spcPct val="100000"/>
              </a:lnSpc>
            </a:pPr>
            <a:endParaRPr kumimoji="1" lang="zh-CN" altLang="en-US" sz="2400" b="0">
              <a:solidFill>
                <a:schemeClr val="tx1"/>
              </a:solidFill>
              <a:latin typeface="Tahoma" panose="020B0604030504040204" pitchFamily="34" charset="0"/>
            </a:endParaRPr>
          </a:p>
        </p:txBody>
      </p:sp>
      <p:sp>
        <p:nvSpPr>
          <p:cNvPr id="1027" name="Rectangle 3"/>
          <p:cNvSpPr>
            <a:spLocks noChangeArrowheads="1"/>
          </p:cNvSpPr>
          <p:nvPr/>
        </p:nvSpPr>
        <p:spPr bwMode="ltGray">
          <a:xfrm>
            <a:off x="800102" y="1098554"/>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0000"/>
              </a:lnSpc>
              <a:defRPr sz="1400" b="1">
                <a:solidFill>
                  <a:schemeClr val="bg2"/>
                </a:solidFill>
                <a:latin typeface="Courier New" panose="02070309020205020404" pitchFamily="49" charset="0"/>
                <a:ea typeface="宋体" panose="02010600030101010101" pitchFamily="2" charset="-122"/>
              </a:defRPr>
            </a:lvl1pPr>
            <a:lvl2pPr marL="742950" indent="-285750">
              <a:lnSpc>
                <a:spcPct val="110000"/>
              </a:lnSpc>
              <a:defRPr sz="1400" b="1">
                <a:solidFill>
                  <a:schemeClr val="bg2"/>
                </a:solidFill>
                <a:latin typeface="Courier New" panose="02070309020205020404" pitchFamily="49" charset="0"/>
                <a:ea typeface="宋体" panose="02010600030101010101" pitchFamily="2" charset="-122"/>
              </a:defRPr>
            </a:lvl2pPr>
            <a:lvl3pPr marL="1143000" indent="-228600">
              <a:lnSpc>
                <a:spcPct val="110000"/>
              </a:lnSpc>
              <a:defRPr sz="1400" b="1">
                <a:solidFill>
                  <a:schemeClr val="bg2"/>
                </a:solidFill>
                <a:latin typeface="Courier New" panose="02070309020205020404" pitchFamily="49" charset="0"/>
                <a:ea typeface="宋体" panose="02010600030101010101" pitchFamily="2" charset="-122"/>
              </a:defRPr>
            </a:lvl3pPr>
            <a:lvl4pPr marL="1600200" indent="-228600">
              <a:lnSpc>
                <a:spcPct val="110000"/>
              </a:lnSpc>
              <a:defRPr sz="1400" b="1">
                <a:solidFill>
                  <a:schemeClr val="bg2"/>
                </a:solidFill>
                <a:latin typeface="Courier New" panose="02070309020205020404" pitchFamily="49" charset="0"/>
                <a:ea typeface="宋体" panose="02010600030101010101" pitchFamily="2" charset="-122"/>
              </a:defRPr>
            </a:lvl4pPr>
            <a:lvl5pPr marL="2057400" indent="-228600">
              <a:lnSpc>
                <a:spcPct val="110000"/>
              </a:lnSpc>
              <a:defRPr sz="1400" b="1">
                <a:solidFill>
                  <a:schemeClr val="bg2"/>
                </a:solidFill>
                <a:latin typeface="Courier New" panose="02070309020205020404" pitchFamily="49" charset="0"/>
                <a:ea typeface="宋体" panose="02010600030101010101" pitchFamily="2" charset="-122"/>
              </a:defRPr>
            </a:lvl5pPr>
            <a:lvl6pPr marL="25146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6pPr>
            <a:lvl7pPr marL="29718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7pPr>
            <a:lvl8pPr marL="34290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8pPr>
            <a:lvl9pPr marL="38862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9pPr>
          </a:lstStyle>
          <a:p>
            <a:pPr algn="ctr" eaLnBrk="1" hangingPunct="1">
              <a:lnSpc>
                <a:spcPct val="100000"/>
              </a:lnSpc>
            </a:pPr>
            <a:endParaRPr kumimoji="1" lang="zh-CN" altLang="en-US" sz="2400" b="0">
              <a:solidFill>
                <a:schemeClr val="tx1"/>
              </a:solidFill>
              <a:latin typeface="Tahoma" panose="020B0604030504040204" pitchFamily="34" charset="0"/>
            </a:endParaRPr>
          </a:p>
        </p:txBody>
      </p:sp>
      <p:sp>
        <p:nvSpPr>
          <p:cNvPr id="1028" name="Rectangle 4"/>
          <p:cNvSpPr>
            <a:spLocks noChangeArrowheads="1"/>
          </p:cNvSpPr>
          <p:nvPr/>
        </p:nvSpPr>
        <p:spPr bwMode="ltGray">
          <a:xfrm>
            <a:off x="541340" y="1520829"/>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0000"/>
              </a:lnSpc>
              <a:defRPr sz="1400" b="1">
                <a:solidFill>
                  <a:schemeClr val="bg2"/>
                </a:solidFill>
                <a:latin typeface="Courier New" panose="02070309020205020404" pitchFamily="49" charset="0"/>
                <a:ea typeface="宋体" panose="02010600030101010101" pitchFamily="2" charset="-122"/>
              </a:defRPr>
            </a:lvl1pPr>
            <a:lvl2pPr marL="742950" indent="-285750">
              <a:lnSpc>
                <a:spcPct val="110000"/>
              </a:lnSpc>
              <a:defRPr sz="1400" b="1">
                <a:solidFill>
                  <a:schemeClr val="bg2"/>
                </a:solidFill>
                <a:latin typeface="Courier New" panose="02070309020205020404" pitchFamily="49" charset="0"/>
                <a:ea typeface="宋体" panose="02010600030101010101" pitchFamily="2" charset="-122"/>
              </a:defRPr>
            </a:lvl2pPr>
            <a:lvl3pPr marL="1143000" indent="-228600">
              <a:lnSpc>
                <a:spcPct val="110000"/>
              </a:lnSpc>
              <a:defRPr sz="1400" b="1">
                <a:solidFill>
                  <a:schemeClr val="bg2"/>
                </a:solidFill>
                <a:latin typeface="Courier New" panose="02070309020205020404" pitchFamily="49" charset="0"/>
                <a:ea typeface="宋体" panose="02010600030101010101" pitchFamily="2" charset="-122"/>
              </a:defRPr>
            </a:lvl3pPr>
            <a:lvl4pPr marL="1600200" indent="-228600">
              <a:lnSpc>
                <a:spcPct val="110000"/>
              </a:lnSpc>
              <a:defRPr sz="1400" b="1">
                <a:solidFill>
                  <a:schemeClr val="bg2"/>
                </a:solidFill>
                <a:latin typeface="Courier New" panose="02070309020205020404" pitchFamily="49" charset="0"/>
                <a:ea typeface="宋体" panose="02010600030101010101" pitchFamily="2" charset="-122"/>
              </a:defRPr>
            </a:lvl4pPr>
            <a:lvl5pPr marL="2057400" indent="-228600">
              <a:lnSpc>
                <a:spcPct val="110000"/>
              </a:lnSpc>
              <a:defRPr sz="1400" b="1">
                <a:solidFill>
                  <a:schemeClr val="bg2"/>
                </a:solidFill>
                <a:latin typeface="Courier New" panose="02070309020205020404" pitchFamily="49" charset="0"/>
                <a:ea typeface="宋体" panose="02010600030101010101" pitchFamily="2" charset="-122"/>
              </a:defRPr>
            </a:lvl5pPr>
            <a:lvl6pPr marL="25146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6pPr>
            <a:lvl7pPr marL="29718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7pPr>
            <a:lvl8pPr marL="34290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8pPr>
            <a:lvl9pPr marL="38862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9pPr>
          </a:lstStyle>
          <a:p>
            <a:pPr algn="ctr" eaLnBrk="1" hangingPunct="1">
              <a:lnSpc>
                <a:spcPct val="100000"/>
              </a:lnSpc>
            </a:pPr>
            <a:endParaRPr kumimoji="1" lang="zh-CN" altLang="en-US" sz="2400" b="0">
              <a:solidFill>
                <a:schemeClr val="tx1"/>
              </a:solidFill>
              <a:latin typeface="Tahoma" panose="020B0604030504040204" pitchFamily="34" charset="0"/>
            </a:endParaRPr>
          </a:p>
        </p:txBody>
      </p:sp>
      <p:sp>
        <p:nvSpPr>
          <p:cNvPr id="1029" name="Rectangle 5"/>
          <p:cNvSpPr>
            <a:spLocks noChangeArrowheads="1"/>
          </p:cNvSpPr>
          <p:nvPr/>
        </p:nvSpPr>
        <p:spPr bwMode="ltGray">
          <a:xfrm>
            <a:off x="911227" y="1520829"/>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0000"/>
              </a:lnSpc>
              <a:defRPr sz="1400" b="1">
                <a:solidFill>
                  <a:schemeClr val="bg2"/>
                </a:solidFill>
                <a:latin typeface="Courier New" panose="02070309020205020404" pitchFamily="49" charset="0"/>
                <a:ea typeface="宋体" panose="02010600030101010101" pitchFamily="2" charset="-122"/>
              </a:defRPr>
            </a:lvl1pPr>
            <a:lvl2pPr marL="742950" indent="-285750">
              <a:lnSpc>
                <a:spcPct val="110000"/>
              </a:lnSpc>
              <a:defRPr sz="1400" b="1">
                <a:solidFill>
                  <a:schemeClr val="bg2"/>
                </a:solidFill>
                <a:latin typeface="Courier New" panose="02070309020205020404" pitchFamily="49" charset="0"/>
                <a:ea typeface="宋体" panose="02010600030101010101" pitchFamily="2" charset="-122"/>
              </a:defRPr>
            </a:lvl2pPr>
            <a:lvl3pPr marL="1143000" indent="-228600">
              <a:lnSpc>
                <a:spcPct val="110000"/>
              </a:lnSpc>
              <a:defRPr sz="1400" b="1">
                <a:solidFill>
                  <a:schemeClr val="bg2"/>
                </a:solidFill>
                <a:latin typeface="Courier New" panose="02070309020205020404" pitchFamily="49" charset="0"/>
                <a:ea typeface="宋体" panose="02010600030101010101" pitchFamily="2" charset="-122"/>
              </a:defRPr>
            </a:lvl3pPr>
            <a:lvl4pPr marL="1600200" indent="-228600">
              <a:lnSpc>
                <a:spcPct val="110000"/>
              </a:lnSpc>
              <a:defRPr sz="1400" b="1">
                <a:solidFill>
                  <a:schemeClr val="bg2"/>
                </a:solidFill>
                <a:latin typeface="Courier New" panose="02070309020205020404" pitchFamily="49" charset="0"/>
                <a:ea typeface="宋体" panose="02010600030101010101" pitchFamily="2" charset="-122"/>
              </a:defRPr>
            </a:lvl4pPr>
            <a:lvl5pPr marL="2057400" indent="-228600">
              <a:lnSpc>
                <a:spcPct val="110000"/>
              </a:lnSpc>
              <a:defRPr sz="1400" b="1">
                <a:solidFill>
                  <a:schemeClr val="bg2"/>
                </a:solidFill>
                <a:latin typeface="Courier New" panose="02070309020205020404" pitchFamily="49" charset="0"/>
                <a:ea typeface="宋体" panose="02010600030101010101" pitchFamily="2" charset="-122"/>
              </a:defRPr>
            </a:lvl5pPr>
            <a:lvl6pPr marL="25146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6pPr>
            <a:lvl7pPr marL="29718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7pPr>
            <a:lvl8pPr marL="34290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8pPr>
            <a:lvl9pPr marL="38862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9pPr>
          </a:lstStyle>
          <a:p>
            <a:pPr algn="ctr" eaLnBrk="1" hangingPunct="1">
              <a:lnSpc>
                <a:spcPct val="100000"/>
              </a:lnSpc>
            </a:pPr>
            <a:endParaRPr kumimoji="1" lang="zh-CN" altLang="en-US" sz="2400" b="0">
              <a:solidFill>
                <a:schemeClr val="tx1"/>
              </a:solidFill>
              <a:latin typeface="Tahoma" panose="020B0604030504040204" pitchFamily="34" charset="0"/>
            </a:endParaRPr>
          </a:p>
        </p:txBody>
      </p:sp>
      <p:sp>
        <p:nvSpPr>
          <p:cNvPr id="1030" name="Rectangle 6"/>
          <p:cNvSpPr>
            <a:spLocks noChangeArrowheads="1"/>
          </p:cNvSpPr>
          <p:nvPr/>
        </p:nvSpPr>
        <p:spPr bwMode="ltGray">
          <a:xfrm>
            <a:off x="127000" y="1447804"/>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0000"/>
              </a:lnSpc>
              <a:defRPr sz="1400" b="1">
                <a:solidFill>
                  <a:schemeClr val="bg2"/>
                </a:solidFill>
                <a:latin typeface="Courier New" panose="02070309020205020404" pitchFamily="49" charset="0"/>
                <a:ea typeface="宋体" panose="02010600030101010101" pitchFamily="2" charset="-122"/>
              </a:defRPr>
            </a:lvl1pPr>
            <a:lvl2pPr marL="742950" indent="-285750">
              <a:lnSpc>
                <a:spcPct val="110000"/>
              </a:lnSpc>
              <a:defRPr sz="1400" b="1">
                <a:solidFill>
                  <a:schemeClr val="bg2"/>
                </a:solidFill>
                <a:latin typeface="Courier New" panose="02070309020205020404" pitchFamily="49" charset="0"/>
                <a:ea typeface="宋体" panose="02010600030101010101" pitchFamily="2" charset="-122"/>
              </a:defRPr>
            </a:lvl2pPr>
            <a:lvl3pPr marL="1143000" indent="-228600">
              <a:lnSpc>
                <a:spcPct val="110000"/>
              </a:lnSpc>
              <a:defRPr sz="1400" b="1">
                <a:solidFill>
                  <a:schemeClr val="bg2"/>
                </a:solidFill>
                <a:latin typeface="Courier New" panose="02070309020205020404" pitchFamily="49" charset="0"/>
                <a:ea typeface="宋体" panose="02010600030101010101" pitchFamily="2" charset="-122"/>
              </a:defRPr>
            </a:lvl3pPr>
            <a:lvl4pPr marL="1600200" indent="-228600">
              <a:lnSpc>
                <a:spcPct val="110000"/>
              </a:lnSpc>
              <a:defRPr sz="1400" b="1">
                <a:solidFill>
                  <a:schemeClr val="bg2"/>
                </a:solidFill>
                <a:latin typeface="Courier New" panose="02070309020205020404" pitchFamily="49" charset="0"/>
                <a:ea typeface="宋体" panose="02010600030101010101" pitchFamily="2" charset="-122"/>
              </a:defRPr>
            </a:lvl4pPr>
            <a:lvl5pPr marL="2057400" indent="-228600">
              <a:lnSpc>
                <a:spcPct val="110000"/>
              </a:lnSpc>
              <a:defRPr sz="1400" b="1">
                <a:solidFill>
                  <a:schemeClr val="bg2"/>
                </a:solidFill>
                <a:latin typeface="Courier New" panose="02070309020205020404" pitchFamily="49" charset="0"/>
                <a:ea typeface="宋体" panose="02010600030101010101" pitchFamily="2" charset="-122"/>
              </a:defRPr>
            </a:lvl5pPr>
            <a:lvl6pPr marL="25146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6pPr>
            <a:lvl7pPr marL="29718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7pPr>
            <a:lvl8pPr marL="34290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8pPr>
            <a:lvl9pPr marL="38862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9pPr>
          </a:lstStyle>
          <a:p>
            <a:pPr algn="ctr" eaLnBrk="1" hangingPunct="1">
              <a:lnSpc>
                <a:spcPct val="100000"/>
              </a:lnSpc>
            </a:pPr>
            <a:endParaRPr kumimoji="1" lang="zh-CN" altLang="en-US" sz="2400" b="0">
              <a:solidFill>
                <a:schemeClr val="tx1"/>
              </a:solidFill>
              <a:latin typeface="Tahoma" panose="020B0604030504040204" pitchFamily="34" charset="0"/>
            </a:endParaRPr>
          </a:p>
        </p:txBody>
      </p:sp>
      <p:sp>
        <p:nvSpPr>
          <p:cNvPr id="1031" name="Rectangle 7"/>
          <p:cNvSpPr>
            <a:spLocks noChangeArrowheads="1"/>
          </p:cNvSpPr>
          <p:nvPr/>
        </p:nvSpPr>
        <p:spPr bwMode="gray">
          <a:xfrm>
            <a:off x="762000" y="990604"/>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0000"/>
              </a:lnSpc>
              <a:defRPr sz="1400" b="1">
                <a:solidFill>
                  <a:schemeClr val="bg2"/>
                </a:solidFill>
                <a:latin typeface="Courier New" panose="02070309020205020404" pitchFamily="49" charset="0"/>
                <a:ea typeface="宋体" panose="02010600030101010101" pitchFamily="2" charset="-122"/>
              </a:defRPr>
            </a:lvl1pPr>
            <a:lvl2pPr marL="742950" indent="-285750">
              <a:lnSpc>
                <a:spcPct val="110000"/>
              </a:lnSpc>
              <a:defRPr sz="1400" b="1">
                <a:solidFill>
                  <a:schemeClr val="bg2"/>
                </a:solidFill>
                <a:latin typeface="Courier New" panose="02070309020205020404" pitchFamily="49" charset="0"/>
                <a:ea typeface="宋体" panose="02010600030101010101" pitchFamily="2" charset="-122"/>
              </a:defRPr>
            </a:lvl2pPr>
            <a:lvl3pPr marL="1143000" indent="-228600">
              <a:lnSpc>
                <a:spcPct val="110000"/>
              </a:lnSpc>
              <a:defRPr sz="1400" b="1">
                <a:solidFill>
                  <a:schemeClr val="bg2"/>
                </a:solidFill>
                <a:latin typeface="Courier New" panose="02070309020205020404" pitchFamily="49" charset="0"/>
                <a:ea typeface="宋体" panose="02010600030101010101" pitchFamily="2" charset="-122"/>
              </a:defRPr>
            </a:lvl3pPr>
            <a:lvl4pPr marL="1600200" indent="-228600">
              <a:lnSpc>
                <a:spcPct val="110000"/>
              </a:lnSpc>
              <a:defRPr sz="1400" b="1">
                <a:solidFill>
                  <a:schemeClr val="bg2"/>
                </a:solidFill>
                <a:latin typeface="Courier New" panose="02070309020205020404" pitchFamily="49" charset="0"/>
                <a:ea typeface="宋体" panose="02010600030101010101" pitchFamily="2" charset="-122"/>
              </a:defRPr>
            </a:lvl4pPr>
            <a:lvl5pPr marL="2057400" indent="-228600">
              <a:lnSpc>
                <a:spcPct val="110000"/>
              </a:lnSpc>
              <a:defRPr sz="1400" b="1">
                <a:solidFill>
                  <a:schemeClr val="bg2"/>
                </a:solidFill>
                <a:latin typeface="Courier New" panose="02070309020205020404" pitchFamily="49" charset="0"/>
                <a:ea typeface="宋体" panose="02010600030101010101" pitchFamily="2" charset="-122"/>
              </a:defRPr>
            </a:lvl5pPr>
            <a:lvl6pPr marL="25146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6pPr>
            <a:lvl7pPr marL="29718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7pPr>
            <a:lvl8pPr marL="34290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8pPr>
            <a:lvl9pPr marL="38862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9pPr>
          </a:lstStyle>
          <a:p>
            <a:pPr algn="ctr" eaLnBrk="1" hangingPunct="1">
              <a:lnSpc>
                <a:spcPct val="100000"/>
              </a:lnSpc>
            </a:pPr>
            <a:endParaRPr kumimoji="1" lang="zh-CN" altLang="en-US" sz="2400" b="0">
              <a:solidFill>
                <a:schemeClr val="tx1"/>
              </a:solidFill>
              <a:latin typeface="Tahoma" panose="020B0604030504040204" pitchFamily="34" charset="0"/>
            </a:endParaRPr>
          </a:p>
        </p:txBody>
      </p:sp>
      <p:sp>
        <p:nvSpPr>
          <p:cNvPr id="1032" name="Rectangle 8"/>
          <p:cNvSpPr>
            <a:spLocks noChangeArrowheads="1"/>
          </p:cNvSpPr>
          <p:nvPr/>
        </p:nvSpPr>
        <p:spPr bwMode="gray">
          <a:xfrm>
            <a:off x="442915" y="1781175"/>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0000"/>
              </a:lnSpc>
              <a:defRPr sz="1400" b="1">
                <a:solidFill>
                  <a:schemeClr val="bg2"/>
                </a:solidFill>
                <a:latin typeface="Courier New" panose="02070309020205020404" pitchFamily="49" charset="0"/>
                <a:ea typeface="宋体" panose="02010600030101010101" pitchFamily="2" charset="-122"/>
              </a:defRPr>
            </a:lvl1pPr>
            <a:lvl2pPr marL="742950" indent="-285750">
              <a:lnSpc>
                <a:spcPct val="110000"/>
              </a:lnSpc>
              <a:defRPr sz="1400" b="1">
                <a:solidFill>
                  <a:schemeClr val="bg2"/>
                </a:solidFill>
                <a:latin typeface="Courier New" panose="02070309020205020404" pitchFamily="49" charset="0"/>
                <a:ea typeface="宋体" panose="02010600030101010101" pitchFamily="2" charset="-122"/>
              </a:defRPr>
            </a:lvl2pPr>
            <a:lvl3pPr marL="1143000" indent="-228600">
              <a:lnSpc>
                <a:spcPct val="110000"/>
              </a:lnSpc>
              <a:defRPr sz="1400" b="1">
                <a:solidFill>
                  <a:schemeClr val="bg2"/>
                </a:solidFill>
                <a:latin typeface="Courier New" panose="02070309020205020404" pitchFamily="49" charset="0"/>
                <a:ea typeface="宋体" panose="02010600030101010101" pitchFamily="2" charset="-122"/>
              </a:defRPr>
            </a:lvl3pPr>
            <a:lvl4pPr marL="1600200" indent="-228600">
              <a:lnSpc>
                <a:spcPct val="110000"/>
              </a:lnSpc>
              <a:defRPr sz="1400" b="1">
                <a:solidFill>
                  <a:schemeClr val="bg2"/>
                </a:solidFill>
                <a:latin typeface="Courier New" panose="02070309020205020404" pitchFamily="49" charset="0"/>
                <a:ea typeface="宋体" panose="02010600030101010101" pitchFamily="2" charset="-122"/>
              </a:defRPr>
            </a:lvl4pPr>
            <a:lvl5pPr marL="2057400" indent="-228600">
              <a:lnSpc>
                <a:spcPct val="110000"/>
              </a:lnSpc>
              <a:defRPr sz="1400" b="1">
                <a:solidFill>
                  <a:schemeClr val="bg2"/>
                </a:solidFill>
                <a:latin typeface="Courier New" panose="02070309020205020404" pitchFamily="49" charset="0"/>
                <a:ea typeface="宋体" panose="02010600030101010101" pitchFamily="2" charset="-122"/>
              </a:defRPr>
            </a:lvl5pPr>
            <a:lvl6pPr marL="25146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6pPr>
            <a:lvl7pPr marL="29718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7pPr>
            <a:lvl8pPr marL="34290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8pPr>
            <a:lvl9pPr marL="38862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9pPr>
          </a:lstStyle>
          <a:p>
            <a:pPr algn="ctr" eaLnBrk="1" hangingPunct="1">
              <a:lnSpc>
                <a:spcPct val="100000"/>
              </a:lnSpc>
            </a:pPr>
            <a:endParaRPr kumimoji="1" lang="zh-CN" altLang="en-US" sz="2400" b="0">
              <a:solidFill>
                <a:schemeClr val="tx1"/>
              </a:solidFill>
              <a:latin typeface="Tahoma" panose="020B0604030504040204" pitchFamily="34" charset="0"/>
            </a:endParaRPr>
          </a:p>
        </p:txBody>
      </p:sp>
      <p:sp>
        <p:nvSpPr>
          <p:cNvPr id="1033" name="Rectangle 9"/>
          <p:cNvSpPr>
            <a:spLocks noGrp="1" noChangeArrowheads="1"/>
          </p:cNvSpPr>
          <p:nvPr>
            <p:ph type="title"/>
          </p:nvPr>
        </p:nvSpPr>
        <p:spPr bwMode="auto">
          <a:xfrm>
            <a:off x="1150940" y="617538"/>
            <a:ext cx="7793037"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p>
            <a:pPr lvl="0"/>
            <a:r>
              <a:rPr lang="zh-CN" altLang="en-US"/>
              <a:t>单击此处编辑母版标题样式</a:t>
            </a:r>
            <a:endParaRPr lang="zh-CN" altLang="en-US"/>
          </a:p>
        </p:txBody>
      </p:sp>
      <p:sp>
        <p:nvSpPr>
          <p:cNvPr id="1034" name="Rectangle 10"/>
          <p:cNvSpPr>
            <a:spLocks noGrp="1" noChangeArrowheads="1"/>
          </p:cNvSpPr>
          <p:nvPr>
            <p:ph type="body" idx="1"/>
          </p:nvPr>
        </p:nvSpPr>
        <p:spPr bwMode="auto">
          <a:xfrm>
            <a:off x="1182688" y="2017713"/>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131" name="Rectangle 11"/>
          <p:cNvSpPr>
            <a:spLocks noGrp="1" noChangeArrowheads="1"/>
          </p:cNvSpPr>
          <p:nvPr>
            <p:ph type="dt" sz="half" idx="2"/>
          </p:nvPr>
        </p:nvSpPr>
        <p:spPr bwMode="auto">
          <a:xfrm>
            <a:off x="914400" y="63246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lnSpc>
                <a:spcPct val="100000"/>
              </a:lnSpc>
              <a:defRPr b="0">
                <a:solidFill>
                  <a:schemeClr val="tx1"/>
                </a:solidFill>
                <a:latin typeface="+mn-lt"/>
                <a:cs typeface="Courier New" panose="02070309020205020404" pitchFamily="49" charset="0"/>
              </a:defRPr>
            </a:lvl1pPr>
          </a:lstStyle>
          <a:p>
            <a:pPr>
              <a:defRPr/>
            </a:pPr>
            <a:endParaRPr lang="en-US" altLang="zh-CN"/>
          </a:p>
        </p:txBody>
      </p:sp>
      <p:sp>
        <p:nvSpPr>
          <p:cNvPr id="5132" name="Rectangle 12"/>
          <p:cNvSpPr>
            <a:spLocks noGrp="1" noChangeArrowheads="1"/>
          </p:cNvSpPr>
          <p:nvPr>
            <p:ph type="ftr" sz="quarter" idx="3"/>
          </p:nvPr>
        </p:nvSpPr>
        <p:spPr bwMode="auto">
          <a:xfrm>
            <a:off x="3352800" y="63246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ctr" eaLnBrk="1" hangingPunct="1">
              <a:lnSpc>
                <a:spcPct val="100000"/>
              </a:lnSpc>
              <a:defRPr b="0">
                <a:solidFill>
                  <a:schemeClr val="tx1"/>
                </a:solidFill>
                <a:latin typeface="+mn-lt"/>
                <a:cs typeface="Courier New" panose="02070309020205020404" pitchFamily="49" charset="0"/>
              </a:defRPr>
            </a:lvl1pPr>
          </a:lstStyle>
          <a:p>
            <a:pPr>
              <a:defRPr/>
            </a:pPr>
            <a:endParaRPr lang="en-US" altLang="zh-CN"/>
          </a:p>
        </p:txBody>
      </p:sp>
      <p:sp>
        <p:nvSpPr>
          <p:cNvPr id="5133" name="Rectangle 13"/>
          <p:cNvSpPr>
            <a:spLocks noGrp="1" noChangeArrowheads="1"/>
          </p:cNvSpPr>
          <p:nvPr>
            <p:ph type="sldNum" sz="quarter" idx="4"/>
          </p:nvPr>
        </p:nvSpPr>
        <p:spPr bwMode="auto">
          <a:xfrm>
            <a:off x="6781800" y="63246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lnSpc>
                <a:spcPct val="100000"/>
              </a:lnSpc>
              <a:defRPr b="0" smtClean="0">
                <a:solidFill>
                  <a:schemeClr val="tx1"/>
                </a:solidFill>
                <a:latin typeface="+mn-lt"/>
                <a:cs typeface="Courier New" panose="02070309020205020404" pitchFamily="49" charset="0"/>
              </a:defRPr>
            </a:lvl1pPr>
          </a:lstStyle>
          <a:p>
            <a:pPr>
              <a:defRPr/>
            </a:pPr>
            <a:fld id="{EF955F70-CEF2-447D-A318-6AF280D6B479}" type="slidenum">
              <a:rPr lang="zh-CN" altLang="en-US"/>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rtl="0" eaLnBrk="0" fontAlgn="base" hangingPunct="0">
        <a:spcBef>
          <a:spcPct val="0"/>
        </a:spcBef>
        <a:spcAft>
          <a:spcPct val="0"/>
        </a:spcAft>
        <a:defRPr kumimoji="1" sz="4400" kern="12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7" Type="http://schemas.openxmlformats.org/officeDocument/2006/relationships/notesSlide" Target="../notesSlides/notesSlide4.xml"/><Relationship Id="rId6" Type="http://schemas.openxmlformats.org/officeDocument/2006/relationships/slideLayout" Target="../slideLayouts/slideLayout12.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2.wmf"/><Relationship Id="rId1" Type="http://schemas.openxmlformats.org/officeDocument/2006/relationships/oleObject" Target="../embeddings/oleObject1.bin"/></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3.wmf"/><Relationship Id="rId1" Type="http://schemas.openxmlformats.org/officeDocument/2006/relationships/oleObject" Target="../embeddings/oleObject2.bin"/></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tags" Target="../tags/tag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5.wmf"/><Relationship Id="rId1" Type="http://schemas.openxmlformats.org/officeDocument/2006/relationships/oleObject" Target="../embeddings/oleObject3.bin"/></Relationships>
</file>

<file path=ppt/slides/_rels/slide17.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slideLayout" Target="../slideLayouts/slideLayout2.xml"/><Relationship Id="rId3" Type="http://schemas.openxmlformats.org/officeDocument/2006/relationships/image" Target="../media/image6.png"/><Relationship Id="rId2" Type="http://schemas.microsoft.com/office/2007/relationships/media" Target="../media/media1.mp4"/><Relationship Id="rId1" Type="http://schemas.openxmlformats.org/officeDocument/2006/relationships/video" Target="../media/media1.mp4"/></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7" Type="http://schemas.openxmlformats.org/officeDocument/2006/relationships/vmlDrawing" Target="../drawings/vmlDrawing4.vml"/><Relationship Id="rId6"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wmf"/><Relationship Id="rId3" Type="http://schemas.openxmlformats.org/officeDocument/2006/relationships/oleObject" Target="../embeddings/oleObject5.bin"/><Relationship Id="rId2" Type="http://schemas.openxmlformats.org/officeDocument/2006/relationships/image" Target="../media/image7.wmf"/><Relationship Id="rId1" Type="http://schemas.openxmlformats.org/officeDocument/2006/relationships/oleObject" Target="../embeddings/oleObject4.bin"/></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image" Target="../media/image10.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6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1.png"/><Relationship Id="rId1" Type="http://schemas.openxmlformats.org/officeDocument/2006/relationships/image" Target="../media/image20.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5" Type="http://schemas.openxmlformats.org/officeDocument/2006/relationships/notesSlide" Target="../notesSlides/notesSlide38.xml"/><Relationship Id="rId4" Type="http://schemas.openxmlformats.org/officeDocument/2006/relationships/vmlDrawing" Target="../drawings/vmlDrawing5.vml"/><Relationship Id="rId3" Type="http://schemas.openxmlformats.org/officeDocument/2006/relationships/slideLayout" Target="../slideLayouts/slideLayout2.xml"/><Relationship Id="rId2" Type="http://schemas.openxmlformats.org/officeDocument/2006/relationships/image" Target="../media/image22.wmf"/><Relationship Id="rId1" Type="http://schemas.openxmlformats.org/officeDocument/2006/relationships/oleObject" Target="../embeddings/oleObject6.bin"/></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2.xml"/><Relationship Id="rId2" Type="http://schemas.openxmlformats.org/officeDocument/2006/relationships/image" Target="../media/image23.wmf"/><Relationship Id="rId1" Type="http://schemas.openxmlformats.org/officeDocument/2006/relationships/oleObject" Target="../embeddings/oleObject7.bin"/></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70.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7" Type="http://schemas.openxmlformats.org/officeDocument/2006/relationships/notesSlide" Target="../notesSlides/notesSlide41.xml"/><Relationship Id="rId6" Type="http://schemas.openxmlformats.org/officeDocument/2006/relationships/vmlDrawing" Target="../drawings/vmlDrawing7.vml"/><Relationship Id="rId5" Type="http://schemas.openxmlformats.org/officeDocument/2006/relationships/slideLayout" Target="../slideLayouts/slideLayout2.xml"/><Relationship Id="rId4" Type="http://schemas.openxmlformats.org/officeDocument/2006/relationships/image" Target="../media/image28.wmf"/><Relationship Id="rId3" Type="http://schemas.openxmlformats.org/officeDocument/2006/relationships/oleObject" Target="../embeddings/oleObject9.bin"/><Relationship Id="rId2" Type="http://schemas.openxmlformats.org/officeDocument/2006/relationships/image" Target="../media/image27.wmf"/><Relationship Id="rId1" Type="http://schemas.openxmlformats.org/officeDocument/2006/relationships/oleObject" Target="../embeddings/oleObject8.bin"/></Relationships>
</file>

<file path=ppt/slides/_rels/slide74.xml.rels><?xml version="1.0" encoding="UTF-8" standalone="yes"?>
<Relationships xmlns="http://schemas.openxmlformats.org/package/2006/relationships"><Relationship Id="rId4" Type="http://schemas.openxmlformats.org/officeDocument/2006/relationships/notesSlide" Target="../notesSlides/notesSlide42.xml"/><Relationship Id="rId3" Type="http://schemas.openxmlformats.org/officeDocument/2006/relationships/slideLayout" Target="../slideLayouts/slideLayout2.xml"/><Relationship Id="rId2" Type="http://schemas.openxmlformats.org/officeDocument/2006/relationships/image" Target="../media/image30.png"/><Relationship Id="rId1" Type="http://schemas.openxmlformats.org/officeDocument/2006/relationships/image" Target="../media/image29.png"/></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2.xml"/><Relationship Id="rId1" Type="http://schemas.openxmlformats.org/officeDocument/2006/relationships/image" Target="../media/image3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6"/>
          <p:cNvSpPr>
            <a:spLocks noGrp="1" noChangeArrowheads="1"/>
          </p:cNvSpPr>
          <p:nvPr>
            <p:ph type="sldNum" sz="quarter" idx="12"/>
          </p:nvPr>
        </p:nvSpPr>
        <p:spPr/>
        <p:txBody>
          <a:bodyPr/>
          <a:lstStyle/>
          <a:p>
            <a:pPr>
              <a:defRPr/>
            </a:pPr>
            <a:fld id="{FCD8E019-C21C-4096-B238-429733D63DEF}" type="slidenum">
              <a:rPr lang="zh-CN" altLang="en-US"/>
            </a:fld>
            <a:endParaRPr lang="en-US" altLang="zh-CN"/>
          </a:p>
        </p:txBody>
      </p:sp>
      <p:sp>
        <p:nvSpPr>
          <p:cNvPr id="4099" name="Rectangle 2"/>
          <p:cNvSpPr>
            <a:spLocks noGrp="1" noChangeArrowheads="1"/>
          </p:cNvSpPr>
          <p:nvPr>
            <p:ph type="ctrTitle"/>
          </p:nvPr>
        </p:nvSpPr>
        <p:spPr/>
        <p:txBody>
          <a:bodyPr/>
          <a:lstStyle/>
          <a:p>
            <a:pPr eaLnBrk="1" hangingPunct="1"/>
            <a:r>
              <a:rPr lang="zh-CN" altLang="en-US"/>
              <a:t>第二章 算法分析基础</a:t>
            </a:r>
            <a:endParaRPr lang="zh-CN" altLang="en-US"/>
          </a:p>
        </p:txBody>
      </p:sp>
      <p:sp>
        <p:nvSpPr>
          <p:cNvPr id="4100" name="Rectangle 3"/>
          <p:cNvSpPr>
            <a:spLocks noGrp="1" noChangeArrowheads="1"/>
          </p:cNvSpPr>
          <p:nvPr>
            <p:ph type="subTitle" idx="1"/>
          </p:nvPr>
        </p:nvSpPr>
        <p:spPr/>
        <p:txBody>
          <a:bodyPr/>
          <a:lstStyle/>
          <a:p>
            <a:pPr eaLnBrk="1" hangingPunct="1"/>
            <a:r>
              <a:rPr lang="zh-CN" altLang="en-US" dirty="0"/>
              <a:t>乔亚琼</a:t>
            </a:r>
            <a:endParaRPr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r>
              <a:rPr lang="zh-CN" altLang="en-US" sz="2800" b="1" dirty="0">
                <a:solidFill>
                  <a:srgbClr val="0000FF"/>
                </a:solidFill>
              </a:rPr>
              <a:t>算法</a:t>
            </a:r>
            <a:r>
              <a:rPr lang="en-US" altLang="zh-CN" sz="2800" b="1" dirty="0">
                <a:solidFill>
                  <a:srgbClr val="0000FF"/>
                </a:solidFill>
              </a:rPr>
              <a:t>(Algorithm)</a:t>
            </a:r>
            <a:endParaRPr lang="en-US" altLang="zh-CN" sz="2800" b="1" dirty="0">
              <a:solidFill>
                <a:srgbClr val="0000FF"/>
              </a:solidFill>
            </a:endParaRPr>
          </a:p>
        </p:txBody>
      </p:sp>
      <p:sp>
        <p:nvSpPr>
          <p:cNvPr id="10243" name="Rectangle 3"/>
          <p:cNvSpPr>
            <a:spLocks noGrp="1" noChangeArrowheads="1"/>
          </p:cNvSpPr>
          <p:nvPr>
            <p:ph idx="1"/>
          </p:nvPr>
        </p:nvSpPr>
        <p:spPr>
          <a:xfrm>
            <a:off x="971600" y="2033588"/>
            <a:ext cx="7772400" cy="4824412"/>
          </a:xfrm>
        </p:spPr>
        <p:txBody>
          <a:bodyPr/>
          <a:lstStyle/>
          <a:p>
            <a:pPr>
              <a:lnSpc>
                <a:spcPct val="150000"/>
              </a:lnSpc>
              <a:buFont typeface="Wingdings" panose="05000000000000000000" pitchFamily="2" charset="2"/>
              <a:buChar char="p"/>
            </a:pPr>
            <a:r>
              <a:rPr lang="zh-CN" altLang="en-US" sz="2800" dirty="0"/>
              <a:t>算法是指</a:t>
            </a:r>
            <a:r>
              <a:rPr lang="zh-CN" altLang="en-US" sz="2800" b="1" dirty="0">
                <a:solidFill>
                  <a:srgbClr val="3907F1"/>
                </a:solidFill>
              </a:rPr>
              <a:t>解决问题的</a:t>
            </a:r>
            <a:r>
              <a:rPr lang="zh-CN" altLang="en-US" sz="2800" dirty="0"/>
              <a:t>一种</a:t>
            </a:r>
            <a:r>
              <a:rPr lang="zh-CN" altLang="en-US" sz="2800" b="1" dirty="0">
                <a:solidFill>
                  <a:srgbClr val="3907F1"/>
                </a:solidFill>
              </a:rPr>
              <a:t>方法</a:t>
            </a:r>
            <a:r>
              <a:rPr lang="zh-CN" altLang="en-US" sz="2800" dirty="0"/>
              <a:t>或一个</a:t>
            </a:r>
            <a:r>
              <a:rPr lang="zh-CN" altLang="en-US" sz="2800" b="1" dirty="0">
                <a:solidFill>
                  <a:srgbClr val="3907F1"/>
                </a:solidFill>
              </a:rPr>
              <a:t>过程</a:t>
            </a:r>
            <a:r>
              <a:rPr lang="zh-CN" altLang="en-US" sz="2800" dirty="0"/>
              <a:t>。</a:t>
            </a:r>
            <a:endParaRPr lang="zh-CN" altLang="en-US" sz="2800" dirty="0"/>
          </a:p>
          <a:p>
            <a:pPr>
              <a:lnSpc>
                <a:spcPct val="150000"/>
              </a:lnSpc>
              <a:buFont typeface="Wingdings" panose="05000000000000000000" pitchFamily="2" charset="2"/>
              <a:buChar char="p"/>
            </a:pPr>
            <a:r>
              <a:rPr lang="zh-CN" altLang="en-US" sz="2800" dirty="0"/>
              <a:t>算法是</a:t>
            </a:r>
            <a:r>
              <a:rPr lang="zh-CN" altLang="en-US" sz="2800" b="1" dirty="0">
                <a:solidFill>
                  <a:srgbClr val="3907F1"/>
                </a:solidFill>
              </a:rPr>
              <a:t>若干指令的有穷序列</a:t>
            </a:r>
            <a:r>
              <a:rPr lang="zh-CN" altLang="en-US" sz="2800" dirty="0"/>
              <a:t>，满足性质：</a:t>
            </a:r>
            <a:endParaRPr lang="zh-CN" altLang="en-US" sz="2800" dirty="0"/>
          </a:p>
          <a:p>
            <a:pPr marL="0" indent="0">
              <a:lnSpc>
                <a:spcPct val="150000"/>
              </a:lnSpc>
              <a:buNone/>
            </a:pPr>
            <a:r>
              <a:rPr lang="en-US" altLang="zh-CN" sz="2400" dirty="0"/>
              <a:t>(1)</a:t>
            </a:r>
            <a:r>
              <a:rPr lang="zh-CN" altLang="en-US" sz="2400" b="1" dirty="0">
                <a:solidFill>
                  <a:srgbClr val="3907F1"/>
                </a:solidFill>
              </a:rPr>
              <a:t>输入</a:t>
            </a:r>
            <a:r>
              <a:rPr lang="zh-CN" altLang="en-US" sz="2400" dirty="0"/>
              <a:t>：有外部提供的量作为算法的输入。</a:t>
            </a:r>
            <a:endParaRPr lang="zh-CN" altLang="en-US" sz="2400" dirty="0"/>
          </a:p>
          <a:p>
            <a:pPr marL="0" indent="0">
              <a:lnSpc>
                <a:spcPct val="150000"/>
              </a:lnSpc>
              <a:buNone/>
            </a:pPr>
            <a:r>
              <a:rPr lang="en-US" altLang="zh-CN" sz="2400" dirty="0"/>
              <a:t>(2)</a:t>
            </a:r>
            <a:r>
              <a:rPr lang="zh-CN" altLang="en-US" sz="2400" b="1" dirty="0">
                <a:solidFill>
                  <a:srgbClr val="3907F1"/>
                </a:solidFill>
              </a:rPr>
              <a:t>输出</a:t>
            </a:r>
            <a:r>
              <a:rPr lang="zh-CN" altLang="en-US" sz="2400" dirty="0"/>
              <a:t>：至少一个量作为输出。</a:t>
            </a:r>
            <a:endParaRPr lang="zh-CN" altLang="en-US" sz="2400" dirty="0"/>
          </a:p>
          <a:p>
            <a:pPr marL="0" indent="0">
              <a:lnSpc>
                <a:spcPct val="150000"/>
              </a:lnSpc>
              <a:buNone/>
            </a:pPr>
            <a:r>
              <a:rPr lang="en-US" altLang="zh-CN" sz="2400" dirty="0"/>
              <a:t>(3)</a:t>
            </a:r>
            <a:r>
              <a:rPr lang="zh-CN" altLang="en-US" sz="2400" b="1" dirty="0">
                <a:solidFill>
                  <a:srgbClr val="3907F1"/>
                </a:solidFill>
              </a:rPr>
              <a:t>确定性</a:t>
            </a:r>
            <a:r>
              <a:rPr lang="zh-CN" altLang="en-US" sz="2400" dirty="0"/>
              <a:t>：组成算法的每条指令是清晰，无歧义的。</a:t>
            </a:r>
            <a:endParaRPr lang="zh-CN" altLang="en-US" sz="2400" dirty="0"/>
          </a:p>
          <a:p>
            <a:pPr marL="0" indent="0">
              <a:lnSpc>
                <a:spcPct val="150000"/>
              </a:lnSpc>
              <a:buNone/>
            </a:pPr>
            <a:r>
              <a:rPr lang="en-US" altLang="zh-CN" sz="2400" dirty="0"/>
              <a:t>(4)</a:t>
            </a:r>
            <a:r>
              <a:rPr lang="zh-CN" altLang="en-US" sz="2400" b="1" dirty="0">
                <a:solidFill>
                  <a:srgbClr val="3907F1"/>
                </a:solidFill>
              </a:rPr>
              <a:t>有限性</a:t>
            </a:r>
            <a:r>
              <a:rPr lang="zh-CN" altLang="en-US" sz="2400" dirty="0"/>
              <a:t>：算法中每条指令的执行次数是有限的，执行每条指令的时间也是有限的。</a:t>
            </a:r>
            <a:endParaRPr lang="zh-CN" altLang="en-US" sz="2400" dirty="0"/>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p:txBody>
          <a:bodyPr/>
          <a:lstStyle/>
          <a:p>
            <a:r>
              <a:rPr lang="zh-CN" altLang="en-US" sz="2800" b="1" dirty="0">
                <a:solidFill>
                  <a:srgbClr val="0000FF"/>
                </a:solidFill>
              </a:rPr>
              <a:t>程序</a:t>
            </a:r>
            <a:r>
              <a:rPr lang="en-US" altLang="zh-CN" sz="2800" b="1" dirty="0">
                <a:solidFill>
                  <a:srgbClr val="0000FF"/>
                </a:solidFill>
              </a:rPr>
              <a:t>(Program)</a:t>
            </a:r>
            <a:endParaRPr lang="en-US" altLang="zh-CN" sz="2800" b="1" dirty="0">
              <a:solidFill>
                <a:srgbClr val="0000FF"/>
              </a:solidFill>
            </a:endParaRPr>
          </a:p>
        </p:txBody>
      </p:sp>
      <p:sp>
        <p:nvSpPr>
          <p:cNvPr id="83971" name="Rectangle 3"/>
          <p:cNvSpPr>
            <a:spLocks noGrp="1" noChangeArrowheads="1"/>
          </p:cNvSpPr>
          <p:nvPr>
            <p:ph idx="1"/>
          </p:nvPr>
        </p:nvSpPr>
        <p:spPr>
          <a:xfrm>
            <a:off x="899592" y="1765432"/>
            <a:ext cx="7772400" cy="4752975"/>
          </a:xfrm>
        </p:spPr>
        <p:txBody>
          <a:bodyPr/>
          <a:lstStyle/>
          <a:p>
            <a:pPr>
              <a:lnSpc>
                <a:spcPct val="150000"/>
              </a:lnSpc>
              <a:buFont typeface="Wingdings" panose="05000000000000000000" pitchFamily="2" charset="2"/>
              <a:buChar char="p"/>
            </a:pPr>
            <a:r>
              <a:rPr lang="zh-CN" altLang="en-US" sz="2800" dirty="0"/>
              <a:t>程序是</a:t>
            </a:r>
            <a:r>
              <a:rPr lang="zh-CN" altLang="en-US" sz="2800" b="1" dirty="0">
                <a:solidFill>
                  <a:srgbClr val="0000FF"/>
                </a:solidFill>
                <a:latin typeface="+mj-lt"/>
                <a:ea typeface="+mj-ea"/>
                <a:cs typeface="+mj-cs"/>
              </a:rPr>
              <a:t>算法</a:t>
            </a:r>
            <a:r>
              <a:rPr lang="zh-CN" altLang="en-US" sz="2800" dirty="0"/>
              <a:t>用某种程序设计语言的</a:t>
            </a:r>
            <a:r>
              <a:rPr lang="zh-CN" altLang="en-US" sz="2800" b="1" dirty="0">
                <a:solidFill>
                  <a:srgbClr val="0000FF"/>
                </a:solidFill>
                <a:latin typeface="+mj-lt"/>
                <a:ea typeface="+mj-ea"/>
                <a:cs typeface="+mj-cs"/>
              </a:rPr>
              <a:t>具体实现</a:t>
            </a:r>
            <a:r>
              <a:rPr lang="zh-CN" altLang="en-US" sz="2800" dirty="0"/>
              <a:t>。</a:t>
            </a:r>
            <a:endParaRPr lang="zh-CN" altLang="en-US" sz="2800" dirty="0"/>
          </a:p>
          <a:p>
            <a:pPr>
              <a:lnSpc>
                <a:spcPct val="150000"/>
              </a:lnSpc>
              <a:buFont typeface="Wingdings" panose="05000000000000000000" pitchFamily="2" charset="2"/>
              <a:buChar char="p"/>
            </a:pPr>
            <a:r>
              <a:rPr lang="zh-CN" altLang="en-US" sz="2800" dirty="0"/>
              <a:t>程序可以不满足算法的性质</a:t>
            </a:r>
            <a:r>
              <a:rPr lang="en-US" altLang="zh-CN" sz="2800" dirty="0"/>
              <a:t>(4) </a:t>
            </a:r>
            <a:r>
              <a:rPr lang="zh-CN" altLang="en-US" sz="2800" dirty="0"/>
              <a:t>有限性。</a:t>
            </a:r>
            <a:endParaRPr lang="zh-CN" altLang="en-US" sz="2800" dirty="0"/>
          </a:p>
          <a:p>
            <a:pPr>
              <a:lnSpc>
                <a:spcPct val="150000"/>
              </a:lnSpc>
            </a:pPr>
            <a:r>
              <a:rPr lang="zh-CN" altLang="en-US" sz="2600" dirty="0"/>
              <a:t>例如操作系统，是一个在无限循环中执行的程序，因而不是一个算法。</a:t>
            </a:r>
            <a:endParaRPr lang="zh-CN" altLang="en-US" sz="2600" dirty="0"/>
          </a:p>
          <a:p>
            <a:pPr>
              <a:lnSpc>
                <a:spcPct val="150000"/>
              </a:lnSpc>
            </a:pPr>
            <a:r>
              <a:rPr lang="zh-CN" altLang="en-US" sz="2600" dirty="0"/>
              <a:t>操作系统的各种任务可看成是单独的问题，每一个问题由操作系统中的一个子程序通过特定的算法来实现。该子程序得到输出结果后便终止。</a:t>
            </a:r>
            <a:endParaRPr lang="zh-CN" altLang="en-US" sz="2600" dirty="0"/>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p:cNvSpPr>
            <a:spLocks noGrp="1" noChangeArrowheads="1"/>
          </p:cNvSpPr>
          <p:nvPr>
            <p:ph type="title"/>
          </p:nvPr>
        </p:nvSpPr>
        <p:spPr>
          <a:xfrm>
            <a:off x="1259632" y="760417"/>
            <a:ext cx="8229600" cy="655637"/>
          </a:xfrm>
        </p:spPr>
        <p:txBody>
          <a:bodyPr/>
          <a:lstStyle/>
          <a:p>
            <a:r>
              <a:rPr lang="zh-CN" altLang="en-US" sz="2800" b="1" dirty="0">
                <a:solidFill>
                  <a:srgbClr val="0000FF"/>
                </a:solidFill>
              </a:rPr>
              <a:t>问题求解</a:t>
            </a:r>
            <a:r>
              <a:rPr lang="en-US" altLang="zh-CN" sz="2800" b="1" dirty="0">
                <a:solidFill>
                  <a:srgbClr val="0000FF"/>
                </a:solidFill>
              </a:rPr>
              <a:t>(Problem Solving)</a:t>
            </a:r>
            <a:endParaRPr lang="en-US" altLang="zh-CN" sz="2800" b="1" dirty="0">
              <a:solidFill>
                <a:srgbClr val="0000FF"/>
              </a:solidFill>
            </a:endParaRPr>
          </a:p>
        </p:txBody>
      </p:sp>
      <p:grpSp>
        <p:nvGrpSpPr>
          <p:cNvPr id="2" name="Organization Chart 9"/>
          <p:cNvGrpSpPr/>
          <p:nvPr/>
        </p:nvGrpSpPr>
        <p:grpSpPr bwMode="auto">
          <a:xfrm>
            <a:off x="1187454" y="1484019"/>
            <a:ext cx="7732713" cy="5113337"/>
            <a:chOff x="791" y="1077"/>
            <a:chExt cx="4871" cy="4673"/>
          </a:xfrm>
        </p:grpSpPr>
        <p:graphicFrame>
          <p:nvGraphicFramePr>
            <p:cNvPr id="6" name="图示 5"/>
            <p:cNvGraphicFramePr/>
            <p:nvPr/>
          </p:nvGraphicFramePr>
          <p:xfrm>
            <a:off x="791" y="1077"/>
            <a:ext cx="4871" cy="4673"/>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3" name="Rectangle 72"/>
            <p:cNvSpPr>
              <a:spLocks noChangeArrowheads="1"/>
            </p:cNvSpPr>
            <p:nvPr/>
          </p:nvSpPr>
          <p:spPr bwMode="auto">
            <a:xfrm>
              <a:off x="2469" y="4038"/>
              <a:ext cx="1134" cy="396"/>
            </a:xfrm>
            <a:prstGeom prst="rect">
              <a:avLst/>
            </a:prstGeom>
            <a:solidFill>
              <a:schemeClr val="bg1"/>
            </a:solidFill>
            <a:ln w="25400">
              <a:solidFill>
                <a:srgbClr val="008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lstStyle/>
            <a:p>
              <a:pPr algn="ctr" eaLnBrk="1" hangingPunct="1"/>
              <a:r>
                <a:rPr kumimoji="1" lang="zh-CN" altLang="en-US" sz="2000" b="0">
                  <a:solidFill>
                    <a:srgbClr val="3907F1"/>
                  </a:solidFill>
                  <a:latin typeface="Arial" panose="020B0604020202020204" pitchFamily="34" charset="0"/>
                </a:rPr>
                <a:t>证明正确性</a:t>
              </a:r>
              <a:endParaRPr kumimoji="1" lang="zh-CN" altLang="en-US" sz="2000" b="0">
                <a:solidFill>
                  <a:srgbClr val="3907F1"/>
                </a:solidFill>
                <a:latin typeface="Arial" panose="020B0604020202020204" pitchFamily="34" charset="0"/>
              </a:endParaRPr>
            </a:p>
          </p:txBody>
        </p:sp>
        <p:sp>
          <p:nvSpPr>
            <p:cNvPr id="4" name="Rectangle 73"/>
            <p:cNvSpPr>
              <a:spLocks noChangeArrowheads="1"/>
            </p:cNvSpPr>
            <p:nvPr/>
          </p:nvSpPr>
          <p:spPr bwMode="auto">
            <a:xfrm>
              <a:off x="2469" y="4696"/>
              <a:ext cx="1134" cy="396"/>
            </a:xfrm>
            <a:prstGeom prst="rect">
              <a:avLst/>
            </a:prstGeom>
            <a:solidFill>
              <a:schemeClr val="bg1"/>
            </a:solidFill>
            <a:ln w="25400">
              <a:solidFill>
                <a:srgbClr val="008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lstStyle/>
            <a:p>
              <a:pPr algn="ctr" eaLnBrk="1" hangingPunct="1"/>
              <a:r>
                <a:rPr kumimoji="1" lang="zh-CN" altLang="en-US" sz="2000" b="0">
                  <a:solidFill>
                    <a:srgbClr val="3907F1"/>
                  </a:solidFill>
                  <a:latin typeface="Arial" panose="020B0604020202020204" pitchFamily="34" charset="0"/>
                </a:rPr>
                <a:t>分析算法</a:t>
              </a:r>
              <a:endParaRPr kumimoji="1" lang="zh-CN" altLang="en-US" sz="2000" b="0">
                <a:solidFill>
                  <a:srgbClr val="3907F1"/>
                </a:solidFill>
                <a:latin typeface="Arial" panose="020B0604020202020204" pitchFamily="34" charset="0"/>
              </a:endParaRPr>
            </a:p>
          </p:txBody>
        </p:sp>
        <p:sp>
          <p:nvSpPr>
            <p:cNvPr id="5" name="Rectangle 74"/>
            <p:cNvSpPr>
              <a:spLocks noChangeArrowheads="1"/>
            </p:cNvSpPr>
            <p:nvPr/>
          </p:nvSpPr>
          <p:spPr bwMode="auto">
            <a:xfrm>
              <a:off x="2469" y="5354"/>
              <a:ext cx="1134" cy="396"/>
            </a:xfrm>
            <a:prstGeom prst="rect">
              <a:avLst/>
            </a:prstGeom>
            <a:solidFill>
              <a:schemeClr val="bg1"/>
            </a:solidFill>
            <a:ln w="25400">
              <a:solidFill>
                <a:srgbClr val="008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lstStyle/>
            <a:p>
              <a:pPr algn="ctr" eaLnBrk="1" hangingPunct="1"/>
              <a:r>
                <a:rPr kumimoji="1" lang="zh-CN" altLang="en-US" sz="2000" b="0">
                  <a:solidFill>
                    <a:srgbClr val="3907F1"/>
                  </a:solidFill>
                  <a:latin typeface="Arial" panose="020B0604020202020204" pitchFamily="34" charset="0"/>
                </a:rPr>
                <a:t>设计程序</a:t>
              </a:r>
              <a:endParaRPr kumimoji="1" lang="zh-CN" altLang="en-US" sz="2000" b="0">
                <a:solidFill>
                  <a:srgbClr val="3907F1"/>
                </a:solidFill>
                <a:latin typeface="Arial" panose="020B0604020202020204" pitchFamily="34" charset="0"/>
              </a:endParaRPr>
            </a:p>
          </p:txBody>
        </p:sp>
      </p:grpSp>
      <p:sp>
        <p:nvSpPr>
          <p:cNvPr id="132164" name="Oval 68"/>
          <p:cNvSpPr>
            <a:spLocks noChangeArrowheads="1"/>
          </p:cNvSpPr>
          <p:nvPr/>
        </p:nvSpPr>
        <p:spPr bwMode="auto">
          <a:xfrm>
            <a:off x="3708404" y="1844129"/>
            <a:ext cx="2016125" cy="431800"/>
          </a:xfrm>
          <a:prstGeom prst="ellipse">
            <a:avLst/>
          </a:prstGeom>
          <a:solidFill>
            <a:schemeClr val="bg1"/>
          </a:solidFill>
          <a:ln w="25400">
            <a:solidFill>
              <a:srgbClr val="008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dirty="0">
                <a:solidFill>
                  <a:srgbClr val="3907F1"/>
                </a:solidFill>
              </a:rPr>
              <a:t>理解问题</a:t>
            </a:r>
            <a:endParaRPr kumimoji="1" lang="zh-CN" altLang="en-US" sz="2000" dirty="0">
              <a:solidFill>
                <a:srgbClr val="3907F1"/>
              </a:solidFill>
            </a:endParaRPr>
          </a:p>
        </p:txBody>
      </p:sp>
      <p:sp>
        <p:nvSpPr>
          <p:cNvPr id="132166" name="Oval 70"/>
          <p:cNvSpPr>
            <a:spLocks noChangeArrowheads="1"/>
          </p:cNvSpPr>
          <p:nvPr/>
        </p:nvSpPr>
        <p:spPr bwMode="auto">
          <a:xfrm>
            <a:off x="3132142" y="2493420"/>
            <a:ext cx="3095625" cy="1223963"/>
          </a:xfrm>
          <a:prstGeom prst="ellipse">
            <a:avLst/>
          </a:prstGeom>
          <a:solidFill>
            <a:schemeClr val="bg1"/>
          </a:solidFill>
          <a:ln w="25400">
            <a:solidFill>
              <a:srgbClr val="008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dirty="0">
                <a:solidFill>
                  <a:srgbClr val="3907F1"/>
                </a:solidFill>
              </a:rPr>
              <a:t>精确解或近似解</a:t>
            </a:r>
            <a:endParaRPr kumimoji="1" lang="zh-CN" altLang="en-US" sz="2000" dirty="0">
              <a:solidFill>
                <a:srgbClr val="3907F1"/>
              </a:solidFill>
            </a:endParaRPr>
          </a:p>
          <a:p>
            <a:pPr algn="ctr"/>
            <a:r>
              <a:rPr kumimoji="1" lang="zh-CN" altLang="en-US" sz="2000" dirty="0">
                <a:solidFill>
                  <a:srgbClr val="3907F1"/>
                </a:solidFill>
              </a:rPr>
              <a:t>选择数据结构</a:t>
            </a:r>
            <a:endParaRPr kumimoji="1" lang="zh-CN" altLang="en-US" sz="2000" dirty="0">
              <a:solidFill>
                <a:srgbClr val="3907F1"/>
              </a:solidFill>
            </a:endParaRPr>
          </a:p>
          <a:p>
            <a:pPr algn="ctr"/>
            <a:r>
              <a:rPr kumimoji="1" lang="zh-CN" altLang="en-US" sz="2000" dirty="0">
                <a:solidFill>
                  <a:srgbClr val="3907F1"/>
                </a:solidFill>
              </a:rPr>
              <a:t>算法设计策略</a:t>
            </a:r>
            <a:endParaRPr kumimoji="1" lang="zh-CN" altLang="en-US" sz="2000" dirty="0"/>
          </a:p>
        </p:txBody>
      </p:sp>
      <p:sp>
        <p:nvSpPr>
          <p:cNvPr id="132171" name="Rectangle 75"/>
          <p:cNvSpPr>
            <a:spLocks noChangeArrowheads="1"/>
          </p:cNvSpPr>
          <p:nvPr/>
        </p:nvSpPr>
        <p:spPr bwMode="auto">
          <a:xfrm>
            <a:off x="3851279" y="4004716"/>
            <a:ext cx="1800225" cy="433388"/>
          </a:xfrm>
          <a:prstGeom prst="rect">
            <a:avLst/>
          </a:prstGeom>
          <a:solidFill>
            <a:schemeClr val="bg1"/>
          </a:solidFill>
          <a:ln w="25400">
            <a:solidFill>
              <a:srgbClr val="008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907F1"/>
                </a:solidFill>
              </a:rPr>
              <a:t>设计算法</a:t>
            </a:r>
            <a:endParaRPr kumimoji="1" lang="zh-CN" altLang="en-US" sz="2000">
              <a:solidFill>
                <a:srgbClr val="3907F1"/>
              </a:solidFill>
            </a:endParaRPr>
          </a:p>
        </p:txBody>
      </p:sp>
      <p:sp>
        <p:nvSpPr>
          <p:cNvPr id="132172" name="Line 76"/>
          <p:cNvSpPr>
            <a:spLocks noChangeShapeType="1"/>
          </p:cNvSpPr>
          <p:nvPr/>
        </p:nvSpPr>
        <p:spPr bwMode="auto">
          <a:xfrm>
            <a:off x="4716463" y="2277516"/>
            <a:ext cx="0" cy="21590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32174" name="Line 78"/>
          <p:cNvSpPr>
            <a:spLocks noChangeShapeType="1"/>
          </p:cNvSpPr>
          <p:nvPr/>
        </p:nvSpPr>
        <p:spPr bwMode="auto">
          <a:xfrm>
            <a:off x="4716463" y="4436520"/>
            <a:ext cx="0" cy="288925"/>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32177" name="Line 81"/>
          <p:cNvSpPr>
            <a:spLocks noChangeShapeType="1"/>
          </p:cNvSpPr>
          <p:nvPr/>
        </p:nvSpPr>
        <p:spPr bwMode="auto">
          <a:xfrm>
            <a:off x="4716463" y="3717383"/>
            <a:ext cx="0" cy="287337"/>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32178" name="Line 82"/>
          <p:cNvSpPr>
            <a:spLocks noChangeShapeType="1"/>
          </p:cNvSpPr>
          <p:nvPr/>
        </p:nvSpPr>
        <p:spPr bwMode="auto">
          <a:xfrm>
            <a:off x="4716463" y="5157241"/>
            <a:ext cx="0" cy="287338"/>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32181" name="Line 85"/>
          <p:cNvSpPr>
            <a:spLocks noChangeShapeType="1"/>
          </p:cNvSpPr>
          <p:nvPr/>
        </p:nvSpPr>
        <p:spPr bwMode="auto">
          <a:xfrm>
            <a:off x="4716463" y="5877966"/>
            <a:ext cx="0" cy="287338"/>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32182" name="Line 86"/>
          <p:cNvSpPr>
            <a:spLocks noChangeShapeType="1"/>
          </p:cNvSpPr>
          <p:nvPr/>
        </p:nvSpPr>
        <p:spPr bwMode="auto">
          <a:xfrm flipH="1">
            <a:off x="2627317" y="3141116"/>
            <a:ext cx="504825" cy="0"/>
          </a:xfrm>
          <a:prstGeom prst="line">
            <a:avLst/>
          </a:prstGeom>
          <a:noFill/>
          <a:ln w="28575">
            <a:solidFill>
              <a:schemeClr val="tx1"/>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32183" name="Line 87"/>
          <p:cNvSpPr>
            <a:spLocks noChangeShapeType="1"/>
          </p:cNvSpPr>
          <p:nvPr/>
        </p:nvSpPr>
        <p:spPr bwMode="auto">
          <a:xfrm>
            <a:off x="6227763" y="3068091"/>
            <a:ext cx="431800" cy="0"/>
          </a:xfrm>
          <a:prstGeom prst="line">
            <a:avLst/>
          </a:prstGeom>
          <a:noFill/>
          <a:ln w="28575">
            <a:solidFill>
              <a:schemeClr val="tx1"/>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32184" name="Line 88"/>
          <p:cNvSpPr>
            <a:spLocks noChangeShapeType="1"/>
          </p:cNvSpPr>
          <p:nvPr/>
        </p:nvSpPr>
        <p:spPr bwMode="auto">
          <a:xfrm>
            <a:off x="2627313" y="3141120"/>
            <a:ext cx="0" cy="1008063"/>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32185" name="Line 89"/>
          <p:cNvSpPr>
            <a:spLocks noChangeShapeType="1"/>
          </p:cNvSpPr>
          <p:nvPr/>
        </p:nvSpPr>
        <p:spPr bwMode="auto">
          <a:xfrm>
            <a:off x="2627313" y="4149179"/>
            <a:ext cx="1223962"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32186" name="Line 90"/>
          <p:cNvSpPr>
            <a:spLocks noChangeShapeType="1"/>
          </p:cNvSpPr>
          <p:nvPr/>
        </p:nvSpPr>
        <p:spPr bwMode="auto">
          <a:xfrm>
            <a:off x="6659563" y="3068091"/>
            <a:ext cx="0" cy="1081088"/>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32187" name="Line 91"/>
          <p:cNvSpPr>
            <a:spLocks noChangeShapeType="1"/>
          </p:cNvSpPr>
          <p:nvPr/>
        </p:nvSpPr>
        <p:spPr bwMode="auto">
          <a:xfrm flipH="1">
            <a:off x="5651504" y="4149179"/>
            <a:ext cx="1008063"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32188" name="Line 92"/>
          <p:cNvSpPr>
            <a:spLocks noChangeShapeType="1"/>
          </p:cNvSpPr>
          <p:nvPr/>
        </p:nvSpPr>
        <p:spPr bwMode="auto">
          <a:xfrm>
            <a:off x="5651504" y="5660479"/>
            <a:ext cx="504825"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32189" name="Line 93"/>
          <p:cNvSpPr>
            <a:spLocks noChangeShapeType="1"/>
          </p:cNvSpPr>
          <p:nvPr/>
        </p:nvSpPr>
        <p:spPr bwMode="auto">
          <a:xfrm flipV="1">
            <a:off x="6156325" y="4149179"/>
            <a:ext cx="0" cy="151130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32190" name="Line 94"/>
          <p:cNvSpPr>
            <a:spLocks noChangeShapeType="1"/>
          </p:cNvSpPr>
          <p:nvPr/>
        </p:nvSpPr>
        <p:spPr bwMode="auto">
          <a:xfrm>
            <a:off x="3132138" y="4149179"/>
            <a:ext cx="0" cy="792162"/>
          </a:xfrm>
          <a:prstGeom prst="line">
            <a:avLst/>
          </a:prstGeom>
          <a:noFill/>
          <a:ln w="28575">
            <a:solidFill>
              <a:schemeClr val="tx1"/>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32191" name="Line 95"/>
          <p:cNvSpPr>
            <a:spLocks noChangeShapeType="1"/>
          </p:cNvSpPr>
          <p:nvPr/>
        </p:nvSpPr>
        <p:spPr bwMode="auto">
          <a:xfrm>
            <a:off x="3132142" y="4941341"/>
            <a:ext cx="719137"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C8302AD3-B3B8-42AF-BC58-7E11726F9357}" type="slidenum">
              <a:rPr lang="zh-CN" altLang="en-US"/>
            </a:fld>
            <a:endParaRPr lang="en-US" altLang="zh-CN"/>
          </a:p>
        </p:txBody>
      </p:sp>
      <p:sp>
        <p:nvSpPr>
          <p:cNvPr id="5123" name="Rectangle 2"/>
          <p:cNvSpPr>
            <a:spLocks noGrp="1" noChangeArrowheads="1"/>
          </p:cNvSpPr>
          <p:nvPr>
            <p:ph type="title"/>
          </p:nvPr>
        </p:nvSpPr>
        <p:spPr/>
        <p:txBody>
          <a:bodyPr/>
          <a:lstStyle/>
          <a:p>
            <a:pPr eaLnBrk="1" hangingPunct="1"/>
            <a:r>
              <a:rPr lang="zh-CN" altLang="en-US"/>
              <a:t>算法分析</a:t>
            </a:r>
            <a:endParaRPr lang="zh-CN" altLang="en-US"/>
          </a:p>
        </p:txBody>
      </p:sp>
      <p:sp>
        <p:nvSpPr>
          <p:cNvPr id="5124" name="Rectangle 3"/>
          <p:cNvSpPr>
            <a:spLocks noGrp="1" noChangeArrowheads="1"/>
          </p:cNvSpPr>
          <p:nvPr>
            <p:ph type="body" idx="1"/>
          </p:nvPr>
        </p:nvSpPr>
        <p:spPr/>
        <p:txBody>
          <a:bodyPr/>
          <a:lstStyle/>
          <a:p>
            <a:pPr eaLnBrk="1" hangingPunct="1"/>
            <a:r>
              <a:rPr lang="zh-CN" altLang="en-US" dirty="0"/>
              <a:t>什么叫一个算法好，运行的有效率？</a:t>
            </a:r>
            <a:endParaRPr lang="zh-CN" altLang="en-US" dirty="0"/>
          </a:p>
          <a:p>
            <a:pPr eaLnBrk="1" hangingPunct="1"/>
            <a:endParaRPr lang="zh-CN" altLang="en-US" dirty="0"/>
          </a:p>
          <a:p>
            <a:pPr eaLnBrk="1" hangingPunct="1"/>
            <a:endParaRPr lang="zh-CN" altLang="en-US" dirty="0"/>
          </a:p>
          <a:p>
            <a:pPr eaLnBrk="1" hangingPunct="1"/>
            <a:r>
              <a:rPr lang="zh-CN" altLang="en-US" dirty="0"/>
              <a:t>概念设计：</a:t>
            </a:r>
            <a:r>
              <a:rPr lang="zh-CN" altLang="en-US" dirty="0">
                <a:solidFill>
                  <a:schemeClr val="hlink"/>
                </a:solidFill>
              </a:rPr>
              <a:t>效率</a:t>
            </a:r>
            <a:endParaRPr lang="zh-CN" altLang="en-US" dirty="0">
              <a:solidFill>
                <a:schemeClr val="hlink"/>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C89695E6-520E-4019-B24A-EB804A2D616F}" type="slidenum">
              <a:rPr lang="zh-CN" altLang="en-US"/>
            </a:fld>
            <a:endParaRPr lang="en-US" altLang="zh-CN"/>
          </a:p>
        </p:txBody>
      </p:sp>
      <p:sp>
        <p:nvSpPr>
          <p:cNvPr id="6147" name="Rectangle 2"/>
          <p:cNvSpPr>
            <a:spLocks noGrp="1" noChangeArrowheads="1"/>
          </p:cNvSpPr>
          <p:nvPr>
            <p:ph type="title"/>
          </p:nvPr>
        </p:nvSpPr>
        <p:spPr/>
        <p:txBody>
          <a:bodyPr/>
          <a:lstStyle/>
          <a:p>
            <a:pPr eaLnBrk="1" hangingPunct="1"/>
            <a:r>
              <a:rPr lang="zh-CN" altLang="en-US"/>
              <a:t>定义效率</a:t>
            </a:r>
            <a:endParaRPr lang="zh-CN" altLang="en-US"/>
          </a:p>
        </p:txBody>
      </p:sp>
      <p:sp>
        <p:nvSpPr>
          <p:cNvPr id="7171" name="Rectangle 3"/>
          <p:cNvSpPr>
            <a:spLocks noGrp="1" noChangeArrowheads="1"/>
          </p:cNvSpPr>
          <p:nvPr>
            <p:ph type="body" idx="1"/>
          </p:nvPr>
        </p:nvSpPr>
        <p:spPr>
          <a:xfrm>
            <a:off x="925191" y="2007711"/>
            <a:ext cx="7772400" cy="4114800"/>
          </a:xfrm>
        </p:spPr>
        <p:txBody>
          <a:bodyPr/>
          <a:lstStyle/>
          <a:p>
            <a:pPr eaLnBrk="1" hangingPunct="1"/>
            <a:r>
              <a:rPr lang="zh-CN" altLang="en-US" dirty="0"/>
              <a:t>效率定义(1) ：当实现一个算法时，如果它在</a:t>
            </a:r>
            <a:r>
              <a:rPr lang="zh-CN" altLang="en-US" dirty="0">
                <a:solidFill>
                  <a:srgbClr val="FF0000"/>
                </a:solidFill>
              </a:rPr>
              <a:t>真实的输入实例</a:t>
            </a:r>
            <a:r>
              <a:rPr lang="zh-CN" altLang="en-US" dirty="0"/>
              <a:t>上运行的快，那么这个算法是有效的。</a:t>
            </a:r>
            <a:endParaRPr lang="zh-CN" altLang="en-US" dirty="0"/>
          </a:p>
          <a:p>
            <a:pPr eaLnBrk="1" hangingPunct="1"/>
            <a:endParaRPr lang="zh-CN" altLang="en-US" dirty="0"/>
          </a:p>
          <a:p>
            <a:pPr eaLnBrk="1" hangingPunct="1"/>
            <a:r>
              <a:rPr lang="zh-CN" altLang="en-US" dirty="0"/>
              <a:t>寻找效率的定义：与</a:t>
            </a:r>
            <a:r>
              <a:rPr lang="zh-CN" altLang="en-US" dirty="0">
                <a:solidFill>
                  <a:srgbClr val="FF0000"/>
                </a:solidFill>
              </a:rPr>
              <a:t>平台</a:t>
            </a:r>
            <a:r>
              <a:rPr lang="zh-CN" altLang="en-US" dirty="0"/>
              <a:t>无关，</a:t>
            </a:r>
            <a:r>
              <a:rPr lang="zh-CN" altLang="en-US" dirty="0">
                <a:solidFill>
                  <a:srgbClr val="FF0000"/>
                </a:solidFill>
              </a:rPr>
              <a:t>实例</a:t>
            </a:r>
            <a:r>
              <a:rPr lang="zh-CN" altLang="en-US" dirty="0"/>
              <a:t>无关，并且随着</a:t>
            </a:r>
            <a:r>
              <a:rPr lang="zh-CN" altLang="en-US" dirty="0">
                <a:solidFill>
                  <a:srgbClr val="FF0000"/>
                </a:solidFill>
              </a:rPr>
              <a:t>输入规模</a:t>
            </a:r>
            <a:r>
              <a:rPr lang="zh-CN" altLang="en-US" dirty="0"/>
              <a:t>的增长是可以预测的</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171">
                                            <p:txEl>
                                              <p:pRg st="0" end="0"/>
                                            </p:txEl>
                                          </p:spTgt>
                                        </p:tgtEl>
                                        <p:attrNameLst>
                                          <p:attrName>style.visibility</p:attrName>
                                        </p:attrNameLst>
                                      </p:cBhvr>
                                      <p:to>
                                        <p:strVal val="visible"/>
                                      </p:to>
                                    </p:set>
                                    <p:anim calcmode="lin" valueType="num">
                                      <p:cBhvr additive="base">
                                        <p:cTn id="7" dur="500" fill="hold"/>
                                        <p:tgtEl>
                                          <p:spTgt spid="717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717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7171">
                                            <p:txEl>
                                              <p:pRg st="2" end="2"/>
                                            </p:txEl>
                                          </p:spTgt>
                                        </p:tgtEl>
                                        <p:attrNameLst>
                                          <p:attrName>style.visibility</p:attrName>
                                        </p:attrNameLst>
                                      </p:cBhvr>
                                      <p:to>
                                        <p:strVal val="visible"/>
                                      </p:to>
                                    </p:set>
                                    <p:anim calcmode="lin" valueType="num">
                                      <p:cBhvr additive="base">
                                        <p:cTn id="13" dur="500" fill="hold"/>
                                        <p:tgtEl>
                                          <p:spTgt spid="7171">
                                            <p:txEl>
                                              <p:pRg st="2" end="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7171">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autoUpdateAnimBg="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CA0F21CC-7016-481A-BBAD-7417D169A9AA}" type="slidenum">
              <a:rPr lang="zh-CN" altLang="en-US"/>
            </a:fld>
            <a:endParaRPr lang="en-US" altLang="zh-CN"/>
          </a:p>
        </p:txBody>
      </p:sp>
      <p:sp>
        <p:nvSpPr>
          <p:cNvPr id="7171" name="Rectangle 2"/>
          <p:cNvSpPr>
            <a:spLocks noGrp="1" noChangeArrowheads="1"/>
          </p:cNvSpPr>
          <p:nvPr>
            <p:ph type="title"/>
          </p:nvPr>
        </p:nvSpPr>
        <p:spPr/>
        <p:txBody>
          <a:bodyPr/>
          <a:lstStyle/>
          <a:p>
            <a:pPr eaLnBrk="1" hangingPunct="1"/>
            <a:r>
              <a:rPr lang="zh-CN" altLang="en-US" dirty="0"/>
              <a:t>定义效率</a:t>
            </a:r>
            <a:endParaRPr lang="zh-CN" altLang="en-US" dirty="0"/>
          </a:p>
        </p:txBody>
      </p:sp>
      <p:sp>
        <p:nvSpPr>
          <p:cNvPr id="7172" name="Rectangle 3"/>
          <p:cNvSpPr>
            <a:spLocks noGrp="1" noChangeArrowheads="1"/>
          </p:cNvSpPr>
          <p:nvPr>
            <p:ph type="body" idx="1"/>
          </p:nvPr>
        </p:nvSpPr>
        <p:spPr>
          <a:xfrm>
            <a:off x="528441" y="1844824"/>
            <a:ext cx="8415536" cy="4114800"/>
          </a:xfrm>
        </p:spPr>
        <p:txBody>
          <a:bodyPr/>
          <a:lstStyle/>
          <a:p>
            <a:pPr eaLnBrk="1" hangingPunct="1">
              <a:lnSpc>
                <a:spcPct val="150000"/>
              </a:lnSpc>
            </a:pPr>
            <a:r>
              <a:rPr lang="zh-CN" altLang="en-US" dirty="0"/>
              <a:t>效率定义(2)：在分析的层次上，如果一个算法与</a:t>
            </a:r>
            <a:r>
              <a:rPr lang="zh-CN" altLang="en-US" b="1" dirty="0">
                <a:solidFill>
                  <a:srgbClr val="FF0000"/>
                </a:solidFill>
              </a:rPr>
              <a:t>蛮力搜索</a:t>
            </a:r>
            <a:r>
              <a:rPr lang="zh-CN" altLang="en-US" dirty="0">
                <a:solidFill>
                  <a:srgbClr val="FF0000"/>
                </a:solidFill>
              </a:rPr>
              <a:t>(</a:t>
            </a:r>
            <a:r>
              <a:rPr lang="en-US" altLang="zh-CN" dirty="0"/>
              <a:t>Brute Force)</a:t>
            </a:r>
            <a:r>
              <a:rPr lang="zh-CN" altLang="en-US" dirty="0"/>
              <a:t>比较，</a:t>
            </a:r>
            <a:r>
              <a:rPr lang="zh-CN" altLang="en-US" b="1" dirty="0">
                <a:solidFill>
                  <a:srgbClr val="FF0000"/>
                </a:solidFill>
              </a:rPr>
              <a:t>最坏情况</a:t>
            </a:r>
            <a:r>
              <a:rPr lang="zh-CN" altLang="en-US" dirty="0"/>
              <a:t>下达到质量上更好的性能，就说这个算法是有效的。</a:t>
            </a:r>
            <a:endParaRPr lang="en-US" altLang="zh-CN" dirty="0"/>
          </a:p>
          <a:p>
            <a:pPr eaLnBrk="1" hangingPunct="1">
              <a:lnSpc>
                <a:spcPct val="150000"/>
              </a:lnSpc>
            </a:pPr>
            <a:r>
              <a:rPr lang="zh-CN" altLang="en-US" dirty="0"/>
              <a:t>细心考虑实际运行时间，更好的量化：将</a:t>
            </a:r>
            <a:r>
              <a:rPr lang="zh-CN" altLang="en-US" dirty="0">
                <a:solidFill>
                  <a:srgbClr val="FF0000"/>
                </a:solidFill>
              </a:rPr>
              <a:t>多项式时间</a:t>
            </a:r>
            <a:r>
              <a:rPr lang="zh-CN" altLang="en-US" dirty="0"/>
              <a:t>作为有效性的定义。</a:t>
            </a:r>
            <a:endParaRPr lang="en-US" altLang="zh-C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p:txBody>
          <a:bodyPr/>
          <a:lstStyle/>
          <a:p>
            <a:r>
              <a:rPr lang="zh-CN" altLang="en-US" sz="3200" b="1" dirty="0">
                <a:solidFill>
                  <a:srgbClr val="0000FF"/>
                </a:solidFill>
              </a:rPr>
              <a:t>最坏情况运行时间</a:t>
            </a:r>
            <a:endParaRPr lang="zh-CN" altLang="en-US" sz="4800" dirty="0"/>
          </a:p>
        </p:txBody>
      </p:sp>
      <p:sp>
        <p:nvSpPr>
          <p:cNvPr id="84995" name="Rectangle 3"/>
          <p:cNvSpPr>
            <a:spLocks noGrp="1" noChangeArrowheads="1"/>
          </p:cNvSpPr>
          <p:nvPr>
            <p:ph idx="1"/>
          </p:nvPr>
        </p:nvSpPr>
        <p:spPr/>
        <p:txBody>
          <a:bodyPr/>
          <a:lstStyle/>
          <a:p>
            <a:pPr>
              <a:lnSpc>
                <a:spcPct val="150000"/>
              </a:lnSpc>
            </a:pPr>
            <a:r>
              <a:rPr lang="zh-CN" altLang="en-US" sz="2800" dirty="0"/>
              <a:t>算法复杂性 </a:t>
            </a:r>
            <a:r>
              <a:rPr lang="en-US" altLang="zh-CN" sz="2800" dirty="0"/>
              <a:t>= </a:t>
            </a:r>
            <a:r>
              <a:rPr lang="zh-CN" altLang="en-US" sz="2800" dirty="0"/>
              <a:t>算法所需要的计算机资源</a:t>
            </a:r>
            <a:endParaRPr lang="zh-CN" altLang="en-US" sz="2800" dirty="0"/>
          </a:p>
          <a:p>
            <a:pPr>
              <a:lnSpc>
                <a:spcPct val="150000"/>
              </a:lnSpc>
            </a:pPr>
            <a:r>
              <a:rPr lang="zh-CN" altLang="en-US" sz="2800" dirty="0"/>
              <a:t>算法的时间复杂性</a:t>
            </a:r>
            <a:r>
              <a:rPr lang="en-US" altLang="zh-CN" sz="2800" i="1" dirty="0"/>
              <a:t>T</a:t>
            </a:r>
            <a:r>
              <a:rPr lang="en-US" altLang="zh-CN" sz="2800" dirty="0"/>
              <a:t>(</a:t>
            </a:r>
            <a:r>
              <a:rPr lang="en-US" altLang="zh-CN" sz="2800" i="1" dirty="0"/>
              <a:t>n</a:t>
            </a:r>
            <a:r>
              <a:rPr lang="en-US" altLang="zh-CN" sz="2800" dirty="0"/>
              <a:t>)</a:t>
            </a:r>
            <a:r>
              <a:rPr lang="zh-CN" altLang="en-US" sz="2800" dirty="0"/>
              <a:t>；</a:t>
            </a:r>
            <a:endParaRPr lang="zh-CN" altLang="en-US" sz="2800" dirty="0"/>
          </a:p>
          <a:p>
            <a:pPr>
              <a:lnSpc>
                <a:spcPct val="150000"/>
              </a:lnSpc>
            </a:pPr>
            <a:r>
              <a:rPr lang="zh-CN" altLang="en-US" sz="2800" dirty="0"/>
              <a:t>算法的空间复杂性</a:t>
            </a:r>
            <a:r>
              <a:rPr lang="en-US" altLang="zh-CN" sz="2800" i="1" dirty="0"/>
              <a:t>S</a:t>
            </a:r>
            <a:r>
              <a:rPr lang="en-US" altLang="zh-CN" sz="2800" dirty="0"/>
              <a:t>(</a:t>
            </a:r>
            <a:r>
              <a:rPr lang="en-US" altLang="zh-CN" sz="2800" i="1" dirty="0"/>
              <a:t>n</a:t>
            </a:r>
            <a:r>
              <a:rPr lang="en-US" altLang="zh-CN" sz="2800" dirty="0"/>
              <a:t>)</a:t>
            </a:r>
            <a:r>
              <a:rPr lang="zh-CN" altLang="en-US" sz="2800" dirty="0"/>
              <a:t>。</a:t>
            </a:r>
            <a:endParaRPr lang="zh-CN" altLang="en-US" sz="2800" dirty="0"/>
          </a:p>
          <a:p>
            <a:pPr>
              <a:lnSpc>
                <a:spcPct val="150000"/>
              </a:lnSpc>
            </a:pPr>
            <a:r>
              <a:rPr lang="zh-CN" altLang="en-US" sz="2800" dirty="0"/>
              <a:t>其中</a:t>
            </a:r>
            <a:r>
              <a:rPr lang="en-US" altLang="zh-CN" sz="2800" i="1" dirty="0"/>
              <a:t>n</a:t>
            </a:r>
            <a:r>
              <a:rPr lang="zh-CN" altLang="en-US" sz="2800" dirty="0"/>
              <a:t>是问题的规模（输入大小）。</a:t>
            </a:r>
            <a:endParaRPr lang="zh-CN" altLang="en-US" sz="2800" dirty="0"/>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Grp="1" noChangeArrowheads="1"/>
          </p:cNvSpPr>
          <p:nvPr>
            <p:ph type="title"/>
          </p:nvPr>
        </p:nvSpPr>
        <p:spPr/>
        <p:txBody>
          <a:bodyPr/>
          <a:lstStyle/>
          <a:p>
            <a:r>
              <a:rPr lang="zh-CN" altLang="en-US" sz="2800" b="1" dirty="0">
                <a:solidFill>
                  <a:srgbClr val="0000FF"/>
                </a:solidFill>
              </a:rPr>
              <a:t>最坏情况运行时间</a:t>
            </a:r>
            <a:endParaRPr lang="zh-CN" altLang="en-US" sz="2800" b="1" dirty="0">
              <a:solidFill>
                <a:srgbClr val="0000FF"/>
              </a:solidFill>
            </a:endParaRPr>
          </a:p>
        </p:txBody>
      </p:sp>
      <p:sp>
        <p:nvSpPr>
          <p:cNvPr id="131075" name="Rectangle 3"/>
          <p:cNvSpPr>
            <a:spLocks noGrp="1" noChangeArrowheads="1"/>
          </p:cNvSpPr>
          <p:nvPr>
            <p:ph idx="1"/>
          </p:nvPr>
        </p:nvSpPr>
        <p:spPr>
          <a:xfrm>
            <a:off x="457200" y="1773238"/>
            <a:ext cx="8572500" cy="4322762"/>
          </a:xfrm>
        </p:spPr>
        <p:txBody>
          <a:bodyPr/>
          <a:lstStyle/>
          <a:p>
            <a:pPr>
              <a:lnSpc>
                <a:spcPct val="150000"/>
              </a:lnSpc>
            </a:pPr>
            <a:r>
              <a:rPr lang="zh-CN" altLang="en-US" sz="2400" dirty="0"/>
              <a:t>（</a:t>
            </a:r>
            <a:r>
              <a:rPr lang="en-US" altLang="zh-CN" sz="2400" dirty="0"/>
              <a:t>1</a:t>
            </a:r>
            <a:r>
              <a:rPr lang="zh-CN" altLang="en-US" sz="2400" dirty="0"/>
              <a:t>）</a:t>
            </a:r>
            <a:r>
              <a:rPr lang="zh-CN" altLang="en-US" sz="2400" b="1" dirty="0">
                <a:solidFill>
                  <a:srgbClr val="3907F1"/>
                </a:solidFill>
              </a:rPr>
              <a:t>最坏情况</a:t>
            </a:r>
            <a:r>
              <a:rPr lang="zh-CN" altLang="en-US" sz="2400" dirty="0"/>
              <a:t>下的时间复杂性</a:t>
            </a:r>
            <a:endParaRPr lang="zh-CN" altLang="en-US" sz="2400" dirty="0"/>
          </a:p>
          <a:p>
            <a:pPr>
              <a:lnSpc>
                <a:spcPct val="150000"/>
              </a:lnSpc>
            </a:pPr>
            <a:r>
              <a:rPr lang="zh-CN" altLang="en-US" sz="2400" i="1" dirty="0"/>
              <a:t>  </a:t>
            </a:r>
            <a:r>
              <a:rPr lang="en-US" altLang="zh-CN" sz="2400" i="1" dirty="0" err="1"/>
              <a:t>T</a:t>
            </a:r>
            <a:r>
              <a:rPr lang="en-US" altLang="zh-CN" sz="2400" baseline="-25000" dirty="0" err="1"/>
              <a:t>max</a:t>
            </a:r>
            <a:r>
              <a:rPr lang="en-US" altLang="zh-CN" sz="2400" dirty="0"/>
              <a:t>(</a:t>
            </a:r>
            <a:r>
              <a:rPr lang="en-US" altLang="zh-CN" sz="2400" i="1" dirty="0"/>
              <a:t>n</a:t>
            </a:r>
            <a:r>
              <a:rPr lang="en-US" altLang="zh-CN" sz="2400" dirty="0"/>
              <a:t>) = max{ </a:t>
            </a:r>
            <a:r>
              <a:rPr lang="en-US" altLang="zh-CN" sz="2400" i="1" dirty="0"/>
              <a:t>T</a:t>
            </a:r>
            <a:r>
              <a:rPr lang="en-US" altLang="zh-CN" sz="2400" dirty="0"/>
              <a:t>(I) | size(I)=</a:t>
            </a:r>
            <a:r>
              <a:rPr lang="en-US" altLang="zh-CN" sz="2400" i="1" dirty="0"/>
              <a:t>n </a:t>
            </a:r>
            <a:r>
              <a:rPr lang="en-US" altLang="zh-CN" sz="2400" dirty="0"/>
              <a:t>}</a:t>
            </a:r>
            <a:endParaRPr lang="en-US" altLang="zh-CN" sz="2400" dirty="0"/>
          </a:p>
          <a:p>
            <a:pPr>
              <a:lnSpc>
                <a:spcPct val="150000"/>
              </a:lnSpc>
            </a:pPr>
            <a:r>
              <a:rPr lang="zh-CN" altLang="en-US" sz="2400" dirty="0"/>
              <a:t>（</a:t>
            </a:r>
            <a:r>
              <a:rPr lang="en-US" altLang="zh-CN" sz="2400" dirty="0"/>
              <a:t>2</a:t>
            </a:r>
            <a:r>
              <a:rPr lang="zh-CN" altLang="en-US" sz="2400" dirty="0"/>
              <a:t>）</a:t>
            </a:r>
            <a:r>
              <a:rPr lang="zh-CN" altLang="en-US" sz="2400" b="1" dirty="0">
                <a:solidFill>
                  <a:srgbClr val="3907F1"/>
                </a:solidFill>
              </a:rPr>
              <a:t>最好情况</a:t>
            </a:r>
            <a:r>
              <a:rPr lang="zh-CN" altLang="en-US" sz="2400" dirty="0"/>
              <a:t>下的时间复杂性</a:t>
            </a:r>
            <a:endParaRPr lang="zh-CN" altLang="en-US" sz="2400" dirty="0"/>
          </a:p>
          <a:p>
            <a:pPr>
              <a:lnSpc>
                <a:spcPct val="150000"/>
              </a:lnSpc>
            </a:pPr>
            <a:r>
              <a:rPr lang="zh-CN" altLang="en-US" sz="2400" i="1" dirty="0"/>
              <a:t>  </a:t>
            </a:r>
            <a:r>
              <a:rPr lang="en-US" altLang="zh-CN" sz="2400" i="1" dirty="0" err="1"/>
              <a:t>T</a:t>
            </a:r>
            <a:r>
              <a:rPr lang="en-US" altLang="zh-CN" sz="2400" baseline="-25000" dirty="0" err="1"/>
              <a:t>min</a:t>
            </a:r>
            <a:r>
              <a:rPr lang="en-US" altLang="zh-CN" sz="2400" dirty="0"/>
              <a:t>(</a:t>
            </a:r>
            <a:r>
              <a:rPr lang="en-US" altLang="zh-CN" sz="2400" i="1" dirty="0"/>
              <a:t>n</a:t>
            </a:r>
            <a:r>
              <a:rPr lang="en-US" altLang="zh-CN" sz="2400" dirty="0"/>
              <a:t>) = min{ </a:t>
            </a:r>
            <a:r>
              <a:rPr lang="en-US" altLang="zh-CN" sz="2400" i="1" dirty="0"/>
              <a:t>T</a:t>
            </a:r>
            <a:r>
              <a:rPr lang="en-US" altLang="zh-CN" sz="2400" dirty="0"/>
              <a:t>(I) | size(I)=</a:t>
            </a:r>
            <a:r>
              <a:rPr lang="en-US" altLang="zh-CN" sz="2400" i="1" dirty="0"/>
              <a:t>n </a:t>
            </a:r>
            <a:r>
              <a:rPr lang="en-US" altLang="zh-CN" sz="2400" dirty="0"/>
              <a:t>}</a:t>
            </a:r>
            <a:endParaRPr lang="en-US" altLang="zh-CN" sz="2400" dirty="0"/>
          </a:p>
          <a:p>
            <a:pPr>
              <a:lnSpc>
                <a:spcPct val="150000"/>
              </a:lnSpc>
            </a:pPr>
            <a:r>
              <a:rPr lang="zh-CN" altLang="en-US" sz="2400" dirty="0"/>
              <a:t>（</a:t>
            </a:r>
            <a:r>
              <a:rPr lang="en-US" altLang="zh-CN" sz="2400" dirty="0"/>
              <a:t>3</a:t>
            </a:r>
            <a:r>
              <a:rPr lang="zh-CN" altLang="en-US" sz="2400" dirty="0"/>
              <a:t>）</a:t>
            </a:r>
            <a:r>
              <a:rPr lang="zh-CN" altLang="en-US" sz="2400" b="1" dirty="0">
                <a:solidFill>
                  <a:srgbClr val="3907F1"/>
                </a:solidFill>
              </a:rPr>
              <a:t>平均情况</a:t>
            </a:r>
            <a:r>
              <a:rPr lang="zh-CN" altLang="en-US" sz="2400" dirty="0"/>
              <a:t>下的时间复杂性</a:t>
            </a:r>
            <a:endParaRPr lang="zh-CN" altLang="en-US" sz="2400" dirty="0"/>
          </a:p>
          <a:p>
            <a:pPr>
              <a:lnSpc>
                <a:spcPct val="200000"/>
              </a:lnSpc>
            </a:pPr>
            <a:r>
              <a:rPr lang="zh-CN" altLang="en-US" sz="2400" i="1" dirty="0"/>
              <a:t>  </a:t>
            </a:r>
            <a:r>
              <a:rPr lang="en-US" altLang="zh-CN" sz="2400" i="1" dirty="0" err="1"/>
              <a:t>T</a:t>
            </a:r>
            <a:r>
              <a:rPr lang="en-US" altLang="zh-CN" sz="2400" baseline="-25000" dirty="0" err="1"/>
              <a:t>avg</a:t>
            </a:r>
            <a:r>
              <a:rPr lang="en-US" altLang="zh-CN" sz="2400" dirty="0"/>
              <a:t>(</a:t>
            </a:r>
            <a:r>
              <a:rPr lang="en-US" altLang="zh-CN" sz="2400" i="1" dirty="0"/>
              <a:t>n</a:t>
            </a:r>
            <a:r>
              <a:rPr lang="en-US" altLang="zh-CN" sz="2400" dirty="0"/>
              <a:t>) =</a:t>
            </a:r>
            <a:endParaRPr lang="en-US" altLang="zh-CN" sz="2400" dirty="0"/>
          </a:p>
          <a:p>
            <a:pPr>
              <a:lnSpc>
                <a:spcPct val="200000"/>
              </a:lnSpc>
            </a:pPr>
            <a:r>
              <a:rPr lang="en-US" altLang="zh-CN" sz="2400" dirty="0"/>
              <a:t> </a:t>
            </a:r>
            <a:r>
              <a:rPr lang="zh-CN" altLang="en-US" sz="2400" dirty="0"/>
              <a:t>其中</a:t>
            </a:r>
            <a:r>
              <a:rPr lang="en-US" altLang="zh-CN" sz="2400" dirty="0"/>
              <a:t>I</a:t>
            </a:r>
            <a:r>
              <a:rPr lang="zh-CN" altLang="en-US" sz="2400" dirty="0"/>
              <a:t>是问题的规模为</a:t>
            </a:r>
            <a:r>
              <a:rPr lang="en-US" altLang="zh-CN" sz="2400" i="1" dirty="0"/>
              <a:t>n</a:t>
            </a:r>
            <a:r>
              <a:rPr lang="zh-CN" altLang="en-US" sz="2400" dirty="0"/>
              <a:t>的实例，</a:t>
            </a:r>
            <a:r>
              <a:rPr lang="en-US" altLang="zh-CN" sz="2400" i="1" dirty="0"/>
              <a:t>p</a:t>
            </a:r>
            <a:r>
              <a:rPr lang="en-US" altLang="zh-CN" sz="2400" dirty="0"/>
              <a:t>(I)</a:t>
            </a:r>
            <a:r>
              <a:rPr lang="zh-CN" altLang="en-US" sz="2400" dirty="0"/>
              <a:t>是实 例</a:t>
            </a:r>
            <a:r>
              <a:rPr lang="en-US" altLang="zh-CN" sz="2400" dirty="0"/>
              <a:t>I</a:t>
            </a:r>
            <a:r>
              <a:rPr lang="zh-CN" altLang="en-US" sz="2400" dirty="0"/>
              <a:t>出现的概率。</a:t>
            </a:r>
            <a:endParaRPr lang="zh-CN" altLang="en-US" sz="2400" dirty="0"/>
          </a:p>
        </p:txBody>
      </p:sp>
      <p:sp>
        <p:nvSpPr>
          <p:cNvPr id="131077" name="Rectangle 5"/>
          <p:cNvSpPr>
            <a:spLocks noChangeArrowheads="1"/>
          </p:cNvSpPr>
          <p:nvPr/>
        </p:nvSpPr>
        <p:spPr bwMode="auto">
          <a:xfrm>
            <a:off x="0" y="-153888"/>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131076" name="Object 4"/>
          <p:cNvGraphicFramePr>
            <a:graphicFrameLocks noChangeAspect="1"/>
          </p:cNvGraphicFramePr>
          <p:nvPr/>
        </p:nvGraphicFramePr>
        <p:xfrm>
          <a:off x="2123732" y="5040636"/>
          <a:ext cx="2171211" cy="863699"/>
        </p:xfrm>
        <a:graphic>
          <a:graphicData uri="http://schemas.openxmlformats.org/presentationml/2006/ole">
            <mc:AlternateContent xmlns:mc="http://schemas.openxmlformats.org/markup-compatibility/2006">
              <mc:Choice xmlns:v="urn:schemas-microsoft-com:vml" Requires="v">
                <p:oleObj spid="_x0000_s0" name="公式" r:id="rId1" imgW="888365" imgH="355600" progId="Equation.3">
                  <p:embed/>
                </p:oleObj>
              </mc:Choice>
              <mc:Fallback>
                <p:oleObj name="公式" r:id="rId1" imgW="888365" imgH="355600"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3732" y="5040636"/>
                        <a:ext cx="2171211" cy="863699"/>
                      </a:xfrm>
                      <a:prstGeom prst="rect">
                        <a:avLst/>
                      </a:prstGeom>
                      <a:noFill/>
                    </p:spPr>
                  </p:pic>
                </p:oleObj>
              </mc:Fallback>
            </mc:AlternateContent>
          </a:graphicData>
        </a:graphic>
      </p:graphicFrame>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pPr>
              <a:defRPr/>
            </a:pPr>
            <a:fld id="{F88EF492-B79D-4809-8CAB-7B44E49EE11D}" type="slidenum">
              <a:rPr lang="zh-CN" altLang="en-US"/>
            </a:fld>
            <a:endParaRPr lang="en-US" altLang="zh-CN" dirty="0"/>
          </a:p>
        </p:txBody>
      </p:sp>
      <p:sp>
        <p:nvSpPr>
          <p:cNvPr id="9219" name="Rectangle 2"/>
          <p:cNvSpPr>
            <a:spLocks noGrp="1" noChangeArrowheads="1"/>
          </p:cNvSpPr>
          <p:nvPr>
            <p:ph type="title"/>
          </p:nvPr>
        </p:nvSpPr>
        <p:spPr>
          <a:xfrm>
            <a:off x="1143000" y="609600"/>
            <a:ext cx="7793038" cy="1143000"/>
          </a:xfrm>
        </p:spPr>
        <p:txBody>
          <a:bodyPr/>
          <a:lstStyle/>
          <a:p>
            <a:pPr eaLnBrk="1" hangingPunct="1"/>
            <a:r>
              <a:rPr lang="zh-CN" altLang="en-US"/>
              <a:t>定义效率</a:t>
            </a:r>
            <a:endParaRPr lang="zh-CN" altLang="en-US"/>
          </a:p>
        </p:txBody>
      </p:sp>
      <p:sp>
        <p:nvSpPr>
          <p:cNvPr id="9220" name="Rectangle 3"/>
          <p:cNvSpPr>
            <a:spLocks noGrp="1" noChangeArrowheads="1"/>
          </p:cNvSpPr>
          <p:nvPr>
            <p:ph type="body" idx="1"/>
          </p:nvPr>
        </p:nvSpPr>
        <p:spPr>
          <a:xfrm>
            <a:off x="468317" y="2017713"/>
            <a:ext cx="8135937" cy="4114800"/>
          </a:xfrm>
        </p:spPr>
        <p:txBody>
          <a:bodyPr/>
          <a:lstStyle/>
          <a:p>
            <a:pPr algn="just" eaLnBrk="1" hangingPunct="1">
              <a:buFont typeface="Wingdings" panose="05000000000000000000" pitchFamily="2" charset="2"/>
              <a:buNone/>
            </a:pPr>
            <a:r>
              <a:rPr lang="zh-CN" altLang="en-US" dirty="0"/>
              <a:t>   如果满足如下的性质，一个算法被称为是</a:t>
            </a:r>
            <a:r>
              <a:rPr lang="zh-CN" altLang="en-US" dirty="0">
                <a:solidFill>
                  <a:schemeClr val="hlink"/>
                </a:solidFill>
              </a:rPr>
              <a:t>多项式时间的</a:t>
            </a:r>
            <a:r>
              <a:rPr lang="zh-CN" altLang="en-US" dirty="0"/>
              <a:t>： </a:t>
            </a:r>
            <a:endParaRPr lang="en-US" altLang="zh-CN" dirty="0"/>
          </a:p>
          <a:p>
            <a:pPr algn="just" eaLnBrk="1" hangingPunct="1"/>
            <a:r>
              <a:rPr lang="zh-CN" altLang="en-US" dirty="0"/>
              <a:t>当算法输入的规模增长时，算法的运行时间是多项式有界的。 </a:t>
            </a:r>
            <a:endParaRPr lang="en-US" altLang="zh-CN" dirty="0"/>
          </a:p>
          <a:p>
            <a:pPr algn="just" eaLnBrk="1" hangingPunct="1"/>
            <a:r>
              <a:rPr lang="zh-CN" altLang="en-US" dirty="0"/>
              <a:t>也就是：存在常数</a:t>
            </a:r>
            <a:r>
              <a:rPr lang="en-US" altLang="zh-CN" dirty="0"/>
              <a:t>c&gt;0, d&gt;0, </a:t>
            </a:r>
            <a:r>
              <a:rPr lang="zh-CN" altLang="en-US" dirty="0"/>
              <a:t>使得对于每一个问题输入的规模</a:t>
            </a:r>
            <a:r>
              <a:rPr lang="en-US" altLang="zh-CN" dirty="0"/>
              <a:t>N, </a:t>
            </a:r>
            <a:r>
              <a:rPr lang="zh-CN" altLang="en-US" dirty="0"/>
              <a:t>算法的运行都能够在    步内完成（运行时间最多与</a:t>
            </a:r>
            <a:r>
              <a:rPr lang="en-US" altLang="zh-CN" sz="2800" i="1" dirty="0">
                <a:solidFill>
                  <a:srgbClr val="000000"/>
                </a:solidFill>
                <a:latin typeface="Tahoma" panose="020B0604030504040204" pitchFamily="34" charset="0"/>
                <a:ea typeface="宋体" panose="02010600030101010101" pitchFamily="2" charset="-122"/>
              </a:rPr>
              <a:t>N</a:t>
            </a:r>
            <a:r>
              <a:rPr lang="en-US" altLang="zh-CN" sz="2800" i="1" baseline="30000" dirty="0">
                <a:solidFill>
                  <a:srgbClr val="000000"/>
                </a:solidFill>
                <a:latin typeface="Tahoma" panose="020B0604030504040204" pitchFamily="34" charset="0"/>
                <a:ea typeface="宋体" panose="02010600030101010101" pitchFamily="2" charset="-122"/>
              </a:rPr>
              <a:t>d </a:t>
            </a:r>
            <a:r>
              <a:rPr lang="zh-CN" altLang="en-US" dirty="0"/>
              <a:t>成正比）。</a:t>
            </a:r>
            <a:endParaRPr lang="en-US" altLang="zh-CN" dirty="0"/>
          </a:p>
        </p:txBody>
      </p:sp>
      <p:graphicFrame>
        <p:nvGraphicFramePr>
          <p:cNvPr id="9221" name="Object 5"/>
          <p:cNvGraphicFramePr>
            <a:graphicFrameLocks noChangeAspect="1"/>
          </p:cNvGraphicFramePr>
          <p:nvPr/>
        </p:nvGraphicFramePr>
        <p:xfrm>
          <a:off x="1331640" y="5157192"/>
          <a:ext cx="755650" cy="525462"/>
        </p:xfrm>
        <a:graphic>
          <a:graphicData uri="http://schemas.openxmlformats.org/presentationml/2006/ole">
            <mc:AlternateContent xmlns:mc="http://schemas.openxmlformats.org/markup-compatibility/2006">
              <mc:Choice xmlns:v="urn:schemas-microsoft-com:vml" Requires="v">
                <p:oleObj spid="_x0000_s2" name="Equation" r:id="rId1" imgW="292100" imgH="203200" progId="Equation.3">
                  <p:embed/>
                </p:oleObj>
              </mc:Choice>
              <mc:Fallback>
                <p:oleObj name="Equation" r:id="rId1" imgW="292100" imgH="203200" progId="Equation.3">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1640" y="5157192"/>
                        <a:ext cx="755650" cy="5254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24585DE3-C166-4EB1-B75F-88869A5AB5E0}" type="slidenum">
              <a:rPr lang="zh-CN" altLang="en-US"/>
            </a:fld>
            <a:endParaRPr lang="en-US" altLang="zh-CN"/>
          </a:p>
        </p:txBody>
      </p:sp>
      <p:sp>
        <p:nvSpPr>
          <p:cNvPr id="10243" name="Rectangle 2"/>
          <p:cNvSpPr>
            <a:spLocks noGrp="1" noChangeArrowheads="1"/>
          </p:cNvSpPr>
          <p:nvPr>
            <p:ph type="title"/>
          </p:nvPr>
        </p:nvSpPr>
        <p:spPr/>
        <p:txBody>
          <a:bodyPr/>
          <a:lstStyle/>
          <a:p>
            <a:pPr eaLnBrk="1" hangingPunct="1"/>
            <a:r>
              <a:rPr lang="zh-CN" altLang="en-US"/>
              <a:t>定义效率</a:t>
            </a:r>
            <a:endParaRPr lang="zh-CN" altLang="en-US"/>
          </a:p>
        </p:txBody>
      </p:sp>
      <p:sp>
        <p:nvSpPr>
          <p:cNvPr id="8195" name="Rectangle 3"/>
          <p:cNvSpPr>
            <a:spLocks noGrp="1" noChangeArrowheads="1"/>
          </p:cNvSpPr>
          <p:nvPr>
            <p:ph type="body" idx="1"/>
          </p:nvPr>
        </p:nvSpPr>
        <p:spPr/>
        <p:txBody>
          <a:bodyPr/>
          <a:lstStyle/>
          <a:p>
            <a:pPr marL="0" indent="0" eaLnBrk="1" hangingPunct="1">
              <a:buNone/>
            </a:pPr>
            <a:r>
              <a:rPr lang="zh-CN" altLang="en-US" dirty="0"/>
              <a:t>效率定义(3)：如果一个算法有</a:t>
            </a:r>
            <a:r>
              <a:rPr lang="zh-CN" altLang="en-US" dirty="0">
                <a:solidFill>
                  <a:srgbClr val="FF0000"/>
                </a:solidFill>
              </a:rPr>
              <a:t>多项式运行时间</a:t>
            </a:r>
            <a:r>
              <a:rPr lang="zh-CN" altLang="en-US" dirty="0"/>
              <a:t>，称为这个算法是</a:t>
            </a:r>
            <a:r>
              <a:rPr lang="zh-CN" altLang="en-US" dirty="0">
                <a:solidFill>
                  <a:schemeClr val="hlink"/>
                </a:solidFill>
              </a:rPr>
              <a:t>有效</a:t>
            </a:r>
            <a:r>
              <a:rPr lang="zh-CN" altLang="en-US" dirty="0"/>
              <a:t>的。</a:t>
            </a:r>
            <a:endParaRPr lang="zh-CN" altLang="en-US" dirty="0"/>
          </a:p>
          <a:p>
            <a:pPr eaLnBrk="1" hangingPunct="1"/>
            <a:endParaRPr lang="zh-CN" altLang="en-US" dirty="0"/>
          </a:p>
          <a:p>
            <a:pPr eaLnBrk="1" hangingPunct="1"/>
            <a:r>
              <a:rPr lang="zh-CN" altLang="en-US" dirty="0"/>
              <a:t>来自于数学形式和经验证据</a:t>
            </a:r>
            <a:endParaRPr lang="zh-CN" altLang="en-US" dirty="0"/>
          </a:p>
          <a:p>
            <a:pPr eaLnBrk="1" hangingPunct="1"/>
            <a:r>
              <a:rPr lang="zh-CN" altLang="en-US" dirty="0"/>
              <a:t>但并不绝对反映真实的运行时间</a:t>
            </a:r>
            <a:endParaRPr lang="zh-CN" altLang="en-US" dirty="0"/>
          </a:p>
          <a:p>
            <a:pPr eaLnBrk="1" hangingPunct="1"/>
            <a:r>
              <a:rPr lang="zh-CN" altLang="en-US" dirty="0"/>
              <a:t>符合实际情况的</a:t>
            </a:r>
            <a:r>
              <a:rPr lang="zh-CN" altLang="en-US" b="1" dirty="0"/>
              <a:t>合理近似</a:t>
            </a:r>
            <a:endParaRPr lang="zh-CN" altLang="en-US"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 calcmode="lin" valueType="num">
                                      <p:cBhvr additive="base">
                                        <p:cTn id="7" dur="500" fill="hold"/>
                                        <p:tgtEl>
                                          <p:spTgt spid="819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819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8195">
                                            <p:txEl>
                                              <p:pRg st="2" end="2"/>
                                            </p:txEl>
                                          </p:spTgt>
                                        </p:tgtEl>
                                        <p:attrNameLst>
                                          <p:attrName>style.visibility</p:attrName>
                                        </p:attrNameLst>
                                      </p:cBhvr>
                                      <p:to>
                                        <p:strVal val="visible"/>
                                      </p:to>
                                    </p:set>
                                    <p:anim calcmode="lin" valueType="num">
                                      <p:cBhvr additive="base">
                                        <p:cTn id="13" dur="500" fill="hold"/>
                                        <p:tgtEl>
                                          <p:spTgt spid="8195">
                                            <p:txEl>
                                              <p:pRg st="2" end="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819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8195">
                                            <p:txEl>
                                              <p:pRg st="3" end="3"/>
                                            </p:txEl>
                                          </p:spTgt>
                                        </p:tgtEl>
                                        <p:attrNameLst>
                                          <p:attrName>style.visibility</p:attrName>
                                        </p:attrNameLst>
                                      </p:cBhvr>
                                      <p:to>
                                        <p:strVal val="visible"/>
                                      </p:to>
                                    </p:set>
                                    <p:anim calcmode="lin" valueType="num">
                                      <p:cBhvr additive="base">
                                        <p:cTn id="19" dur="500" fill="hold"/>
                                        <p:tgtEl>
                                          <p:spTgt spid="8195">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8195">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8195">
                                            <p:txEl>
                                              <p:pRg st="4" end="4"/>
                                            </p:txEl>
                                          </p:spTgt>
                                        </p:tgtEl>
                                        <p:attrNameLst>
                                          <p:attrName>style.visibility</p:attrName>
                                        </p:attrNameLst>
                                      </p:cBhvr>
                                      <p:to>
                                        <p:strVal val="visible"/>
                                      </p:to>
                                    </p:set>
                                    <p:anim calcmode="lin" valueType="num">
                                      <p:cBhvr additive="base">
                                        <p:cTn id="25" dur="500" fill="hold"/>
                                        <p:tgtEl>
                                          <p:spTgt spid="8195">
                                            <p:txEl>
                                              <p:pRg st="4" end="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8195">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autoUpdateAnimBg="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F447E6C9-299E-41CE-8A50-6252B551DDBE}" type="slidenum">
              <a:rPr lang="zh-CN" altLang="en-US"/>
            </a:fld>
            <a:endParaRPr lang="en-US" altLang="zh-CN"/>
          </a:p>
        </p:txBody>
      </p:sp>
      <p:sp>
        <p:nvSpPr>
          <p:cNvPr id="8195" name="Rectangle 2"/>
          <p:cNvSpPr>
            <a:spLocks noGrp="1" noChangeArrowheads="1"/>
          </p:cNvSpPr>
          <p:nvPr>
            <p:ph type="title"/>
          </p:nvPr>
        </p:nvSpPr>
        <p:spPr/>
        <p:txBody>
          <a:bodyPr/>
          <a:lstStyle/>
          <a:p>
            <a:pPr eaLnBrk="1" hangingPunct="1"/>
            <a:r>
              <a:rPr lang="zh-CN" altLang="en-US"/>
              <a:t> </a:t>
            </a:r>
            <a:endParaRPr lang="zh-CN" altLang="en-US"/>
          </a:p>
        </p:txBody>
      </p:sp>
      <p:pic>
        <p:nvPicPr>
          <p:cNvPr id="8196" name="Picture 3" descr="kleinberg_02T01"/>
          <p:cNvPicPr>
            <a:picLocks noGrp="1" noChangeAspect="1" noChangeArrowheads="1"/>
          </p:cNvPicPr>
          <p:nvPr>
            <p:ph type="body" idx="1"/>
            <p:custDataLst>
              <p:tags r:id="rId1"/>
            </p:custDataLst>
          </p:nvPr>
        </p:nvPicPr>
        <p:blipFill>
          <a:blip r:embed="rId2">
            <a:extLst>
              <a:ext uri="{28A0092B-C50C-407E-A947-70E740481C1C}">
                <a14:useLocalDpi xmlns:a14="http://schemas.microsoft.com/office/drawing/2010/main" val="0"/>
              </a:ext>
            </a:extLst>
          </a:blip>
          <a:srcRect/>
          <a:stretch>
            <a:fillRect/>
          </a:stretch>
        </p:blipFill>
        <p:spPr>
          <a:xfrm>
            <a:off x="0" y="1791732"/>
            <a:ext cx="9144000" cy="4141788"/>
          </a:xfrm>
          <a:noFill/>
        </p:spPr>
      </p:pic>
      <p:sp>
        <p:nvSpPr>
          <p:cNvPr id="3" name="文本框 2"/>
          <p:cNvSpPr txBox="1"/>
          <p:nvPr/>
        </p:nvSpPr>
        <p:spPr>
          <a:xfrm>
            <a:off x="1475656" y="234931"/>
            <a:ext cx="7272808" cy="1569660"/>
          </a:xfrm>
          <a:prstGeom prst="rect">
            <a:avLst/>
          </a:prstGeom>
          <a:noFill/>
        </p:spPr>
        <p:txBody>
          <a:bodyPr wrap="square">
            <a:spAutoFit/>
          </a:bodyPr>
          <a:lstStyle/>
          <a:p>
            <a:r>
              <a:rPr lang="zh-CN" altLang="en-US" sz="2400" dirty="0"/>
              <a:t>表2.1 对于一台</a:t>
            </a:r>
            <a:r>
              <a:rPr lang="zh-CN" altLang="en-US" sz="2400" dirty="0">
                <a:solidFill>
                  <a:srgbClr val="FF0000"/>
                </a:solidFill>
              </a:rPr>
              <a:t>每秒执行一百万条高级指令</a:t>
            </a:r>
            <a:r>
              <a:rPr lang="zh-CN" altLang="en-US" sz="2400" dirty="0"/>
              <a:t>的处理器,不同的算法随输入规模增长的(大致)运行时间。在运行时间超过10</a:t>
            </a:r>
            <a:r>
              <a:rPr lang="en-US" altLang="zh-CN" sz="2400" baseline="30000" dirty="0"/>
              <a:t>25</a:t>
            </a:r>
            <a:r>
              <a:rPr lang="zh-CN" altLang="en-US" sz="2400" dirty="0"/>
              <a:t>年的情况下，我们把这个算法简记为时间非常长。</a:t>
            </a:r>
            <a:endParaRPr lang="zh-CN" altLang="en-US" sz="2400" dirty="0"/>
          </a:p>
        </p:txBody>
      </p:sp>
      <p:sp>
        <p:nvSpPr>
          <p:cNvPr id="5" name="文本框 4"/>
          <p:cNvSpPr txBox="1"/>
          <p:nvPr/>
        </p:nvSpPr>
        <p:spPr>
          <a:xfrm>
            <a:off x="611560" y="5882843"/>
            <a:ext cx="8652540" cy="492443"/>
          </a:xfrm>
          <a:prstGeom prst="rect">
            <a:avLst/>
          </a:prstGeom>
          <a:noFill/>
        </p:spPr>
        <p:txBody>
          <a:bodyPr wrap="square">
            <a:spAutoFit/>
          </a:bodyPr>
          <a:lstStyle/>
          <a:p>
            <a:r>
              <a:rPr lang="zh-CN" altLang="en-US" sz="2600" dirty="0"/>
              <a:t>在</a:t>
            </a:r>
            <a:r>
              <a:rPr lang="zh-CN" altLang="en-US" sz="2600" dirty="0">
                <a:solidFill>
                  <a:srgbClr val="FF0000"/>
                </a:solidFill>
              </a:rPr>
              <a:t>多项式函数和指数函数</a:t>
            </a:r>
            <a:r>
              <a:rPr lang="zh-CN" altLang="en-US" sz="2600" dirty="0"/>
              <a:t>的增长率之间的鸿沟是巨大的！</a:t>
            </a:r>
            <a:endParaRPr lang="zh-CN" altLang="en-US" sz="2600" dirty="0"/>
          </a:p>
        </p:txBody>
      </p:sp>
      <p:cxnSp>
        <p:nvCxnSpPr>
          <p:cNvPr id="8" name="直接连接符 7"/>
          <p:cNvCxnSpPr/>
          <p:nvPr/>
        </p:nvCxnSpPr>
        <p:spPr bwMode="auto">
          <a:xfrm flipH="1">
            <a:off x="5724128" y="3862626"/>
            <a:ext cx="72008" cy="2266434"/>
          </a:xfrm>
          <a:prstGeom prst="line">
            <a:avLst/>
          </a:prstGeom>
          <a:solidFill>
            <a:schemeClr val="tx2"/>
          </a:solidFill>
          <a:ln>
            <a:noFill/>
          </a:ln>
          <a:effectLst/>
          <a:extLst>
            <a:ext uri="{91240B29-F687-4F45-9708-019B960494DF}">
              <a14:hiddenLine xmlns:a14="http://schemas.microsoft.com/office/drawing/2010/main" w="9525">
                <a:solidFill>
                  <a:schemeClr val="bg2"/>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4" name="直接连接符 13"/>
          <p:cNvCxnSpPr/>
          <p:nvPr/>
        </p:nvCxnSpPr>
        <p:spPr bwMode="auto">
          <a:xfrm>
            <a:off x="5652120" y="2924944"/>
            <a:ext cx="0" cy="2736304"/>
          </a:xfrm>
          <a:prstGeom prst="line">
            <a:avLst/>
          </a:prstGeom>
          <a:ln w="38100">
            <a:solidFill>
              <a:srgbClr val="FF0000"/>
            </a:solidFill>
            <a:prstDash val="dash"/>
          </a:ln>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AE16E7D1-A358-494D-B51F-BEAEECB81A88}" type="slidenum">
              <a:rPr lang="zh-CN" altLang="en-US"/>
            </a:fld>
            <a:endParaRPr lang="en-US" altLang="zh-CN"/>
          </a:p>
        </p:txBody>
      </p:sp>
      <p:sp>
        <p:nvSpPr>
          <p:cNvPr id="11267" name="Rectangle 2"/>
          <p:cNvSpPr>
            <a:spLocks noGrp="1" noChangeArrowheads="1"/>
          </p:cNvSpPr>
          <p:nvPr>
            <p:ph type="title"/>
          </p:nvPr>
        </p:nvSpPr>
        <p:spPr/>
        <p:txBody>
          <a:bodyPr/>
          <a:lstStyle/>
          <a:p>
            <a:pPr eaLnBrk="1" hangingPunct="1"/>
            <a:r>
              <a:rPr lang="zh-CN" altLang="en-US"/>
              <a:t>定义效率</a:t>
            </a:r>
            <a:endParaRPr lang="zh-CN" altLang="en-US"/>
          </a:p>
        </p:txBody>
      </p:sp>
      <p:sp>
        <p:nvSpPr>
          <p:cNvPr id="11268" name="Rectangle 3"/>
          <p:cNvSpPr>
            <a:spLocks noGrp="1" noChangeArrowheads="1"/>
          </p:cNvSpPr>
          <p:nvPr>
            <p:ph type="body" idx="1"/>
          </p:nvPr>
        </p:nvSpPr>
        <p:spPr>
          <a:xfrm>
            <a:off x="685800" y="1985169"/>
            <a:ext cx="7772400" cy="4114800"/>
          </a:xfrm>
        </p:spPr>
        <p:txBody>
          <a:bodyPr/>
          <a:lstStyle/>
          <a:p>
            <a:pPr eaLnBrk="1" hangingPunct="1">
              <a:lnSpc>
                <a:spcPct val="90000"/>
              </a:lnSpc>
              <a:buFont typeface="Wingdings" panose="05000000000000000000" pitchFamily="2" charset="2"/>
              <a:buNone/>
            </a:pPr>
            <a:r>
              <a:rPr lang="zh-CN" altLang="en-US" sz="2800" b="1" dirty="0"/>
              <a:t>注记</a:t>
            </a:r>
            <a:r>
              <a:rPr lang="zh-CN" altLang="en-US" sz="2800" dirty="0"/>
              <a:t>：</a:t>
            </a:r>
            <a:endParaRPr lang="zh-CN" altLang="en-US" sz="2800" dirty="0"/>
          </a:p>
          <a:p>
            <a:pPr lvl="1" eaLnBrk="1" hangingPunct="1">
              <a:lnSpc>
                <a:spcPct val="90000"/>
              </a:lnSpc>
            </a:pPr>
            <a:r>
              <a:rPr lang="zh-CN" altLang="en-US" sz="2400" dirty="0"/>
              <a:t>这种定义有利于一般性的研究</a:t>
            </a:r>
            <a:endParaRPr lang="zh-CN" altLang="en-US" sz="2400" dirty="0"/>
          </a:p>
          <a:p>
            <a:pPr lvl="1" eaLnBrk="1" hangingPunct="1">
              <a:lnSpc>
                <a:spcPct val="90000"/>
              </a:lnSpc>
            </a:pPr>
            <a:r>
              <a:rPr lang="zh-CN" altLang="en-US" sz="2400" dirty="0"/>
              <a:t>能够清楚的表达：</a:t>
            </a:r>
            <a:r>
              <a:rPr lang="zh-CN" altLang="en-US" sz="2400" dirty="0">
                <a:solidFill>
                  <a:srgbClr val="FF0000"/>
                </a:solidFill>
              </a:rPr>
              <a:t>对某个问题不存在有效的算法</a:t>
            </a:r>
            <a:endParaRPr lang="zh-CN" altLang="en-US" sz="2400" dirty="0">
              <a:solidFill>
                <a:srgbClr val="FF0000"/>
              </a:solidFill>
            </a:endParaRPr>
          </a:p>
          <a:p>
            <a:pPr lvl="1" eaLnBrk="1" hangingPunct="1">
              <a:lnSpc>
                <a:spcPct val="90000"/>
              </a:lnSpc>
              <a:buFont typeface="Wingdings" panose="05000000000000000000" pitchFamily="2" charset="2"/>
              <a:buChar char="ü"/>
            </a:pPr>
            <a:r>
              <a:rPr lang="en-US" altLang="zh-CN" sz="2400" dirty="0"/>
              <a:t>6.02 </a:t>
            </a:r>
            <a:r>
              <a:rPr lang="en-US" altLang="zh-CN" sz="2400" dirty="0">
                <a:sym typeface="Symbol" panose="05050102010706020507" pitchFamily="18" charset="2"/>
              </a:rPr>
              <a:t></a:t>
            </a:r>
            <a:r>
              <a:rPr lang="en-US" altLang="zh-CN" sz="2400" dirty="0"/>
              <a:t> 10</a:t>
            </a:r>
            <a:r>
              <a:rPr lang="en-US" altLang="zh-CN" sz="2400" baseline="30000" dirty="0"/>
              <a:t>23</a:t>
            </a:r>
            <a:r>
              <a:rPr lang="en-US" altLang="zh-CN" sz="2400" dirty="0"/>
              <a:t> </a:t>
            </a:r>
            <a:r>
              <a:rPr lang="en-US" altLang="zh-CN" sz="2400" dirty="0">
                <a:sym typeface="Symbol" panose="05050102010706020507" pitchFamily="18" charset="2"/>
              </a:rPr>
              <a:t></a:t>
            </a:r>
            <a:r>
              <a:rPr lang="en-US" altLang="zh-CN" sz="2400" dirty="0"/>
              <a:t> N</a:t>
            </a:r>
            <a:r>
              <a:rPr lang="en-US" altLang="zh-CN" sz="2400" baseline="30000" dirty="0"/>
              <a:t>20</a:t>
            </a:r>
            <a:r>
              <a:rPr lang="en-US" altLang="zh-CN" sz="2400" dirty="0"/>
              <a:t> </a:t>
            </a:r>
            <a:r>
              <a:rPr lang="zh-CN" altLang="en-US" sz="2400" dirty="0"/>
              <a:t>也是多项式时间,但是在实际上是不可行的。</a:t>
            </a:r>
            <a:endParaRPr lang="en-US" altLang="zh-CN" sz="2400" dirty="0"/>
          </a:p>
          <a:p>
            <a:pPr lvl="1" eaLnBrk="1" hangingPunct="1">
              <a:lnSpc>
                <a:spcPct val="90000"/>
              </a:lnSpc>
              <a:buFont typeface="Wingdings" panose="05000000000000000000" pitchFamily="2" charset="2"/>
              <a:buChar char="ü"/>
            </a:pPr>
            <a:r>
              <a:rPr lang="zh-CN" altLang="en-US" sz="2400" dirty="0"/>
              <a:t>实际中，大多数开发出的多项式时间的算法中幂次指数，系数，常数项都比较小。</a:t>
            </a:r>
            <a:endParaRPr lang="zh-CN" altLang="en-US" sz="2400" dirty="0"/>
          </a:p>
          <a:p>
            <a:pPr lvl="1" eaLnBrk="1" hangingPunct="1">
              <a:lnSpc>
                <a:spcPct val="90000"/>
              </a:lnSpc>
              <a:buFont typeface="Wingdings" panose="05000000000000000000" pitchFamily="2" charset="2"/>
              <a:buChar char="ü"/>
            </a:pPr>
            <a:r>
              <a:rPr lang="zh-CN" altLang="en-US" sz="2400" dirty="0"/>
              <a:t>一些最坏情形是指数阶复杂度的算法也可能广泛使用，这种情形极少出现。</a:t>
            </a:r>
            <a:endParaRPr lang="zh-CN" altLang="en-US" sz="2400" dirty="0"/>
          </a:p>
          <a:p>
            <a:pPr lvl="1" eaLnBrk="1" hangingPunct="1">
              <a:lnSpc>
                <a:spcPct val="90000"/>
              </a:lnSpc>
              <a:buFont typeface="Wingdings" panose="05000000000000000000" pitchFamily="2" charset="2"/>
              <a:buChar char="ü"/>
            </a:pPr>
            <a:r>
              <a:rPr lang="zh-CN" altLang="en-US" sz="2400" dirty="0"/>
              <a:t>能够改进</a:t>
            </a:r>
            <a:r>
              <a:rPr lang="zh-CN" altLang="en-US" sz="2400" dirty="0">
                <a:solidFill>
                  <a:srgbClr val="FF0000"/>
                </a:solidFill>
              </a:rPr>
              <a:t>指数阶</a:t>
            </a:r>
            <a:r>
              <a:rPr lang="zh-CN" altLang="en-US" sz="2400" dirty="0"/>
              <a:t>穷举算法的要点在于发现问题内在的一些特殊结构。贪心、分治、动态规划</a:t>
            </a:r>
            <a:endParaRPr lang="zh-CN" alt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34D87968-5328-435D-9C10-98EEE9E5FB54}" type="slidenum">
              <a:rPr lang="zh-CN" altLang="en-US"/>
            </a:fld>
            <a:endParaRPr lang="en-US" altLang="zh-CN"/>
          </a:p>
        </p:txBody>
      </p:sp>
      <p:sp>
        <p:nvSpPr>
          <p:cNvPr id="12291" name="Rectangle 2"/>
          <p:cNvSpPr>
            <a:spLocks noGrp="1" noChangeArrowheads="1"/>
          </p:cNvSpPr>
          <p:nvPr>
            <p:ph type="title"/>
          </p:nvPr>
        </p:nvSpPr>
        <p:spPr/>
        <p:txBody>
          <a:bodyPr/>
          <a:lstStyle/>
          <a:p>
            <a:pPr eaLnBrk="1" hangingPunct="1"/>
            <a:r>
              <a:rPr lang="zh-CN" altLang="en-US"/>
              <a:t>增长的渐进阶</a:t>
            </a:r>
            <a:endParaRPr lang="zh-CN" altLang="en-US"/>
          </a:p>
        </p:txBody>
      </p:sp>
      <p:sp>
        <p:nvSpPr>
          <p:cNvPr id="13315" name="Rectangle 3"/>
          <p:cNvSpPr>
            <a:spLocks noGrp="1" noChangeArrowheads="1"/>
          </p:cNvSpPr>
          <p:nvPr>
            <p:ph type="body" idx="1"/>
          </p:nvPr>
        </p:nvSpPr>
        <p:spPr>
          <a:xfrm>
            <a:off x="885790" y="1985189"/>
            <a:ext cx="7772400" cy="4114800"/>
          </a:xfrm>
        </p:spPr>
        <p:txBody>
          <a:bodyPr/>
          <a:lstStyle/>
          <a:p>
            <a:pPr eaLnBrk="1" hangingPunct="1"/>
            <a:r>
              <a:rPr lang="zh-CN" altLang="en-US" dirty="0"/>
              <a:t>为什么需要这样一个概念？</a:t>
            </a:r>
            <a:endParaRPr lang="zh-CN" altLang="en-US" dirty="0"/>
          </a:p>
          <a:p>
            <a:pPr eaLnBrk="1" hangingPunct="1">
              <a:buClr>
                <a:schemeClr val="hlink"/>
              </a:buClr>
              <a:buFont typeface="Wingdings" panose="05000000000000000000" pitchFamily="2" charset="2"/>
              <a:buChar char="ü"/>
            </a:pPr>
            <a:r>
              <a:rPr lang="zh-CN" altLang="en-US" dirty="0"/>
              <a:t>得到一个准确的界是很困难的；</a:t>
            </a:r>
            <a:endParaRPr lang="zh-CN" altLang="en-US" dirty="0"/>
          </a:p>
          <a:p>
            <a:pPr eaLnBrk="1" hangingPunct="1">
              <a:buClr>
                <a:schemeClr val="hlink"/>
              </a:buClr>
              <a:buFont typeface="Wingdings" panose="05000000000000000000" pitchFamily="2" charset="2"/>
              <a:buChar char="ü"/>
            </a:pPr>
            <a:r>
              <a:rPr lang="zh-CN" altLang="en-US" dirty="0"/>
              <a:t>我们的目标是识别具有类似行为算法的大类，按照</a:t>
            </a:r>
            <a:r>
              <a:rPr lang="zh-CN" altLang="en-US" b="1" dirty="0"/>
              <a:t>粗粒度</a:t>
            </a:r>
            <a:r>
              <a:rPr lang="zh-CN" altLang="en-US" dirty="0"/>
              <a:t>进行分析；</a:t>
            </a:r>
            <a:endParaRPr lang="zh-CN" altLang="en-US" dirty="0"/>
          </a:p>
          <a:p>
            <a:pPr eaLnBrk="1" hangingPunct="1">
              <a:buClr>
                <a:schemeClr val="hlink"/>
              </a:buClr>
              <a:buFont typeface="Wingdings" panose="05000000000000000000" pitchFamily="2" charset="2"/>
              <a:buChar char="ü"/>
            </a:pPr>
            <a:r>
              <a:rPr lang="zh-CN" altLang="en-US" dirty="0"/>
              <a:t>讨论算法执行的步数可能依赖于所使用的语言，因此复杂度的多项式系数会不一样。</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3315">
                                            <p:txEl>
                                              <p:pRg st="0" end="0"/>
                                            </p:txEl>
                                          </p:spTgt>
                                        </p:tgtEl>
                                        <p:attrNameLst>
                                          <p:attrName>style.visibility</p:attrName>
                                        </p:attrNameLst>
                                      </p:cBhvr>
                                      <p:to>
                                        <p:strVal val="visible"/>
                                      </p:to>
                                    </p:set>
                                    <p:anim calcmode="lin" valueType="num">
                                      <p:cBhvr additive="base">
                                        <p:cTn id="7" dur="500" fill="hold"/>
                                        <p:tgtEl>
                                          <p:spTgt spid="1331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331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3315">
                                            <p:txEl>
                                              <p:pRg st="1" end="1"/>
                                            </p:txEl>
                                          </p:spTgt>
                                        </p:tgtEl>
                                        <p:attrNameLst>
                                          <p:attrName>style.visibility</p:attrName>
                                        </p:attrNameLst>
                                      </p:cBhvr>
                                      <p:to>
                                        <p:strVal val="visible"/>
                                      </p:to>
                                    </p:set>
                                    <p:anim calcmode="lin" valueType="num">
                                      <p:cBhvr additive="base">
                                        <p:cTn id="13" dur="500" fill="hold"/>
                                        <p:tgtEl>
                                          <p:spTgt spid="13315">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331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3315">
                                            <p:txEl>
                                              <p:pRg st="2" end="2"/>
                                            </p:txEl>
                                          </p:spTgt>
                                        </p:tgtEl>
                                        <p:attrNameLst>
                                          <p:attrName>style.visibility</p:attrName>
                                        </p:attrNameLst>
                                      </p:cBhvr>
                                      <p:to>
                                        <p:strVal val="visible"/>
                                      </p:to>
                                    </p:set>
                                    <p:anim calcmode="lin" valueType="num">
                                      <p:cBhvr additive="base">
                                        <p:cTn id="19" dur="500" fill="hold"/>
                                        <p:tgtEl>
                                          <p:spTgt spid="13315">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331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3315">
                                            <p:txEl>
                                              <p:pRg st="3" end="3"/>
                                            </p:txEl>
                                          </p:spTgt>
                                        </p:tgtEl>
                                        <p:attrNameLst>
                                          <p:attrName>style.visibility</p:attrName>
                                        </p:attrNameLst>
                                      </p:cBhvr>
                                      <p:to>
                                        <p:strVal val="visible"/>
                                      </p:to>
                                    </p:set>
                                    <p:anim calcmode="lin" valueType="num">
                                      <p:cBhvr additive="base">
                                        <p:cTn id="25" dur="500" fill="hold"/>
                                        <p:tgtEl>
                                          <p:spTgt spid="13315">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3315">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 grpId="0" autoUpdateAnimBg="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p:txBody>
          <a:bodyPr/>
          <a:lstStyle/>
          <a:p>
            <a:r>
              <a:rPr lang="zh-CN" altLang="en-US" sz="2800" b="1">
                <a:solidFill>
                  <a:srgbClr val="0000FF"/>
                </a:solidFill>
              </a:rPr>
              <a:t>算法渐近复杂性</a:t>
            </a:r>
            <a:endParaRPr lang="zh-CN" altLang="en-US" sz="2800" b="1">
              <a:solidFill>
                <a:srgbClr val="0000FF"/>
              </a:solidFill>
            </a:endParaRPr>
          </a:p>
        </p:txBody>
      </p:sp>
      <p:sp>
        <p:nvSpPr>
          <p:cNvPr id="86019" name="Rectangle 3"/>
          <p:cNvSpPr>
            <a:spLocks noGrp="1" noChangeArrowheads="1"/>
          </p:cNvSpPr>
          <p:nvPr>
            <p:ph idx="1"/>
          </p:nvPr>
        </p:nvSpPr>
        <p:spPr>
          <a:xfrm>
            <a:off x="1257300" y="1773238"/>
            <a:ext cx="7772400" cy="4464050"/>
          </a:xfrm>
        </p:spPr>
        <p:txBody>
          <a:bodyPr/>
          <a:lstStyle/>
          <a:p>
            <a:pPr>
              <a:lnSpc>
                <a:spcPct val="150000"/>
              </a:lnSpc>
            </a:pPr>
            <a:r>
              <a:rPr lang="en-US" altLang="zh-CN" sz="2400" i="1" dirty="0"/>
              <a:t>T</a:t>
            </a:r>
            <a:r>
              <a:rPr lang="en-US" altLang="zh-CN" sz="2400" dirty="0"/>
              <a:t>(</a:t>
            </a:r>
            <a:r>
              <a:rPr lang="en-US" altLang="zh-CN" sz="2400" i="1" dirty="0"/>
              <a:t>n</a:t>
            </a:r>
            <a:r>
              <a:rPr lang="en-US" altLang="zh-CN" sz="2400" dirty="0"/>
              <a:t>) </a:t>
            </a:r>
            <a:r>
              <a:rPr lang="en-US" altLang="zh-CN" sz="2400" dirty="0">
                <a:sym typeface="Symbol" panose="05050102010706020507" pitchFamily="18" charset="2"/>
              </a:rPr>
              <a:t></a:t>
            </a:r>
            <a:r>
              <a:rPr lang="en-US" altLang="zh-CN" sz="2400" dirty="0"/>
              <a:t> ,  as </a:t>
            </a:r>
            <a:r>
              <a:rPr lang="en-US" altLang="zh-CN" sz="2400" i="1" dirty="0"/>
              <a:t>n</a:t>
            </a:r>
            <a:r>
              <a:rPr lang="en-US" altLang="zh-CN" sz="2400" dirty="0">
                <a:sym typeface="Symbol" panose="05050102010706020507" pitchFamily="18" charset="2"/>
              </a:rPr>
              <a:t></a:t>
            </a:r>
            <a:r>
              <a:rPr lang="en-US" altLang="zh-CN" sz="2400" dirty="0"/>
              <a:t> ;</a:t>
            </a:r>
            <a:endParaRPr lang="en-US" altLang="zh-CN" sz="2400" dirty="0"/>
          </a:p>
          <a:p>
            <a:pPr>
              <a:lnSpc>
                <a:spcPct val="150000"/>
              </a:lnSpc>
            </a:pPr>
            <a:r>
              <a:rPr lang="en-US" altLang="zh-CN" sz="2400" dirty="0"/>
              <a:t>(</a:t>
            </a:r>
            <a:r>
              <a:rPr lang="en-US" altLang="zh-CN" sz="2400" i="1" dirty="0"/>
              <a:t>T</a:t>
            </a:r>
            <a:r>
              <a:rPr lang="en-US" altLang="zh-CN" sz="2400" dirty="0"/>
              <a:t>(</a:t>
            </a:r>
            <a:r>
              <a:rPr lang="en-US" altLang="zh-CN" sz="2400" i="1" dirty="0"/>
              <a:t>n</a:t>
            </a:r>
            <a:r>
              <a:rPr lang="en-US" altLang="zh-CN" sz="2400" dirty="0"/>
              <a:t>) - </a:t>
            </a:r>
            <a:r>
              <a:rPr lang="en-US" altLang="zh-CN" sz="2400" i="1" dirty="0"/>
              <a:t>f</a:t>
            </a:r>
            <a:r>
              <a:rPr lang="en-US" altLang="zh-CN" sz="2400" dirty="0"/>
              <a:t>(</a:t>
            </a:r>
            <a:r>
              <a:rPr lang="en-US" altLang="zh-CN" sz="2400" i="1" dirty="0"/>
              <a:t>n</a:t>
            </a:r>
            <a:r>
              <a:rPr lang="en-US" altLang="zh-CN" sz="2400" dirty="0"/>
              <a:t>) )/ </a:t>
            </a:r>
            <a:r>
              <a:rPr lang="en-US" altLang="zh-CN" sz="2400" i="1" dirty="0"/>
              <a:t>T</a:t>
            </a:r>
            <a:r>
              <a:rPr lang="en-US" altLang="zh-CN" sz="2400" dirty="0"/>
              <a:t>(</a:t>
            </a:r>
            <a:r>
              <a:rPr lang="en-US" altLang="zh-CN" sz="2400" i="1" dirty="0"/>
              <a:t>n</a:t>
            </a:r>
            <a:r>
              <a:rPr lang="en-US" altLang="zh-CN" sz="2400" dirty="0"/>
              <a:t>) </a:t>
            </a:r>
            <a:r>
              <a:rPr lang="en-US" altLang="zh-CN" sz="2400" dirty="0">
                <a:sym typeface="Symbol" panose="05050102010706020507" pitchFamily="18" charset="2"/>
              </a:rPr>
              <a:t>0</a:t>
            </a:r>
            <a:r>
              <a:rPr lang="en-US" altLang="zh-CN" sz="2400" dirty="0"/>
              <a:t> </a:t>
            </a:r>
            <a:r>
              <a:rPr lang="zh-CN" altLang="en-US" sz="2400" dirty="0"/>
              <a:t>，</a:t>
            </a:r>
            <a:r>
              <a:rPr lang="en-US" altLang="zh-CN" sz="2400" dirty="0"/>
              <a:t>as  </a:t>
            </a:r>
            <a:r>
              <a:rPr lang="en-US" altLang="zh-CN" sz="2400" i="1" dirty="0"/>
              <a:t>n</a:t>
            </a:r>
            <a:r>
              <a:rPr lang="en-US" altLang="zh-CN" sz="2400" dirty="0">
                <a:sym typeface="Symbol" panose="05050102010706020507" pitchFamily="18" charset="2"/>
              </a:rPr>
              <a:t>;</a:t>
            </a:r>
            <a:endParaRPr lang="en-US" altLang="zh-CN" sz="2400" dirty="0">
              <a:sym typeface="Symbol" panose="05050102010706020507" pitchFamily="18" charset="2"/>
            </a:endParaRPr>
          </a:p>
          <a:p>
            <a:pPr>
              <a:lnSpc>
                <a:spcPct val="150000"/>
              </a:lnSpc>
            </a:pPr>
            <a:r>
              <a:rPr lang="en-US" altLang="zh-CN" sz="2400" i="1" dirty="0"/>
              <a:t>f</a:t>
            </a:r>
            <a:r>
              <a:rPr lang="en-US" altLang="zh-CN" sz="2400" dirty="0"/>
              <a:t>(</a:t>
            </a:r>
            <a:r>
              <a:rPr lang="en-US" altLang="zh-CN" sz="2400" i="1" dirty="0"/>
              <a:t>n</a:t>
            </a:r>
            <a:r>
              <a:rPr lang="en-US" altLang="zh-CN" sz="2400" dirty="0"/>
              <a:t>)</a:t>
            </a:r>
            <a:r>
              <a:rPr lang="zh-CN" altLang="en-US" sz="2400" dirty="0"/>
              <a:t>是</a:t>
            </a:r>
            <a:r>
              <a:rPr lang="en-US" altLang="zh-CN" sz="2400" i="1" dirty="0"/>
              <a:t>T</a:t>
            </a:r>
            <a:r>
              <a:rPr lang="en-US" altLang="zh-CN" sz="2400" dirty="0"/>
              <a:t>(</a:t>
            </a:r>
            <a:r>
              <a:rPr lang="en-US" altLang="zh-CN" sz="2400" i="1" dirty="0"/>
              <a:t>n</a:t>
            </a:r>
            <a:r>
              <a:rPr lang="en-US" altLang="zh-CN" sz="2400" dirty="0"/>
              <a:t>)</a:t>
            </a:r>
            <a:r>
              <a:rPr lang="zh-CN" altLang="en-US" sz="2400" dirty="0"/>
              <a:t>的渐近性态，为算法的渐近复杂性。</a:t>
            </a:r>
            <a:endParaRPr lang="zh-CN" altLang="en-US" sz="2400" dirty="0"/>
          </a:p>
          <a:p>
            <a:pPr>
              <a:lnSpc>
                <a:spcPct val="150000"/>
              </a:lnSpc>
            </a:pPr>
            <a:r>
              <a:rPr lang="zh-CN" altLang="en-US" sz="2400" dirty="0"/>
              <a:t>在数学上， </a:t>
            </a:r>
            <a:r>
              <a:rPr lang="en-US" altLang="zh-CN" sz="2400" i="1" dirty="0"/>
              <a:t>f</a:t>
            </a:r>
            <a:r>
              <a:rPr lang="en-US" altLang="zh-CN" sz="2400" dirty="0"/>
              <a:t>(</a:t>
            </a:r>
            <a:r>
              <a:rPr lang="en-US" altLang="zh-CN" sz="2400" i="1" dirty="0"/>
              <a:t>n</a:t>
            </a:r>
            <a:r>
              <a:rPr lang="en-US" altLang="zh-CN" sz="2400" dirty="0"/>
              <a:t>)</a:t>
            </a:r>
            <a:r>
              <a:rPr lang="zh-CN" altLang="en-US" sz="2400" dirty="0"/>
              <a:t>是</a:t>
            </a:r>
            <a:r>
              <a:rPr lang="en-US" altLang="zh-CN" sz="2400" i="1" dirty="0"/>
              <a:t>T</a:t>
            </a:r>
            <a:r>
              <a:rPr lang="en-US" altLang="zh-CN" sz="2400" dirty="0"/>
              <a:t>(</a:t>
            </a:r>
            <a:r>
              <a:rPr lang="en-US" altLang="zh-CN" sz="2400" i="1" dirty="0"/>
              <a:t>n</a:t>
            </a:r>
            <a:r>
              <a:rPr lang="en-US" altLang="zh-CN" sz="2400" dirty="0"/>
              <a:t>)</a:t>
            </a:r>
            <a:r>
              <a:rPr lang="zh-CN" altLang="en-US" sz="2400" dirty="0"/>
              <a:t>的渐近表达式，是</a:t>
            </a:r>
            <a:r>
              <a:rPr lang="en-US" altLang="zh-CN" sz="2400" i="1" dirty="0"/>
              <a:t>T</a:t>
            </a:r>
            <a:r>
              <a:rPr lang="en-US" altLang="zh-CN" sz="2400" dirty="0"/>
              <a:t>(</a:t>
            </a:r>
            <a:r>
              <a:rPr lang="en-US" altLang="zh-CN" sz="2400" i="1" dirty="0"/>
              <a:t>n</a:t>
            </a:r>
            <a:r>
              <a:rPr lang="en-US" altLang="zh-CN" sz="2400" dirty="0"/>
              <a:t>)</a:t>
            </a:r>
            <a:r>
              <a:rPr lang="zh-CN" altLang="en-US" sz="2400" dirty="0"/>
              <a:t>略去低阶项留下的主项。它比</a:t>
            </a:r>
            <a:r>
              <a:rPr lang="en-US" altLang="zh-CN" sz="2400" i="1" dirty="0"/>
              <a:t>T</a:t>
            </a:r>
            <a:r>
              <a:rPr lang="en-US" altLang="zh-CN" sz="2400" dirty="0"/>
              <a:t>(</a:t>
            </a:r>
            <a:r>
              <a:rPr lang="en-US" altLang="zh-CN" sz="2400" i="1" dirty="0"/>
              <a:t>n</a:t>
            </a:r>
            <a:r>
              <a:rPr lang="en-US" altLang="zh-CN" sz="2400" dirty="0"/>
              <a:t>) </a:t>
            </a:r>
            <a:r>
              <a:rPr lang="zh-CN" altLang="en-US" sz="2400" dirty="0"/>
              <a:t>简单。</a:t>
            </a:r>
            <a:endParaRPr lang="zh-CN" altLang="en-US" sz="2400" dirty="0"/>
          </a:p>
        </p:txBody>
      </p:sp>
      <p:sp>
        <p:nvSpPr>
          <p:cNvPr id="3" name="文本框 2"/>
          <p:cNvSpPr txBox="1"/>
          <p:nvPr/>
        </p:nvSpPr>
        <p:spPr>
          <a:xfrm>
            <a:off x="1475656" y="5013176"/>
            <a:ext cx="6696744" cy="1077218"/>
          </a:xfrm>
          <a:prstGeom prst="rect">
            <a:avLst/>
          </a:prstGeom>
          <a:noFill/>
        </p:spPr>
        <p:txBody>
          <a:bodyPr wrap="square">
            <a:spAutoFit/>
          </a:bodyPr>
          <a:lstStyle/>
          <a:p>
            <a:r>
              <a:rPr lang="zh-CN" altLang="en-US" sz="3200" dirty="0"/>
              <a:t>例子 </a:t>
            </a:r>
            <a:r>
              <a:rPr lang="en-US" altLang="zh-CN" sz="3200" dirty="0"/>
              <a:t>T(n)=n</a:t>
            </a:r>
            <a:r>
              <a:rPr lang="en-US" altLang="zh-CN" sz="3200" baseline="30000" dirty="0"/>
              <a:t>2</a:t>
            </a:r>
            <a:r>
              <a:rPr lang="en-US" altLang="zh-CN" sz="3200" dirty="0"/>
              <a:t>+nlogn+...</a:t>
            </a:r>
            <a:endParaRPr lang="en-US" altLang="zh-CN" sz="3200" dirty="0"/>
          </a:p>
          <a:p>
            <a:r>
              <a:rPr lang="en-US" altLang="zh-CN" sz="3200" dirty="0"/>
              <a:t>    f(n)= n</a:t>
            </a:r>
            <a:r>
              <a:rPr lang="en-US" altLang="zh-CN" sz="3200" baseline="30000" dirty="0"/>
              <a:t>2</a:t>
            </a:r>
            <a:endParaRPr lang="en-US" altLang="zh-CN" sz="3200" dirty="0"/>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pPr>
              <a:defRPr/>
            </a:pPr>
            <a:fld id="{3BEE7FC2-7FEA-4A05-99B0-375452D22450}" type="slidenum">
              <a:rPr lang="zh-CN" altLang="en-US"/>
            </a:fld>
            <a:endParaRPr lang="en-US" altLang="zh-CN"/>
          </a:p>
        </p:txBody>
      </p:sp>
      <p:sp>
        <p:nvSpPr>
          <p:cNvPr id="13315" name="Rectangle 2"/>
          <p:cNvSpPr>
            <a:spLocks noGrp="1" noChangeArrowheads="1"/>
          </p:cNvSpPr>
          <p:nvPr>
            <p:ph type="title"/>
          </p:nvPr>
        </p:nvSpPr>
        <p:spPr/>
        <p:txBody>
          <a:bodyPr/>
          <a:lstStyle/>
          <a:p>
            <a:pPr eaLnBrk="1" hangingPunct="1"/>
            <a:r>
              <a:rPr lang="zh-CN" altLang="en-US"/>
              <a:t>复杂度符号</a:t>
            </a:r>
            <a:endParaRPr lang="zh-CN" altLang="en-US"/>
          </a:p>
        </p:txBody>
      </p:sp>
      <p:sp>
        <p:nvSpPr>
          <p:cNvPr id="13316" name="Rectangle 3"/>
          <p:cNvSpPr>
            <a:spLocks noGrp="1" noChangeArrowheads="1"/>
          </p:cNvSpPr>
          <p:nvPr>
            <p:ph type="body" idx="1"/>
          </p:nvPr>
        </p:nvSpPr>
        <p:spPr>
          <a:xfrm>
            <a:off x="971600" y="2125662"/>
            <a:ext cx="7504112" cy="4114800"/>
          </a:xfrm>
        </p:spPr>
        <p:txBody>
          <a:bodyPr/>
          <a:lstStyle/>
          <a:p>
            <a:pPr eaLnBrk="1" hangingPunct="1"/>
            <a:r>
              <a:rPr lang="zh-CN" altLang="en-US" dirty="0"/>
              <a:t>因为上述原因，希望以不受常数因子，低项影响的方式表达运行时间的增长率。</a:t>
            </a:r>
            <a:endParaRPr lang="zh-CN" altLang="en-US" dirty="0"/>
          </a:p>
          <a:p>
            <a:pPr eaLnBrk="1" hangingPunct="1"/>
            <a:endParaRPr lang="zh-CN" altLang="en-US" dirty="0"/>
          </a:p>
          <a:p>
            <a:pPr eaLnBrk="1" hangingPunct="1"/>
            <a:r>
              <a:rPr lang="en-US" altLang="zh-CN" dirty="0"/>
              <a:t> </a:t>
            </a:r>
            <a:endParaRPr lang="en-US" altLang="zh-CN" dirty="0"/>
          </a:p>
        </p:txBody>
      </p:sp>
      <p:graphicFrame>
        <p:nvGraphicFramePr>
          <p:cNvPr id="13317" name="Object 4"/>
          <p:cNvGraphicFramePr>
            <a:graphicFrameLocks noChangeAspect="1"/>
          </p:cNvGraphicFramePr>
          <p:nvPr/>
        </p:nvGraphicFramePr>
        <p:xfrm>
          <a:off x="1475656" y="3813580"/>
          <a:ext cx="1800200" cy="738971"/>
        </p:xfrm>
        <a:graphic>
          <a:graphicData uri="http://schemas.openxmlformats.org/presentationml/2006/ole">
            <mc:AlternateContent xmlns:mc="http://schemas.openxmlformats.org/markup-compatibility/2006">
              <mc:Choice xmlns:v="urn:schemas-microsoft-com:vml" Requires="v">
                <p:oleObj spid="_x0000_s2" name="Equation" r:id="rId1" imgW="494665" imgH="203200" progId="Equation.3">
                  <p:embed/>
                </p:oleObj>
              </mc:Choice>
              <mc:Fallback>
                <p:oleObj name="Equation" r:id="rId1" imgW="494665" imgH="203200"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5656" y="3813580"/>
                        <a:ext cx="1800200" cy="738971"/>
                      </a:xfrm>
                      <a:prstGeom prst="rect">
                        <a:avLst/>
                      </a:prstGeom>
                      <a:noFill/>
                      <a:ln>
                        <a:noFill/>
                      </a:ln>
                      <a:effectLst/>
                    </p:spPr>
                  </p:pic>
                </p:oleObj>
              </mc:Fallback>
            </mc:AlternateContent>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34D87968-5328-435D-9C10-98EEE9E5FB54}" type="slidenum">
              <a:rPr lang="zh-CN" altLang="en-US"/>
            </a:fld>
            <a:endParaRPr lang="en-US" altLang="zh-CN"/>
          </a:p>
        </p:txBody>
      </p:sp>
      <p:sp>
        <p:nvSpPr>
          <p:cNvPr id="12291" name="Rectangle 2"/>
          <p:cNvSpPr>
            <a:spLocks noGrp="1" noChangeArrowheads="1"/>
          </p:cNvSpPr>
          <p:nvPr>
            <p:ph type="title"/>
          </p:nvPr>
        </p:nvSpPr>
        <p:spPr/>
        <p:txBody>
          <a:bodyPr/>
          <a:lstStyle/>
          <a:p>
            <a:pPr eaLnBrk="1" hangingPunct="1"/>
            <a:r>
              <a:rPr lang="zh-CN" altLang="en-US" dirty="0"/>
              <a:t>复杂度符号</a:t>
            </a:r>
            <a:endParaRPr lang="zh-CN" altLang="en-US" dirty="0"/>
          </a:p>
        </p:txBody>
      </p:sp>
      <p:pic>
        <p:nvPicPr>
          <p:cNvPr id="13" name="屏幕录制 12">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715967" y="1991523"/>
            <a:ext cx="7970837" cy="4237037"/>
          </a:xfrm>
          <a:prstGeom prst="rect">
            <a:avLst/>
          </a:prstGeom>
        </p:spPr>
      </p:pic>
      <p:sp>
        <p:nvSpPr>
          <p:cNvPr id="2" name="内容占位符 1"/>
          <p:cNvSpPr>
            <a:spLocks noGrp="1"/>
          </p:cNvSpPr>
          <p:nvPr>
            <p:ph idx="1"/>
          </p:nvPr>
        </p:nvSpPr>
        <p:spPr/>
        <p:txBody>
          <a:bodyPr/>
          <a:lstStyle/>
          <a:p>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34143"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3"/>
                </p:tgtEl>
              </p:cMediaNode>
            </p:video>
            <p:seq concurrent="1" nextAc="seek">
              <p:cTn id="8" restart="whenNotActive" fill="hold" evtFilter="cancelBubble" nodeType="interactiveSeq">
                <p:stCondLst>
                  <p:cond evt="onClick" delay="0">
                    <p:tgtEl>
                      <p:spTgt spid="1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3"/>
                                        </p:tgtEl>
                                      </p:cBhvr>
                                    </p:cmd>
                                  </p:childTnLst>
                                </p:cTn>
                              </p:par>
                            </p:childTnLst>
                          </p:cTn>
                        </p:par>
                      </p:childTnLst>
                    </p:cTn>
                  </p:par>
                </p:childTnLst>
              </p:cTn>
              <p:nextCondLst>
                <p:cond evt="onClick" delay="0">
                  <p:tgtEl>
                    <p:spTgt spid="13"/>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1B755ED0-D134-4235-9420-9790FBC3083A}" type="slidenum">
              <a:rPr lang="zh-CN" altLang="en-US"/>
            </a:fld>
            <a:endParaRPr lang="en-US" altLang="zh-CN"/>
          </a:p>
        </p:txBody>
      </p:sp>
      <p:sp>
        <p:nvSpPr>
          <p:cNvPr id="14339" name="Rectangle 2"/>
          <p:cNvSpPr>
            <a:spLocks noGrp="1" noChangeArrowheads="1"/>
          </p:cNvSpPr>
          <p:nvPr>
            <p:ph type="title"/>
          </p:nvPr>
        </p:nvSpPr>
        <p:spPr/>
        <p:txBody>
          <a:bodyPr/>
          <a:lstStyle/>
          <a:p>
            <a:pPr eaLnBrk="1" hangingPunct="1"/>
            <a:r>
              <a:rPr lang="zh-CN" altLang="en-US"/>
              <a:t>复杂度符号</a:t>
            </a:r>
            <a:endParaRPr lang="zh-CN" altLang="en-US"/>
          </a:p>
        </p:txBody>
      </p:sp>
      <p:sp>
        <p:nvSpPr>
          <p:cNvPr id="14340" name="Rectangle 3"/>
          <p:cNvSpPr>
            <a:spLocks noGrp="1" noChangeArrowheads="1"/>
          </p:cNvSpPr>
          <p:nvPr>
            <p:ph type="body" idx="1"/>
          </p:nvPr>
        </p:nvSpPr>
        <p:spPr>
          <a:xfrm>
            <a:off x="685800" y="2115885"/>
            <a:ext cx="7772400" cy="4114800"/>
          </a:xfrm>
        </p:spPr>
        <p:txBody>
          <a:bodyPr/>
          <a:lstStyle/>
          <a:p>
            <a:pPr algn="just" eaLnBrk="1" hangingPunct="1">
              <a:lnSpc>
                <a:spcPct val="90000"/>
              </a:lnSpc>
            </a:pPr>
            <a:r>
              <a:rPr lang="zh-CN" altLang="en-US" sz="2800" b="1" dirty="0"/>
              <a:t>渐进的上界</a:t>
            </a:r>
            <a:r>
              <a:rPr lang="en-US" altLang="zh-CN" sz="2800" dirty="0"/>
              <a:t>. </a:t>
            </a:r>
            <a:r>
              <a:rPr lang="zh-CN" altLang="en-US" sz="2800" dirty="0"/>
              <a:t>如果存在常数</a:t>
            </a:r>
            <a:r>
              <a:rPr lang="en-US" altLang="zh-CN" sz="2800" dirty="0"/>
              <a:t>c &gt; 0 </a:t>
            </a:r>
            <a:r>
              <a:rPr lang="zh-CN" altLang="en-US" sz="2800" dirty="0"/>
              <a:t>和</a:t>
            </a:r>
            <a:r>
              <a:rPr lang="en-US" altLang="zh-CN" sz="2800" dirty="0"/>
              <a:t> n</a:t>
            </a:r>
            <a:r>
              <a:rPr lang="en-US" altLang="zh-CN" sz="2800" baseline="-25000" dirty="0"/>
              <a:t>0</a:t>
            </a:r>
            <a:r>
              <a:rPr lang="en-US" altLang="zh-CN" sz="2800" dirty="0"/>
              <a:t> </a:t>
            </a:r>
            <a:r>
              <a:rPr lang="en-US" altLang="zh-CN" sz="2800" dirty="0">
                <a:sym typeface="Symbol" panose="05050102010706020507" pitchFamily="18" charset="2"/>
              </a:rPr>
              <a:t> 0</a:t>
            </a:r>
            <a:r>
              <a:rPr lang="zh-CN" altLang="en-US" sz="2800" dirty="0">
                <a:sym typeface="Symbol" panose="05050102010706020507" pitchFamily="18" charset="2"/>
              </a:rPr>
              <a:t>，使得对于所有</a:t>
            </a:r>
            <a:r>
              <a:rPr lang="en-US" altLang="zh-CN" sz="2800" dirty="0">
                <a:sym typeface="Symbol" panose="05050102010706020507" pitchFamily="18" charset="2"/>
              </a:rPr>
              <a:t>n  </a:t>
            </a:r>
            <a:r>
              <a:rPr lang="en-US" altLang="zh-CN" sz="2800" dirty="0"/>
              <a:t>n</a:t>
            </a:r>
            <a:r>
              <a:rPr lang="en-US" altLang="zh-CN" sz="2800" baseline="-25000" dirty="0"/>
              <a:t>0</a:t>
            </a:r>
            <a:r>
              <a:rPr lang="zh-CN" altLang="en-US" sz="2800" dirty="0"/>
              <a:t>都有</a:t>
            </a:r>
            <a:r>
              <a:rPr lang="en-US" altLang="zh-CN" sz="2800" dirty="0">
                <a:sym typeface="Symbol" panose="05050102010706020507" pitchFamily="18" charset="2"/>
              </a:rPr>
              <a:t>T(n)  c </a:t>
            </a:r>
            <a:r>
              <a:rPr lang="en-US" altLang="zh-CN" sz="2800" dirty="0">
                <a:latin typeface="Comic Sans MS" panose="030F0702030302020204" pitchFamily="66" charset="0"/>
                <a:sym typeface="Symbol" panose="05050102010706020507" pitchFamily="18" charset="2"/>
              </a:rPr>
              <a:t>·</a:t>
            </a:r>
            <a:r>
              <a:rPr lang="en-US" altLang="zh-CN" sz="2800" dirty="0">
                <a:sym typeface="Symbol" panose="05050102010706020507" pitchFamily="18" charset="2"/>
              </a:rPr>
              <a:t> f(n)</a:t>
            </a:r>
            <a:r>
              <a:rPr lang="zh-CN" altLang="en-US" sz="2800" dirty="0">
                <a:sym typeface="Symbol" panose="05050102010706020507" pitchFamily="18" charset="2"/>
              </a:rPr>
              <a:t>，那么</a:t>
            </a:r>
            <a:r>
              <a:rPr lang="en-US" altLang="zh-CN" sz="2800" dirty="0"/>
              <a:t>T(n) </a:t>
            </a:r>
            <a:r>
              <a:rPr lang="zh-CN" altLang="en-US" sz="2800" dirty="0"/>
              <a:t>是</a:t>
            </a:r>
            <a:r>
              <a:rPr lang="en-US" altLang="zh-CN" sz="2800" dirty="0"/>
              <a:t> O(f(n)) </a:t>
            </a:r>
            <a:endParaRPr lang="en-US" altLang="zh-CN" sz="2800" dirty="0"/>
          </a:p>
          <a:p>
            <a:pPr marL="0" indent="0" algn="just" eaLnBrk="1" hangingPunct="1">
              <a:lnSpc>
                <a:spcPct val="90000"/>
              </a:lnSpc>
              <a:buNone/>
            </a:pPr>
            <a:r>
              <a:rPr lang="en-US" altLang="zh-CN" sz="2800" dirty="0"/>
              <a:t>    (T(n)=O(f(n)</a:t>
            </a:r>
            <a:r>
              <a:rPr lang="zh-CN" altLang="en-US" sz="2800" dirty="0"/>
              <a:t>，读作</a:t>
            </a:r>
            <a:r>
              <a:rPr lang="en-US" altLang="zh-CN" sz="2800" dirty="0"/>
              <a:t>T(n) </a:t>
            </a:r>
            <a:r>
              <a:rPr lang="zh-CN" altLang="en-US" sz="2800" dirty="0"/>
              <a:t>是</a:t>
            </a:r>
            <a:r>
              <a:rPr lang="en-US" altLang="zh-CN" sz="2800" dirty="0"/>
              <a:t> f(n)</a:t>
            </a:r>
            <a:r>
              <a:rPr lang="zh-CN" altLang="en-US" sz="2800" dirty="0"/>
              <a:t>阶的</a:t>
            </a:r>
            <a:r>
              <a:rPr lang="en-US" altLang="zh-CN" sz="2800" dirty="0"/>
              <a:t>)</a:t>
            </a:r>
            <a:r>
              <a:rPr lang="en-US" altLang="zh-CN" sz="2800" dirty="0">
                <a:sym typeface="Symbol" panose="05050102010706020507" pitchFamily="18" charset="2"/>
              </a:rPr>
              <a:t>.</a:t>
            </a:r>
            <a:endParaRPr lang="en-US" altLang="zh-CN" sz="2800" dirty="0">
              <a:sym typeface="Symbol" panose="05050102010706020507" pitchFamily="18" charset="2"/>
            </a:endParaRPr>
          </a:p>
          <a:p>
            <a:pPr algn="just" eaLnBrk="1" hangingPunct="1">
              <a:lnSpc>
                <a:spcPct val="90000"/>
              </a:lnSpc>
            </a:pPr>
            <a:r>
              <a:rPr lang="zh-CN" altLang="en-US" sz="2800" b="1" dirty="0"/>
              <a:t>渐进的下界</a:t>
            </a:r>
            <a:r>
              <a:rPr lang="en-US" altLang="zh-CN" sz="2800" dirty="0"/>
              <a:t>. </a:t>
            </a:r>
            <a:r>
              <a:rPr lang="zh-CN" altLang="en-US" sz="2800" dirty="0"/>
              <a:t>如果存在常数</a:t>
            </a:r>
            <a:r>
              <a:rPr lang="en-US" altLang="zh-CN" sz="2800" dirty="0"/>
              <a:t>c &gt; 0 </a:t>
            </a:r>
            <a:r>
              <a:rPr lang="zh-CN" altLang="en-US" sz="2800" dirty="0"/>
              <a:t>和</a:t>
            </a:r>
            <a:r>
              <a:rPr lang="en-US" altLang="zh-CN" sz="2800" dirty="0"/>
              <a:t> n</a:t>
            </a:r>
            <a:r>
              <a:rPr lang="en-US" altLang="zh-CN" sz="2800" baseline="-25000" dirty="0"/>
              <a:t>0</a:t>
            </a:r>
            <a:r>
              <a:rPr lang="en-US" altLang="zh-CN" sz="2800" dirty="0"/>
              <a:t> </a:t>
            </a:r>
            <a:r>
              <a:rPr lang="en-US" altLang="zh-CN" sz="2800" dirty="0">
                <a:sym typeface="Symbol" panose="05050102010706020507" pitchFamily="18" charset="2"/>
              </a:rPr>
              <a:t> 0</a:t>
            </a:r>
            <a:r>
              <a:rPr lang="zh-CN" altLang="en-US" sz="2800" dirty="0">
                <a:sym typeface="Symbol" panose="05050102010706020507" pitchFamily="18" charset="2"/>
              </a:rPr>
              <a:t>，使得对于所有</a:t>
            </a:r>
            <a:r>
              <a:rPr lang="en-US" altLang="zh-CN" sz="2800" dirty="0">
                <a:sym typeface="Symbol" panose="05050102010706020507" pitchFamily="18" charset="2"/>
              </a:rPr>
              <a:t>n  </a:t>
            </a:r>
            <a:r>
              <a:rPr lang="en-US" altLang="zh-CN" sz="2800" dirty="0"/>
              <a:t>n</a:t>
            </a:r>
            <a:r>
              <a:rPr lang="en-US" altLang="zh-CN" sz="2800" baseline="-25000" dirty="0"/>
              <a:t>0</a:t>
            </a:r>
            <a:r>
              <a:rPr lang="en-US" altLang="zh-CN" sz="2800" dirty="0"/>
              <a:t> </a:t>
            </a:r>
            <a:r>
              <a:rPr lang="zh-CN" altLang="en-US" sz="2800" dirty="0">
                <a:sym typeface="Symbol" panose="05050102010706020507" pitchFamily="18" charset="2"/>
              </a:rPr>
              <a:t>都有</a:t>
            </a:r>
            <a:r>
              <a:rPr lang="en-US" altLang="zh-CN" sz="2800" dirty="0">
                <a:sym typeface="Symbol" panose="05050102010706020507" pitchFamily="18" charset="2"/>
              </a:rPr>
              <a:t>T(n)  c </a:t>
            </a:r>
            <a:r>
              <a:rPr lang="en-US" altLang="zh-CN" sz="2800" dirty="0">
                <a:latin typeface="Comic Sans MS" panose="030F0702030302020204" pitchFamily="66" charset="0"/>
                <a:sym typeface="Symbol" panose="05050102010706020507" pitchFamily="18" charset="2"/>
              </a:rPr>
              <a:t>·</a:t>
            </a:r>
            <a:r>
              <a:rPr lang="en-US" altLang="zh-CN" sz="2800" dirty="0">
                <a:sym typeface="Symbol" panose="05050102010706020507" pitchFamily="18" charset="2"/>
              </a:rPr>
              <a:t> f(n)</a:t>
            </a:r>
            <a:r>
              <a:rPr lang="zh-CN" altLang="en-US" sz="2800" dirty="0">
                <a:sym typeface="Symbol" panose="05050102010706020507" pitchFamily="18" charset="2"/>
              </a:rPr>
              <a:t>，那么</a:t>
            </a:r>
            <a:r>
              <a:rPr lang="en-US" altLang="zh-CN" sz="2800" dirty="0"/>
              <a:t>T(n) </a:t>
            </a:r>
            <a:r>
              <a:rPr lang="zh-CN" altLang="en-US" sz="2800" dirty="0"/>
              <a:t>是</a:t>
            </a:r>
            <a:r>
              <a:rPr lang="en-US" altLang="zh-CN" sz="2800" dirty="0"/>
              <a:t> </a:t>
            </a:r>
            <a:r>
              <a:rPr lang="en-US" altLang="zh-CN" sz="2800" dirty="0">
                <a:sym typeface="Symbol" panose="05050102010706020507" pitchFamily="18" charset="2"/>
              </a:rPr>
              <a:t></a:t>
            </a:r>
            <a:r>
              <a:rPr lang="en-US" altLang="zh-CN" sz="2800" dirty="0"/>
              <a:t>(f(n))</a:t>
            </a:r>
            <a:r>
              <a:rPr lang="en-US" altLang="zh-CN" sz="2800" dirty="0">
                <a:sym typeface="Symbol" panose="05050102010706020507" pitchFamily="18" charset="2"/>
              </a:rPr>
              <a:t>.</a:t>
            </a:r>
            <a:endParaRPr lang="en-US" altLang="zh-CN" sz="2800" dirty="0">
              <a:sym typeface="Symbol" panose="05050102010706020507" pitchFamily="18" charset="2"/>
            </a:endParaRPr>
          </a:p>
          <a:p>
            <a:pPr marL="0" indent="0" eaLnBrk="1" hangingPunct="1">
              <a:lnSpc>
                <a:spcPct val="90000"/>
              </a:lnSpc>
              <a:buNone/>
            </a:pPr>
            <a:r>
              <a:rPr lang="en-US" altLang="zh-CN" sz="2800" dirty="0"/>
              <a:t>   (T(n)=</a:t>
            </a:r>
            <a:r>
              <a:rPr lang="en-US" altLang="zh-CN" sz="1800" dirty="0">
                <a:solidFill>
                  <a:srgbClr val="000000"/>
                </a:solidFill>
                <a:latin typeface="Tahoma" panose="020B0604030504040204" pitchFamily="34" charset="0"/>
                <a:ea typeface="宋体" panose="02010600030101010101" pitchFamily="2" charset="-122"/>
                <a:sym typeface="Symbol" panose="05050102010706020507" pitchFamily="18" charset="2"/>
              </a:rPr>
              <a:t> </a:t>
            </a:r>
            <a:r>
              <a:rPr lang="en-US" altLang="zh-CN" sz="2800" dirty="0">
                <a:solidFill>
                  <a:srgbClr val="000000"/>
                </a:solidFill>
                <a:latin typeface="Tahoma" panose="020B0604030504040204" pitchFamily="34" charset="0"/>
                <a:ea typeface="宋体" panose="02010600030101010101" pitchFamily="2" charset="-122"/>
                <a:sym typeface="Symbol" panose="05050102010706020507" pitchFamily="18" charset="2"/>
              </a:rPr>
              <a:t></a:t>
            </a:r>
            <a:r>
              <a:rPr lang="en-US" altLang="zh-CN" sz="2800" dirty="0">
                <a:solidFill>
                  <a:srgbClr val="000000"/>
                </a:solidFill>
                <a:latin typeface="Tahoma" panose="020B0604030504040204" pitchFamily="34" charset="0"/>
                <a:ea typeface="宋体" panose="02010600030101010101" pitchFamily="2" charset="-122"/>
              </a:rPr>
              <a:t>(f(n) </a:t>
            </a:r>
            <a:r>
              <a:rPr lang="zh-CN" altLang="en-US" sz="2800" dirty="0"/>
              <a:t>，</a:t>
            </a:r>
            <a:r>
              <a:rPr lang="en-US" altLang="zh-CN" sz="2800" dirty="0"/>
              <a:t>f(n)</a:t>
            </a:r>
            <a:r>
              <a:rPr lang="zh-CN" altLang="en-US" sz="2800" dirty="0"/>
              <a:t>是</a:t>
            </a:r>
            <a:r>
              <a:rPr lang="en-US" altLang="zh-CN" sz="2800" dirty="0"/>
              <a:t>T(n)</a:t>
            </a:r>
            <a:r>
              <a:rPr lang="zh-CN" altLang="en-US" sz="2800" dirty="0"/>
              <a:t>的渐进下界</a:t>
            </a:r>
            <a:r>
              <a:rPr lang="en-US" altLang="zh-CN" sz="2800" dirty="0"/>
              <a:t>)</a:t>
            </a:r>
            <a:r>
              <a:rPr lang="en-US" altLang="zh-CN" sz="2800" dirty="0">
                <a:sym typeface="Symbol" panose="05050102010706020507" pitchFamily="18" charset="2"/>
              </a:rPr>
              <a:t>.</a:t>
            </a:r>
            <a:endParaRPr lang="en-US" altLang="zh-CN" sz="2800" dirty="0">
              <a:sym typeface="Symbol" panose="05050102010706020507" pitchFamily="18" charset="2"/>
            </a:endParaRPr>
          </a:p>
          <a:p>
            <a:pPr eaLnBrk="1" hangingPunct="1">
              <a:lnSpc>
                <a:spcPct val="90000"/>
              </a:lnSpc>
            </a:pPr>
            <a:r>
              <a:rPr lang="zh-CN" altLang="en-US" sz="2800" b="1" dirty="0"/>
              <a:t>渐进的紧的界</a:t>
            </a:r>
            <a:r>
              <a:rPr lang="en-US" altLang="zh-CN" sz="2800" dirty="0"/>
              <a:t>. </a:t>
            </a:r>
            <a:r>
              <a:rPr lang="zh-CN" altLang="en-US" sz="2800" dirty="0"/>
              <a:t>如果</a:t>
            </a:r>
            <a:r>
              <a:rPr lang="en-US" altLang="zh-CN" sz="2800" dirty="0"/>
              <a:t>T(n) </a:t>
            </a:r>
            <a:r>
              <a:rPr lang="zh-CN" altLang="en-US" sz="2800" dirty="0"/>
              <a:t>既是</a:t>
            </a:r>
            <a:r>
              <a:rPr lang="en-US" altLang="zh-CN" sz="2800" dirty="0"/>
              <a:t>O(f(n)) </a:t>
            </a:r>
            <a:r>
              <a:rPr lang="zh-CN" altLang="en-US" sz="2800" dirty="0"/>
              <a:t>又是</a:t>
            </a:r>
            <a:r>
              <a:rPr lang="en-US" altLang="zh-CN" sz="2800" dirty="0"/>
              <a:t> </a:t>
            </a:r>
            <a:r>
              <a:rPr lang="en-US" altLang="zh-CN" sz="2800" dirty="0">
                <a:sym typeface="Symbol" panose="05050102010706020507" pitchFamily="18" charset="2"/>
              </a:rPr>
              <a:t></a:t>
            </a:r>
            <a:r>
              <a:rPr lang="en-US" altLang="zh-CN" sz="2800" dirty="0"/>
              <a:t>(f(n))</a:t>
            </a:r>
            <a:r>
              <a:rPr lang="zh-CN" altLang="en-US" sz="2800" dirty="0"/>
              <a:t>，那么</a:t>
            </a:r>
            <a:r>
              <a:rPr lang="en-US" altLang="zh-CN" sz="2800" dirty="0"/>
              <a:t> T(n) </a:t>
            </a:r>
            <a:r>
              <a:rPr lang="zh-CN" altLang="en-US" sz="2800" dirty="0"/>
              <a:t>是</a:t>
            </a:r>
            <a:r>
              <a:rPr lang="en-US" altLang="zh-CN" sz="2800" dirty="0"/>
              <a:t> </a:t>
            </a:r>
            <a:r>
              <a:rPr lang="en-US" altLang="zh-CN" sz="2800" dirty="0">
                <a:sym typeface="Symbol" panose="05050102010706020507" pitchFamily="18" charset="2"/>
              </a:rPr>
              <a:t></a:t>
            </a:r>
            <a:r>
              <a:rPr lang="en-US" altLang="zh-CN" sz="2800" dirty="0"/>
              <a:t>(f(n)) .</a:t>
            </a:r>
            <a:endParaRPr lang="en-US" altLang="zh-CN" sz="2800" dirty="0">
              <a:sym typeface="Symbol" panose="05050102010706020507" pitchFamily="18" charset="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BC516D0F-664F-4186-B6BA-4340A9F30F8E}" type="slidenum">
              <a:rPr lang="zh-CN" altLang="en-US"/>
            </a:fld>
            <a:endParaRPr lang="en-US" altLang="zh-CN"/>
          </a:p>
        </p:txBody>
      </p:sp>
      <p:sp>
        <p:nvSpPr>
          <p:cNvPr id="15363" name="Rectangle 2"/>
          <p:cNvSpPr>
            <a:spLocks noGrp="1" noChangeArrowheads="1"/>
          </p:cNvSpPr>
          <p:nvPr>
            <p:ph type="title"/>
          </p:nvPr>
        </p:nvSpPr>
        <p:spPr/>
        <p:txBody>
          <a:bodyPr/>
          <a:lstStyle/>
          <a:p>
            <a:pPr eaLnBrk="1" hangingPunct="1"/>
            <a:r>
              <a:rPr lang="zh-CN" altLang="en-US"/>
              <a:t>复杂度符号</a:t>
            </a:r>
            <a:endParaRPr lang="zh-CN" altLang="en-US"/>
          </a:p>
        </p:txBody>
      </p:sp>
      <p:sp>
        <p:nvSpPr>
          <p:cNvPr id="15364" name="Rectangle 3"/>
          <p:cNvSpPr>
            <a:spLocks noGrp="1" noChangeArrowheads="1"/>
          </p:cNvSpPr>
          <p:nvPr>
            <p:ph type="body" idx="1"/>
          </p:nvPr>
        </p:nvSpPr>
        <p:spPr>
          <a:xfrm>
            <a:off x="663055" y="2125662"/>
            <a:ext cx="8280920" cy="4114800"/>
          </a:xfrm>
        </p:spPr>
        <p:txBody>
          <a:bodyPr/>
          <a:lstStyle/>
          <a:p>
            <a:pPr eaLnBrk="1" hangingPunct="1"/>
            <a:r>
              <a:rPr lang="en-US" altLang="zh-CN" dirty="0"/>
              <a:t>Ex:   T(n) = 32n</a:t>
            </a:r>
            <a:r>
              <a:rPr lang="en-US" altLang="zh-CN" baseline="30000" dirty="0"/>
              <a:t>2</a:t>
            </a:r>
            <a:r>
              <a:rPr lang="en-US" altLang="zh-CN" dirty="0"/>
              <a:t> + 17n + 32.</a:t>
            </a:r>
            <a:endParaRPr lang="en-US" altLang="zh-CN" dirty="0"/>
          </a:p>
          <a:p>
            <a:pPr lvl="1" eaLnBrk="1" hangingPunct="1"/>
            <a:r>
              <a:rPr lang="en-US" altLang="zh-CN" dirty="0"/>
              <a:t>T(n) is O(n</a:t>
            </a:r>
            <a:r>
              <a:rPr lang="en-US" altLang="zh-CN" baseline="30000" dirty="0"/>
              <a:t>2</a:t>
            </a:r>
            <a:r>
              <a:rPr lang="en-US" altLang="zh-CN" dirty="0"/>
              <a:t>), O(n</a:t>
            </a:r>
            <a:r>
              <a:rPr lang="en-US" altLang="zh-CN" baseline="30000" dirty="0"/>
              <a:t>3</a:t>
            </a:r>
            <a:r>
              <a:rPr lang="en-US" altLang="zh-CN" dirty="0"/>
              <a:t>), </a:t>
            </a:r>
            <a:r>
              <a:rPr lang="en-US" altLang="zh-CN" dirty="0">
                <a:sym typeface="Symbol" panose="05050102010706020507" pitchFamily="18" charset="2"/>
              </a:rPr>
              <a:t></a:t>
            </a:r>
            <a:r>
              <a:rPr lang="en-US" altLang="zh-CN" dirty="0"/>
              <a:t>(n</a:t>
            </a:r>
            <a:r>
              <a:rPr lang="en-US" altLang="zh-CN" baseline="30000" dirty="0"/>
              <a:t>2</a:t>
            </a:r>
            <a:r>
              <a:rPr lang="en-US" altLang="zh-CN" dirty="0"/>
              <a:t>), </a:t>
            </a:r>
            <a:r>
              <a:rPr lang="en-US" altLang="zh-CN" dirty="0">
                <a:sym typeface="Symbol" panose="05050102010706020507" pitchFamily="18" charset="2"/>
              </a:rPr>
              <a:t></a:t>
            </a:r>
            <a:r>
              <a:rPr lang="en-US" altLang="zh-CN" dirty="0"/>
              <a:t>(n), and </a:t>
            </a:r>
            <a:r>
              <a:rPr lang="en-US" altLang="zh-CN" dirty="0">
                <a:sym typeface="Symbol" panose="05050102010706020507" pitchFamily="18" charset="2"/>
              </a:rPr>
              <a:t></a:t>
            </a:r>
            <a:r>
              <a:rPr lang="en-US" altLang="zh-CN" dirty="0"/>
              <a:t>(n</a:t>
            </a:r>
            <a:r>
              <a:rPr lang="en-US" altLang="zh-CN" baseline="30000" dirty="0"/>
              <a:t>2</a:t>
            </a:r>
            <a:r>
              <a:rPr lang="en-US" altLang="zh-CN" dirty="0"/>
              <a:t>) .</a:t>
            </a:r>
            <a:endParaRPr lang="en-US" altLang="zh-CN" dirty="0"/>
          </a:p>
          <a:p>
            <a:pPr lvl="1" eaLnBrk="1" hangingPunct="1"/>
            <a:r>
              <a:rPr lang="en-US" altLang="zh-CN" dirty="0"/>
              <a:t>T(n) is not O(n), </a:t>
            </a:r>
            <a:r>
              <a:rPr lang="en-US" altLang="zh-CN" dirty="0">
                <a:sym typeface="Symbol" panose="05050102010706020507" pitchFamily="18" charset="2"/>
              </a:rPr>
              <a:t></a:t>
            </a:r>
            <a:r>
              <a:rPr lang="en-US" altLang="zh-CN" dirty="0"/>
              <a:t>(n</a:t>
            </a:r>
            <a:r>
              <a:rPr lang="en-US" altLang="zh-CN" baseline="30000" dirty="0"/>
              <a:t>3</a:t>
            </a:r>
            <a:r>
              <a:rPr lang="en-US" altLang="zh-CN" dirty="0"/>
              <a:t>), </a:t>
            </a:r>
            <a:r>
              <a:rPr lang="en-US" altLang="zh-CN" dirty="0">
                <a:sym typeface="Symbol" panose="05050102010706020507" pitchFamily="18" charset="2"/>
              </a:rPr>
              <a:t></a:t>
            </a:r>
            <a:r>
              <a:rPr lang="en-US" altLang="zh-CN" dirty="0"/>
              <a:t>(n), or </a:t>
            </a:r>
            <a:r>
              <a:rPr lang="en-US" altLang="zh-CN" dirty="0">
                <a:sym typeface="Symbol" panose="05050102010706020507" pitchFamily="18" charset="2"/>
              </a:rPr>
              <a:t></a:t>
            </a:r>
            <a:r>
              <a:rPr lang="en-US" altLang="zh-CN" dirty="0"/>
              <a:t>(n</a:t>
            </a:r>
            <a:r>
              <a:rPr lang="en-US" altLang="zh-CN" baseline="30000" dirty="0"/>
              <a:t>3</a:t>
            </a:r>
            <a:r>
              <a:rPr lang="en-US" altLang="zh-CN" dirty="0"/>
              <a:t>).</a:t>
            </a:r>
            <a:endParaRPr lang="en-US" altLang="zh-CN" dirty="0"/>
          </a:p>
          <a:p>
            <a:pPr eaLnBrk="1" hangingPunct="1"/>
            <a:r>
              <a:rPr lang="en-US" altLang="zh-CN" dirty="0"/>
              <a:t>n</a:t>
            </a:r>
            <a:r>
              <a:rPr lang="zh-CN" altLang="en-US" dirty="0"/>
              <a:t>≥</a:t>
            </a:r>
            <a:r>
              <a:rPr lang="en-US" altLang="zh-CN" dirty="0"/>
              <a:t>1</a:t>
            </a:r>
            <a:r>
              <a:rPr lang="zh-CN" altLang="en-US" dirty="0"/>
              <a:t>时，</a:t>
            </a:r>
            <a:r>
              <a:rPr lang="en-US" altLang="zh-CN" dirty="0"/>
              <a:t>T(n)</a:t>
            </a:r>
            <a:r>
              <a:rPr lang="zh-CN" altLang="en-US" dirty="0"/>
              <a:t>≤</a:t>
            </a:r>
            <a:r>
              <a:rPr lang="en-US" altLang="zh-CN" dirty="0"/>
              <a:t> 32n</a:t>
            </a:r>
            <a:r>
              <a:rPr lang="en-US" altLang="zh-CN" baseline="30000" dirty="0"/>
              <a:t>2</a:t>
            </a:r>
            <a:r>
              <a:rPr lang="en-US" altLang="zh-CN" dirty="0"/>
              <a:t> + 17</a:t>
            </a:r>
            <a:r>
              <a:rPr kumimoji="1" lang="en-US" altLang="zh-CN" kern="1200" dirty="0">
                <a:solidFill>
                  <a:srgbClr val="000000"/>
                </a:solidFill>
                <a:effectLst/>
                <a:latin typeface="Tahoma" panose="020B0604030504040204" pitchFamily="34" charset="0"/>
                <a:ea typeface="宋体" panose="02010600030101010101" pitchFamily="2" charset="-122"/>
                <a:cs typeface="+mn-cs"/>
              </a:rPr>
              <a:t>n</a:t>
            </a:r>
            <a:r>
              <a:rPr kumimoji="1" lang="en-US" altLang="zh-CN" kern="1200" baseline="30000" dirty="0">
                <a:solidFill>
                  <a:srgbClr val="000000"/>
                </a:solidFill>
                <a:effectLst/>
                <a:latin typeface="Tahoma" panose="020B0604030504040204" pitchFamily="34" charset="0"/>
                <a:ea typeface="宋体" panose="02010600030101010101" pitchFamily="2" charset="-122"/>
                <a:cs typeface="+mn-cs"/>
              </a:rPr>
              <a:t>2</a:t>
            </a:r>
            <a:r>
              <a:rPr lang="en-US" altLang="zh-CN" dirty="0"/>
              <a:t> + 32</a:t>
            </a:r>
            <a:r>
              <a:rPr kumimoji="1" lang="en-US" altLang="zh-CN" kern="1200" dirty="0">
                <a:solidFill>
                  <a:srgbClr val="000000"/>
                </a:solidFill>
                <a:effectLst/>
                <a:latin typeface="Tahoma" panose="020B0604030504040204" pitchFamily="34" charset="0"/>
                <a:ea typeface="宋体" panose="02010600030101010101" pitchFamily="2" charset="-122"/>
                <a:cs typeface="+mn-cs"/>
              </a:rPr>
              <a:t>n</a:t>
            </a:r>
            <a:r>
              <a:rPr kumimoji="1" lang="en-US" altLang="zh-CN" kern="1200" baseline="30000" dirty="0">
                <a:solidFill>
                  <a:srgbClr val="000000"/>
                </a:solidFill>
                <a:effectLst/>
                <a:latin typeface="Tahoma" panose="020B0604030504040204" pitchFamily="34" charset="0"/>
                <a:ea typeface="宋体" panose="02010600030101010101" pitchFamily="2" charset="-122"/>
                <a:cs typeface="+mn-cs"/>
              </a:rPr>
              <a:t>2</a:t>
            </a:r>
            <a:r>
              <a:rPr lang="zh-CN" altLang="en-US" dirty="0"/>
              <a:t> ≤</a:t>
            </a:r>
            <a:r>
              <a:rPr lang="en-US" altLang="zh-CN" dirty="0"/>
              <a:t> 81</a:t>
            </a:r>
            <a:r>
              <a:rPr kumimoji="1" lang="en-US" altLang="zh-CN" kern="1200" dirty="0">
                <a:solidFill>
                  <a:srgbClr val="000000"/>
                </a:solidFill>
                <a:effectLst/>
                <a:latin typeface="Tahoma" panose="020B0604030504040204" pitchFamily="34" charset="0"/>
                <a:ea typeface="宋体" panose="02010600030101010101" pitchFamily="2" charset="-122"/>
                <a:cs typeface="+mn-cs"/>
              </a:rPr>
              <a:t>n</a:t>
            </a:r>
            <a:r>
              <a:rPr kumimoji="1" lang="en-US" altLang="zh-CN" kern="1200" baseline="30000" dirty="0">
                <a:solidFill>
                  <a:srgbClr val="000000"/>
                </a:solidFill>
                <a:effectLst/>
                <a:latin typeface="Tahoma" panose="020B0604030504040204" pitchFamily="34" charset="0"/>
                <a:ea typeface="宋体" panose="02010600030101010101" pitchFamily="2" charset="-122"/>
                <a:cs typeface="+mn-cs"/>
              </a:rPr>
              <a:t>2</a:t>
            </a:r>
            <a:endParaRPr lang="zh-CN" altLang="en-US" dirty="0"/>
          </a:p>
          <a:p>
            <a:pPr eaLnBrk="1" hangingPunct="1"/>
            <a:r>
              <a:rPr lang="en-US" altLang="zh-CN" dirty="0"/>
              <a:t>n</a:t>
            </a:r>
            <a:r>
              <a:rPr lang="zh-CN" altLang="en-US" dirty="0"/>
              <a:t>≥</a:t>
            </a:r>
            <a:r>
              <a:rPr lang="en-US" altLang="zh-CN" dirty="0"/>
              <a:t>0</a:t>
            </a:r>
            <a:r>
              <a:rPr lang="zh-CN" altLang="en-US" dirty="0"/>
              <a:t>时，</a:t>
            </a:r>
            <a:r>
              <a:rPr lang="en-US" altLang="zh-CN" dirty="0"/>
              <a:t>T(n)</a:t>
            </a:r>
            <a:r>
              <a:rPr lang="zh-CN" altLang="en-US" dirty="0"/>
              <a:t>≥</a:t>
            </a:r>
            <a:r>
              <a:rPr lang="en-US" altLang="zh-CN" dirty="0"/>
              <a:t> 32n</a:t>
            </a:r>
            <a:r>
              <a:rPr lang="en-US" altLang="zh-CN" baseline="30000" dirty="0"/>
              <a:t>2</a:t>
            </a:r>
            <a:r>
              <a:rPr lang="zh-CN" altLang="en-US" dirty="0"/>
              <a:t>     </a:t>
            </a:r>
            <a:endParaRPr lang="zh-CN" alt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5"/>
          <p:cNvSpPr>
            <a:spLocks noGrp="1"/>
          </p:cNvSpPr>
          <p:nvPr>
            <p:ph type="sldNum" sz="quarter" idx="12"/>
          </p:nvPr>
        </p:nvSpPr>
        <p:spPr/>
        <p:txBody>
          <a:bodyPr/>
          <a:lstStyle/>
          <a:p>
            <a:pPr>
              <a:defRPr/>
            </a:pPr>
            <a:fld id="{B4168E3C-A420-436B-B1CE-0979FC323669}" type="slidenum">
              <a:rPr lang="zh-CN" altLang="en-US"/>
            </a:fld>
            <a:endParaRPr lang="en-US" altLang="zh-CN"/>
          </a:p>
        </p:txBody>
      </p:sp>
      <p:sp>
        <p:nvSpPr>
          <p:cNvPr id="16387" name="Rectangle 2"/>
          <p:cNvSpPr>
            <a:spLocks noGrp="1" noChangeArrowheads="1"/>
          </p:cNvSpPr>
          <p:nvPr>
            <p:ph type="title"/>
          </p:nvPr>
        </p:nvSpPr>
        <p:spPr/>
        <p:txBody>
          <a:bodyPr/>
          <a:lstStyle/>
          <a:p>
            <a:pPr eaLnBrk="1" hangingPunct="1"/>
            <a:r>
              <a:rPr lang="zh-CN" altLang="en-US"/>
              <a:t>复杂度性质</a:t>
            </a:r>
            <a:endParaRPr lang="zh-CN" altLang="en-US"/>
          </a:p>
        </p:txBody>
      </p:sp>
      <p:sp>
        <p:nvSpPr>
          <p:cNvPr id="16388" name="Rectangle 3"/>
          <p:cNvSpPr>
            <a:spLocks noGrp="1" noChangeArrowheads="1"/>
          </p:cNvSpPr>
          <p:nvPr>
            <p:ph type="body" idx="1"/>
          </p:nvPr>
        </p:nvSpPr>
        <p:spPr>
          <a:xfrm>
            <a:off x="627856" y="2009775"/>
            <a:ext cx="7888288" cy="4114800"/>
          </a:xfrm>
        </p:spPr>
        <p:txBody>
          <a:bodyPr/>
          <a:lstStyle/>
          <a:p>
            <a:pPr eaLnBrk="1" hangingPunct="1">
              <a:lnSpc>
                <a:spcPct val="150000"/>
              </a:lnSpc>
            </a:pPr>
            <a:r>
              <a:rPr lang="zh-CN" altLang="en-US" dirty="0"/>
              <a:t>命题</a:t>
            </a:r>
            <a:r>
              <a:rPr lang="en-US" altLang="zh-CN" dirty="0"/>
              <a:t>2.1 </a:t>
            </a:r>
            <a:r>
              <a:rPr lang="zh-CN" altLang="en-US" dirty="0"/>
              <a:t>设</a:t>
            </a:r>
            <a:r>
              <a:rPr lang="en-US" altLang="zh-CN" dirty="0"/>
              <a:t>f</a:t>
            </a:r>
            <a:r>
              <a:rPr lang="zh-CN" altLang="en-US" dirty="0"/>
              <a:t>和</a:t>
            </a:r>
            <a:r>
              <a:rPr lang="en-US" altLang="zh-CN" dirty="0"/>
              <a:t>g</a:t>
            </a:r>
            <a:r>
              <a:rPr lang="zh-CN" altLang="en-US" dirty="0"/>
              <a:t>是两个函数，          存在，并且等于某个常数</a:t>
            </a:r>
            <a:r>
              <a:rPr lang="en-US" altLang="zh-CN" dirty="0"/>
              <a:t>c&gt;0, </a:t>
            </a:r>
            <a:r>
              <a:rPr lang="zh-CN" altLang="en-US" dirty="0"/>
              <a:t>那么</a:t>
            </a:r>
            <a:endParaRPr lang="zh-CN" altLang="en-US" dirty="0"/>
          </a:p>
          <a:p>
            <a:pPr eaLnBrk="1" hangingPunct="1"/>
            <a:endParaRPr lang="zh-CN" altLang="en-US" dirty="0"/>
          </a:p>
          <a:p>
            <a:pPr eaLnBrk="1" hangingPunct="1">
              <a:buFont typeface="Wingdings" panose="05000000000000000000" pitchFamily="2" charset="2"/>
              <a:buNone/>
            </a:pPr>
            <a:endParaRPr lang="zh-CN" altLang="en-US" dirty="0"/>
          </a:p>
        </p:txBody>
      </p:sp>
      <p:graphicFrame>
        <p:nvGraphicFramePr>
          <p:cNvPr id="16389" name="Object 4"/>
          <p:cNvGraphicFramePr>
            <a:graphicFrameLocks noChangeAspect="1"/>
          </p:cNvGraphicFramePr>
          <p:nvPr/>
        </p:nvGraphicFramePr>
        <p:xfrm>
          <a:off x="5974738" y="1898470"/>
          <a:ext cx="1295400" cy="909638"/>
        </p:xfrm>
        <a:graphic>
          <a:graphicData uri="http://schemas.openxmlformats.org/presentationml/2006/ole">
            <mc:AlternateContent xmlns:mc="http://schemas.openxmlformats.org/markup-compatibility/2006">
              <mc:Choice xmlns:v="urn:schemas-microsoft-com:vml" Requires="v">
                <p:oleObj spid="_x0000_s2" name="Equation" r:id="rId1" imgW="596900" imgH="419100" progId="Equation.3">
                  <p:embed/>
                </p:oleObj>
              </mc:Choice>
              <mc:Fallback>
                <p:oleObj name="Equation" r:id="rId1" imgW="596900" imgH="419100"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74738" y="1898470"/>
                        <a:ext cx="1295400" cy="909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390" name="Object 5"/>
          <p:cNvGraphicFramePr>
            <a:graphicFrameLocks noChangeAspect="1"/>
          </p:cNvGraphicFramePr>
          <p:nvPr/>
        </p:nvGraphicFramePr>
        <p:xfrm>
          <a:off x="6101738" y="2895600"/>
          <a:ext cx="2336800" cy="533400"/>
        </p:xfrm>
        <a:graphic>
          <a:graphicData uri="http://schemas.openxmlformats.org/presentationml/2006/ole">
            <mc:AlternateContent xmlns:mc="http://schemas.openxmlformats.org/markup-compatibility/2006">
              <mc:Choice xmlns:v="urn:schemas-microsoft-com:vml" Requires="v">
                <p:oleObj spid="_x0000_s3" name="Equation" r:id="rId3" imgW="1016000" imgH="203200" progId="Equation.3">
                  <p:embed/>
                </p:oleObj>
              </mc:Choice>
              <mc:Fallback>
                <p:oleObj name="Equation" r:id="rId3" imgW="1016000" imgH="2032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01738" y="2895600"/>
                        <a:ext cx="2336800"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416" name="Text Box 8"/>
          <p:cNvSpPr txBox="1">
            <a:spLocks noChangeArrowheads="1"/>
          </p:cNvSpPr>
          <p:nvPr/>
        </p:nvSpPr>
        <p:spPr bwMode="auto">
          <a:xfrm>
            <a:off x="627856" y="3590745"/>
            <a:ext cx="8192616" cy="2944076"/>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lnSpc>
                <a:spcPct val="110000"/>
              </a:lnSpc>
              <a:defRPr sz="1400" b="1">
                <a:solidFill>
                  <a:schemeClr val="bg2"/>
                </a:solidFill>
                <a:latin typeface="Courier New" panose="02070309020205020404" pitchFamily="49" charset="0"/>
                <a:ea typeface="宋体" panose="02010600030101010101" pitchFamily="2" charset="-122"/>
              </a:defRPr>
            </a:lvl1pPr>
            <a:lvl2pPr marL="742950" indent="-285750">
              <a:lnSpc>
                <a:spcPct val="110000"/>
              </a:lnSpc>
              <a:defRPr sz="1400" b="1">
                <a:solidFill>
                  <a:schemeClr val="bg2"/>
                </a:solidFill>
                <a:latin typeface="Courier New" panose="02070309020205020404" pitchFamily="49" charset="0"/>
                <a:ea typeface="宋体" panose="02010600030101010101" pitchFamily="2" charset="-122"/>
              </a:defRPr>
            </a:lvl2pPr>
            <a:lvl3pPr marL="1143000" indent="-228600">
              <a:lnSpc>
                <a:spcPct val="110000"/>
              </a:lnSpc>
              <a:defRPr sz="1400" b="1">
                <a:solidFill>
                  <a:schemeClr val="bg2"/>
                </a:solidFill>
                <a:latin typeface="Courier New" panose="02070309020205020404" pitchFamily="49" charset="0"/>
                <a:ea typeface="宋体" panose="02010600030101010101" pitchFamily="2" charset="-122"/>
              </a:defRPr>
            </a:lvl3pPr>
            <a:lvl4pPr marL="1600200" indent="-228600">
              <a:lnSpc>
                <a:spcPct val="110000"/>
              </a:lnSpc>
              <a:defRPr sz="1400" b="1">
                <a:solidFill>
                  <a:schemeClr val="bg2"/>
                </a:solidFill>
                <a:latin typeface="Courier New" panose="02070309020205020404" pitchFamily="49" charset="0"/>
                <a:ea typeface="宋体" panose="02010600030101010101" pitchFamily="2" charset="-122"/>
              </a:defRPr>
            </a:lvl4pPr>
            <a:lvl5pPr marL="2057400" indent="-228600">
              <a:lnSpc>
                <a:spcPct val="110000"/>
              </a:lnSpc>
              <a:defRPr sz="1400" b="1">
                <a:solidFill>
                  <a:schemeClr val="bg2"/>
                </a:solidFill>
                <a:latin typeface="Courier New" panose="02070309020205020404" pitchFamily="49" charset="0"/>
                <a:ea typeface="宋体" panose="02010600030101010101" pitchFamily="2" charset="-122"/>
              </a:defRPr>
            </a:lvl5pPr>
            <a:lvl6pPr marL="25146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6pPr>
            <a:lvl7pPr marL="29718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7pPr>
            <a:lvl8pPr marL="34290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8pPr>
            <a:lvl9pPr marL="38862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9pPr>
          </a:lstStyle>
          <a:p>
            <a:pPr algn="just" eaLnBrk="1" hangingPunct="1">
              <a:lnSpc>
                <a:spcPct val="150000"/>
              </a:lnSpc>
              <a:spcBef>
                <a:spcPct val="20000"/>
              </a:spcBef>
              <a:buClr>
                <a:schemeClr val="folHlink"/>
              </a:buClr>
              <a:buSzPct val="60000"/>
              <a:buFont typeface="Wingdings" panose="05000000000000000000" pitchFamily="2" charset="2"/>
              <a:buChar char="n"/>
            </a:pPr>
            <a:r>
              <a:rPr kumimoji="1" lang="zh-CN" altLang="en-US" sz="3200" b="0" dirty="0">
                <a:solidFill>
                  <a:schemeClr val="tx1"/>
                </a:solidFill>
                <a:latin typeface="Tahoma" panose="020B0604030504040204" pitchFamily="34" charset="0"/>
              </a:rPr>
              <a:t> 证明：根据极限的定义, 存在</a:t>
            </a:r>
            <a:r>
              <a:rPr kumimoji="1" lang="en-US" altLang="zh-CN" sz="3200" b="0" dirty="0">
                <a:solidFill>
                  <a:schemeClr val="tx1"/>
                </a:solidFill>
                <a:latin typeface="Tahoma" panose="020B0604030504040204" pitchFamily="34" charset="0"/>
              </a:rPr>
              <a:t>n</a:t>
            </a:r>
            <a:r>
              <a:rPr kumimoji="1" lang="en-US" altLang="zh-CN" sz="1800" b="0" dirty="0">
                <a:solidFill>
                  <a:schemeClr val="tx1"/>
                </a:solidFill>
                <a:latin typeface="Tahoma" panose="020B0604030504040204" pitchFamily="34" charset="0"/>
              </a:rPr>
              <a:t>0</a:t>
            </a:r>
            <a:r>
              <a:rPr kumimoji="1" lang="en-US" altLang="zh-CN" sz="3200" b="0" dirty="0">
                <a:solidFill>
                  <a:schemeClr val="tx1"/>
                </a:solidFill>
                <a:latin typeface="Tahoma" panose="020B0604030504040204" pitchFamily="34" charset="0"/>
              </a:rPr>
              <a:t>, </a:t>
            </a:r>
            <a:r>
              <a:rPr kumimoji="1" lang="zh-CN" altLang="en-US" sz="3200" b="0" dirty="0">
                <a:solidFill>
                  <a:schemeClr val="tx1"/>
                </a:solidFill>
                <a:latin typeface="Tahoma" panose="020B0604030504040204" pitchFamily="34" charset="0"/>
              </a:rPr>
              <a:t>对所有的</a:t>
            </a:r>
            <a:r>
              <a:rPr kumimoji="1" lang="en-US" altLang="zh-CN" sz="3200" b="0" dirty="0">
                <a:solidFill>
                  <a:schemeClr val="tx1"/>
                </a:solidFill>
                <a:latin typeface="Tahoma" panose="020B0604030504040204" pitchFamily="34" charset="0"/>
              </a:rPr>
              <a:t>n</a:t>
            </a:r>
            <a:r>
              <a:rPr kumimoji="1" lang="zh-CN" altLang="en-US" sz="3200" b="0" dirty="0">
                <a:solidFill>
                  <a:schemeClr val="tx1"/>
                </a:solidFill>
                <a:latin typeface="Tahoma" panose="020B0604030504040204" pitchFamily="34" charset="0"/>
              </a:rPr>
              <a:t>≥</a:t>
            </a:r>
            <a:r>
              <a:rPr kumimoji="1" lang="en-US" altLang="zh-CN" sz="3200" b="0" dirty="0">
                <a:solidFill>
                  <a:schemeClr val="tx1"/>
                </a:solidFill>
                <a:latin typeface="Tahoma" panose="020B0604030504040204" pitchFamily="34" charset="0"/>
              </a:rPr>
              <a:t>n</a:t>
            </a:r>
            <a:r>
              <a:rPr kumimoji="1" lang="en-US" altLang="zh-CN" sz="1800" b="0" dirty="0">
                <a:solidFill>
                  <a:schemeClr val="tx1"/>
                </a:solidFill>
                <a:latin typeface="Tahoma" panose="020B0604030504040204" pitchFamily="34" charset="0"/>
              </a:rPr>
              <a:t>0</a:t>
            </a:r>
            <a:r>
              <a:rPr kumimoji="1" lang="en-US" altLang="zh-CN" sz="3200" b="0" dirty="0">
                <a:solidFill>
                  <a:schemeClr val="tx1"/>
                </a:solidFill>
                <a:latin typeface="Tahoma" panose="020B0604030504040204" pitchFamily="34" charset="0"/>
              </a:rPr>
              <a:t>,                  </a:t>
            </a:r>
            <a:r>
              <a:rPr kumimoji="1" lang="zh-CN" altLang="en-US" sz="3200" b="0" dirty="0">
                <a:solidFill>
                  <a:schemeClr val="tx1"/>
                </a:solidFill>
                <a:latin typeface="Tahoma" panose="020B0604030504040204" pitchFamily="34" charset="0"/>
              </a:rPr>
              <a:t>。所以，</a:t>
            </a:r>
            <a:r>
              <a:rPr kumimoji="1" lang="en-US" altLang="zh-CN" sz="3200" b="0" dirty="0">
                <a:solidFill>
                  <a:schemeClr val="tx1"/>
                </a:solidFill>
                <a:latin typeface="Tahoma" panose="020B0604030504040204" pitchFamily="34" charset="0"/>
              </a:rPr>
              <a:t> f(n) </a:t>
            </a:r>
            <a:r>
              <a:rPr kumimoji="1" lang="zh-CN" altLang="en-US" sz="3200" b="0" dirty="0">
                <a:solidFill>
                  <a:schemeClr val="tx1"/>
                </a:solidFill>
                <a:latin typeface="Tahoma" panose="020B0604030504040204" pitchFamily="34" charset="0"/>
              </a:rPr>
              <a:t>≤ </a:t>
            </a:r>
            <a:r>
              <a:rPr kumimoji="1" lang="en-US" altLang="zh-CN" sz="3200" b="0" dirty="0">
                <a:solidFill>
                  <a:schemeClr val="tx1"/>
                </a:solidFill>
                <a:latin typeface="Tahoma" panose="020B0604030504040204" pitchFamily="34" charset="0"/>
              </a:rPr>
              <a:t>2cg(n)</a:t>
            </a:r>
            <a:r>
              <a:rPr kumimoji="1" lang="zh-CN" altLang="en-US" sz="3200" b="0" dirty="0">
                <a:solidFill>
                  <a:schemeClr val="tx1"/>
                </a:solidFill>
                <a:latin typeface="Tahoma" panose="020B0604030504040204" pitchFamily="34" charset="0"/>
              </a:rPr>
              <a:t>，从而推出</a:t>
            </a:r>
            <a:r>
              <a:rPr kumimoji="1" lang="en-US" altLang="zh-CN" sz="3200" b="0" dirty="0">
                <a:solidFill>
                  <a:schemeClr val="tx1"/>
                </a:solidFill>
                <a:latin typeface="Tahoma" panose="020B0604030504040204" pitchFamily="34" charset="0"/>
              </a:rPr>
              <a:t>f(n)=O(g(n)). </a:t>
            </a:r>
            <a:r>
              <a:rPr kumimoji="1" lang="zh-CN" altLang="en-US" sz="3200" b="0" dirty="0">
                <a:solidFill>
                  <a:schemeClr val="tx1"/>
                </a:solidFill>
                <a:latin typeface="Tahoma" panose="020B0604030504040204" pitchFamily="34" charset="0"/>
              </a:rPr>
              <a:t>类似的</a:t>
            </a:r>
            <a:r>
              <a:rPr kumimoji="1" lang="en-US" altLang="zh-CN" sz="3200" b="0" dirty="0">
                <a:solidFill>
                  <a:schemeClr val="tx1"/>
                </a:solidFill>
                <a:latin typeface="Tahoma" panose="020B0604030504040204" pitchFamily="34" charset="0"/>
              </a:rPr>
              <a:t>f(n)=</a:t>
            </a:r>
            <a:r>
              <a:rPr kumimoji="1" lang="en-US" altLang="zh-CN" sz="3200" b="0" dirty="0">
                <a:solidFill>
                  <a:schemeClr val="tx1"/>
                </a:solidFill>
                <a:latin typeface="宋体" panose="02010600030101010101" pitchFamily="2" charset="-122"/>
              </a:rPr>
              <a:t>Ω</a:t>
            </a:r>
            <a:r>
              <a:rPr kumimoji="1" lang="en-US" altLang="zh-CN" sz="3200" b="0" dirty="0">
                <a:solidFill>
                  <a:schemeClr val="tx1"/>
                </a:solidFill>
                <a:latin typeface="Tahoma" panose="020B0604030504040204" pitchFamily="34" charset="0"/>
              </a:rPr>
              <a:t>(g(n)). </a:t>
            </a:r>
            <a:r>
              <a:rPr kumimoji="1" lang="zh-CN" altLang="en-US" sz="3200" b="0" dirty="0">
                <a:solidFill>
                  <a:schemeClr val="tx1"/>
                </a:solidFill>
                <a:latin typeface="Tahoma" panose="020B0604030504040204" pitchFamily="34" charset="0"/>
              </a:rPr>
              <a:t>根据定义可知命题成立。</a:t>
            </a:r>
            <a:endParaRPr kumimoji="1" lang="zh-CN" altLang="en-US" sz="3200" b="0" dirty="0">
              <a:solidFill>
                <a:schemeClr val="tx1"/>
              </a:solidFill>
              <a:latin typeface="Tahoma" panose="020B0604030504040204" pitchFamily="34" charset="0"/>
            </a:endParaRPr>
          </a:p>
        </p:txBody>
      </p:sp>
      <p:pic>
        <p:nvPicPr>
          <p:cNvPr id="4" name="图片 3"/>
          <p:cNvPicPr>
            <a:picLocks noChangeAspect="1"/>
          </p:cNvPicPr>
          <p:nvPr/>
        </p:nvPicPr>
        <p:blipFill>
          <a:blip r:embed="rId5"/>
          <a:stretch>
            <a:fillRect/>
          </a:stretch>
        </p:blipFill>
        <p:spPr>
          <a:xfrm>
            <a:off x="1907708" y="4365108"/>
            <a:ext cx="2156647" cy="76968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7416"/>
                                        </p:tgtEl>
                                        <p:attrNameLst>
                                          <p:attrName>style.visibility</p:attrName>
                                        </p:attrNameLst>
                                      </p:cBhvr>
                                      <p:to>
                                        <p:strVal val="visible"/>
                                      </p:to>
                                    </p:set>
                                    <p:anim calcmode="lin" valueType="num">
                                      <p:cBhvr additive="base">
                                        <p:cTn id="7" dur="500" fill="hold"/>
                                        <p:tgtEl>
                                          <p:spTgt spid="17416"/>
                                        </p:tgtEl>
                                        <p:attrNameLst>
                                          <p:attrName>ppt_x</p:attrName>
                                        </p:attrNameLst>
                                      </p:cBhvr>
                                      <p:tavLst>
                                        <p:tav tm="0">
                                          <p:val>
                                            <p:strVal val="0-#ppt_w/2"/>
                                          </p:val>
                                        </p:tav>
                                        <p:tav tm="100000">
                                          <p:val>
                                            <p:strVal val="#ppt_x"/>
                                          </p:val>
                                        </p:tav>
                                      </p:tavLst>
                                    </p:anim>
                                    <p:anim calcmode="lin" valueType="num">
                                      <p:cBhvr additive="base">
                                        <p:cTn id="8" dur="500" fill="hold"/>
                                        <p:tgtEl>
                                          <p:spTgt spid="1741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6" grpId="0"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6A96F680-92D4-4E7D-818E-4E4A256D59B7}" type="slidenum">
              <a:rPr lang="zh-CN" altLang="en-US"/>
            </a:fld>
            <a:endParaRPr lang="en-US" altLang="zh-CN"/>
          </a:p>
        </p:txBody>
      </p:sp>
      <p:sp>
        <p:nvSpPr>
          <p:cNvPr id="17411" name="Rectangle 2"/>
          <p:cNvSpPr>
            <a:spLocks noGrp="1" noChangeArrowheads="1"/>
          </p:cNvSpPr>
          <p:nvPr>
            <p:ph type="title"/>
          </p:nvPr>
        </p:nvSpPr>
        <p:spPr>
          <a:xfrm>
            <a:off x="1162050" y="640716"/>
            <a:ext cx="7793038" cy="1143000"/>
          </a:xfrm>
        </p:spPr>
        <p:txBody>
          <a:bodyPr/>
          <a:lstStyle/>
          <a:p>
            <a:pPr eaLnBrk="1" hangingPunct="1"/>
            <a:r>
              <a:rPr lang="zh-CN" altLang="en-US"/>
              <a:t>复杂度性质</a:t>
            </a:r>
            <a:endParaRPr lang="zh-CN" altLang="en-US"/>
          </a:p>
        </p:txBody>
      </p:sp>
      <p:sp>
        <p:nvSpPr>
          <p:cNvPr id="17412" name="Rectangle 3"/>
          <p:cNvSpPr>
            <a:spLocks noGrp="1" noChangeArrowheads="1"/>
          </p:cNvSpPr>
          <p:nvPr>
            <p:ph type="body" idx="1"/>
          </p:nvPr>
        </p:nvSpPr>
        <p:spPr>
          <a:xfrm>
            <a:off x="685800" y="1996758"/>
            <a:ext cx="7772400" cy="4114800"/>
          </a:xfrm>
        </p:spPr>
        <p:txBody>
          <a:bodyPr/>
          <a:lstStyle/>
          <a:p>
            <a:pPr eaLnBrk="1" hangingPunct="1"/>
            <a:r>
              <a:rPr lang="zh-CN" altLang="en-US" dirty="0"/>
              <a:t>传递性</a:t>
            </a:r>
            <a:endParaRPr lang="zh-CN" altLang="en-US" dirty="0"/>
          </a:p>
          <a:p>
            <a:pPr marL="457200" lvl="1" indent="0" eaLnBrk="1" hangingPunct="1">
              <a:buNone/>
            </a:pPr>
            <a:r>
              <a:rPr lang="zh-CN" altLang="en-US" dirty="0"/>
              <a:t>命题</a:t>
            </a:r>
            <a:r>
              <a:rPr lang="en-US" altLang="zh-CN" dirty="0"/>
              <a:t>2.2</a:t>
            </a:r>
            <a:endParaRPr lang="en-US" altLang="zh-CN" dirty="0"/>
          </a:p>
          <a:p>
            <a:pPr lvl="1" eaLnBrk="1" hangingPunct="1"/>
            <a:r>
              <a:rPr lang="en-US" altLang="zh-CN" dirty="0"/>
              <a:t>If f = O(g) and g = O(h) then f = O(h).</a:t>
            </a:r>
            <a:endParaRPr lang="en-US" altLang="zh-CN" dirty="0"/>
          </a:p>
          <a:p>
            <a:pPr lvl="1" eaLnBrk="1" hangingPunct="1"/>
            <a:r>
              <a:rPr lang="en-US" altLang="zh-CN" dirty="0"/>
              <a:t>If f = </a:t>
            </a:r>
            <a:r>
              <a:rPr lang="en-US" altLang="zh-CN" dirty="0">
                <a:sym typeface="Symbol" panose="05050102010706020507" pitchFamily="18" charset="2"/>
              </a:rPr>
              <a:t></a:t>
            </a:r>
            <a:r>
              <a:rPr lang="en-US" altLang="zh-CN" dirty="0"/>
              <a:t>(g) and g = </a:t>
            </a:r>
            <a:r>
              <a:rPr lang="en-US" altLang="zh-CN" dirty="0">
                <a:sym typeface="Symbol" panose="05050102010706020507" pitchFamily="18" charset="2"/>
              </a:rPr>
              <a:t></a:t>
            </a:r>
            <a:r>
              <a:rPr lang="en-US" altLang="zh-CN" dirty="0"/>
              <a:t>(h) then f = </a:t>
            </a:r>
            <a:r>
              <a:rPr lang="en-US" altLang="zh-CN" dirty="0">
                <a:sym typeface="Symbol" panose="05050102010706020507" pitchFamily="18" charset="2"/>
              </a:rPr>
              <a:t></a:t>
            </a:r>
            <a:r>
              <a:rPr lang="en-US" altLang="zh-CN" dirty="0"/>
              <a:t>(h). </a:t>
            </a:r>
            <a:endParaRPr lang="en-US" altLang="zh-CN" dirty="0"/>
          </a:p>
          <a:p>
            <a:pPr marL="457200" lvl="1" indent="0" eaLnBrk="1" hangingPunct="1">
              <a:buNone/>
            </a:pPr>
            <a:r>
              <a:rPr lang="zh-CN" altLang="en-US" dirty="0"/>
              <a:t>命题</a:t>
            </a:r>
            <a:r>
              <a:rPr lang="en-US" altLang="zh-CN" dirty="0"/>
              <a:t>2.3</a:t>
            </a:r>
            <a:endParaRPr lang="en-US" altLang="zh-CN" dirty="0"/>
          </a:p>
          <a:p>
            <a:pPr lvl="1" eaLnBrk="1" hangingPunct="1"/>
            <a:r>
              <a:rPr lang="en-US" altLang="zh-CN" dirty="0"/>
              <a:t>If f = </a:t>
            </a:r>
            <a:r>
              <a:rPr lang="en-US" altLang="zh-CN" dirty="0">
                <a:sym typeface="Symbol" panose="05050102010706020507" pitchFamily="18" charset="2"/>
              </a:rPr>
              <a:t></a:t>
            </a:r>
            <a:r>
              <a:rPr lang="en-US" altLang="zh-CN" dirty="0"/>
              <a:t>(g) and g = </a:t>
            </a:r>
            <a:r>
              <a:rPr lang="en-US" altLang="zh-CN" dirty="0">
                <a:sym typeface="Symbol" panose="05050102010706020507" pitchFamily="18" charset="2"/>
              </a:rPr>
              <a:t></a:t>
            </a:r>
            <a:r>
              <a:rPr lang="en-US" altLang="zh-CN" dirty="0"/>
              <a:t>(h) then f = </a:t>
            </a:r>
            <a:r>
              <a:rPr lang="en-US" altLang="zh-CN" dirty="0">
                <a:sym typeface="Symbol" panose="05050102010706020507" pitchFamily="18" charset="2"/>
              </a:rPr>
              <a:t></a:t>
            </a:r>
            <a:r>
              <a:rPr lang="en-US" altLang="zh-CN" dirty="0"/>
              <a:t>(h).</a:t>
            </a:r>
            <a:endParaRPr lang="en-US" altLang="zh-CN" dirty="0"/>
          </a:p>
          <a:p>
            <a:pPr eaLnBrk="1" hangingPunct="1"/>
            <a:endParaRPr lang="en-US" altLang="zh-CN" dirty="0"/>
          </a:p>
          <a:p>
            <a:pPr eaLnBrk="1" hangingPunct="1"/>
            <a:endParaRPr lang="zh-CN" alt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6A96F680-92D4-4E7D-818E-4E4A256D59B7}" type="slidenum">
              <a:rPr lang="zh-CN" altLang="en-US"/>
            </a:fld>
            <a:endParaRPr lang="en-US" altLang="zh-CN"/>
          </a:p>
        </p:txBody>
      </p:sp>
      <p:sp>
        <p:nvSpPr>
          <p:cNvPr id="17411" name="Rectangle 2"/>
          <p:cNvSpPr>
            <a:spLocks noGrp="1" noChangeArrowheads="1"/>
          </p:cNvSpPr>
          <p:nvPr>
            <p:ph type="title"/>
          </p:nvPr>
        </p:nvSpPr>
        <p:spPr>
          <a:xfrm>
            <a:off x="1162050" y="640716"/>
            <a:ext cx="7793038" cy="1143000"/>
          </a:xfrm>
        </p:spPr>
        <p:txBody>
          <a:bodyPr/>
          <a:lstStyle/>
          <a:p>
            <a:pPr eaLnBrk="1" hangingPunct="1"/>
            <a:r>
              <a:rPr lang="zh-CN" altLang="en-US"/>
              <a:t>复杂度性质</a:t>
            </a:r>
            <a:endParaRPr lang="zh-CN" altLang="en-US"/>
          </a:p>
        </p:txBody>
      </p:sp>
      <p:sp>
        <p:nvSpPr>
          <p:cNvPr id="17412" name="Rectangle 3"/>
          <p:cNvSpPr>
            <a:spLocks noGrp="1" noChangeArrowheads="1"/>
          </p:cNvSpPr>
          <p:nvPr>
            <p:ph type="body" idx="1"/>
          </p:nvPr>
        </p:nvSpPr>
        <p:spPr>
          <a:xfrm>
            <a:off x="685800" y="1996758"/>
            <a:ext cx="7772400" cy="4114800"/>
          </a:xfrm>
        </p:spPr>
        <p:txBody>
          <a:bodyPr/>
          <a:lstStyle/>
          <a:p>
            <a:pPr eaLnBrk="1" hangingPunct="1"/>
            <a:r>
              <a:rPr lang="zh-CN" altLang="en-US" dirty="0"/>
              <a:t>传递性</a:t>
            </a:r>
            <a:endParaRPr lang="zh-CN" altLang="en-US" dirty="0"/>
          </a:p>
          <a:p>
            <a:pPr lvl="1" eaLnBrk="1" hangingPunct="1"/>
            <a:r>
              <a:rPr lang="en-US" altLang="zh-CN" dirty="0"/>
              <a:t>If f = O(g) and g = O(h) then f = O(h).</a:t>
            </a:r>
            <a:endParaRPr lang="en-US" altLang="zh-CN" dirty="0"/>
          </a:p>
          <a:p>
            <a:pPr marL="0" indent="0" eaLnBrk="1" hangingPunct="1">
              <a:buNone/>
            </a:pPr>
            <a:r>
              <a:rPr lang="zh-CN" altLang="en-US" dirty="0"/>
              <a:t>证明： </a:t>
            </a:r>
            <a:endParaRPr lang="en-US" altLang="zh-CN" dirty="0"/>
          </a:p>
          <a:p>
            <a:pPr eaLnBrk="1" hangingPunct="1"/>
            <a:r>
              <a:rPr lang="en-US" altLang="zh-CN" dirty="0"/>
              <a:t>c</a:t>
            </a:r>
            <a:r>
              <a:rPr lang="zh-CN" altLang="en-US" dirty="0"/>
              <a:t>和</a:t>
            </a:r>
            <a:r>
              <a:rPr lang="en-US" altLang="zh-CN" dirty="0"/>
              <a:t>c’</a:t>
            </a:r>
            <a:r>
              <a:rPr lang="zh-CN" altLang="en-US" dirty="0"/>
              <a:t>大于</a:t>
            </a:r>
            <a:r>
              <a:rPr lang="en-US" altLang="zh-CN" dirty="0"/>
              <a:t>0</a:t>
            </a:r>
            <a:r>
              <a:rPr lang="zh-CN" altLang="en-US" dirty="0"/>
              <a:t>，</a:t>
            </a:r>
            <a:r>
              <a:rPr lang="en-US" altLang="zh-CN" dirty="0"/>
              <a:t>n≥n</a:t>
            </a:r>
            <a:r>
              <a:rPr lang="en-US" altLang="zh-CN" baseline="-25000" dirty="0"/>
              <a:t>0</a:t>
            </a:r>
            <a:r>
              <a:rPr lang="zh-CN" altLang="en-US" dirty="0"/>
              <a:t>有</a:t>
            </a:r>
            <a:r>
              <a:rPr lang="en-US" altLang="zh-CN" dirty="0"/>
              <a:t>f(n)</a:t>
            </a:r>
            <a:r>
              <a:rPr lang="zh-CN" altLang="en-US" dirty="0"/>
              <a:t>≤</a:t>
            </a:r>
            <a:r>
              <a:rPr lang="en-US" altLang="zh-CN" dirty="0"/>
              <a:t>cg(n) n≥n</a:t>
            </a:r>
            <a:r>
              <a:rPr lang="en-US" altLang="zh-CN" baseline="-25000" dirty="0"/>
              <a:t>1</a:t>
            </a:r>
            <a:r>
              <a:rPr lang="zh-CN" altLang="en-US" dirty="0"/>
              <a:t>有</a:t>
            </a:r>
            <a:r>
              <a:rPr lang="en-US" altLang="zh-CN" dirty="0"/>
              <a:t>g(n)</a:t>
            </a:r>
            <a:r>
              <a:rPr lang="zh-CN" altLang="en-US" dirty="0"/>
              <a:t>≤</a:t>
            </a:r>
            <a:r>
              <a:rPr lang="en-US" altLang="zh-CN" dirty="0" err="1"/>
              <a:t>c'h</a:t>
            </a:r>
            <a:r>
              <a:rPr lang="en-US" altLang="zh-CN" dirty="0"/>
              <a:t>(n). </a:t>
            </a:r>
            <a:endParaRPr lang="en-US" altLang="zh-CN" dirty="0"/>
          </a:p>
          <a:p>
            <a:pPr eaLnBrk="1" hangingPunct="1"/>
            <a:r>
              <a:rPr lang="en-US" altLang="zh-CN" dirty="0" err="1"/>
              <a:t>n≥max</a:t>
            </a:r>
            <a:r>
              <a:rPr lang="en-US" altLang="zh-CN" dirty="0"/>
              <a:t>(n</a:t>
            </a:r>
            <a:r>
              <a:rPr lang="en-US" altLang="zh-CN" baseline="-25000" dirty="0"/>
              <a:t>0</a:t>
            </a:r>
            <a:r>
              <a:rPr lang="en-US" altLang="zh-CN" dirty="0"/>
              <a:t>,n</a:t>
            </a:r>
            <a:r>
              <a:rPr lang="en-US" altLang="zh-CN" baseline="-25000" dirty="0"/>
              <a:t>1</a:t>
            </a:r>
            <a:r>
              <a:rPr lang="en-US" altLang="zh-CN" dirty="0"/>
              <a:t>) f(n)≤cg(n)≤</a:t>
            </a:r>
            <a:r>
              <a:rPr lang="en-US" altLang="zh-CN" dirty="0" err="1"/>
              <a:t>c’ch</a:t>
            </a:r>
            <a:r>
              <a:rPr lang="en-US" altLang="zh-CN" dirty="0"/>
              <a:t>(n),</a:t>
            </a:r>
            <a:r>
              <a:rPr lang="zh-CN" altLang="en-US" dirty="0"/>
              <a:t>因此</a:t>
            </a:r>
            <a:r>
              <a:rPr lang="en-US" altLang="zh-CN" dirty="0"/>
              <a:t>f(n)≤</a:t>
            </a:r>
            <a:r>
              <a:rPr lang="en-US" altLang="zh-CN" dirty="0" err="1"/>
              <a:t>cc'h</a:t>
            </a:r>
            <a:r>
              <a:rPr lang="en-US" altLang="zh-CN" dirty="0"/>
              <a:t>(n).</a:t>
            </a:r>
            <a:endParaRPr lang="en-US" altLang="zh-CN" dirty="0"/>
          </a:p>
          <a:p>
            <a:pPr eaLnBrk="1" hangingPunct="1"/>
            <a:r>
              <a:rPr lang="zh-CN" altLang="en-US" dirty="0"/>
              <a:t>证明</a:t>
            </a:r>
            <a:r>
              <a:rPr lang="en-US" altLang="zh-CN" dirty="0"/>
              <a:t>f=O(h).</a:t>
            </a:r>
            <a:endParaRPr lang="en-US" altLang="zh-CN" dirty="0"/>
          </a:p>
          <a:p>
            <a:pPr eaLnBrk="1" hangingPunct="1"/>
            <a:endParaRPr lang="zh-CN" alt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6A96F680-92D4-4E7D-818E-4E4A256D59B7}" type="slidenum">
              <a:rPr lang="zh-CN" altLang="en-US"/>
            </a:fld>
            <a:endParaRPr lang="en-US" altLang="zh-CN"/>
          </a:p>
        </p:txBody>
      </p:sp>
      <p:sp>
        <p:nvSpPr>
          <p:cNvPr id="17411" name="Rectangle 2"/>
          <p:cNvSpPr>
            <a:spLocks noGrp="1" noChangeArrowheads="1"/>
          </p:cNvSpPr>
          <p:nvPr>
            <p:ph type="title"/>
          </p:nvPr>
        </p:nvSpPr>
        <p:spPr>
          <a:xfrm>
            <a:off x="1162050" y="640716"/>
            <a:ext cx="7793038" cy="1143000"/>
          </a:xfrm>
        </p:spPr>
        <p:txBody>
          <a:bodyPr/>
          <a:lstStyle/>
          <a:p>
            <a:pPr eaLnBrk="1" hangingPunct="1"/>
            <a:r>
              <a:rPr lang="zh-CN" altLang="en-US"/>
              <a:t>复杂度性质</a:t>
            </a:r>
            <a:endParaRPr lang="zh-CN" altLang="en-US"/>
          </a:p>
        </p:txBody>
      </p:sp>
      <p:sp>
        <p:nvSpPr>
          <p:cNvPr id="17412" name="Rectangle 3"/>
          <p:cNvSpPr>
            <a:spLocks noGrp="1" noChangeArrowheads="1"/>
          </p:cNvSpPr>
          <p:nvPr>
            <p:ph type="body" idx="1"/>
          </p:nvPr>
        </p:nvSpPr>
        <p:spPr>
          <a:xfrm>
            <a:off x="685800" y="1996758"/>
            <a:ext cx="7772400" cy="4114800"/>
          </a:xfrm>
        </p:spPr>
        <p:txBody>
          <a:bodyPr/>
          <a:lstStyle/>
          <a:p>
            <a:pPr eaLnBrk="1" hangingPunct="1"/>
            <a:r>
              <a:rPr lang="zh-CN" altLang="en-US" dirty="0"/>
              <a:t>传递性</a:t>
            </a:r>
            <a:endParaRPr lang="en-US" altLang="zh-CN" dirty="0"/>
          </a:p>
          <a:p>
            <a:pPr marL="0" indent="0" eaLnBrk="1" hangingPunct="1">
              <a:buNone/>
            </a:pPr>
            <a:r>
              <a:rPr lang="zh-CN" altLang="en-US" dirty="0"/>
              <a:t>请证明：</a:t>
            </a:r>
            <a:endParaRPr lang="zh-CN" altLang="en-US" dirty="0"/>
          </a:p>
          <a:p>
            <a:pPr lvl="1" eaLnBrk="1" hangingPunct="1"/>
            <a:r>
              <a:rPr lang="en-US" altLang="zh-CN" dirty="0"/>
              <a:t>If f = </a:t>
            </a:r>
            <a:r>
              <a:rPr lang="en-US" altLang="zh-CN" dirty="0">
                <a:sym typeface="Symbol" panose="05050102010706020507" pitchFamily="18" charset="2"/>
              </a:rPr>
              <a:t></a:t>
            </a:r>
            <a:r>
              <a:rPr lang="en-US" altLang="zh-CN" dirty="0"/>
              <a:t>(g) and g = </a:t>
            </a:r>
            <a:r>
              <a:rPr lang="en-US" altLang="zh-CN" dirty="0">
                <a:sym typeface="Symbol" panose="05050102010706020507" pitchFamily="18" charset="2"/>
              </a:rPr>
              <a:t></a:t>
            </a:r>
            <a:r>
              <a:rPr lang="en-US" altLang="zh-CN" dirty="0"/>
              <a:t>(h) then f = </a:t>
            </a:r>
            <a:r>
              <a:rPr lang="en-US" altLang="zh-CN" dirty="0">
                <a:sym typeface="Symbol" panose="05050102010706020507" pitchFamily="18" charset="2"/>
              </a:rPr>
              <a:t></a:t>
            </a:r>
            <a:r>
              <a:rPr lang="en-US" altLang="zh-CN" dirty="0"/>
              <a:t>(h). </a:t>
            </a:r>
            <a:endParaRPr lang="en-US" altLang="zh-CN" dirty="0"/>
          </a:p>
          <a:p>
            <a:pPr lvl="1" eaLnBrk="1" hangingPunct="1"/>
            <a:r>
              <a:rPr lang="en-US" altLang="zh-CN" dirty="0"/>
              <a:t>If f = </a:t>
            </a:r>
            <a:r>
              <a:rPr lang="en-US" altLang="zh-CN" dirty="0">
                <a:sym typeface="Symbol" panose="05050102010706020507" pitchFamily="18" charset="2"/>
              </a:rPr>
              <a:t></a:t>
            </a:r>
            <a:r>
              <a:rPr lang="en-US" altLang="zh-CN" dirty="0"/>
              <a:t>(g) and g = </a:t>
            </a:r>
            <a:r>
              <a:rPr lang="en-US" altLang="zh-CN" dirty="0">
                <a:sym typeface="Symbol" panose="05050102010706020507" pitchFamily="18" charset="2"/>
              </a:rPr>
              <a:t></a:t>
            </a:r>
            <a:r>
              <a:rPr lang="en-US" altLang="zh-CN" dirty="0"/>
              <a:t>(h) then f = </a:t>
            </a:r>
            <a:r>
              <a:rPr lang="en-US" altLang="zh-CN" dirty="0">
                <a:sym typeface="Symbol" panose="05050102010706020507" pitchFamily="18" charset="2"/>
              </a:rPr>
              <a:t></a:t>
            </a:r>
            <a:r>
              <a:rPr lang="en-US" altLang="zh-CN" dirty="0"/>
              <a:t>(h).</a:t>
            </a:r>
            <a:endParaRPr lang="en-US" altLang="zh-CN" dirty="0"/>
          </a:p>
          <a:p>
            <a:pPr eaLnBrk="1" hangingPunct="1"/>
            <a:endParaRPr lang="en-US" altLang="zh-CN" dirty="0"/>
          </a:p>
          <a:p>
            <a:pPr eaLnBrk="1" hangingPunct="1"/>
            <a:endParaRPr lang="zh-CN" alt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12AAEC6F-4146-4AB6-983D-91CBA8EE9976}" type="slidenum">
              <a:rPr lang="zh-CN" altLang="en-US"/>
            </a:fld>
            <a:endParaRPr lang="en-US" altLang="zh-CN"/>
          </a:p>
        </p:txBody>
      </p:sp>
      <p:sp>
        <p:nvSpPr>
          <p:cNvPr id="18435" name="Rectangle 2"/>
          <p:cNvSpPr>
            <a:spLocks noGrp="1" noChangeArrowheads="1"/>
          </p:cNvSpPr>
          <p:nvPr>
            <p:ph type="title"/>
          </p:nvPr>
        </p:nvSpPr>
        <p:spPr/>
        <p:txBody>
          <a:bodyPr/>
          <a:lstStyle/>
          <a:p>
            <a:pPr eaLnBrk="1" hangingPunct="1"/>
            <a:r>
              <a:rPr lang="zh-CN" altLang="en-US"/>
              <a:t>复杂度性质</a:t>
            </a:r>
            <a:endParaRPr lang="zh-CN" altLang="en-US"/>
          </a:p>
        </p:txBody>
      </p:sp>
      <p:sp>
        <p:nvSpPr>
          <p:cNvPr id="18436" name="Rectangle 3"/>
          <p:cNvSpPr>
            <a:spLocks noGrp="1" noChangeArrowheads="1"/>
          </p:cNvSpPr>
          <p:nvPr>
            <p:ph type="body" idx="1"/>
          </p:nvPr>
        </p:nvSpPr>
        <p:spPr>
          <a:xfrm>
            <a:off x="685800" y="2017713"/>
            <a:ext cx="8269288" cy="4114800"/>
          </a:xfrm>
        </p:spPr>
        <p:txBody>
          <a:bodyPr/>
          <a:lstStyle/>
          <a:p>
            <a:pPr eaLnBrk="1" hangingPunct="1"/>
            <a:r>
              <a:rPr lang="zh-CN" altLang="en-US" dirty="0"/>
              <a:t>可加性</a:t>
            </a:r>
            <a:endParaRPr lang="zh-CN" altLang="en-US" dirty="0"/>
          </a:p>
          <a:p>
            <a:pPr marL="457200" lvl="1" indent="0" eaLnBrk="1" hangingPunct="1">
              <a:buNone/>
            </a:pPr>
            <a:r>
              <a:rPr lang="zh-CN" altLang="en-US" dirty="0"/>
              <a:t>命题</a:t>
            </a:r>
            <a:r>
              <a:rPr lang="en-US" altLang="zh-CN" dirty="0"/>
              <a:t>2.4 </a:t>
            </a:r>
            <a:endParaRPr lang="en-US" altLang="zh-CN" dirty="0"/>
          </a:p>
          <a:p>
            <a:pPr lvl="1" eaLnBrk="1" hangingPunct="1"/>
            <a:r>
              <a:rPr lang="en-US" altLang="zh-CN" dirty="0"/>
              <a:t>If f = O(h) and g = O(h) then f + g = O(h). </a:t>
            </a:r>
            <a:endParaRPr lang="en-US" altLang="zh-CN" dirty="0"/>
          </a:p>
          <a:p>
            <a:pPr lvl="1" eaLnBrk="1" hangingPunct="1"/>
            <a:r>
              <a:rPr lang="en-US" altLang="zh-CN" dirty="0"/>
              <a:t>If f = </a:t>
            </a:r>
            <a:r>
              <a:rPr lang="en-US" altLang="zh-CN" dirty="0">
                <a:sym typeface="Symbol" panose="05050102010706020507" pitchFamily="18" charset="2"/>
              </a:rPr>
              <a:t></a:t>
            </a:r>
            <a:r>
              <a:rPr lang="en-US" altLang="zh-CN" dirty="0"/>
              <a:t>(h) and g = </a:t>
            </a:r>
            <a:r>
              <a:rPr lang="en-US" altLang="zh-CN" dirty="0">
                <a:sym typeface="Symbol" panose="05050102010706020507" pitchFamily="18" charset="2"/>
              </a:rPr>
              <a:t></a:t>
            </a:r>
            <a:r>
              <a:rPr lang="en-US" altLang="zh-CN" dirty="0"/>
              <a:t>(h) then f + g = </a:t>
            </a:r>
            <a:r>
              <a:rPr lang="en-US" altLang="zh-CN" dirty="0">
                <a:sym typeface="Symbol" panose="05050102010706020507" pitchFamily="18" charset="2"/>
              </a:rPr>
              <a:t></a:t>
            </a:r>
            <a:r>
              <a:rPr lang="en-US" altLang="zh-CN" dirty="0"/>
              <a:t>(h).</a:t>
            </a:r>
            <a:endParaRPr lang="en-US" altLang="zh-CN" dirty="0"/>
          </a:p>
          <a:p>
            <a:pPr lvl="1" eaLnBrk="1" hangingPunct="1"/>
            <a:r>
              <a:rPr lang="en-US" altLang="zh-CN" dirty="0"/>
              <a:t>If f = </a:t>
            </a:r>
            <a:r>
              <a:rPr lang="en-US" altLang="zh-CN" dirty="0">
                <a:sym typeface="Symbol" panose="05050102010706020507" pitchFamily="18" charset="2"/>
              </a:rPr>
              <a:t></a:t>
            </a:r>
            <a:r>
              <a:rPr lang="en-US" altLang="zh-CN" dirty="0"/>
              <a:t>(h) and g = O(h) then f + g = </a:t>
            </a:r>
            <a:r>
              <a:rPr lang="en-US" altLang="zh-CN" dirty="0">
                <a:sym typeface="Symbol" panose="05050102010706020507" pitchFamily="18" charset="2"/>
              </a:rPr>
              <a:t></a:t>
            </a:r>
            <a:r>
              <a:rPr lang="en-US" altLang="zh-CN" dirty="0"/>
              <a:t>(h).</a:t>
            </a:r>
            <a:endParaRPr lang="en-US" altLang="zh-CN" dirty="0"/>
          </a:p>
          <a:p>
            <a:pPr lvl="1" eaLnBrk="1" hangingPunct="1"/>
            <a:endParaRPr lang="en-US" altLang="zh-CN" dirty="0"/>
          </a:p>
          <a:p>
            <a:pPr lvl="1" eaLnBrk="1" hangingPunct="1"/>
            <a:r>
              <a:rPr lang="en-US" altLang="zh-CN" i="1" dirty="0"/>
              <a:t>O</a:t>
            </a:r>
            <a:r>
              <a:rPr lang="en-US" altLang="zh-CN" dirty="0"/>
              <a:t>(</a:t>
            </a:r>
            <a:r>
              <a:rPr lang="en-US" altLang="zh-CN" i="1" dirty="0"/>
              <a:t>f</a:t>
            </a:r>
            <a:r>
              <a:rPr lang="en-US" altLang="zh-CN" dirty="0"/>
              <a:t>(</a:t>
            </a:r>
            <a:r>
              <a:rPr lang="en-US" altLang="zh-CN" i="1" dirty="0"/>
              <a:t>n</a:t>
            </a:r>
            <a:r>
              <a:rPr lang="en-US" altLang="zh-CN" dirty="0"/>
              <a:t>))+</a:t>
            </a:r>
            <a:r>
              <a:rPr lang="en-US" altLang="zh-CN" i="1" dirty="0"/>
              <a:t>O</a:t>
            </a:r>
            <a:r>
              <a:rPr lang="en-US" altLang="zh-CN" dirty="0"/>
              <a:t>(</a:t>
            </a:r>
            <a:r>
              <a:rPr lang="en-US" altLang="zh-CN" i="1" dirty="0"/>
              <a:t>g</a:t>
            </a:r>
            <a:r>
              <a:rPr lang="en-US" altLang="zh-CN" dirty="0"/>
              <a:t>(</a:t>
            </a:r>
            <a:r>
              <a:rPr lang="en-US" altLang="zh-CN" i="1" dirty="0"/>
              <a:t>n</a:t>
            </a:r>
            <a:r>
              <a:rPr lang="en-US" altLang="zh-CN" dirty="0"/>
              <a:t>)) </a:t>
            </a:r>
            <a:r>
              <a:rPr lang="en-US" altLang="zh-CN" dirty="0">
                <a:sym typeface="Symbol" panose="05050102010706020507" pitchFamily="18" charset="2"/>
              </a:rPr>
              <a:t>=</a:t>
            </a:r>
            <a:r>
              <a:rPr lang="en-US" altLang="zh-CN" dirty="0"/>
              <a:t> </a:t>
            </a:r>
            <a:r>
              <a:rPr lang="en-US" altLang="zh-CN" i="1" dirty="0"/>
              <a:t>O</a:t>
            </a:r>
            <a:r>
              <a:rPr lang="en-US" altLang="zh-CN" dirty="0"/>
              <a:t>(max{</a:t>
            </a:r>
            <a:r>
              <a:rPr lang="en-US" altLang="zh-CN" i="1" dirty="0"/>
              <a:t>f</a:t>
            </a:r>
            <a:r>
              <a:rPr lang="en-US" altLang="zh-CN" dirty="0"/>
              <a:t>(n),</a:t>
            </a:r>
            <a:r>
              <a:rPr lang="en-US" altLang="zh-CN" i="1" dirty="0"/>
              <a:t>g</a:t>
            </a:r>
            <a:r>
              <a:rPr lang="en-US" altLang="zh-CN" dirty="0"/>
              <a:t>(</a:t>
            </a:r>
            <a:r>
              <a:rPr lang="en-US" altLang="zh-CN" i="1" dirty="0"/>
              <a:t>n</a:t>
            </a:r>
            <a:r>
              <a:rPr lang="en-US" altLang="zh-CN" dirty="0"/>
              <a:t>)})</a:t>
            </a:r>
            <a:endParaRPr lang="en-US" altLang="zh-CN" dirty="0"/>
          </a:p>
          <a:p>
            <a:pPr eaLnBrk="1" hangingPunct="1"/>
            <a:endParaRPr lang="zh-CN" alt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12AAEC6F-4146-4AB6-983D-91CBA8EE9976}" type="slidenum">
              <a:rPr lang="zh-CN" altLang="en-US"/>
            </a:fld>
            <a:endParaRPr lang="en-US" altLang="zh-CN"/>
          </a:p>
        </p:txBody>
      </p:sp>
      <p:sp>
        <p:nvSpPr>
          <p:cNvPr id="18435" name="Rectangle 2"/>
          <p:cNvSpPr>
            <a:spLocks noGrp="1" noChangeArrowheads="1"/>
          </p:cNvSpPr>
          <p:nvPr>
            <p:ph type="title"/>
          </p:nvPr>
        </p:nvSpPr>
        <p:spPr/>
        <p:txBody>
          <a:bodyPr/>
          <a:lstStyle/>
          <a:p>
            <a:pPr eaLnBrk="1" hangingPunct="1"/>
            <a:r>
              <a:rPr lang="zh-CN" altLang="en-US"/>
              <a:t>复杂度性质</a:t>
            </a:r>
            <a:endParaRPr lang="zh-CN" altLang="en-US"/>
          </a:p>
        </p:txBody>
      </p:sp>
      <p:sp>
        <p:nvSpPr>
          <p:cNvPr id="18436" name="Rectangle 3"/>
          <p:cNvSpPr>
            <a:spLocks noGrp="1" noChangeArrowheads="1"/>
          </p:cNvSpPr>
          <p:nvPr>
            <p:ph type="body" idx="1"/>
          </p:nvPr>
        </p:nvSpPr>
        <p:spPr>
          <a:xfrm>
            <a:off x="685800" y="2017713"/>
            <a:ext cx="8269288" cy="4114800"/>
          </a:xfrm>
        </p:spPr>
        <p:txBody>
          <a:bodyPr/>
          <a:lstStyle/>
          <a:p>
            <a:pPr eaLnBrk="1" hangingPunct="1"/>
            <a:r>
              <a:rPr lang="zh-CN" altLang="en-US" dirty="0"/>
              <a:t>可加性</a:t>
            </a:r>
            <a:endParaRPr lang="en-US" altLang="zh-CN" dirty="0"/>
          </a:p>
          <a:p>
            <a:pPr lvl="1" eaLnBrk="1" hangingPunct="1"/>
            <a:r>
              <a:rPr lang="en-US" altLang="zh-CN" dirty="0"/>
              <a:t>If f = O(h) and g = O(h) then f + g = O(h).</a:t>
            </a:r>
            <a:endParaRPr lang="en-US" altLang="zh-CN" dirty="0"/>
          </a:p>
          <a:p>
            <a:pPr marL="0" indent="0" eaLnBrk="1" hangingPunct="1">
              <a:buNone/>
            </a:pPr>
            <a:r>
              <a:rPr lang="zh-CN" altLang="en-US" dirty="0"/>
              <a:t>证明：</a:t>
            </a:r>
            <a:endParaRPr lang="zh-CN" altLang="en-US" dirty="0"/>
          </a:p>
          <a:p>
            <a:pPr eaLnBrk="1" hangingPunct="1"/>
            <a:r>
              <a:rPr lang="en-US" altLang="zh-CN" dirty="0"/>
              <a:t>c</a:t>
            </a:r>
            <a:r>
              <a:rPr lang="zh-CN" altLang="en-US" dirty="0"/>
              <a:t>和</a:t>
            </a:r>
            <a:r>
              <a:rPr lang="en-US" altLang="zh-CN" dirty="0"/>
              <a:t>c’</a:t>
            </a:r>
            <a:r>
              <a:rPr lang="zh-CN" altLang="en-US" dirty="0"/>
              <a:t>大于</a:t>
            </a:r>
            <a:r>
              <a:rPr lang="en-US" altLang="zh-CN" dirty="0"/>
              <a:t>0</a:t>
            </a:r>
            <a:r>
              <a:rPr lang="zh-CN" altLang="en-US" dirty="0"/>
              <a:t>，</a:t>
            </a:r>
            <a:r>
              <a:rPr lang="en-US" altLang="zh-CN" dirty="0"/>
              <a:t>n≥n</a:t>
            </a:r>
            <a:r>
              <a:rPr lang="en-US" altLang="zh-CN" baseline="-25000" dirty="0"/>
              <a:t>0</a:t>
            </a:r>
            <a:r>
              <a:rPr lang="zh-CN" altLang="en-US" dirty="0"/>
              <a:t>有</a:t>
            </a:r>
            <a:r>
              <a:rPr lang="en-US" altLang="zh-CN" dirty="0"/>
              <a:t>f(n)</a:t>
            </a:r>
            <a:r>
              <a:rPr lang="zh-CN" altLang="en-US" dirty="0"/>
              <a:t>≤</a:t>
            </a:r>
            <a:r>
              <a:rPr lang="en-US" altLang="zh-CN" dirty="0" err="1"/>
              <a:t>ch</a:t>
            </a:r>
            <a:r>
              <a:rPr lang="en-US" altLang="zh-CN" dirty="0"/>
              <a:t>(n) n≥n</a:t>
            </a:r>
            <a:r>
              <a:rPr lang="en-US" altLang="zh-CN" baseline="-25000" dirty="0"/>
              <a:t>1</a:t>
            </a:r>
            <a:r>
              <a:rPr lang="zh-CN" altLang="en-US" dirty="0"/>
              <a:t>有</a:t>
            </a:r>
            <a:r>
              <a:rPr lang="en-US" altLang="zh-CN" dirty="0"/>
              <a:t>g(n)</a:t>
            </a:r>
            <a:r>
              <a:rPr lang="zh-CN" altLang="en-US" dirty="0"/>
              <a:t>≤</a:t>
            </a:r>
            <a:r>
              <a:rPr lang="en-US" altLang="zh-CN" dirty="0" err="1"/>
              <a:t>c'h</a:t>
            </a:r>
            <a:r>
              <a:rPr lang="en-US" altLang="zh-CN" dirty="0"/>
              <a:t>(n). </a:t>
            </a:r>
            <a:endParaRPr lang="en-US" altLang="zh-CN" dirty="0"/>
          </a:p>
          <a:p>
            <a:pPr eaLnBrk="1" hangingPunct="1"/>
            <a:r>
              <a:rPr lang="en-US" altLang="zh-CN" dirty="0" err="1"/>
              <a:t>n≥max</a:t>
            </a:r>
            <a:r>
              <a:rPr lang="en-US" altLang="zh-CN" dirty="0"/>
              <a:t>(n</a:t>
            </a:r>
            <a:r>
              <a:rPr lang="en-US" altLang="zh-CN" baseline="-25000" dirty="0"/>
              <a:t>0</a:t>
            </a:r>
            <a:r>
              <a:rPr lang="en-US" altLang="zh-CN" dirty="0"/>
              <a:t>,n</a:t>
            </a:r>
            <a:r>
              <a:rPr lang="en-US" altLang="zh-CN" baseline="-25000" dirty="0"/>
              <a:t>1</a:t>
            </a:r>
            <a:r>
              <a:rPr lang="en-US" altLang="zh-CN" dirty="0"/>
              <a:t>) f(n)+g(n)≤c’ h(n)+</a:t>
            </a:r>
            <a:r>
              <a:rPr lang="en-US" altLang="zh-CN" dirty="0" err="1"/>
              <a:t>ch</a:t>
            </a:r>
            <a:r>
              <a:rPr lang="en-US" altLang="zh-CN" dirty="0"/>
              <a:t>(n),</a:t>
            </a:r>
            <a:r>
              <a:rPr lang="zh-CN" altLang="en-US" dirty="0"/>
              <a:t>因此</a:t>
            </a:r>
            <a:r>
              <a:rPr lang="en-US" altLang="zh-CN" dirty="0"/>
              <a:t>f(n)≤(</a:t>
            </a:r>
            <a:r>
              <a:rPr lang="en-US" altLang="zh-CN" dirty="0" err="1"/>
              <a:t>c+c</a:t>
            </a:r>
            <a:r>
              <a:rPr lang="en-US" altLang="zh-CN" dirty="0"/>
              <a:t>’)h(n).</a:t>
            </a:r>
            <a:endParaRPr lang="en-US" altLang="zh-CN" dirty="0"/>
          </a:p>
          <a:p>
            <a:pPr eaLnBrk="1" hangingPunct="1"/>
            <a:r>
              <a:rPr lang="zh-CN" altLang="en-US" dirty="0"/>
              <a:t>证明</a:t>
            </a:r>
            <a:r>
              <a:rPr lang="en-US" altLang="zh-CN" dirty="0"/>
              <a:t>f=O(h).</a:t>
            </a:r>
            <a:endParaRPr lang="en-US" altLang="zh-CN" dirty="0"/>
          </a:p>
          <a:p>
            <a:pPr lvl="1" eaLnBrk="1" hangingPunct="1"/>
            <a:r>
              <a:rPr lang="en-US" altLang="zh-CN" dirty="0"/>
              <a:t> </a:t>
            </a:r>
            <a:endParaRPr lang="en-US" altLang="zh-CN" dirty="0"/>
          </a:p>
          <a:p>
            <a:pPr eaLnBrk="1" hangingPunct="1"/>
            <a:endParaRPr lang="zh-CN" alt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12AAEC6F-4146-4AB6-983D-91CBA8EE9976}" type="slidenum">
              <a:rPr lang="zh-CN" altLang="en-US"/>
            </a:fld>
            <a:endParaRPr lang="en-US" altLang="zh-CN"/>
          </a:p>
        </p:txBody>
      </p:sp>
      <p:sp>
        <p:nvSpPr>
          <p:cNvPr id="18435" name="Rectangle 2"/>
          <p:cNvSpPr>
            <a:spLocks noGrp="1" noChangeArrowheads="1"/>
          </p:cNvSpPr>
          <p:nvPr>
            <p:ph type="title"/>
          </p:nvPr>
        </p:nvSpPr>
        <p:spPr/>
        <p:txBody>
          <a:bodyPr/>
          <a:lstStyle/>
          <a:p>
            <a:pPr eaLnBrk="1" hangingPunct="1"/>
            <a:r>
              <a:rPr lang="zh-CN" altLang="en-US"/>
              <a:t>复杂度性质</a:t>
            </a:r>
            <a:endParaRPr lang="zh-CN" altLang="en-US"/>
          </a:p>
        </p:txBody>
      </p:sp>
      <p:sp>
        <p:nvSpPr>
          <p:cNvPr id="18436" name="Rectangle 3"/>
          <p:cNvSpPr>
            <a:spLocks noGrp="1" noChangeArrowheads="1"/>
          </p:cNvSpPr>
          <p:nvPr>
            <p:ph type="body" idx="1"/>
          </p:nvPr>
        </p:nvSpPr>
        <p:spPr>
          <a:xfrm>
            <a:off x="685800" y="2017713"/>
            <a:ext cx="8269288" cy="4114800"/>
          </a:xfrm>
        </p:spPr>
        <p:txBody>
          <a:bodyPr/>
          <a:lstStyle/>
          <a:p>
            <a:pPr eaLnBrk="1" hangingPunct="1"/>
            <a:r>
              <a:rPr lang="zh-CN" altLang="en-US" dirty="0"/>
              <a:t>可加性</a:t>
            </a:r>
            <a:endParaRPr lang="en-US" altLang="zh-CN" dirty="0"/>
          </a:p>
          <a:p>
            <a:pPr marL="0" indent="0" eaLnBrk="1" hangingPunct="1">
              <a:buNone/>
            </a:pPr>
            <a:r>
              <a:rPr lang="zh-CN" altLang="en-US" dirty="0"/>
              <a:t>证明：</a:t>
            </a:r>
            <a:endParaRPr lang="zh-CN" altLang="en-US" dirty="0"/>
          </a:p>
          <a:p>
            <a:pPr lvl="1" eaLnBrk="1" hangingPunct="1"/>
            <a:r>
              <a:rPr lang="en-US" altLang="zh-CN" dirty="0"/>
              <a:t>If f = </a:t>
            </a:r>
            <a:r>
              <a:rPr lang="en-US" altLang="zh-CN" dirty="0">
                <a:sym typeface="Symbol" panose="05050102010706020507" pitchFamily="18" charset="2"/>
              </a:rPr>
              <a:t></a:t>
            </a:r>
            <a:r>
              <a:rPr lang="en-US" altLang="zh-CN" dirty="0"/>
              <a:t>(h) and g = </a:t>
            </a:r>
            <a:r>
              <a:rPr lang="en-US" altLang="zh-CN" dirty="0">
                <a:sym typeface="Symbol" panose="05050102010706020507" pitchFamily="18" charset="2"/>
              </a:rPr>
              <a:t></a:t>
            </a:r>
            <a:r>
              <a:rPr lang="en-US" altLang="zh-CN" dirty="0"/>
              <a:t>(h) then f + g = </a:t>
            </a:r>
            <a:r>
              <a:rPr lang="en-US" altLang="zh-CN" dirty="0">
                <a:sym typeface="Symbol" panose="05050102010706020507" pitchFamily="18" charset="2"/>
              </a:rPr>
              <a:t></a:t>
            </a:r>
            <a:r>
              <a:rPr lang="en-US" altLang="zh-CN" dirty="0"/>
              <a:t>(h).</a:t>
            </a:r>
            <a:endParaRPr lang="en-US" altLang="zh-CN" dirty="0"/>
          </a:p>
          <a:p>
            <a:pPr lvl="1" eaLnBrk="1" hangingPunct="1"/>
            <a:r>
              <a:rPr lang="en-US" altLang="zh-CN" dirty="0"/>
              <a:t>If f = </a:t>
            </a:r>
            <a:r>
              <a:rPr lang="en-US" altLang="zh-CN" dirty="0">
                <a:sym typeface="Symbol" panose="05050102010706020507" pitchFamily="18" charset="2"/>
              </a:rPr>
              <a:t></a:t>
            </a:r>
            <a:r>
              <a:rPr lang="en-US" altLang="zh-CN" dirty="0"/>
              <a:t>(h) and g = O(h) then f + g = </a:t>
            </a:r>
            <a:r>
              <a:rPr lang="en-US" altLang="zh-CN" dirty="0">
                <a:sym typeface="Symbol" panose="05050102010706020507" pitchFamily="18" charset="2"/>
              </a:rPr>
              <a:t></a:t>
            </a:r>
            <a:r>
              <a:rPr lang="en-US" altLang="zh-CN" dirty="0"/>
              <a:t>(h).</a:t>
            </a:r>
            <a:endParaRPr lang="en-US" altLang="zh-CN" dirty="0"/>
          </a:p>
          <a:p>
            <a:pPr eaLnBrk="1" hangingPunct="1"/>
            <a:endParaRPr lang="zh-CN" alt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1" name="Rectangle 3"/>
          <p:cNvSpPr>
            <a:spLocks noGrp="1" noChangeArrowheads="1"/>
          </p:cNvSpPr>
          <p:nvPr>
            <p:ph idx="1"/>
          </p:nvPr>
        </p:nvSpPr>
        <p:spPr>
          <a:xfrm>
            <a:off x="1187624" y="1052736"/>
            <a:ext cx="7848872" cy="5544616"/>
          </a:xfrm>
        </p:spPr>
        <p:txBody>
          <a:bodyPr/>
          <a:lstStyle/>
          <a:p>
            <a:pPr>
              <a:lnSpc>
                <a:spcPct val="150000"/>
              </a:lnSpc>
            </a:pPr>
            <a:r>
              <a:rPr lang="en-US" altLang="zh-CN" sz="2800" dirty="0"/>
              <a:t>O(f(n))+O(g(n)) </a:t>
            </a:r>
            <a:r>
              <a:rPr lang="en-US" altLang="zh-CN" sz="2800" dirty="0">
                <a:sym typeface="Symbol" panose="05050102010706020507" pitchFamily="18" charset="2"/>
              </a:rPr>
              <a:t>=</a:t>
            </a:r>
            <a:r>
              <a:rPr lang="en-US" altLang="zh-CN" sz="2800" dirty="0"/>
              <a:t> O(max{f(n),g(n)}) </a:t>
            </a:r>
            <a:r>
              <a:rPr lang="zh-CN" altLang="en-US" sz="2800" b="1" dirty="0">
                <a:solidFill>
                  <a:srgbClr val="3907F1"/>
                </a:solidFill>
              </a:rPr>
              <a:t>：</a:t>
            </a:r>
            <a:endParaRPr lang="zh-CN" altLang="en-US" sz="2800" b="1" dirty="0">
              <a:solidFill>
                <a:srgbClr val="3907F1"/>
              </a:solidFill>
            </a:endParaRPr>
          </a:p>
          <a:p>
            <a:pPr>
              <a:buFont typeface="Wingdings" panose="05000000000000000000" pitchFamily="2" charset="2"/>
              <a:buChar char="p"/>
            </a:pPr>
            <a:r>
              <a:rPr lang="zh-CN" altLang="en-US" sz="2600" dirty="0"/>
              <a:t>对于任意</a:t>
            </a:r>
            <a:r>
              <a:rPr lang="en-US" altLang="zh-CN" sz="2600" dirty="0"/>
              <a:t>f</a:t>
            </a:r>
            <a:r>
              <a:rPr lang="en-US" altLang="zh-CN" sz="2600" baseline="-25000" dirty="0"/>
              <a:t>1</a:t>
            </a:r>
            <a:r>
              <a:rPr lang="en-US" altLang="zh-CN" sz="2600" dirty="0"/>
              <a:t>(n) </a:t>
            </a:r>
            <a:r>
              <a:rPr lang="en-US" altLang="zh-CN" sz="2600" dirty="0">
                <a:sym typeface="Symbol" panose="05050102010706020507" pitchFamily="18" charset="2"/>
              </a:rPr>
              <a:t></a:t>
            </a:r>
            <a:r>
              <a:rPr lang="en-US" altLang="zh-CN" sz="2600" dirty="0"/>
              <a:t> O(f(n)) </a:t>
            </a:r>
            <a:r>
              <a:rPr lang="zh-CN" altLang="en-US" sz="2600" dirty="0"/>
              <a:t>，存在正常数</a:t>
            </a:r>
            <a:r>
              <a:rPr lang="en-US" altLang="zh-CN" sz="2600" dirty="0"/>
              <a:t>c</a:t>
            </a:r>
            <a:r>
              <a:rPr lang="en-US" altLang="zh-CN" sz="2600" baseline="-25000" dirty="0"/>
              <a:t>1</a:t>
            </a:r>
            <a:r>
              <a:rPr lang="zh-CN" altLang="en-US" sz="2600" dirty="0"/>
              <a:t>和自然数</a:t>
            </a:r>
            <a:r>
              <a:rPr lang="en-US" altLang="zh-CN" sz="2600" dirty="0"/>
              <a:t>n</a:t>
            </a:r>
            <a:r>
              <a:rPr lang="en-US" altLang="zh-CN" sz="2600" baseline="-25000" dirty="0"/>
              <a:t>1</a:t>
            </a:r>
            <a:r>
              <a:rPr lang="zh-CN" altLang="en-US" sz="2600" dirty="0"/>
              <a:t>，使得对所有</a:t>
            </a:r>
            <a:r>
              <a:rPr lang="en-US" altLang="zh-CN" sz="2600" dirty="0"/>
              <a:t>n</a:t>
            </a:r>
            <a:r>
              <a:rPr lang="en-US" altLang="zh-CN" sz="2600" dirty="0">
                <a:sym typeface="Symbol" panose="05050102010706020507" pitchFamily="18" charset="2"/>
              </a:rPr>
              <a:t> </a:t>
            </a:r>
            <a:r>
              <a:rPr lang="en-US" altLang="zh-CN" sz="2600" dirty="0"/>
              <a:t>n</a:t>
            </a:r>
            <a:r>
              <a:rPr lang="en-US" altLang="zh-CN" sz="2600" baseline="-25000" dirty="0"/>
              <a:t>1</a:t>
            </a:r>
            <a:r>
              <a:rPr lang="zh-CN" altLang="en-US" sz="2600" dirty="0"/>
              <a:t>，有</a:t>
            </a:r>
            <a:r>
              <a:rPr lang="en-US" altLang="zh-CN" sz="2600" dirty="0"/>
              <a:t>f</a:t>
            </a:r>
            <a:r>
              <a:rPr lang="en-US" altLang="zh-CN" sz="2600" baseline="-25000" dirty="0"/>
              <a:t>1</a:t>
            </a:r>
            <a:r>
              <a:rPr lang="en-US" altLang="zh-CN" sz="2600" dirty="0"/>
              <a:t>(n) </a:t>
            </a:r>
            <a:r>
              <a:rPr lang="en-US" altLang="zh-CN" sz="2600" dirty="0">
                <a:sym typeface="Symbol" panose="05050102010706020507" pitchFamily="18" charset="2"/>
              </a:rPr>
              <a:t></a:t>
            </a:r>
            <a:r>
              <a:rPr lang="en-US" altLang="zh-CN" sz="2600" dirty="0"/>
              <a:t> c</a:t>
            </a:r>
            <a:r>
              <a:rPr lang="en-US" altLang="zh-CN" sz="2600" baseline="-25000" dirty="0"/>
              <a:t>1</a:t>
            </a:r>
            <a:r>
              <a:rPr lang="en-US" altLang="zh-CN" sz="2600" dirty="0"/>
              <a:t>f(n) </a:t>
            </a:r>
            <a:r>
              <a:rPr lang="zh-CN" altLang="en-US" sz="2600" dirty="0"/>
              <a:t>。</a:t>
            </a:r>
            <a:endParaRPr lang="zh-CN" altLang="en-US" sz="2600" dirty="0"/>
          </a:p>
          <a:p>
            <a:pPr>
              <a:buFont typeface="Wingdings" panose="05000000000000000000" pitchFamily="2" charset="2"/>
              <a:buChar char="p"/>
            </a:pPr>
            <a:r>
              <a:rPr lang="zh-CN" altLang="en-US" sz="2600" dirty="0"/>
              <a:t>对于任意</a:t>
            </a:r>
            <a:r>
              <a:rPr lang="en-US" altLang="zh-CN" sz="2600" dirty="0"/>
              <a:t>g</a:t>
            </a:r>
            <a:r>
              <a:rPr lang="en-US" altLang="zh-CN" sz="2600" baseline="-25000" dirty="0"/>
              <a:t>1</a:t>
            </a:r>
            <a:r>
              <a:rPr lang="en-US" altLang="zh-CN" sz="2600" dirty="0"/>
              <a:t>(n) </a:t>
            </a:r>
            <a:r>
              <a:rPr lang="en-US" altLang="zh-CN" sz="2600" dirty="0">
                <a:sym typeface="Symbol" panose="05050102010706020507" pitchFamily="18" charset="2"/>
              </a:rPr>
              <a:t></a:t>
            </a:r>
            <a:r>
              <a:rPr lang="en-US" altLang="zh-CN" sz="2600" dirty="0"/>
              <a:t> O(g(n)) </a:t>
            </a:r>
            <a:r>
              <a:rPr lang="zh-CN" altLang="en-US" sz="2600" dirty="0"/>
              <a:t>，存在正常数</a:t>
            </a:r>
            <a:r>
              <a:rPr lang="en-US" altLang="zh-CN" sz="2600" dirty="0"/>
              <a:t>c</a:t>
            </a:r>
            <a:r>
              <a:rPr lang="en-US" altLang="zh-CN" sz="2600" baseline="-25000" dirty="0"/>
              <a:t>2</a:t>
            </a:r>
            <a:r>
              <a:rPr lang="zh-CN" altLang="en-US" sz="2600" dirty="0"/>
              <a:t>和自然数</a:t>
            </a:r>
            <a:r>
              <a:rPr lang="en-US" altLang="zh-CN" sz="2600" dirty="0"/>
              <a:t>n</a:t>
            </a:r>
            <a:r>
              <a:rPr lang="en-US" altLang="zh-CN" sz="2600" baseline="-25000" dirty="0"/>
              <a:t>2</a:t>
            </a:r>
            <a:r>
              <a:rPr lang="zh-CN" altLang="en-US" sz="2600" dirty="0"/>
              <a:t>，使得对所有</a:t>
            </a:r>
            <a:r>
              <a:rPr lang="en-US" altLang="zh-CN" sz="2600" dirty="0"/>
              <a:t>n</a:t>
            </a:r>
            <a:r>
              <a:rPr lang="en-US" altLang="zh-CN" sz="2600" dirty="0">
                <a:sym typeface="Symbol" panose="05050102010706020507" pitchFamily="18" charset="2"/>
              </a:rPr>
              <a:t> </a:t>
            </a:r>
            <a:r>
              <a:rPr lang="en-US" altLang="zh-CN" sz="2600" dirty="0"/>
              <a:t>n</a:t>
            </a:r>
            <a:r>
              <a:rPr lang="en-US" altLang="zh-CN" sz="2600" baseline="-25000" dirty="0"/>
              <a:t>2</a:t>
            </a:r>
            <a:r>
              <a:rPr lang="zh-CN" altLang="en-US" sz="2600" dirty="0"/>
              <a:t>，有</a:t>
            </a:r>
            <a:r>
              <a:rPr lang="en-US" altLang="zh-CN" sz="2600" dirty="0"/>
              <a:t>g</a:t>
            </a:r>
            <a:r>
              <a:rPr lang="en-US" altLang="zh-CN" sz="2600" baseline="-25000" dirty="0"/>
              <a:t>1</a:t>
            </a:r>
            <a:r>
              <a:rPr lang="en-US" altLang="zh-CN" sz="2600" dirty="0"/>
              <a:t>(n) </a:t>
            </a:r>
            <a:r>
              <a:rPr lang="en-US" altLang="zh-CN" sz="2600" dirty="0">
                <a:sym typeface="Symbol" panose="05050102010706020507" pitchFamily="18" charset="2"/>
              </a:rPr>
              <a:t></a:t>
            </a:r>
            <a:r>
              <a:rPr lang="en-US" altLang="zh-CN" sz="2600" dirty="0"/>
              <a:t> c</a:t>
            </a:r>
            <a:r>
              <a:rPr lang="en-US" altLang="zh-CN" sz="2600" baseline="-25000" dirty="0"/>
              <a:t>2</a:t>
            </a:r>
            <a:r>
              <a:rPr lang="en-US" altLang="zh-CN" sz="2600" dirty="0"/>
              <a:t>g(n) </a:t>
            </a:r>
            <a:r>
              <a:rPr lang="zh-CN" altLang="en-US" sz="2600" dirty="0"/>
              <a:t>。</a:t>
            </a:r>
            <a:endParaRPr lang="zh-CN" altLang="en-US" sz="2600" dirty="0"/>
          </a:p>
          <a:p>
            <a:pPr marL="0" indent="0">
              <a:buNone/>
            </a:pPr>
            <a:r>
              <a:rPr lang="zh-CN" altLang="en-US" sz="2600" dirty="0"/>
              <a:t>令</a:t>
            </a:r>
            <a:r>
              <a:rPr lang="en-US" altLang="zh-CN" sz="2600" dirty="0"/>
              <a:t>c</a:t>
            </a:r>
            <a:r>
              <a:rPr lang="en-US" altLang="zh-CN" sz="2600" baseline="-25000" dirty="0"/>
              <a:t>3</a:t>
            </a:r>
            <a:r>
              <a:rPr lang="en-US" altLang="zh-CN" sz="2600" dirty="0"/>
              <a:t>=max{c</a:t>
            </a:r>
            <a:r>
              <a:rPr lang="en-US" altLang="zh-CN" sz="2600" baseline="-25000" dirty="0"/>
              <a:t>1</a:t>
            </a:r>
            <a:r>
              <a:rPr lang="en-US" altLang="zh-CN" sz="2600" dirty="0"/>
              <a:t>, c</a:t>
            </a:r>
            <a:r>
              <a:rPr lang="en-US" altLang="zh-CN" sz="2600" baseline="-25000" dirty="0"/>
              <a:t>2</a:t>
            </a:r>
            <a:r>
              <a:rPr lang="en-US" altLang="zh-CN" sz="2600" dirty="0"/>
              <a:t>},</a:t>
            </a:r>
            <a:r>
              <a:rPr lang="zh-CN" altLang="en-US" sz="2600" dirty="0"/>
              <a:t> </a:t>
            </a:r>
            <a:r>
              <a:rPr lang="en-US" altLang="zh-CN" sz="2600" dirty="0"/>
              <a:t>n</a:t>
            </a:r>
            <a:r>
              <a:rPr lang="en-US" altLang="zh-CN" sz="2600" baseline="-25000" dirty="0"/>
              <a:t>3</a:t>
            </a:r>
            <a:r>
              <a:rPr lang="en-US" altLang="zh-CN" sz="2600" dirty="0"/>
              <a:t> =max{n</a:t>
            </a:r>
            <a:r>
              <a:rPr lang="en-US" altLang="zh-CN" sz="2600" baseline="-25000" dirty="0"/>
              <a:t>1</a:t>
            </a:r>
            <a:r>
              <a:rPr lang="en-US" altLang="zh-CN" sz="2600" dirty="0"/>
              <a:t>, n</a:t>
            </a:r>
            <a:r>
              <a:rPr lang="en-US" altLang="zh-CN" sz="2600" baseline="-25000" dirty="0"/>
              <a:t>2</a:t>
            </a:r>
            <a:r>
              <a:rPr lang="en-US" altLang="zh-CN" sz="2600" dirty="0"/>
              <a:t>},</a:t>
            </a:r>
            <a:endParaRPr lang="en-US" altLang="zh-CN" sz="2600" dirty="0"/>
          </a:p>
          <a:p>
            <a:pPr marL="0" indent="0">
              <a:buNone/>
            </a:pPr>
            <a:r>
              <a:rPr lang="en-US" altLang="zh-CN" sz="2600" dirty="0"/>
              <a:t>h(n)= max{f(n),g(n)} </a:t>
            </a:r>
            <a:r>
              <a:rPr lang="zh-CN" altLang="en-US" sz="2600" dirty="0"/>
              <a:t>。</a:t>
            </a:r>
            <a:endParaRPr lang="zh-CN" altLang="en-US" sz="2600" dirty="0"/>
          </a:p>
          <a:p>
            <a:pPr marL="0" indent="0">
              <a:buNone/>
            </a:pPr>
            <a:r>
              <a:rPr lang="zh-CN" altLang="en-US" sz="2600" dirty="0"/>
              <a:t>则对所有的 </a:t>
            </a:r>
            <a:r>
              <a:rPr lang="en-US" altLang="zh-CN" sz="2600" dirty="0"/>
              <a:t>n </a:t>
            </a:r>
            <a:r>
              <a:rPr lang="en-US" altLang="zh-CN" sz="2600" dirty="0">
                <a:sym typeface="Symbol" panose="05050102010706020507" pitchFamily="18" charset="2"/>
              </a:rPr>
              <a:t> </a:t>
            </a:r>
            <a:r>
              <a:rPr lang="en-US" altLang="zh-CN" sz="2600" dirty="0"/>
              <a:t>n</a:t>
            </a:r>
            <a:r>
              <a:rPr lang="en-US" altLang="zh-CN" sz="2600" baseline="-25000" dirty="0"/>
              <a:t>3</a:t>
            </a:r>
            <a:r>
              <a:rPr lang="zh-CN" altLang="en-US" sz="2600" dirty="0"/>
              <a:t>，有</a:t>
            </a:r>
            <a:r>
              <a:rPr lang="en-US" altLang="zh-CN" sz="2600" dirty="0"/>
              <a:t>f</a:t>
            </a:r>
            <a:r>
              <a:rPr lang="en-US" altLang="zh-CN" sz="2600" baseline="-25000" dirty="0"/>
              <a:t>1</a:t>
            </a:r>
            <a:r>
              <a:rPr lang="en-US" altLang="zh-CN" sz="2600" dirty="0"/>
              <a:t>(n) +g</a:t>
            </a:r>
            <a:r>
              <a:rPr lang="en-US" altLang="zh-CN" sz="2600" baseline="-25000" dirty="0"/>
              <a:t>1</a:t>
            </a:r>
            <a:r>
              <a:rPr lang="en-US" altLang="zh-CN" sz="2600" dirty="0"/>
              <a:t>(n) </a:t>
            </a:r>
            <a:r>
              <a:rPr lang="en-US" altLang="zh-CN" sz="2600" dirty="0">
                <a:sym typeface="Symbol" panose="05050102010706020507" pitchFamily="18" charset="2"/>
              </a:rPr>
              <a:t></a:t>
            </a:r>
            <a:r>
              <a:rPr lang="en-US" altLang="zh-CN" sz="2600" dirty="0"/>
              <a:t> c</a:t>
            </a:r>
            <a:r>
              <a:rPr lang="en-US" altLang="zh-CN" sz="2600" baseline="-25000" dirty="0"/>
              <a:t>1</a:t>
            </a:r>
            <a:r>
              <a:rPr lang="en-US" altLang="zh-CN" sz="2600" dirty="0"/>
              <a:t>f(n) + c</a:t>
            </a:r>
            <a:r>
              <a:rPr lang="en-US" altLang="zh-CN" sz="2600" baseline="-25000" dirty="0"/>
              <a:t>2</a:t>
            </a:r>
            <a:r>
              <a:rPr lang="en-US" altLang="zh-CN" sz="2600" dirty="0"/>
              <a:t>g(n) </a:t>
            </a:r>
            <a:endParaRPr lang="en-US" altLang="zh-CN" sz="2600" dirty="0"/>
          </a:p>
          <a:p>
            <a:pPr marL="0" indent="0">
              <a:spcBef>
                <a:spcPct val="0"/>
              </a:spcBef>
              <a:buNone/>
            </a:pPr>
            <a:r>
              <a:rPr lang="en-US" altLang="zh-CN" sz="2600" dirty="0">
                <a:sym typeface="Symbol" panose="05050102010706020507" pitchFamily="18" charset="2"/>
              </a:rPr>
              <a:t>    </a:t>
            </a:r>
            <a:r>
              <a:rPr lang="en-US" altLang="zh-CN" sz="2600" dirty="0"/>
              <a:t> c</a:t>
            </a:r>
            <a:r>
              <a:rPr lang="en-US" altLang="zh-CN" sz="2600" baseline="-25000" dirty="0"/>
              <a:t>3</a:t>
            </a:r>
            <a:r>
              <a:rPr lang="en-US" altLang="zh-CN" sz="2600" dirty="0"/>
              <a:t>f(n) + c</a:t>
            </a:r>
            <a:r>
              <a:rPr lang="en-US" altLang="zh-CN" sz="2600" baseline="-25000" dirty="0"/>
              <a:t>3</a:t>
            </a:r>
            <a:r>
              <a:rPr lang="en-US" altLang="zh-CN" sz="2600" dirty="0"/>
              <a:t>g(n)= c</a:t>
            </a:r>
            <a:r>
              <a:rPr lang="en-US" altLang="zh-CN" sz="2600" baseline="-25000" dirty="0"/>
              <a:t>3</a:t>
            </a:r>
            <a:r>
              <a:rPr lang="en-US" altLang="zh-CN" sz="2600" dirty="0"/>
              <a:t>(f(n) + g(n))</a:t>
            </a:r>
            <a:endParaRPr lang="en-US" altLang="zh-CN" sz="2600" dirty="0"/>
          </a:p>
          <a:p>
            <a:pPr marL="0" indent="0">
              <a:spcBef>
                <a:spcPct val="0"/>
              </a:spcBef>
              <a:buNone/>
            </a:pPr>
            <a:r>
              <a:rPr lang="en-US" altLang="zh-CN" sz="2600" dirty="0">
                <a:sym typeface="Symbol" panose="05050102010706020507" pitchFamily="18" charset="2"/>
              </a:rPr>
              <a:t>    </a:t>
            </a:r>
            <a:r>
              <a:rPr lang="en-US" altLang="zh-CN" sz="2600" dirty="0"/>
              <a:t> c</a:t>
            </a:r>
            <a:r>
              <a:rPr lang="en-US" altLang="zh-CN" sz="2600" baseline="-25000" dirty="0"/>
              <a:t>3</a:t>
            </a:r>
            <a:r>
              <a:rPr lang="en-US" altLang="zh-CN" sz="2600" dirty="0"/>
              <a:t>2 max{f(n),g(n)}</a:t>
            </a:r>
            <a:endParaRPr lang="en-US" altLang="zh-CN" sz="2600" dirty="0"/>
          </a:p>
          <a:p>
            <a:pPr marL="0" indent="0">
              <a:spcBef>
                <a:spcPct val="0"/>
              </a:spcBef>
              <a:buNone/>
            </a:pPr>
            <a:r>
              <a:rPr lang="en-US" altLang="zh-CN" sz="2600" dirty="0"/>
              <a:t>    = 2c</a:t>
            </a:r>
            <a:r>
              <a:rPr lang="en-US" altLang="zh-CN" sz="2600" baseline="-25000" dirty="0"/>
              <a:t>3</a:t>
            </a:r>
            <a:r>
              <a:rPr lang="en-US" altLang="zh-CN" sz="2600" dirty="0"/>
              <a:t>h(n) = O(max{f(n),g(n)}) .</a:t>
            </a:r>
            <a:endParaRPr lang="en-US" altLang="zh-CN" sz="2600" dirty="0"/>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12AAEC6F-4146-4AB6-983D-91CBA8EE9976}" type="slidenum">
              <a:rPr lang="zh-CN" altLang="en-US"/>
            </a:fld>
            <a:endParaRPr lang="en-US" altLang="zh-CN"/>
          </a:p>
        </p:txBody>
      </p:sp>
      <p:sp>
        <p:nvSpPr>
          <p:cNvPr id="18435" name="Rectangle 2"/>
          <p:cNvSpPr>
            <a:spLocks noGrp="1" noChangeArrowheads="1"/>
          </p:cNvSpPr>
          <p:nvPr>
            <p:ph type="title"/>
          </p:nvPr>
        </p:nvSpPr>
        <p:spPr/>
        <p:txBody>
          <a:bodyPr/>
          <a:lstStyle/>
          <a:p>
            <a:pPr eaLnBrk="1" hangingPunct="1"/>
            <a:r>
              <a:rPr lang="zh-CN" altLang="en-US"/>
              <a:t>复杂度性质</a:t>
            </a:r>
            <a:endParaRPr lang="zh-CN" altLang="en-US"/>
          </a:p>
        </p:txBody>
      </p:sp>
      <p:sp>
        <p:nvSpPr>
          <p:cNvPr id="18436" name="Rectangle 3"/>
          <p:cNvSpPr>
            <a:spLocks noGrp="1" noChangeArrowheads="1"/>
          </p:cNvSpPr>
          <p:nvPr>
            <p:ph type="body" idx="1"/>
          </p:nvPr>
        </p:nvSpPr>
        <p:spPr>
          <a:xfrm>
            <a:off x="685800" y="2017716"/>
            <a:ext cx="8269288" cy="4435623"/>
          </a:xfrm>
        </p:spPr>
        <p:txBody>
          <a:bodyPr/>
          <a:lstStyle/>
          <a:p>
            <a:pPr marL="0" indent="0" algn="just" eaLnBrk="1" hangingPunct="1">
              <a:buNone/>
            </a:pPr>
            <a:r>
              <a:rPr lang="zh-CN" altLang="en-US" dirty="0"/>
              <a:t>命题</a:t>
            </a:r>
            <a:r>
              <a:rPr lang="en-US" altLang="zh-CN" dirty="0"/>
              <a:t>2.5</a:t>
            </a:r>
            <a:r>
              <a:rPr lang="en-US" altLang="zh-CN" b="1" dirty="0"/>
              <a:t> </a:t>
            </a:r>
            <a:r>
              <a:rPr lang="zh-CN" altLang="en-US" dirty="0"/>
              <a:t>令 </a:t>
            </a:r>
            <a:r>
              <a:rPr lang="en-US" altLang="zh-CN" dirty="0"/>
              <a:t>k</a:t>
            </a:r>
            <a:r>
              <a:rPr lang="zh-CN" altLang="en-US" dirty="0"/>
              <a:t>是固定常数</a:t>
            </a:r>
            <a:r>
              <a:rPr lang="en-US" altLang="zh-CN" dirty="0"/>
              <a:t>, f</a:t>
            </a:r>
            <a:r>
              <a:rPr lang="en-US" altLang="zh-CN" baseline="-25000" dirty="0"/>
              <a:t>1</a:t>
            </a:r>
            <a:r>
              <a:rPr lang="en-US" altLang="zh-CN" dirty="0"/>
              <a:t>,f</a:t>
            </a:r>
            <a:r>
              <a:rPr lang="en-US" altLang="zh-CN" baseline="-25000" dirty="0"/>
              <a:t>2</a:t>
            </a:r>
            <a:r>
              <a:rPr lang="en-US" altLang="zh-CN" dirty="0"/>
              <a:t>,…,</a:t>
            </a:r>
            <a:r>
              <a:rPr lang="en-US" altLang="zh-CN" dirty="0" err="1"/>
              <a:t>f</a:t>
            </a:r>
            <a:r>
              <a:rPr lang="en-US" altLang="zh-CN" baseline="-25000" dirty="0" err="1"/>
              <a:t>k</a:t>
            </a:r>
            <a:r>
              <a:rPr lang="zh-CN" altLang="en-US" dirty="0"/>
              <a:t>和</a:t>
            </a:r>
            <a:r>
              <a:rPr lang="en-US" altLang="zh-CN" dirty="0"/>
              <a:t>h</a:t>
            </a:r>
            <a:r>
              <a:rPr lang="zh-CN" altLang="en-US" dirty="0"/>
              <a:t>是函数</a:t>
            </a:r>
            <a:r>
              <a:rPr lang="en-US" altLang="zh-CN" dirty="0"/>
              <a:t>,</a:t>
            </a:r>
            <a:r>
              <a:rPr lang="zh-CN" altLang="en-US" dirty="0"/>
              <a:t>且对所有的</a:t>
            </a:r>
            <a:r>
              <a:rPr lang="en-US" altLang="zh-CN" dirty="0" err="1"/>
              <a:t>i,f</a:t>
            </a:r>
            <a:r>
              <a:rPr lang="en-US" altLang="zh-CN" baseline="-25000" dirty="0" err="1"/>
              <a:t>i</a:t>
            </a:r>
            <a:r>
              <a:rPr lang="en-US" altLang="zh-CN" dirty="0"/>
              <a:t>=O(h),</a:t>
            </a:r>
            <a:r>
              <a:rPr lang="zh-CN" altLang="en-US" dirty="0"/>
              <a:t>那么</a:t>
            </a:r>
            <a:r>
              <a:rPr lang="en-US" altLang="zh-CN" dirty="0"/>
              <a:t>f</a:t>
            </a:r>
            <a:r>
              <a:rPr lang="en-US" altLang="zh-CN" baseline="-25000" dirty="0"/>
              <a:t>1</a:t>
            </a:r>
            <a:r>
              <a:rPr lang="en-US" altLang="zh-CN" dirty="0"/>
              <a:t>+f</a:t>
            </a:r>
            <a:r>
              <a:rPr lang="en-US" altLang="zh-CN" baseline="-25000" dirty="0"/>
              <a:t>2</a:t>
            </a:r>
            <a:r>
              <a:rPr lang="en-US" altLang="zh-CN" dirty="0"/>
              <a:t>+…+</a:t>
            </a:r>
            <a:r>
              <a:rPr lang="en-US" altLang="zh-CN" dirty="0" err="1"/>
              <a:t>f</a:t>
            </a:r>
            <a:r>
              <a:rPr lang="en-US" altLang="zh-CN" baseline="-25000" dirty="0" err="1"/>
              <a:t>k</a:t>
            </a:r>
            <a:r>
              <a:rPr lang="en-US" altLang="zh-CN" dirty="0"/>
              <a:t>=O(h).</a:t>
            </a:r>
            <a:endParaRPr lang="en-US" altLang="zh-CN" dirty="0"/>
          </a:p>
          <a:p>
            <a:pPr marL="0" indent="0" algn="just" eaLnBrk="1" hangingPunct="1">
              <a:buNone/>
            </a:pPr>
            <a:endParaRPr lang="en-US" altLang="zh-CN" dirty="0"/>
          </a:p>
          <a:p>
            <a:pPr marL="0" indent="0" algn="just" eaLnBrk="1" hangingPunct="1">
              <a:buNone/>
            </a:pPr>
            <a:r>
              <a:rPr lang="zh-CN" altLang="en-US" dirty="0"/>
              <a:t>命题</a:t>
            </a:r>
            <a:r>
              <a:rPr lang="en-US" altLang="zh-CN" dirty="0"/>
              <a:t>2.6 </a:t>
            </a:r>
            <a:r>
              <a:rPr lang="zh-CN" altLang="en-US" dirty="0"/>
              <a:t>假设</a:t>
            </a:r>
            <a:r>
              <a:rPr lang="en-US" altLang="zh-CN" dirty="0"/>
              <a:t>f</a:t>
            </a:r>
            <a:r>
              <a:rPr lang="zh-CN" altLang="en-US" dirty="0"/>
              <a:t>和</a:t>
            </a:r>
            <a:r>
              <a:rPr lang="en-US" altLang="zh-CN" dirty="0"/>
              <a:t>g</a:t>
            </a:r>
            <a:r>
              <a:rPr lang="zh-CN" altLang="en-US" dirty="0"/>
              <a:t>是两个函数</a:t>
            </a:r>
            <a:r>
              <a:rPr lang="en-US" altLang="zh-CN" dirty="0"/>
              <a:t>(</a:t>
            </a:r>
            <a:r>
              <a:rPr lang="zh-CN" altLang="en-US" dirty="0"/>
              <a:t>取非负的值</a:t>
            </a:r>
            <a:r>
              <a:rPr lang="en-US" altLang="zh-CN" dirty="0"/>
              <a:t>),</a:t>
            </a:r>
            <a:r>
              <a:rPr lang="zh-CN" altLang="en-US" dirty="0"/>
              <a:t>满足</a:t>
            </a:r>
            <a:r>
              <a:rPr lang="en-US" altLang="zh-CN" dirty="0"/>
              <a:t>g=O(f).</a:t>
            </a:r>
            <a:r>
              <a:rPr lang="zh-CN" altLang="en-US" dirty="0"/>
              <a:t>那么 </a:t>
            </a:r>
            <a:r>
              <a:rPr lang="en-US" altLang="zh-CN" dirty="0" err="1"/>
              <a:t>f+g</a:t>
            </a:r>
            <a:r>
              <a:rPr lang="en-US" altLang="zh-CN" dirty="0"/>
              <a:t>=Θ(f).</a:t>
            </a:r>
            <a:r>
              <a:rPr lang="zh-CN" altLang="en-US" dirty="0"/>
              <a:t>换句话说</a:t>
            </a:r>
            <a:r>
              <a:rPr lang="en-US" altLang="zh-CN" dirty="0"/>
              <a:t>,f</a:t>
            </a:r>
            <a:r>
              <a:rPr lang="zh-CN" altLang="en-US" dirty="0"/>
              <a:t>是一个关于组合函数</a:t>
            </a:r>
            <a:r>
              <a:rPr lang="en-US" altLang="zh-CN" dirty="0" err="1"/>
              <a:t>f+g</a:t>
            </a:r>
            <a:r>
              <a:rPr lang="zh-CN" altLang="en-US" dirty="0"/>
              <a:t>的渐近的紧的界</a:t>
            </a:r>
            <a:r>
              <a:rPr lang="en-US" altLang="zh-CN" dirty="0"/>
              <a:t>.</a:t>
            </a:r>
            <a:endParaRPr lang="en-US" altLang="zh-CN" dirty="0"/>
          </a:p>
          <a:p>
            <a:pPr algn="just" eaLnBrk="1" hangingPunct="1"/>
            <a:r>
              <a:rPr lang="en-US" altLang="zh-CN" dirty="0"/>
              <a:t>g=O(f), f=O(f)</a:t>
            </a:r>
            <a:r>
              <a:rPr lang="en-US" altLang="zh-CN" dirty="0">
                <a:sym typeface="Wingdings" panose="05000000000000000000" pitchFamily="2" charset="2"/>
              </a:rPr>
              <a:t> =&gt;</a:t>
            </a:r>
            <a:r>
              <a:rPr lang="en-US" altLang="zh-CN" dirty="0" err="1"/>
              <a:t>f+g</a:t>
            </a:r>
            <a:r>
              <a:rPr lang="en-US" altLang="zh-CN" dirty="0"/>
              <a:t>=O(f).(</a:t>
            </a:r>
            <a:r>
              <a:rPr lang="zh-CN" altLang="en-US" dirty="0"/>
              <a:t>可加性</a:t>
            </a:r>
            <a:r>
              <a:rPr lang="en-US" altLang="zh-CN" dirty="0"/>
              <a:t>)</a:t>
            </a:r>
            <a:endParaRPr lang="en-US" altLang="zh-CN" dirty="0"/>
          </a:p>
          <a:p>
            <a:pPr algn="just" eaLnBrk="1" hangingPunct="1"/>
            <a:r>
              <a:rPr lang="en-US" altLang="zh-CN" dirty="0"/>
              <a:t>n</a:t>
            </a:r>
            <a:r>
              <a:rPr lang="zh-CN" altLang="en-US" dirty="0"/>
              <a:t>≥</a:t>
            </a:r>
            <a:r>
              <a:rPr lang="en-US" altLang="zh-CN" dirty="0"/>
              <a:t>0</a:t>
            </a:r>
            <a:r>
              <a:rPr lang="zh-CN" altLang="en-US" dirty="0"/>
              <a:t>，</a:t>
            </a:r>
            <a:r>
              <a:rPr lang="en-US" altLang="zh-CN" dirty="0"/>
              <a:t>f(n)+g(n)</a:t>
            </a:r>
            <a:r>
              <a:rPr lang="zh-CN" altLang="en-US" dirty="0"/>
              <a:t>≥</a:t>
            </a:r>
            <a:r>
              <a:rPr lang="en-US" altLang="zh-CN" dirty="0"/>
              <a:t>f(n) </a:t>
            </a:r>
            <a:r>
              <a:rPr lang="en-US" altLang="zh-CN" dirty="0">
                <a:sym typeface="Wingdings" panose="05000000000000000000" pitchFamily="2" charset="2"/>
              </a:rPr>
              <a:t>=&gt; </a:t>
            </a:r>
            <a:r>
              <a:rPr lang="en-US" altLang="zh-CN" dirty="0" err="1"/>
              <a:t>f+g</a:t>
            </a:r>
            <a:r>
              <a:rPr lang="en-US" altLang="zh-CN" dirty="0"/>
              <a:t>=Ω(f).</a:t>
            </a:r>
            <a:endParaRPr lang="en-US" altLang="zh-CN" dirty="0"/>
          </a:p>
          <a:p>
            <a:pPr algn="just" eaLnBrk="1" hangingPunct="1"/>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436">
                                            <p:txEl>
                                              <p:pRg st="3" end="3"/>
                                            </p:txEl>
                                          </p:spTgt>
                                        </p:tgtEl>
                                        <p:attrNameLst>
                                          <p:attrName>style.visibility</p:attrName>
                                        </p:attrNameLst>
                                      </p:cBhvr>
                                      <p:to>
                                        <p:strVal val="visible"/>
                                      </p:to>
                                    </p:set>
                                    <p:animEffect transition="in" filter="fade">
                                      <p:cBhvr>
                                        <p:cTn id="7" dur="500"/>
                                        <p:tgtEl>
                                          <p:spTgt spid="18436">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8436">
                                            <p:txEl>
                                              <p:pRg st="4" end="4"/>
                                            </p:txEl>
                                          </p:spTgt>
                                        </p:tgtEl>
                                        <p:attrNameLst>
                                          <p:attrName>style.visibility</p:attrName>
                                        </p:attrNameLst>
                                      </p:cBhvr>
                                      <p:to>
                                        <p:strVal val="visible"/>
                                      </p:to>
                                    </p:set>
                                    <p:animEffect transition="in" filter="fade">
                                      <p:cBhvr>
                                        <p:cTn id="10" dur="500"/>
                                        <p:tgtEl>
                                          <p:spTgt spid="1843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975E2A96-F63E-4AC7-B2B5-DEDB2D0CB64D}" type="slidenum">
              <a:rPr lang="zh-CN" altLang="en-US"/>
            </a:fld>
            <a:endParaRPr lang="en-US" altLang="zh-CN"/>
          </a:p>
        </p:txBody>
      </p:sp>
      <p:sp>
        <p:nvSpPr>
          <p:cNvPr id="19459" name="Rectangle 2"/>
          <p:cNvSpPr>
            <a:spLocks noGrp="1" noChangeArrowheads="1"/>
          </p:cNvSpPr>
          <p:nvPr>
            <p:ph type="title"/>
          </p:nvPr>
        </p:nvSpPr>
        <p:spPr/>
        <p:txBody>
          <a:bodyPr/>
          <a:lstStyle/>
          <a:p>
            <a:pPr eaLnBrk="1" hangingPunct="1"/>
            <a:r>
              <a:rPr lang="zh-CN" altLang="en-US"/>
              <a:t>复杂度性质</a:t>
            </a:r>
            <a:endParaRPr lang="zh-CN" altLang="en-US"/>
          </a:p>
        </p:txBody>
      </p:sp>
      <p:sp>
        <p:nvSpPr>
          <p:cNvPr id="19460" name="Rectangle 3"/>
          <p:cNvSpPr>
            <a:spLocks noGrp="1" noChangeArrowheads="1"/>
          </p:cNvSpPr>
          <p:nvPr>
            <p:ph type="body" idx="1"/>
          </p:nvPr>
        </p:nvSpPr>
        <p:spPr>
          <a:xfrm>
            <a:off x="1093200" y="1762472"/>
            <a:ext cx="7772400" cy="4114800"/>
          </a:xfrm>
        </p:spPr>
        <p:txBody>
          <a:bodyPr/>
          <a:lstStyle/>
          <a:p>
            <a:pPr eaLnBrk="1" hangingPunct="1"/>
            <a:r>
              <a:rPr lang="zh-CN" altLang="en-US" dirty="0"/>
              <a:t>命题</a:t>
            </a:r>
            <a:r>
              <a:rPr lang="en-US" altLang="zh-CN" dirty="0"/>
              <a:t>2.7:</a:t>
            </a:r>
            <a:r>
              <a:rPr lang="zh-CN" altLang="en-US" dirty="0"/>
              <a:t> 令</a:t>
            </a:r>
            <a:r>
              <a:rPr lang="en-US" altLang="zh-CN" dirty="0"/>
              <a:t>f</a:t>
            </a:r>
            <a:r>
              <a:rPr lang="zh-CN" altLang="en-US" dirty="0"/>
              <a:t>是一个</a:t>
            </a:r>
            <a:r>
              <a:rPr lang="en-US" altLang="zh-CN" dirty="0"/>
              <a:t>d</a:t>
            </a:r>
            <a:r>
              <a:rPr lang="zh-CN" altLang="en-US" dirty="0"/>
              <a:t>阶多项式， </a:t>
            </a:r>
            <a:r>
              <a:rPr lang="en-US" altLang="zh-CN" dirty="0"/>
              <a:t>a</a:t>
            </a:r>
            <a:r>
              <a:rPr lang="en-US" altLang="zh-CN" baseline="-25000" dirty="0"/>
              <a:t>0</a:t>
            </a:r>
            <a:r>
              <a:rPr lang="en-US" altLang="zh-CN" dirty="0"/>
              <a:t> + a</a:t>
            </a:r>
            <a:r>
              <a:rPr lang="en-US" altLang="zh-CN" baseline="-25000" dirty="0"/>
              <a:t>1</a:t>
            </a:r>
            <a:r>
              <a:rPr lang="en-US" altLang="zh-CN" dirty="0"/>
              <a:t>n + </a:t>
            </a:r>
            <a:r>
              <a:rPr lang="en-US" altLang="zh-CN" dirty="0">
                <a:latin typeface="Comic Sans MS" panose="030F0702030302020204" pitchFamily="66" charset="0"/>
              </a:rPr>
              <a:t>…</a:t>
            </a:r>
            <a:r>
              <a:rPr lang="en-US" altLang="zh-CN" dirty="0"/>
              <a:t> + </a:t>
            </a:r>
            <a:r>
              <a:rPr lang="en-US" altLang="zh-CN" dirty="0" err="1"/>
              <a:t>a</a:t>
            </a:r>
            <a:r>
              <a:rPr lang="en-US" altLang="zh-CN" baseline="-25000" dirty="0" err="1"/>
              <a:t>d</a:t>
            </a:r>
            <a:r>
              <a:rPr lang="en-US" altLang="zh-CN" dirty="0" err="1"/>
              <a:t>n</a:t>
            </a:r>
            <a:r>
              <a:rPr lang="en-US" altLang="zh-CN" baseline="30000" dirty="0" err="1"/>
              <a:t>d</a:t>
            </a:r>
            <a:r>
              <a:rPr lang="en-US" altLang="zh-CN" dirty="0"/>
              <a:t> ，a</a:t>
            </a:r>
            <a:r>
              <a:rPr lang="en-US" altLang="zh-CN" baseline="-25000" dirty="0"/>
              <a:t>d</a:t>
            </a:r>
            <a:r>
              <a:rPr lang="en-US" altLang="zh-CN" dirty="0"/>
              <a:t>&gt;0, </a:t>
            </a:r>
            <a:r>
              <a:rPr lang="zh-CN" altLang="en-US" dirty="0"/>
              <a:t>那么</a:t>
            </a:r>
            <a:r>
              <a:rPr lang="en-US" altLang="zh-CN" dirty="0"/>
              <a:t>f=O(</a:t>
            </a:r>
            <a:r>
              <a:rPr lang="en-US" altLang="zh-CN" dirty="0" err="1"/>
              <a:t>n</a:t>
            </a:r>
            <a:r>
              <a:rPr lang="en-US" altLang="zh-CN" baseline="30000" dirty="0" err="1"/>
              <a:t>d</a:t>
            </a:r>
            <a:r>
              <a:rPr lang="en-US" altLang="zh-CN" dirty="0"/>
              <a:t>)</a:t>
            </a:r>
            <a:endParaRPr lang="en-US" altLang="zh-CN" dirty="0"/>
          </a:p>
          <a:p>
            <a:pPr eaLnBrk="1" hangingPunct="1">
              <a:buFont typeface="Wingdings" panose="05000000000000000000" pitchFamily="2" charset="2"/>
              <a:buChar char="Ø"/>
            </a:pPr>
            <a:r>
              <a:rPr lang="en-US" altLang="zh-CN" dirty="0"/>
              <a:t>j&lt;</a:t>
            </a:r>
            <a:r>
              <a:rPr lang="en-US" altLang="zh-CN" dirty="0" err="1"/>
              <a:t>d,a</a:t>
            </a:r>
            <a:r>
              <a:rPr lang="en-US" altLang="zh-CN" baseline="-25000" dirty="0" err="1"/>
              <a:t>j</a:t>
            </a:r>
            <a:r>
              <a:rPr lang="zh-CN" altLang="en-US" dirty="0"/>
              <a:t>可能小于</a:t>
            </a:r>
            <a:r>
              <a:rPr lang="en-US" altLang="zh-CN" dirty="0"/>
              <a:t>0</a:t>
            </a:r>
            <a:r>
              <a:rPr lang="zh-CN" altLang="en-US" dirty="0"/>
              <a:t>，</a:t>
            </a:r>
            <a:r>
              <a:rPr lang="en-US" altLang="zh-CN" dirty="0" err="1"/>
              <a:t>a</a:t>
            </a:r>
            <a:r>
              <a:rPr lang="en-US" altLang="zh-CN" baseline="-25000" dirty="0" err="1"/>
              <a:t>j</a:t>
            </a:r>
            <a:r>
              <a:rPr lang="en-US" altLang="zh-CN" dirty="0" err="1"/>
              <a:t>n</a:t>
            </a:r>
            <a:r>
              <a:rPr lang="en-US" altLang="zh-CN" baseline="30000" dirty="0" err="1"/>
              <a:t>d</a:t>
            </a:r>
            <a:r>
              <a:rPr lang="zh-CN" altLang="en-US" dirty="0"/>
              <a:t>≤</a:t>
            </a:r>
            <a:r>
              <a:rPr lang="en-US" altLang="zh-CN" dirty="0"/>
              <a:t>|</a:t>
            </a:r>
            <a:r>
              <a:rPr lang="en-US" altLang="zh-CN" dirty="0" err="1"/>
              <a:t>a</a:t>
            </a:r>
            <a:r>
              <a:rPr lang="en-US" altLang="zh-CN" baseline="-25000" dirty="0" err="1"/>
              <a:t>j</a:t>
            </a:r>
            <a:r>
              <a:rPr lang="en-US" altLang="zh-CN" dirty="0" err="1"/>
              <a:t>|n</a:t>
            </a:r>
            <a:r>
              <a:rPr lang="en-US" altLang="zh-CN" baseline="30000" dirty="0" err="1"/>
              <a:t>d</a:t>
            </a:r>
            <a:r>
              <a:rPr lang="en-US" altLang="zh-CN" baseline="30000" dirty="0"/>
              <a:t> </a:t>
            </a:r>
            <a:endParaRPr lang="en-US" altLang="zh-CN" dirty="0"/>
          </a:p>
          <a:p>
            <a:pPr eaLnBrk="1" hangingPunct="1">
              <a:buFont typeface="Wingdings" panose="05000000000000000000" pitchFamily="2" charset="2"/>
              <a:buChar char="Ø"/>
            </a:pPr>
            <a:r>
              <a:rPr lang="zh-CN" altLang="en-US" dirty="0"/>
              <a:t>每一项都是</a:t>
            </a:r>
            <a:r>
              <a:rPr lang="en-US" altLang="zh-CN" dirty="0"/>
              <a:t>O(</a:t>
            </a:r>
            <a:r>
              <a:rPr lang="en-US" altLang="zh-CN" dirty="0" err="1"/>
              <a:t>n</a:t>
            </a:r>
            <a:r>
              <a:rPr lang="en-US" altLang="zh-CN" baseline="30000" dirty="0" err="1"/>
              <a:t>d</a:t>
            </a:r>
            <a:r>
              <a:rPr lang="en-US" altLang="zh-CN" dirty="0"/>
              <a:t>)</a:t>
            </a:r>
            <a:r>
              <a:rPr lang="zh-CN" altLang="en-US" dirty="0"/>
              <a:t>，命题</a:t>
            </a:r>
            <a:r>
              <a:rPr lang="en-US" altLang="zh-CN" dirty="0"/>
              <a:t>2.5</a:t>
            </a:r>
            <a:endParaRPr lang="en-US" altLang="zh-CN" dirty="0"/>
          </a:p>
          <a:p>
            <a:pPr eaLnBrk="1" hangingPunct="1">
              <a:buFont typeface="Wingdings" panose="05000000000000000000" pitchFamily="2" charset="2"/>
              <a:buChar char="Ø"/>
            </a:pPr>
            <a:r>
              <a:rPr lang="en-US" altLang="zh-CN" dirty="0">
                <a:sym typeface="Symbol" panose="05050102010706020507" pitchFamily="18" charset="2"/>
              </a:rPr>
              <a:t>Ω</a:t>
            </a:r>
            <a:r>
              <a:rPr lang="en-US" altLang="zh-CN" dirty="0"/>
              <a:t>(</a:t>
            </a:r>
            <a:r>
              <a:rPr lang="en-US" altLang="zh-CN" dirty="0" err="1"/>
              <a:t>n</a:t>
            </a:r>
            <a:r>
              <a:rPr lang="en-US" altLang="zh-CN" baseline="30000" dirty="0" err="1"/>
              <a:t>d</a:t>
            </a:r>
            <a:r>
              <a:rPr lang="en-US" altLang="zh-CN" dirty="0"/>
              <a:t>) </a:t>
            </a:r>
            <a:r>
              <a:rPr lang="zh-CN" altLang="en-US" dirty="0"/>
              <a:t>、</a:t>
            </a:r>
            <a:r>
              <a:rPr lang="en-US" altLang="zh-CN" dirty="0">
                <a:sym typeface="Symbol" panose="05050102010706020507" pitchFamily="18" charset="2"/>
              </a:rPr>
              <a:t></a:t>
            </a:r>
            <a:r>
              <a:rPr lang="en-US" altLang="zh-CN" dirty="0"/>
              <a:t>(</a:t>
            </a:r>
            <a:r>
              <a:rPr lang="en-US" altLang="zh-CN" dirty="0" err="1"/>
              <a:t>n</a:t>
            </a:r>
            <a:r>
              <a:rPr lang="en-US" altLang="zh-CN" baseline="30000" dirty="0" err="1"/>
              <a:t>d</a:t>
            </a:r>
            <a:r>
              <a:rPr lang="en-US" altLang="zh-CN" dirty="0"/>
              <a:t>) .</a:t>
            </a:r>
            <a:endParaRPr lang="en-US" altLang="zh-CN" dirty="0"/>
          </a:p>
          <a:p>
            <a:pPr eaLnBrk="1" hangingPunct="1"/>
            <a:r>
              <a:rPr lang="zh-CN" altLang="en-US" dirty="0"/>
              <a:t>命题</a:t>
            </a:r>
            <a:r>
              <a:rPr lang="en-US" altLang="zh-CN" dirty="0"/>
              <a:t>:</a:t>
            </a:r>
            <a:r>
              <a:rPr lang="zh-CN" altLang="en-US" dirty="0"/>
              <a:t> 对于任何正整数，</a:t>
            </a:r>
            <a:r>
              <a:rPr lang="en-US" altLang="zh-CN" dirty="0"/>
              <a:t>O(log</a:t>
            </a:r>
            <a:r>
              <a:rPr lang="en-US" altLang="zh-CN" baseline="-25000" dirty="0"/>
              <a:t> a </a:t>
            </a:r>
            <a:r>
              <a:rPr lang="en-US" altLang="zh-CN" dirty="0"/>
              <a:t>n) = O(log</a:t>
            </a:r>
            <a:r>
              <a:rPr lang="en-US" altLang="zh-CN" baseline="-25000" dirty="0"/>
              <a:t> b </a:t>
            </a:r>
            <a:r>
              <a:rPr lang="en-US" altLang="zh-CN" dirty="0"/>
              <a:t>n). </a:t>
            </a:r>
            <a:endParaRPr lang="en-US" altLang="zh-CN" dirty="0"/>
          </a:p>
          <a:p>
            <a:pPr eaLnBrk="1" hangingPunct="1">
              <a:buFont typeface="Wingdings" panose="05000000000000000000" pitchFamily="2" charset="2"/>
              <a:buNone/>
            </a:pPr>
            <a:endParaRPr lang="en-US" altLang="zh-CN" dirty="0"/>
          </a:p>
        </p:txBody>
      </p:sp>
      <p:pic>
        <p:nvPicPr>
          <p:cNvPr id="3" name="图片 2"/>
          <p:cNvPicPr>
            <a:picLocks noChangeAspect="1"/>
          </p:cNvPicPr>
          <p:nvPr/>
        </p:nvPicPr>
        <p:blipFill>
          <a:blip r:embed="rId1"/>
          <a:stretch>
            <a:fillRect/>
          </a:stretch>
        </p:blipFill>
        <p:spPr>
          <a:xfrm>
            <a:off x="1374217" y="5755027"/>
            <a:ext cx="2412710" cy="819944"/>
          </a:xfrm>
          <a:prstGeom prst="rect">
            <a:avLst/>
          </a:prstGeom>
        </p:spPr>
      </p:pic>
      <p:pic>
        <p:nvPicPr>
          <p:cNvPr id="5" name="图片 4"/>
          <p:cNvPicPr>
            <a:picLocks noChangeAspect="1"/>
          </p:cNvPicPr>
          <p:nvPr/>
        </p:nvPicPr>
        <p:blipFill>
          <a:blip r:embed="rId2"/>
          <a:stretch>
            <a:fillRect/>
          </a:stretch>
        </p:blipFill>
        <p:spPr>
          <a:xfrm>
            <a:off x="4067944" y="5561385"/>
            <a:ext cx="3790906" cy="81994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460">
                                            <p:txEl>
                                              <p:pRg st="1" end="1"/>
                                            </p:txEl>
                                          </p:spTgt>
                                        </p:tgtEl>
                                        <p:attrNameLst>
                                          <p:attrName>style.visibility</p:attrName>
                                        </p:attrNameLst>
                                      </p:cBhvr>
                                      <p:to>
                                        <p:strVal val="visible"/>
                                      </p:to>
                                    </p:set>
                                    <p:animEffect transition="in" filter="fade">
                                      <p:cBhvr>
                                        <p:cTn id="7" dur="500"/>
                                        <p:tgtEl>
                                          <p:spTgt spid="19460">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460">
                                            <p:txEl>
                                              <p:pRg st="2" end="2"/>
                                            </p:txEl>
                                          </p:spTgt>
                                        </p:tgtEl>
                                        <p:attrNameLst>
                                          <p:attrName>style.visibility</p:attrName>
                                        </p:attrNameLst>
                                      </p:cBhvr>
                                      <p:to>
                                        <p:strVal val="visible"/>
                                      </p:to>
                                    </p:set>
                                    <p:animEffect transition="in" filter="fade">
                                      <p:cBhvr>
                                        <p:cTn id="12" dur="500"/>
                                        <p:tgtEl>
                                          <p:spTgt spid="19460">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460">
                                            <p:txEl>
                                              <p:pRg st="3" end="3"/>
                                            </p:txEl>
                                          </p:spTgt>
                                        </p:tgtEl>
                                        <p:attrNameLst>
                                          <p:attrName>style.visibility</p:attrName>
                                        </p:attrNameLst>
                                      </p:cBhvr>
                                      <p:to>
                                        <p:strVal val="visible"/>
                                      </p:to>
                                    </p:set>
                                    <p:animEffect transition="in" filter="fade">
                                      <p:cBhvr>
                                        <p:cTn id="17" dur="500"/>
                                        <p:tgtEl>
                                          <p:spTgt spid="1946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5"/>
          <p:cNvSpPr>
            <a:spLocks noGrp="1"/>
          </p:cNvSpPr>
          <p:nvPr>
            <p:ph type="sldNum" sz="quarter" idx="12"/>
          </p:nvPr>
        </p:nvSpPr>
        <p:spPr/>
        <p:txBody>
          <a:bodyPr/>
          <a:lstStyle/>
          <a:p>
            <a:pPr>
              <a:defRPr/>
            </a:pPr>
            <a:fld id="{81766E2F-7714-409E-A004-9AB9F6E2D7BE}" type="slidenum">
              <a:rPr lang="zh-CN" altLang="en-US"/>
            </a:fld>
            <a:endParaRPr lang="en-US" altLang="zh-CN"/>
          </a:p>
        </p:txBody>
      </p:sp>
      <p:sp>
        <p:nvSpPr>
          <p:cNvPr id="20483" name="Rectangle 2"/>
          <p:cNvSpPr>
            <a:spLocks noGrp="1" noChangeArrowheads="1"/>
          </p:cNvSpPr>
          <p:nvPr>
            <p:ph type="title"/>
          </p:nvPr>
        </p:nvSpPr>
        <p:spPr/>
        <p:txBody>
          <a:bodyPr/>
          <a:lstStyle/>
          <a:p>
            <a:pPr eaLnBrk="1" hangingPunct="1"/>
            <a:r>
              <a:rPr lang="zh-CN" altLang="en-US"/>
              <a:t>复杂度性质</a:t>
            </a:r>
            <a:endParaRPr lang="zh-CN" altLang="en-US"/>
          </a:p>
        </p:txBody>
      </p:sp>
      <p:sp>
        <p:nvSpPr>
          <p:cNvPr id="20484" name="Rectangle 3"/>
          <p:cNvSpPr>
            <a:spLocks noGrp="1" noChangeArrowheads="1"/>
          </p:cNvSpPr>
          <p:nvPr>
            <p:ph type="body" idx="1"/>
          </p:nvPr>
        </p:nvSpPr>
        <p:spPr>
          <a:xfrm>
            <a:off x="1150613" y="1844824"/>
            <a:ext cx="7772400" cy="4114800"/>
          </a:xfrm>
        </p:spPr>
        <p:txBody>
          <a:bodyPr/>
          <a:lstStyle/>
          <a:p>
            <a:pPr eaLnBrk="1" hangingPunct="1"/>
            <a:r>
              <a:rPr lang="zh-CN" altLang="en-US" dirty="0"/>
              <a:t>命题</a:t>
            </a:r>
            <a:r>
              <a:rPr lang="en-US" altLang="zh-CN" dirty="0"/>
              <a:t>2.8:</a:t>
            </a:r>
            <a:r>
              <a:rPr lang="zh-CN" altLang="en-US" dirty="0"/>
              <a:t> 对于 </a:t>
            </a:r>
            <a:r>
              <a:rPr lang="en-US" altLang="zh-CN" dirty="0"/>
              <a:t>x &gt; 0,  log n = O(</a:t>
            </a:r>
            <a:r>
              <a:rPr lang="en-US" altLang="zh-CN" dirty="0" err="1"/>
              <a:t>n</a:t>
            </a:r>
            <a:r>
              <a:rPr lang="en-US" altLang="zh-CN" baseline="30000" dirty="0" err="1"/>
              <a:t>x</a:t>
            </a:r>
            <a:r>
              <a:rPr lang="en-US" altLang="zh-CN" dirty="0"/>
              <a:t>).</a:t>
            </a:r>
            <a:endParaRPr lang="zh-CN" altLang="en-US" dirty="0"/>
          </a:p>
        </p:txBody>
      </p:sp>
      <p:sp>
        <p:nvSpPr>
          <p:cNvPr id="20485" name="Text Box 4"/>
          <p:cNvSpPr txBox="1">
            <a:spLocks noChangeArrowheads="1"/>
          </p:cNvSpPr>
          <p:nvPr/>
        </p:nvSpPr>
        <p:spPr bwMode="auto">
          <a:xfrm>
            <a:off x="2971800" y="2667000"/>
            <a:ext cx="4495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0000"/>
              </a:lnSpc>
              <a:defRPr sz="1400" b="1">
                <a:solidFill>
                  <a:schemeClr val="bg2"/>
                </a:solidFill>
                <a:latin typeface="Courier New" panose="02070309020205020404" pitchFamily="49" charset="0"/>
                <a:ea typeface="宋体" panose="02010600030101010101" pitchFamily="2" charset="-122"/>
              </a:defRPr>
            </a:lvl1pPr>
            <a:lvl2pPr marL="742950" indent="-285750">
              <a:lnSpc>
                <a:spcPct val="110000"/>
              </a:lnSpc>
              <a:defRPr sz="1400" b="1">
                <a:solidFill>
                  <a:schemeClr val="bg2"/>
                </a:solidFill>
                <a:latin typeface="Courier New" panose="02070309020205020404" pitchFamily="49" charset="0"/>
                <a:ea typeface="宋体" panose="02010600030101010101" pitchFamily="2" charset="-122"/>
              </a:defRPr>
            </a:lvl2pPr>
            <a:lvl3pPr marL="1143000" indent="-228600">
              <a:lnSpc>
                <a:spcPct val="110000"/>
              </a:lnSpc>
              <a:defRPr sz="1400" b="1">
                <a:solidFill>
                  <a:schemeClr val="bg2"/>
                </a:solidFill>
                <a:latin typeface="Courier New" panose="02070309020205020404" pitchFamily="49" charset="0"/>
                <a:ea typeface="宋体" panose="02010600030101010101" pitchFamily="2" charset="-122"/>
              </a:defRPr>
            </a:lvl3pPr>
            <a:lvl4pPr marL="1600200" indent="-228600">
              <a:lnSpc>
                <a:spcPct val="110000"/>
              </a:lnSpc>
              <a:defRPr sz="1400" b="1">
                <a:solidFill>
                  <a:schemeClr val="bg2"/>
                </a:solidFill>
                <a:latin typeface="Courier New" panose="02070309020205020404" pitchFamily="49" charset="0"/>
                <a:ea typeface="宋体" panose="02010600030101010101" pitchFamily="2" charset="-122"/>
              </a:defRPr>
            </a:lvl4pPr>
            <a:lvl5pPr marL="2057400" indent="-228600">
              <a:lnSpc>
                <a:spcPct val="110000"/>
              </a:lnSpc>
              <a:defRPr sz="1400" b="1">
                <a:solidFill>
                  <a:schemeClr val="bg2"/>
                </a:solidFill>
                <a:latin typeface="Courier New" panose="02070309020205020404" pitchFamily="49" charset="0"/>
                <a:ea typeface="宋体" panose="02010600030101010101" pitchFamily="2" charset="-122"/>
              </a:defRPr>
            </a:lvl5pPr>
            <a:lvl6pPr marL="25146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6pPr>
            <a:lvl7pPr marL="29718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7pPr>
            <a:lvl8pPr marL="34290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8pPr>
            <a:lvl9pPr marL="38862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9pPr>
          </a:lstStyle>
          <a:p>
            <a:pPr eaLnBrk="1" hangingPunct="1">
              <a:lnSpc>
                <a:spcPct val="100000"/>
              </a:lnSpc>
              <a:spcBef>
                <a:spcPct val="50000"/>
              </a:spcBef>
            </a:pPr>
            <a:endParaRPr kumimoji="1" lang="zh-CN" altLang="en-US" sz="2400" b="0">
              <a:solidFill>
                <a:schemeClr val="tx1"/>
              </a:solidFill>
              <a:latin typeface="Tahoma" panose="020B0604030504040204" pitchFamily="34" charset="0"/>
            </a:endParaRPr>
          </a:p>
        </p:txBody>
      </p:sp>
      <p:sp>
        <p:nvSpPr>
          <p:cNvPr id="21509" name="Text Box 5"/>
          <p:cNvSpPr txBox="1">
            <a:spLocks noChangeArrowheads="1"/>
          </p:cNvSpPr>
          <p:nvPr/>
        </p:nvSpPr>
        <p:spPr bwMode="auto">
          <a:xfrm>
            <a:off x="4191000" y="1163162"/>
            <a:ext cx="4495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nSpc>
                <a:spcPct val="110000"/>
              </a:lnSpc>
              <a:defRPr sz="1400" b="1">
                <a:solidFill>
                  <a:schemeClr val="bg2"/>
                </a:solidFill>
                <a:latin typeface="Courier New" panose="02070309020205020404" pitchFamily="49" charset="0"/>
                <a:ea typeface="宋体" panose="02010600030101010101" pitchFamily="2" charset="-122"/>
              </a:defRPr>
            </a:lvl1pPr>
            <a:lvl2pPr marL="742950" indent="-285750">
              <a:lnSpc>
                <a:spcPct val="110000"/>
              </a:lnSpc>
              <a:defRPr sz="1400" b="1">
                <a:solidFill>
                  <a:schemeClr val="bg2"/>
                </a:solidFill>
                <a:latin typeface="Courier New" panose="02070309020205020404" pitchFamily="49" charset="0"/>
                <a:ea typeface="宋体" panose="02010600030101010101" pitchFamily="2" charset="-122"/>
              </a:defRPr>
            </a:lvl2pPr>
            <a:lvl3pPr marL="1143000" indent="-228600">
              <a:lnSpc>
                <a:spcPct val="110000"/>
              </a:lnSpc>
              <a:defRPr sz="1400" b="1">
                <a:solidFill>
                  <a:schemeClr val="bg2"/>
                </a:solidFill>
                <a:latin typeface="Courier New" panose="02070309020205020404" pitchFamily="49" charset="0"/>
                <a:ea typeface="宋体" panose="02010600030101010101" pitchFamily="2" charset="-122"/>
              </a:defRPr>
            </a:lvl3pPr>
            <a:lvl4pPr marL="1600200" indent="-228600">
              <a:lnSpc>
                <a:spcPct val="110000"/>
              </a:lnSpc>
              <a:defRPr sz="1400" b="1">
                <a:solidFill>
                  <a:schemeClr val="bg2"/>
                </a:solidFill>
                <a:latin typeface="Courier New" panose="02070309020205020404" pitchFamily="49" charset="0"/>
                <a:ea typeface="宋体" panose="02010600030101010101" pitchFamily="2" charset="-122"/>
              </a:defRPr>
            </a:lvl4pPr>
            <a:lvl5pPr marL="2057400" indent="-228600">
              <a:lnSpc>
                <a:spcPct val="110000"/>
              </a:lnSpc>
              <a:defRPr sz="1400" b="1">
                <a:solidFill>
                  <a:schemeClr val="bg2"/>
                </a:solidFill>
                <a:latin typeface="Courier New" panose="02070309020205020404" pitchFamily="49" charset="0"/>
                <a:ea typeface="宋体" panose="02010600030101010101" pitchFamily="2" charset="-122"/>
              </a:defRPr>
            </a:lvl5pPr>
            <a:lvl6pPr marL="25146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6pPr>
            <a:lvl7pPr marL="29718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7pPr>
            <a:lvl8pPr marL="34290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8pPr>
            <a:lvl9pPr marL="38862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9pPr>
          </a:lstStyle>
          <a:p>
            <a:pPr eaLnBrk="1" hangingPunct="1">
              <a:lnSpc>
                <a:spcPct val="100000"/>
              </a:lnSpc>
              <a:spcBef>
                <a:spcPct val="50000"/>
              </a:spcBef>
            </a:pPr>
            <a:r>
              <a:rPr kumimoji="1" lang="zh-CN" altLang="en-US" sz="2400" b="0" dirty="0">
                <a:solidFill>
                  <a:schemeClr val="hlink"/>
                </a:solidFill>
                <a:latin typeface="Tahoma" panose="020B0604030504040204" pitchFamily="34" charset="0"/>
              </a:rPr>
              <a:t>对数函数增长比多项式增长慢！</a:t>
            </a:r>
            <a:endParaRPr kumimoji="1" lang="zh-CN" altLang="en-US" sz="2400" b="0" dirty="0">
              <a:solidFill>
                <a:schemeClr val="hlink"/>
              </a:solidFill>
              <a:latin typeface="Tahoma" panose="020B0604030504040204" pitchFamily="34" charset="0"/>
            </a:endParaRPr>
          </a:p>
        </p:txBody>
      </p:sp>
      <p:pic>
        <p:nvPicPr>
          <p:cNvPr id="12" name="图片 11"/>
          <p:cNvPicPr>
            <a:picLocks noChangeAspect="1"/>
          </p:cNvPicPr>
          <p:nvPr/>
        </p:nvPicPr>
        <p:blipFill>
          <a:blip r:embed="rId1"/>
          <a:stretch>
            <a:fillRect/>
          </a:stretch>
        </p:blipFill>
        <p:spPr>
          <a:xfrm>
            <a:off x="262663" y="2564904"/>
            <a:ext cx="8699897" cy="402370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1509"/>
                                        </p:tgtEl>
                                        <p:attrNameLst>
                                          <p:attrName>style.visibility</p:attrName>
                                        </p:attrNameLst>
                                      </p:cBhvr>
                                      <p:to>
                                        <p:strVal val="visible"/>
                                      </p:to>
                                    </p:set>
                                    <p:anim calcmode="lin" valueType="num">
                                      <p:cBhvr additive="base">
                                        <p:cTn id="7" dur="500" fill="hold"/>
                                        <p:tgtEl>
                                          <p:spTgt spid="21509"/>
                                        </p:tgtEl>
                                        <p:attrNameLst>
                                          <p:attrName>ppt_x</p:attrName>
                                        </p:attrNameLst>
                                      </p:cBhvr>
                                      <p:tavLst>
                                        <p:tav tm="0">
                                          <p:val>
                                            <p:strVal val="0-#ppt_w/2"/>
                                          </p:val>
                                        </p:tav>
                                        <p:tav tm="100000">
                                          <p:val>
                                            <p:strVal val="#ppt_x"/>
                                          </p:val>
                                        </p:tav>
                                      </p:tavLst>
                                    </p:anim>
                                    <p:anim calcmode="lin" valueType="num">
                                      <p:cBhvr additive="base">
                                        <p:cTn id="8" dur="500" fill="hold"/>
                                        <p:tgtEl>
                                          <p:spTgt spid="2150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9" grpId="0"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5"/>
          <p:cNvSpPr>
            <a:spLocks noGrp="1"/>
          </p:cNvSpPr>
          <p:nvPr>
            <p:ph type="sldNum" sz="quarter" idx="12"/>
          </p:nvPr>
        </p:nvSpPr>
        <p:spPr/>
        <p:txBody>
          <a:bodyPr/>
          <a:lstStyle/>
          <a:p>
            <a:pPr>
              <a:defRPr/>
            </a:pPr>
            <a:fld id="{81766E2F-7714-409E-A004-9AB9F6E2D7BE}" type="slidenum">
              <a:rPr lang="zh-CN" altLang="en-US"/>
            </a:fld>
            <a:endParaRPr lang="en-US" altLang="zh-CN"/>
          </a:p>
        </p:txBody>
      </p:sp>
      <p:sp>
        <p:nvSpPr>
          <p:cNvPr id="20483" name="Rectangle 2"/>
          <p:cNvSpPr>
            <a:spLocks noGrp="1" noChangeArrowheads="1"/>
          </p:cNvSpPr>
          <p:nvPr>
            <p:ph type="title"/>
          </p:nvPr>
        </p:nvSpPr>
        <p:spPr/>
        <p:txBody>
          <a:bodyPr/>
          <a:lstStyle/>
          <a:p>
            <a:pPr eaLnBrk="1" hangingPunct="1"/>
            <a:r>
              <a:rPr lang="zh-CN" altLang="en-US"/>
              <a:t>复杂度性质</a:t>
            </a:r>
            <a:endParaRPr lang="zh-CN" altLang="en-US"/>
          </a:p>
        </p:txBody>
      </p:sp>
      <p:sp>
        <p:nvSpPr>
          <p:cNvPr id="20484" name="Rectangle 3"/>
          <p:cNvSpPr>
            <a:spLocks noGrp="1" noChangeArrowheads="1"/>
          </p:cNvSpPr>
          <p:nvPr>
            <p:ph type="body" idx="1"/>
          </p:nvPr>
        </p:nvSpPr>
        <p:spPr>
          <a:xfrm>
            <a:off x="1185657" y="1797155"/>
            <a:ext cx="7772400" cy="4114800"/>
          </a:xfrm>
        </p:spPr>
        <p:txBody>
          <a:bodyPr/>
          <a:lstStyle/>
          <a:p>
            <a:pPr eaLnBrk="1" hangingPunct="1"/>
            <a:r>
              <a:rPr lang="zh-CN" altLang="en-US" dirty="0"/>
              <a:t>命题</a:t>
            </a:r>
            <a:r>
              <a:rPr lang="en-US" altLang="zh-CN" dirty="0"/>
              <a:t>2.9:</a:t>
            </a:r>
            <a:r>
              <a:rPr lang="zh-CN" altLang="en-US" dirty="0"/>
              <a:t> 对每个</a:t>
            </a:r>
            <a:r>
              <a:rPr lang="en-US" altLang="zh-CN" dirty="0"/>
              <a:t>r&gt;1</a:t>
            </a:r>
            <a:r>
              <a:rPr lang="zh-CN" altLang="en-US" dirty="0"/>
              <a:t>和每个</a:t>
            </a:r>
            <a:r>
              <a:rPr lang="en-US" altLang="zh-CN" dirty="0"/>
              <a:t>d&gt;0, </a:t>
            </a:r>
            <a:r>
              <a:rPr lang="en-US" altLang="zh-CN" dirty="0" err="1"/>
              <a:t>n</a:t>
            </a:r>
            <a:r>
              <a:rPr lang="en-US" altLang="zh-CN" baseline="30000" dirty="0" err="1"/>
              <a:t>d</a:t>
            </a:r>
            <a:r>
              <a:rPr lang="en-US" altLang="zh-CN" dirty="0"/>
              <a:t> = O(</a:t>
            </a:r>
            <a:r>
              <a:rPr lang="en-US" altLang="zh-CN" dirty="0" err="1"/>
              <a:t>r</a:t>
            </a:r>
            <a:r>
              <a:rPr lang="en-US" altLang="zh-CN" baseline="30000" dirty="0" err="1"/>
              <a:t>n</a:t>
            </a:r>
            <a:r>
              <a:rPr lang="en-US" altLang="zh-CN" dirty="0"/>
              <a:t>).</a:t>
            </a:r>
            <a:endParaRPr lang="en-US" altLang="zh-CN" dirty="0"/>
          </a:p>
        </p:txBody>
      </p:sp>
      <p:sp>
        <p:nvSpPr>
          <p:cNvPr id="20485" name="Text Box 4"/>
          <p:cNvSpPr txBox="1">
            <a:spLocks noChangeArrowheads="1"/>
          </p:cNvSpPr>
          <p:nvPr/>
        </p:nvSpPr>
        <p:spPr bwMode="auto">
          <a:xfrm>
            <a:off x="4191000" y="1052736"/>
            <a:ext cx="4495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0000"/>
              </a:lnSpc>
              <a:defRPr sz="1400" b="1">
                <a:solidFill>
                  <a:schemeClr val="bg2"/>
                </a:solidFill>
                <a:latin typeface="Courier New" panose="02070309020205020404" pitchFamily="49" charset="0"/>
                <a:ea typeface="宋体" panose="02010600030101010101" pitchFamily="2" charset="-122"/>
              </a:defRPr>
            </a:lvl1pPr>
            <a:lvl2pPr marL="742950" indent="-285750">
              <a:lnSpc>
                <a:spcPct val="110000"/>
              </a:lnSpc>
              <a:defRPr sz="1400" b="1">
                <a:solidFill>
                  <a:schemeClr val="bg2"/>
                </a:solidFill>
                <a:latin typeface="Courier New" panose="02070309020205020404" pitchFamily="49" charset="0"/>
                <a:ea typeface="宋体" panose="02010600030101010101" pitchFamily="2" charset="-122"/>
              </a:defRPr>
            </a:lvl2pPr>
            <a:lvl3pPr marL="1143000" indent="-228600">
              <a:lnSpc>
                <a:spcPct val="110000"/>
              </a:lnSpc>
              <a:defRPr sz="1400" b="1">
                <a:solidFill>
                  <a:schemeClr val="bg2"/>
                </a:solidFill>
                <a:latin typeface="Courier New" panose="02070309020205020404" pitchFamily="49" charset="0"/>
                <a:ea typeface="宋体" panose="02010600030101010101" pitchFamily="2" charset="-122"/>
              </a:defRPr>
            </a:lvl3pPr>
            <a:lvl4pPr marL="1600200" indent="-228600">
              <a:lnSpc>
                <a:spcPct val="110000"/>
              </a:lnSpc>
              <a:defRPr sz="1400" b="1">
                <a:solidFill>
                  <a:schemeClr val="bg2"/>
                </a:solidFill>
                <a:latin typeface="Courier New" panose="02070309020205020404" pitchFamily="49" charset="0"/>
                <a:ea typeface="宋体" panose="02010600030101010101" pitchFamily="2" charset="-122"/>
              </a:defRPr>
            </a:lvl4pPr>
            <a:lvl5pPr marL="2057400" indent="-228600">
              <a:lnSpc>
                <a:spcPct val="110000"/>
              </a:lnSpc>
              <a:defRPr sz="1400" b="1">
                <a:solidFill>
                  <a:schemeClr val="bg2"/>
                </a:solidFill>
                <a:latin typeface="Courier New" panose="02070309020205020404" pitchFamily="49" charset="0"/>
                <a:ea typeface="宋体" panose="02010600030101010101" pitchFamily="2" charset="-122"/>
              </a:defRPr>
            </a:lvl5pPr>
            <a:lvl6pPr marL="25146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6pPr>
            <a:lvl7pPr marL="29718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7pPr>
            <a:lvl8pPr marL="34290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8pPr>
            <a:lvl9pPr marL="38862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9pPr>
          </a:lstStyle>
          <a:p>
            <a:pPr eaLnBrk="1" hangingPunct="1">
              <a:lnSpc>
                <a:spcPct val="100000"/>
              </a:lnSpc>
              <a:spcBef>
                <a:spcPct val="50000"/>
              </a:spcBef>
            </a:pPr>
            <a:endParaRPr kumimoji="1" lang="zh-CN" altLang="en-US" sz="2400" b="0">
              <a:solidFill>
                <a:schemeClr val="tx1"/>
              </a:solidFill>
              <a:latin typeface="Tahoma" panose="020B0604030504040204" pitchFamily="34" charset="0"/>
            </a:endParaRPr>
          </a:p>
        </p:txBody>
      </p:sp>
      <p:sp>
        <p:nvSpPr>
          <p:cNvPr id="21510" name="Text Box 6"/>
          <p:cNvSpPr txBox="1">
            <a:spLocks noChangeArrowheads="1"/>
          </p:cNvSpPr>
          <p:nvPr/>
        </p:nvSpPr>
        <p:spPr bwMode="auto">
          <a:xfrm>
            <a:off x="4162598" y="1089353"/>
            <a:ext cx="5029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0000"/>
              </a:lnSpc>
              <a:defRPr sz="1400" b="1">
                <a:solidFill>
                  <a:schemeClr val="bg2"/>
                </a:solidFill>
                <a:latin typeface="Courier New" panose="02070309020205020404" pitchFamily="49" charset="0"/>
                <a:ea typeface="宋体" panose="02010600030101010101" pitchFamily="2" charset="-122"/>
              </a:defRPr>
            </a:lvl1pPr>
            <a:lvl2pPr marL="742950" indent="-285750">
              <a:lnSpc>
                <a:spcPct val="110000"/>
              </a:lnSpc>
              <a:defRPr sz="1400" b="1">
                <a:solidFill>
                  <a:schemeClr val="bg2"/>
                </a:solidFill>
                <a:latin typeface="Courier New" panose="02070309020205020404" pitchFamily="49" charset="0"/>
                <a:ea typeface="宋体" panose="02010600030101010101" pitchFamily="2" charset="-122"/>
              </a:defRPr>
            </a:lvl2pPr>
            <a:lvl3pPr marL="1143000" indent="-228600">
              <a:lnSpc>
                <a:spcPct val="110000"/>
              </a:lnSpc>
              <a:defRPr sz="1400" b="1">
                <a:solidFill>
                  <a:schemeClr val="bg2"/>
                </a:solidFill>
                <a:latin typeface="Courier New" panose="02070309020205020404" pitchFamily="49" charset="0"/>
                <a:ea typeface="宋体" panose="02010600030101010101" pitchFamily="2" charset="-122"/>
              </a:defRPr>
            </a:lvl3pPr>
            <a:lvl4pPr marL="1600200" indent="-228600">
              <a:lnSpc>
                <a:spcPct val="110000"/>
              </a:lnSpc>
              <a:defRPr sz="1400" b="1">
                <a:solidFill>
                  <a:schemeClr val="bg2"/>
                </a:solidFill>
                <a:latin typeface="Courier New" panose="02070309020205020404" pitchFamily="49" charset="0"/>
                <a:ea typeface="宋体" panose="02010600030101010101" pitchFamily="2" charset="-122"/>
              </a:defRPr>
            </a:lvl4pPr>
            <a:lvl5pPr marL="2057400" indent="-228600">
              <a:lnSpc>
                <a:spcPct val="110000"/>
              </a:lnSpc>
              <a:defRPr sz="1400" b="1">
                <a:solidFill>
                  <a:schemeClr val="bg2"/>
                </a:solidFill>
                <a:latin typeface="Courier New" panose="02070309020205020404" pitchFamily="49" charset="0"/>
                <a:ea typeface="宋体" panose="02010600030101010101" pitchFamily="2" charset="-122"/>
              </a:defRPr>
            </a:lvl5pPr>
            <a:lvl6pPr marL="25146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6pPr>
            <a:lvl7pPr marL="29718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7pPr>
            <a:lvl8pPr marL="34290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8pPr>
            <a:lvl9pPr marL="38862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9pPr>
          </a:lstStyle>
          <a:p>
            <a:pPr eaLnBrk="1" hangingPunct="1">
              <a:lnSpc>
                <a:spcPct val="100000"/>
              </a:lnSpc>
              <a:spcBef>
                <a:spcPct val="50000"/>
              </a:spcBef>
            </a:pPr>
            <a:r>
              <a:rPr kumimoji="1" lang="zh-CN" altLang="en-US" sz="2400" b="0">
                <a:solidFill>
                  <a:schemeClr val="hlink"/>
                </a:solidFill>
                <a:latin typeface="Tahoma" panose="020B0604030504040204" pitchFamily="34" charset="0"/>
              </a:rPr>
              <a:t>多项式增长比指数函数慢！</a:t>
            </a:r>
            <a:endParaRPr kumimoji="1" lang="zh-CN" altLang="en-US" sz="2400" b="0">
              <a:solidFill>
                <a:schemeClr val="hlink"/>
              </a:solidFill>
              <a:latin typeface="Tahoma" panose="020B0604030504040204" pitchFamily="34" charset="0"/>
            </a:endParaRPr>
          </a:p>
        </p:txBody>
      </p:sp>
      <p:pic>
        <p:nvPicPr>
          <p:cNvPr id="3" name="图片 2"/>
          <p:cNvPicPr>
            <a:picLocks noChangeAspect="1"/>
          </p:cNvPicPr>
          <p:nvPr/>
        </p:nvPicPr>
        <p:blipFill>
          <a:blip r:embed="rId1"/>
          <a:stretch>
            <a:fillRect/>
          </a:stretch>
        </p:blipFill>
        <p:spPr>
          <a:xfrm>
            <a:off x="1403648" y="2930862"/>
            <a:ext cx="6480720" cy="3796700"/>
          </a:xfrm>
          <a:prstGeom prst="rect">
            <a:avLst/>
          </a:prstGeom>
        </p:spPr>
      </p:pic>
      <p:sp>
        <p:nvSpPr>
          <p:cNvPr id="4" name="文本框 3"/>
          <p:cNvSpPr txBox="1"/>
          <p:nvPr/>
        </p:nvSpPr>
        <p:spPr>
          <a:xfrm>
            <a:off x="4788024" y="6324600"/>
            <a:ext cx="1346844" cy="369332"/>
          </a:xfrm>
          <a:prstGeom prst="rect">
            <a:avLst/>
          </a:prstGeom>
          <a:noFill/>
        </p:spPr>
        <p:txBody>
          <a:bodyPr wrap="none" rtlCol="0">
            <a:spAutoFit/>
          </a:bodyPr>
          <a:lstStyle/>
          <a:p>
            <a:r>
              <a:rPr lang="zh-CN" altLang="en-US" sz="1800" dirty="0">
                <a:solidFill>
                  <a:srgbClr val="FF0000"/>
                </a:solidFill>
              </a:rPr>
              <a:t>洛必达法则</a:t>
            </a:r>
            <a:endParaRPr lang="zh-CN" altLang="en-US" sz="1800"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1510"/>
                                        </p:tgtEl>
                                        <p:attrNameLst>
                                          <p:attrName>style.visibility</p:attrName>
                                        </p:attrNameLst>
                                      </p:cBhvr>
                                      <p:to>
                                        <p:strVal val="visible"/>
                                      </p:to>
                                    </p:set>
                                    <p:anim calcmode="lin" valueType="num">
                                      <p:cBhvr additive="base">
                                        <p:cTn id="7" dur="500" fill="hold"/>
                                        <p:tgtEl>
                                          <p:spTgt spid="21510"/>
                                        </p:tgtEl>
                                        <p:attrNameLst>
                                          <p:attrName>ppt_x</p:attrName>
                                        </p:attrNameLst>
                                      </p:cBhvr>
                                      <p:tavLst>
                                        <p:tav tm="0">
                                          <p:val>
                                            <p:strVal val="0-#ppt_w/2"/>
                                          </p:val>
                                        </p:tav>
                                        <p:tav tm="100000">
                                          <p:val>
                                            <p:strVal val="#ppt_x"/>
                                          </p:val>
                                        </p:tav>
                                      </p:tavLst>
                                    </p:anim>
                                    <p:anim calcmode="lin" valueType="num">
                                      <p:cBhvr additive="base">
                                        <p:cTn id="8" dur="500" fill="hold"/>
                                        <p:tgtEl>
                                          <p:spTgt spid="215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10" grpId="0"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5"/>
          <p:cNvSpPr>
            <a:spLocks noGrp="1"/>
          </p:cNvSpPr>
          <p:nvPr>
            <p:ph type="sldNum" sz="quarter" idx="12"/>
          </p:nvPr>
        </p:nvSpPr>
        <p:spPr/>
        <p:txBody>
          <a:bodyPr/>
          <a:lstStyle/>
          <a:p>
            <a:pPr>
              <a:defRPr/>
            </a:pPr>
            <a:fld id="{81766E2F-7714-409E-A004-9AB9F6E2D7BE}" type="slidenum">
              <a:rPr lang="zh-CN" altLang="en-US"/>
            </a:fld>
            <a:endParaRPr lang="en-US" altLang="zh-CN"/>
          </a:p>
        </p:txBody>
      </p:sp>
      <p:sp>
        <p:nvSpPr>
          <p:cNvPr id="20483" name="Rectangle 2"/>
          <p:cNvSpPr>
            <a:spLocks noGrp="1" noChangeArrowheads="1"/>
          </p:cNvSpPr>
          <p:nvPr>
            <p:ph type="title"/>
          </p:nvPr>
        </p:nvSpPr>
        <p:spPr/>
        <p:txBody>
          <a:bodyPr/>
          <a:lstStyle/>
          <a:p>
            <a:pPr eaLnBrk="1" hangingPunct="1"/>
            <a:r>
              <a:rPr lang="zh-CN" altLang="en-US"/>
              <a:t>复杂度性质</a:t>
            </a:r>
            <a:endParaRPr lang="zh-CN" altLang="en-US"/>
          </a:p>
        </p:txBody>
      </p:sp>
      <p:sp>
        <p:nvSpPr>
          <p:cNvPr id="20485" name="Text Box 4"/>
          <p:cNvSpPr txBox="1">
            <a:spLocks noChangeArrowheads="1"/>
          </p:cNvSpPr>
          <p:nvPr/>
        </p:nvSpPr>
        <p:spPr bwMode="auto">
          <a:xfrm>
            <a:off x="4191000" y="1052736"/>
            <a:ext cx="4495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0000"/>
              </a:lnSpc>
              <a:defRPr sz="1400" b="1">
                <a:solidFill>
                  <a:schemeClr val="bg2"/>
                </a:solidFill>
                <a:latin typeface="Courier New" panose="02070309020205020404" pitchFamily="49" charset="0"/>
                <a:ea typeface="宋体" panose="02010600030101010101" pitchFamily="2" charset="-122"/>
              </a:defRPr>
            </a:lvl1pPr>
            <a:lvl2pPr marL="742950" indent="-285750">
              <a:lnSpc>
                <a:spcPct val="110000"/>
              </a:lnSpc>
              <a:defRPr sz="1400" b="1">
                <a:solidFill>
                  <a:schemeClr val="bg2"/>
                </a:solidFill>
                <a:latin typeface="Courier New" panose="02070309020205020404" pitchFamily="49" charset="0"/>
                <a:ea typeface="宋体" panose="02010600030101010101" pitchFamily="2" charset="-122"/>
              </a:defRPr>
            </a:lvl2pPr>
            <a:lvl3pPr marL="1143000" indent="-228600">
              <a:lnSpc>
                <a:spcPct val="110000"/>
              </a:lnSpc>
              <a:defRPr sz="1400" b="1">
                <a:solidFill>
                  <a:schemeClr val="bg2"/>
                </a:solidFill>
                <a:latin typeface="Courier New" panose="02070309020205020404" pitchFamily="49" charset="0"/>
                <a:ea typeface="宋体" panose="02010600030101010101" pitchFamily="2" charset="-122"/>
              </a:defRPr>
            </a:lvl3pPr>
            <a:lvl4pPr marL="1600200" indent="-228600">
              <a:lnSpc>
                <a:spcPct val="110000"/>
              </a:lnSpc>
              <a:defRPr sz="1400" b="1">
                <a:solidFill>
                  <a:schemeClr val="bg2"/>
                </a:solidFill>
                <a:latin typeface="Courier New" panose="02070309020205020404" pitchFamily="49" charset="0"/>
                <a:ea typeface="宋体" panose="02010600030101010101" pitchFamily="2" charset="-122"/>
              </a:defRPr>
            </a:lvl4pPr>
            <a:lvl5pPr marL="2057400" indent="-228600">
              <a:lnSpc>
                <a:spcPct val="110000"/>
              </a:lnSpc>
              <a:defRPr sz="1400" b="1">
                <a:solidFill>
                  <a:schemeClr val="bg2"/>
                </a:solidFill>
                <a:latin typeface="Courier New" panose="02070309020205020404" pitchFamily="49" charset="0"/>
                <a:ea typeface="宋体" panose="02010600030101010101" pitchFamily="2" charset="-122"/>
              </a:defRPr>
            </a:lvl5pPr>
            <a:lvl6pPr marL="25146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6pPr>
            <a:lvl7pPr marL="29718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7pPr>
            <a:lvl8pPr marL="34290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8pPr>
            <a:lvl9pPr marL="38862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9pPr>
          </a:lstStyle>
          <a:p>
            <a:pPr eaLnBrk="1" hangingPunct="1">
              <a:lnSpc>
                <a:spcPct val="100000"/>
              </a:lnSpc>
              <a:spcBef>
                <a:spcPct val="50000"/>
              </a:spcBef>
            </a:pPr>
            <a:endParaRPr kumimoji="1" lang="zh-CN" altLang="en-US" sz="2400" b="0">
              <a:solidFill>
                <a:schemeClr val="tx1"/>
              </a:solidFill>
              <a:latin typeface="Tahoma" panose="020B0604030504040204" pitchFamily="34" charset="0"/>
            </a:endParaRPr>
          </a:p>
        </p:txBody>
      </p:sp>
      <p:sp>
        <p:nvSpPr>
          <p:cNvPr id="21510" name="Text Box 6"/>
          <p:cNvSpPr txBox="1">
            <a:spLocks noChangeArrowheads="1"/>
          </p:cNvSpPr>
          <p:nvPr/>
        </p:nvSpPr>
        <p:spPr bwMode="auto">
          <a:xfrm>
            <a:off x="4162598" y="1089353"/>
            <a:ext cx="5029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0000"/>
              </a:lnSpc>
              <a:defRPr sz="1400" b="1">
                <a:solidFill>
                  <a:schemeClr val="bg2"/>
                </a:solidFill>
                <a:latin typeface="Courier New" panose="02070309020205020404" pitchFamily="49" charset="0"/>
                <a:ea typeface="宋体" panose="02010600030101010101" pitchFamily="2" charset="-122"/>
              </a:defRPr>
            </a:lvl1pPr>
            <a:lvl2pPr marL="742950" indent="-285750">
              <a:lnSpc>
                <a:spcPct val="110000"/>
              </a:lnSpc>
              <a:defRPr sz="1400" b="1">
                <a:solidFill>
                  <a:schemeClr val="bg2"/>
                </a:solidFill>
                <a:latin typeface="Courier New" panose="02070309020205020404" pitchFamily="49" charset="0"/>
                <a:ea typeface="宋体" panose="02010600030101010101" pitchFamily="2" charset="-122"/>
              </a:defRPr>
            </a:lvl2pPr>
            <a:lvl3pPr marL="1143000" indent="-228600">
              <a:lnSpc>
                <a:spcPct val="110000"/>
              </a:lnSpc>
              <a:defRPr sz="1400" b="1">
                <a:solidFill>
                  <a:schemeClr val="bg2"/>
                </a:solidFill>
                <a:latin typeface="Courier New" panose="02070309020205020404" pitchFamily="49" charset="0"/>
                <a:ea typeface="宋体" panose="02010600030101010101" pitchFamily="2" charset="-122"/>
              </a:defRPr>
            </a:lvl3pPr>
            <a:lvl4pPr marL="1600200" indent="-228600">
              <a:lnSpc>
                <a:spcPct val="110000"/>
              </a:lnSpc>
              <a:defRPr sz="1400" b="1">
                <a:solidFill>
                  <a:schemeClr val="bg2"/>
                </a:solidFill>
                <a:latin typeface="Courier New" panose="02070309020205020404" pitchFamily="49" charset="0"/>
                <a:ea typeface="宋体" panose="02010600030101010101" pitchFamily="2" charset="-122"/>
              </a:defRPr>
            </a:lvl4pPr>
            <a:lvl5pPr marL="2057400" indent="-228600">
              <a:lnSpc>
                <a:spcPct val="110000"/>
              </a:lnSpc>
              <a:defRPr sz="1400" b="1">
                <a:solidFill>
                  <a:schemeClr val="bg2"/>
                </a:solidFill>
                <a:latin typeface="Courier New" panose="02070309020205020404" pitchFamily="49" charset="0"/>
                <a:ea typeface="宋体" panose="02010600030101010101" pitchFamily="2" charset="-122"/>
              </a:defRPr>
            </a:lvl5pPr>
            <a:lvl6pPr marL="25146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6pPr>
            <a:lvl7pPr marL="29718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7pPr>
            <a:lvl8pPr marL="34290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8pPr>
            <a:lvl9pPr marL="38862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9pPr>
          </a:lstStyle>
          <a:p>
            <a:pPr eaLnBrk="1" hangingPunct="1">
              <a:lnSpc>
                <a:spcPct val="100000"/>
              </a:lnSpc>
              <a:spcBef>
                <a:spcPct val="50000"/>
              </a:spcBef>
            </a:pPr>
            <a:r>
              <a:rPr kumimoji="1" lang="zh-CN" altLang="en-US" sz="2400" b="0">
                <a:solidFill>
                  <a:schemeClr val="hlink"/>
                </a:solidFill>
                <a:latin typeface="Tahoma" panose="020B0604030504040204" pitchFamily="34" charset="0"/>
              </a:rPr>
              <a:t>多项式增长比指数函数慢！</a:t>
            </a:r>
            <a:endParaRPr kumimoji="1" lang="zh-CN" altLang="en-US" sz="2400" b="0">
              <a:solidFill>
                <a:schemeClr val="hlink"/>
              </a:solidFill>
              <a:latin typeface="Tahoma" panose="020B0604030504040204" pitchFamily="34" charset="0"/>
            </a:endParaRPr>
          </a:p>
        </p:txBody>
      </p:sp>
      <p:pic>
        <p:nvPicPr>
          <p:cNvPr id="6" name="图片 5"/>
          <p:cNvPicPr>
            <a:picLocks noChangeAspect="1"/>
          </p:cNvPicPr>
          <p:nvPr/>
        </p:nvPicPr>
        <p:blipFill>
          <a:blip r:embed="rId1"/>
          <a:stretch>
            <a:fillRect/>
          </a:stretch>
        </p:blipFill>
        <p:spPr>
          <a:xfrm>
            <a:off x="910410" y="1939499"/>
            <a:ext cx="7776390" cy="472335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1510"/>
                                        </p:tgtEl>
                                        <p:attrNameLst>
                                          <p:attrName>style.visibility</p:attrName>
                                        </p:attrNameLst>
                                      </p:cBhvr>
                                      <p:to>
                                        <p:strVal val="visible"/>
                                      </p:to>
                                    </p:set>
                                    <p:anim calcmode="lin" valueType="num">
                                      <p:cBhvr additive="base">
                                        <p:cTn id="7" dur="500" fill="hold"/>
                                        <p:tgtEl>
                                          <p:spTgt spid="21510"/>
                                        </p:tgtEl>
                                        <p:attrNameLst>
                                          <p:attrName>ppt_x</p:attrName>
                                        </p:attrNameLst>
                                      </p:cBhvr>
                                      <p:tavLst>
                                        <p:tav tm="0">
                                          <p:val>
                                            <p:strVal val="0-#ppt_w/2"/>
                                          </p:val>
                                        </p:tav>
                                        <p:tav tm="100000">
                                          <p:val>
                                            <p:strVal val="#ppt_x"/>
                                          </p:val>
                                        </p:tav>
                                      </p:tavLst>
                                    </p:anim>
                                    <p:anim calcmode="lin" valueType="num">
                                      <p:cBhvr additive="base">
                                        <p:cTn id="8" dur="500" fill="hold"/>
                                        <p:tgtEl>
                                          <p:spTgt spid="215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10" grpId="0"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5"/>
          <p:cNvSpPr>
            <a:spLocks noGrp="1"/>
          </p:cNvSpPr>
          <p:nvPr>
            <p:ph type="sldNum" sz="quarter" idx="12"/>
          </p:nvPr>
        </p:nvSpPr>
        <p:spPr/>
        <p:txBody>
          <a:bodyPr/>
          <a:lstStyle/>
          <a:p>
            <a:pPr>
              <a:defRPr/>
            </a:pPr>
            <a:fld id="{81766E2F-7714-409E-A004-9AB9F6E2D7BE}" type="slidenum">
              <a:rPr lang="zh-CN" altLang="en-US"/>
            </a:fld>
            <a:endParaRPr lang="en-US" altLang="zh-CN"/>
          </a:p>
        </p:txBody>
      </p:sp>
      <p:sp>
        <p:nvSpPr>
          <p:cNvPr id="20483" name="Rectangle 2"/>
          <p:cNvSpPr>
            <a:spLocks noGrp="1" noChangeArrowheads="1"/>
          </p:cNvSpPr>
          <p:nvPr>
            <p:ph type="title"/>
          </p:nvPr>
        </p:nvSpPr>
        <p:spPr/>
        <p:txBody>
          <a:bodyPr/>
          <a:lstStyle/>
          <a:p>
            <a:pPr eaLnBrk="1" hangingPunct="1"/>
            <a:r>
              <a:rPr lang="zh-CN" altLang="en-US"/>
              <a:t>复杂度性质</a:t>
            </a:r>
            <a:endParaRPr lang="zh-CN" altLang="en-US"/>
          </a:p>
        </p:txBody>
      </p:sp>
      <p:sp>
        <p:nvSpPr>
          <p:cNvPr id="20485" name="Text Box 4"/>
          <p:cNvSpPr txBox="1">
            <a:spLocks noChangeArrowheads="1"/>
          </p:cNvSpPr>
          <p:nvPr/>
        </p:nvSpPr>
        <p:spPr bwMode="auto">
          <a:xfrm>
            <a:off x="4191000" y="1052736"/>
            <a:ext cx="4495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0000"/>
              </a:lnSpc>
              <a:defRPr sz="1400" b="1">
                <a:solidFill>
                  <a:schemeClr val="bg2"/>
                </a:solidFill>
                <a:latin typeface="Courier New" panose="02070309020205020404" pitchFamily="49" charset="0"/>
                <a:ea typeface="宋体" panose="02010600030101010101" pitchFamily="2" charset="-122"/>
              </a:defRPr>
            </a:lvl1pPr>
            <a:lvl2pPr marL="742950" indent="-285750">
              <a:lnSpc>
                <a:spcPct val="110000"/>
              </a:lnSpc>
              <a:defRPr sz="1400" b="1">
                <a:solidFill>
                  <a:schemeClr val="bg2"/>
                </a:solidFill>
                <a:latin typeface="Courier New" panose="02070309020205020404" pitchFamily="49" charset="0"/>
                <a:ea typeface="宋体" panose="02010600030101010101" pitchFamily="2" charset="-122"/>
              </a:defRPr>
            </a:lvl2pPr>
            <a:lvl3pPr marL="1143000" indent="-228600">
              <a:lnSpc>
                <a:spcPct val="110000"/>
              </a:lnSpc>
              <a:defRPr sz="1400" b="1">
                <a:solidFill>
                  <a:schemeClr val="bg2"/>
                </a:solidFill>
                <a:latin typeface="Courier New" panose="02070309020205020404" pitchFamily="49" charset="0"/>
                <a:ea typeface="宋体" panose="02010600030101010101" pitchFamily="2" charset="-122"/>
              </a:defRPr>
            </a:lvl3pPr>
            <a:lvl4pPr marL="1600200" indent="-228600">
              <a:lnSpc>
                <a:spcPct val="110000"/>
              </a:lnSpc>
              <a:defRPr sz="1400" b="1">
                <a:solidFill>
                  <a:schemeClr val="bg2"/>
                </a:solidFill>
                <a:latin typeface="Courier New" panose="02070309020205020404" pitchFamily="49" charset="0"/>
                <a:ea typeface="宋体" panose="02010600030101010101" pitchFamily="2" charset="-122"/>
              </a:defRPr>
            </a:lvl4pPr>
            <a:lvl5pPr marL="2057400" indent="-228600">
              <a:lnSpc>
                <a:spcPct val="110000"/>
              </a:lnSpc>
              <a:defRPr sz="1400" b="1">
                <a:solidFill>
                  <a:schemeClr val="bg2"/>
                </a:solidFill>
                <a:latin typeface="Courier New" panose="02070309020205020404" pitchFamily="49" charset="0"/>
                <a:ea typeface="宋体" panose="02010600030101010101" pitchFamily="2" charset="-122"/>
              </a:defRPr>
            </a:lvl5pPr>
            <a:lvl6pPr marL="25146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6pPr>
            <a:lvl7pPr marL="29718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7pPr>
            <a:lvl8pPr marL="34290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8pPr>
            <a:lvl9pPr marL="38862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9pPr>
          </a:lstStyle>
          <a:p>
            <a:pPr eaLnBrk="1" hangingPunct="1">
              <a:lnSpc>
                <a:spcPct val="100000"/>
              </a:lnSpc>
              <a:spcBef>
                <a:spcPct val="50000"/>
              </a:spcBef>
            </a:pPr>
            <a:endParaRPr kumimoji="1" lang="zh-CN" altLang="en-US" sz="2400" b="0">
              <a:solidFill>
                <a:schemeClr val="tx1"/>
              </a:solidFill>
              <a:latin typeface="Tahoma" panose="020B0604030504040204" pitchFamily="34" charset="0"/>
            </a:endParaRPr>
          </a:p>
        </p:txBody>
      </p:sp>
      <p:sp>
        <p:nvSpPr>
          <p:cNvPr id="21510" name="Text Box 6"/>
          <p:cNvSpPr txBox="1">
            <a:spLocks noChangeArrowheads="1"/>
          </p:cNvSpPr>
          <p:nvPr/>
        </p:nvSpPr>
        <p:spPr bwMode="auto">
          <a:xfrm>
            <a:off x="4162598" y="1089353"/>
            <a:ext cx="5029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0000"/>
              </a:lnSpc>
              <a:defRPr sz="1400" b="1">
                <a:solidFill>
                  <a:schemeClr val="bg2"/>
                </a:solidFill>
                <a:latin typeface="Courier New" panose="02070309020205020404" pitchFamily="49" charset="0"/>
                <a:ea typeface="宋体" panose="02010600030101010101" pitchFamily="2" charset="-122"/>
              </a:defRPr>
            </a:lvl1pPr>
            <a:lvl2pPr marL="742950" indent="-285750">
              <a:lnSpc>
                <a:spcPct val="110000"/>
              </a:lnSpc>
              <a:defRPr sz="1400" b="1">
                <a:solidFill>
                  <a:schemeClr val="bg2"/>
                </a:solidFill>
                <a:latin typeface="Courier New" panose="02070309020205020404" pitchFamily="49" charset="0"/>
                <a:ea typeface="宋体" panose="02010600030101010101" pitchFamily="2" charset="-122"/>
              </a:defRPr>
            </a:lvl2pPr>
            <a:lvl3pPr marL="1143000" indent="-228600">
              <a:lnSpc>
                <a:spcPct val="110000"/>
              </a:lnSpc>
              <a:defRPr sz="1400" b="1">
                <a:solidFill>
                  <a:schemeClr val="bg2"/>
                </a:solidFill>
                <a:latin typeface="Courier New" panose="02070309020205020404" pitchFamily="49" charset="0"/>
                <a:ea typeface="宋体" panose="02010600030101010101" pitchFamily="2" charset="-122"/>
              </a:defRPr>
            </a:lvl3pPr>
            <a:lvl4pPr marL="1600200" indent="-228600">
              <a:lnSpc>
                <a:spcPct val="110000"/>
              </a:lnSpc>
              <a:defRPr sz="1400" b="1">
                <a:solidFill>
                  <a:schemeClr val="bg2"/>
                </a:solidFill>
                <a:latin typeface="Courier New" panose="02070309020205020404" pitchFamily="49" charset="0"/>
                <a:ea typeface="宋体" panose="02010600030101010101" pitchFamily="2" charset="-122"/>
              </a:defRPr>
            </a:lvl4pPr>
            <a:lvl5pPr marL="2057400" indent="-228600">
              <a:lnSpc>
                <a:spcPct val="110000"/>
              </a:lnSpc>
              <a:defRPr sz="1400" b="1">
                <a:solidFill>
                  <a:schemeClr val="bg2"/>
                </a:solidFill>
                <a:latin typeface="Courier New" panose="02070309020205020404" pitchFamily="49" charset="0"/>
                <a:ea typeface="宋体" panose="02010600030101010101" pitchFamily="2" charset="-122"/>
              </a:defRPr>
            </a:lvl5pPr>
            <a:lvl6pPr marL="25146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6pPr>
            <a:lvl7pPr marL="29718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7pPr>
            <a:lvl8pPr marL="34290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8pPr>
            <a:lvl9pPr marL="38862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9pPr>
          </a:lstStyle>
          <a:p>
            <a:pPr eaLnBrk="1" hangingPunct="1">
              <a:lnSpc>
                <a:spcPct val="100000"/>
              </a:lnSpc>
              <a:spcBef>
                <a:spcPct val="50000"/>
              </a:spcBef>
            </a:pPr>
            <a:r>
              <a:rPr kumimoji="1" lang="zh-CN" altLang="en-US" sz="2400" b="0">
                <a:solidFill>
                  <a:schemeClr val="hlink"/>
                </a:solidFill>
                <a:latin typeface="Tahoma" panose="020B0604030504040204" pitchFamily="34" charset="0"/>
              </a:rPr>
              <a:t>多项式增长比指数函数慢！</a:t>
            </a:r>
            <a:endParaRPr kumimoji="1" lang="zh-CN" altLang="en-US" sz="2400" b="0">
              <a:solidFill>
                <a:schemeClr val="hlink"/>
              </a:solidFill>
              <a:latin typeface="Tahoma" panose="020B0604030504040204" pitchFamily="34" charset="0"/>
            </a:endParaRPr>
          </a:p>
        </p:txBody>
      </p:sp>
      <p:pic>
        <p:nvPicPr>
          <p:cNvPr id="3" name="图片 2"/>
          <p:cNvPicPr>
            <a:picLocks noChangeAspect="1"/>
          </p:cNvPicPr>
          <p:nvPr/>
        </p:nvPicPr>
        <p:blipFill>
          <a:blip r:embed="rId1"/>
          <a:stretch>
            <a:fillRect/>
          </a:stretch>
        </p:blipFill>
        <p:spPr>
          <a:xfrm>
            <a:off x="457200" y="2170204"/>
            <a:ext cx="7820604" cy="425295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1510"/>
                                        </p:tgtEl>
                                        <p:attrNameLst>
                                          <p:attrName>style.visibility</p:attrName>
                                        </p:attrNameLst>
                                      </p:cBhvr>
                                      <p:to>
                                        <p:strVal val="visible"/>
                                      </p:to>
                                    </p:set>
                                    <p:anim calcmode="lin" valueType="num">
                                      <p:cBhvr additive="base">
                                        <p:cTn id="7" dur="500" fill="hold"/>
                                        <p:tgtEl>
                                          <p:spTgt spid="21510"/>
                                        </p:tgtEl>
                                        <p:attrNameLst>
                                          <p:attrName>ppt_x</p:attrName>
                                        </p:attrNameLst>
                                      </p:cBhvr>
                                      <p:tavLst>
                                        <p:tav tm="0">
                                          <p:val>
                                            <p:strVal val="0-#ppt_w/2"/>
                                          </p:val>
                                        </p:tav>
                                        <p:tav tm="100000">
                                          <p:val>
                                            <p:strVal val="#ppt_x"/>
                                          </p:val>
                                        </p:tav>
                                      </p:tavLst>
                                    </p:anim>
                                    <p:anim calcmode="lin" valueType="num">
                                      <p:cBhvr additive="base">
                                        <p:cTn id="8" dur="500" fill="hold"/>
                                        <p:tgtEl>
                                          <p:spTgt spid="215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10" grpId="0"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5"/>
          <p:cNvSpPr>
            <a:spLocks noGrp="1"/>
          </p:cNvSpPr>
          <p:nvPr>
            <p:ph type="sldNum" sz="quarter" idx="12"/>
          </p:nvPr>
        </p:nvSpPr>
        <p:spPr/>
        <p:txBody>
          <a:bodyPr/>
          <a:lstStyle/>
          <a:p>
            <a:pPr>
              <a:defRPr/>
            </a:pPr>
            <a:fld id="{81766E2F-7714-409E-A004-9AB9F6E2D7BE}" type="slidenum">
              <a:rPr lang="zh-CN" altLang="en-US"/>
            </a:fld>
            <a:endParaRPr lang="en-US" altLang="zh-CN"/>
          </a:p>
        </p:txBody>
      </p:sp>
      <p:sp>
        <p:nvSpPr>
          <p:cNvPr id="20483" name="Rectangle 2"/>
          <p:cNvSpPr>
            <a:spLocks noGrp="1" noChangeArrowheads="1"/>
          </p:cNvSpPr>
          <p:nvPr>
            <p:ph type="title"/>
          </p:nvPr>
        </p:nvSpPr>
        <p:spPr/>
        <p:txBody>
          <a:bodyPr/>
          <a:lstStyle/>
          <a:p>
            <a:pPr eaLnBrk="1" hangingPunct="1"/>
            <a:r>
              <a:rPr lang="zh-CN" altLang="en-US" dirty="0"/>
              <a:t>用表和数组实现稳定匹配算法</a:t>
            </a:r>
            <a:endParaRPr lang="zh-CN" altLang="en-US" dirty="0"/>
          </a:p>
        </p:txBody>
      </p:sp>
      <p:sp>
        <p:nvSpPr>
          <p:cNvPr id="20485" name="Text Box 4"/>
          <p:cNvSpPr txBox="1">
            <a:spLocks noChangeArrowheads="1"/>
          </p:cNvSpPr>
          <p:nvPr/>
        </p:nvSpPr>
        <p:spPr bwMode="auto">
          <a:xfrm>
            <a:off x="2971800" y="2667000"/>
            <a:ext cx="4495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0000"/>
              </a:lnSpc>
              <a:defRPr sz="1400" b="1">
                <a:solidFill>
                  <a:schemeClr val="bg2"/>
                </a:solidFill>
                <a:latin typeface="Courier New" panose="02070309020205020404" pitchFamily="49" charset="0"/>
                <a:ea typeface="宋体" panose="02010600030101010101" pitchFamily="2" charset="-122"/>
              </a:defRPr>
            </a:lvl1pPr>
            <a:lvl2pPr marL="742950" indent="-285750">
              <a:lnSpc>
                <a:spcPct val="110000"/>
              </a:lnSpc>
              <a:defRPr sz="1400" b="1">
                <a:solidFill>
                  <a:schemeClr val="bg2"/>
                </a:solidFill>
                <a:latin typeface="Courier New" panose="02070309020205020404" pitchFamily="49" charset="0"/>
                <a:ea typeface="宋体" panose="02010600030101010101" pitchFamily="2" charset="-122"/>
              </a:defRPr>
            </a:lvl2pPr>
            <a:lvl3pPr marL="1143000" indent="-228600">
              <a:lnSpc>
                <a:spcPct val="110000"/>
              </a:lnSpc>
              <a:defRPr sz="1400" b="1">
                <a:solidFill>
                  <a:schemeClr val="bg2"/>
                </a:solidFill>
                <a:latin typeface="Courier New" panose="02070309020205020404" pitchFamily="49" charset="0"/>
                <a:ea typeface="宋体" panose="02010600030101010101" pitchFamily="2" charset="-122"/>
              </a:defRPr>
            </a:lvl3pPr>
            <a:lvl4pPr marL="1600200" indent="-228600">
              <a:lnSpc>
                <a:spcPct val="110000"/>
              </a:lnSpc>
              <a:defRPr sz="1400" b="1">
                <a:solidFill>
                  <a:schemeClr val="bg2"/>
                </a:solidFill>
                <a:latin typeface="Courier New" panose="02070309020205020404" pitchFamily="49" charset="0"/>
                <a:ea typeface="宋体" panose="02010600030101010101" pitchFamily="2" charset="-122"/>
              </a:defRPr>
            </a:lvl4pPr>
            <a:lvl5pPr marL="2057400" indent="-228600">
              <a:lnSpc>
                <a:spcPct val="110000"/>
              </a:lnSpc>
              <a:defRPr sz="1400" b="1">
                <a:solidFill>
                  <a:schemeClr val="bg2"/>
                </a:solidFill>
                <a:latin typeface="Courier New" panose="02070309020205020404" pitchFamily="49" charset="0"/>
                <a:ea typeface="宋体" panose="02010600030101010101" pitchFamily="2" charset="-122"/>
              </a:defRPr>
            </a:lvl5pPr>
            <a:lvl6pPr marL="25146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6pPr>
            <a:lvl7pPr marL="29718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7pPr>
            <a:lvl8pPr marL="34290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8pPr>
            <a:lvl9pPr marL="38862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9pPr>
          </a:lstStyle>
          <a:p>
            <a:pPr eaLnBrk="1" hangingPunct="1">
              <a:lnSpc>
                <a:spcPct val="100000"/>
              </a:lnSpc>
              <a:spcBef>
                <a:spcPct val="50000"/>
              </a:spcBef>
            </a:pPr>
            <a:endParaRPr kumimoji="1" lang="zh-CN" altLang="en-US" sz="2400" b="0">
              <a:solidFill>
                <a:schemeClr val="tx1"/>
              </a:solidFill>
              <a:latin typeface="Tahoma" panose="020B0604030504040204" pitchFamily="34" charset="0"/>
            </a:endParaRPr>
          </a:p>
        </p:txBody>
      </p:sp>
      <p:sp>
        <p:nvSpPr>
          <p:cNvPr id="2" name="内容占位符 1"/>
          <p:cNvSpPr>
            <a:spLocks noGrp="1"/>
          </p:cNvSpPr>
          <p:nvPr>
            <p:ph idx="1"/>
          </p:nvPr>
        </p:nvSpPr>
        <p:spPr>
          <a:xfrm>
            <a:off x="685800" y="2128475"/>
            <a:ext cx="7772400" cy="4114800"/>
          </a:xfrm>
        </p:spPr>
        <p:txBody>
          <a:bodyPr/>
          <a:lstStyle/>
          <a:p>
            <a:pPr marL="0" indent="0">
              <a:buNone/>
            </a:pPr>
            <a:r>
              <a:rPr lang="zh-CN" altLang="en-US" dirty="0"/>
              <a:t>在稳定匹配问题中</a:t>
            </a:r>
            <a:r>
              <a:rPr lang="en-US" altLang="zh-CN" dirty="0"/>
              <a:t>,</a:t>
            </a:r>
            <a:r>
              <a:rPr lang="zh-CN" altLang="en-US" dirty="0"/>
              <a:t>每个男人和每个女人都有一个对所有异性成员的排名</a:t>
            </a:r>
            <a:r>
              <a:rPr lang="en-US" altLang="zh-CN" dirty="0"/>
              <a:t>.</a:t>
            </a:r>
            <a:endParaRPr lang="en-US" altLang="zh-CN" dirty="0"/>
          </a:p>
          <a:p>
            <a:r>
              <a:rPr lang="zh-CN" altLang="en-US" dirty="0"/>
              <a:t>怎样表示这个排名</a:t>
            </a:r>
            <a:endParaRPr lang="en-US" altLang="zh-CN" dirty="0"/>
          </a:p>
          <a:p>
            <a:r>
              <a:rPr lang="zh-CN" altLang="en-US" dirty="0"/>
              <a:t>算法要维护一个匹配</a:t>
            </a:r>
            <a:r>
              <a:rPr lang="en-US" altLang="zh-CN" dirty="0"/>
              <a:t>, </a:t>
            </a:r>
            <a:r>
              <a:rPr lang="zh-CN" altLang="en-US" dirty="0"/>
              <a:t>在每一步需要知道哪些男人和哪些女人是自由的</a:t>
            </a:r>
            <a:r>
              <a:rPr lang="en-US" altLang="zh-CN" dirty="0"/>
              <a:t>,</a:t>
            </a:r>
            <a:r>
              <a:rPr lang="zh-CN" altLang="en-US" dirty="0"/>
              <a:t>以及谁与谁匹配</a:t>
            </a:r>
            <a:endParaRPr lang="en-US" altLang="zh-CN" dirty="0"/>
          </a:p>
          <a:p>
            <a:pPr marL="0" indent="0">
              <a:buNone/>
            </a:pPr>
            <a:r>
              <a:rPr lang="zh-CN" altLang="en-US" dirty="0">
                <a:solidFill>
                  <a:srgbClr val="FF0000"/>
                </a:solidFill>
              </a:rPr>
              <a:t>        我们需要决定使用哪些数据结构</a:t>
            </a:r>
            <a:endParaRPr lang="zh-CN" altLang="en-US" dirty="0">
              <a:solidFill>
                <a:srgbClr val="FF0000"/>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5"/>
          <p:cNvSpPr>
            <a:spLocks noGrp="1"/>
          </p:cNvSpPr>
          <p:nvPr>
            <p:ph type="sldNum" sz="quarter" idx="12"/>
          </p:nvPr>
        </p:nvSpPr>
        <p:spPr/>
        <p:txBody>
          <a:bodyPr/>
          <a:lstStyle/>
          <a:p>
            <a:pPr>
              <a:defRPr/>
            </a:pPr>
            <a:fld id="{81766E2F-7714-409E-A004-9AB9F6E2D7BE}" type="slidenum">
              <a:rPr lang="zh-CN" altLang="en-US"/>
            </a:fld>
            <a:endParaRPr lang="en-US" altLang="zh-CN"/>
          </a:p>
        </p:txBody>
      </p:sp>
      <p:sp>
        <p:nvSpPr>
          <p:cNvPr id="20483" name="Rectangle 2"/>
          <p:cNvSpPr>
            <a:spLocks noGrp="1" noChangeArrowheads="1"/>
          </p:cNvSpPr>
          <p:nvPr>
            <p:ph type="title"/>
          </p:nvPr>
        </p:nvSpPr>
        <p:spPr/>
        <p:txBody>
          <a:bodyPr/>
          <a:lstStyle/>
          <a:p>
            <a:pPr eaLnBrk="1" hangingPunct="1"/>
            <a:r>
              <a:rPr lang="zh-CN" altLang="en-US" dirty="0"/>
              <a:t>数据结构的选择</a:t>
            </a:r>
            <a:endParaRPr lang="zh-CN" altLang="en-US" dirty="0"/>
          </a:p>
        </p:txBody>
      </p:sp>
      <p:sp>
        <p:nvSpPr>
          <p:cNvPr id="20485" name="Text Box 4"/>
          <p:cNvSpPr txBox="1">
            <a:spLocks noChangeArrowheads="1"/>
          </p:cNvSpPr>
          <p:nvPr/>
        </p:nvSpPr>
        <p:spPr bwMode="auto">
          <a:xfrm>
            <a:off x="2971800" y="2667000"/>
            <a:ext cx="4495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0000"/>
              </a:lnSpc>
              <a:defRPr sz="1400" b="1">
                <a:solidFill>
                  <a:schemeClr val="bg2"/>
                </a:solidFill>
                <a:latin typeface="Courier New" panose="02070309020205020404" pitchFamily="49" charset="0"/>
                <a:ea typeface="宋体" panose="02010600030101010101" pitchFamily="2" charset="-122"/>
              </a:defRPr>
            </a:lvl1pPr>
            <a:lvl2pPr marL="742950" indent="-285750">
              <a:lnSpc>
                <a:spcPct val="110000"/>
              </a:lnSpc>
              <a:defRPr sz="1400" b="1">
                <a:solidFill>
                  <a:schemeClr val="bg2"/>
                </a:solidFill>
                <a:latin typeface="Courier New" panose="02070309020205020404" pitchFamily="49" charset="0"/>
                <a:ea typeface="宋体" panose="02010600030101010101" pitchFamily="2" charset="-122"/>
              </a:defRPr>
            </a:lvl2pPr>
            <a:lvl3pPr marL="1143000" indent="-228600">
              <a:lnSpc>
                <a:spcPct val="110000"/>
              </a:lnSpc>
              <a:defRPr sz="1400" b="1">
                <a:solidFill>
                  <a:schemeClr val="bg2"/>
                </a:solidFill>
                <a:latin typeface="Courier New" panose="02070309020205020404" pitchFamily="49" charset="0"/>
                <a:ea typeface="宋体" panose="02010600030101010101" pitchFamily="2" charset="-122"/>
              </a:defRPr>
            </a:lvl3pPr>
            <a:lvl4pPr marL="1600200" indent="-228600">
              <a:lnSpc>
                <a:spcPct val="110000"/>
              </a:lnSpc>
              <a:defRPr sz="1400" b="1">
                <a:solidFill>
                  <a:schemeClr val="bg2"/>
                </a:solidFill>
                <a:latin typeface="Courier New" panose="02070309020205020404" pitchFamily="49" charset="0"/>
                <a:ea typeface="宋体" panose="02010600030101010101" pitchFamily="2" charset="-122"/>
              </a:defRPr>
            </a:lvl4pPr>
            <a:lvl5pPr marL="2057400" indent="-228600">
              <a:lnSpc>
                <a:spcPct val="110000"/>
              </a:lnSpc>
              <a:defRPr sz="1400" b="1">
                <a:solidFill>
                  <a:schemeClr val="bg2"/>
                </a:solidFill>
                <a:latin typeface="Courier New" panose="02070309020205020404" pitchFamily="49" charset="0"/>
                <a:ea typeface="宋体" panose="02010600030101010101" pitchFamily="2" charset="-122"/>
              </a:defRPr>
            </a:lvl5pPr>
            <a:lvl6pPr marL="25146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6pPr>
            <a:lvl7pPr marL="29718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7pPr>
            <a:lvl8pPr marL="34290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8pPr>
            <a:lvl9pPr marL="38862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9pPr>
          </a:lstStyle>
          <a:p>
            <a:pPr eaLnBrk="1" hangingPunct="1">
              <a:lnSpc>
                <a:spcPct val="100000"/>
              </a:lnSpc>
              <a:spcBef>
                <a:spcPct val="50000"/>
              </a:spcBef>
            </a:pPr>
            <a:endParaRPr kumimoji="1" lang="zh-CN" altLang="en-US" sz="2400" b="0">
              <a:solidFill>
                <a:schemeClr val="tx1"/>
              </a:solidFill>
              <a:latin typeface="Tahoma" panose="020B0604030504040204" pitchFamily="34" charset="0"/>
            </a:endParaRPr>
          </a:p>
        </p:txBody>
      </p:sp>
      <p:sp>
        <p:nvSpPr>
          <p:cNvPr id="2" name="内容占位符 1"/>
          <p:cNvSpPr>
            <a:spLocks noGrp="1"/>
          </p:cNvSpPr>
          <p:nvPr>
            <p:ph idx="1"/>
          </p:nvPr>
        </p:nvSpPr>
        <p:spPr>
          <a:xfrm>
            <a:off x="685799" y="2128475"/>
            <a:ext cx="8258177" cy="4114800"/>
          </a:xfrm>
        </p:spPr>
        <p:txBody>
          <a:bodyPr/>
          <a:lstStyle/>
          <a:p>
            <a:pPr marL="0" indent="0">
              <a:lnSpc>
                <a:spcPct val="150000"/>
              </a:lnSpc>
              <a:buNone/>
            </a:pPr>
            <a:r>
              <a:rPr lang="zh-CN" altLang="en-US" dirty="0"/>
              <a:t>使用长为</a:t>
            </a:r>
            <a:r>
              <a:rPr lang="en-US" altLang="zh-CN" dirty="0"/>
              <a:t>n</a:t>
            </a:r>
            <a:r>
              <a:rPr lang="zh-CN" altLang="en-US" dirty="0"/>
              <a:t>的数组</a:t>
            </a:r>
            <a:r>
              <a:rPr lang="en-US" altLang="zh-CN" dirty="0"/>
              <a:t>A</a:t>
            </a:r>
            <a:r>
              <a:rPr lang="zh-CN" altLang="en-US" dirty="0"/>
              <a:t>存储对男人或女人的偏好</a:t>
            </a:r>
            <a:r>
              <a:rPr lang="en-US" altLang="zh-CN" dirty="0"/>
              <a:t>,</a:t>
            </a:r>
            <a:r>
              <a:rPr lang="zh-CN" altLang="en-US" dirty="0"/>
              <a:t>其中</a:t>
            </a:r>
            <a:r>
              <a:rPr lang="en-US" altLang="zh-CN" dirty="0"/>
              <a:t>A[</a:t>
            </a:r>
            <a:r>
              <a:rPr lang="en-US" altLang="zh-CN" dirty="0" err="1"/>
              <a:t>i</a:t>
            </a:r>
            <a:r>
              <a:rPr lang="en-US" altLang="zh-CN" dirty="0"/>
              <a:t>]</a:t>
            </a:r>
            <a:r>
              <a:rPr lang="zh-CN" altLang="en-US" dirty="0"/>
              <a:t>是表的第</a:t>
            </a:r>
            <a:r>
              <a:rPr lang="en-US" altLang="zh-CN" dirty="0" err="1"/>
              <a:t>i</a:t>
            </a:r>
            <a:r>
              <a:rPr lang="zh-CN" altLang="en-US" dirty="0"/>
              <a:t>个元素</a:t>
            </a:r>
            <a:r>
              <a:rPr lang="en-US" altLang="zh-CN" dirty="0"/>
              <a:t>,</a:t>
            </a:r>
            <a:r>
              <a:rPr lang="zh-CN" altLang="en-US" dirty="0"/>
              <a:t>它有下述性质</a:t>
            </a:r>
            <a:r>
              <a:rPr lang="en-US" altLang="zh-CN" dirty="0"/>
              <a:t>:</a:t>
            </a:r>
            <a:endParaRPr lang="en-US" altLang="zh-CN" dirty="0"/>
          </a:p>
          <a:p>
            <a:pPr>
              <a:lnSpc>
                <a:spcPct val="150000"/>
              </a:lnSpc>
              <a:buFont typeface="Wingdings" panose="05000000000000000000" pitchFamily="2" charset="2"/>
              <a:buChar char="p"/>
            </a:pPr>
            <a:r>
              <a:rPr lang="zh-CN" altLang="en-US" dirty="0"/>
              <a:t>可以通过直接访问</a:t>
            </a:r>
            <a:r>
              <a:rPr lang="en-US" altLang="zh-CN" dirty="0"/>
              <a:t>A[</a:t>
            </a:r>
            <a:r>
              <a:rPr lang="en-US" altLang="zh-CN" dirty="0" err="1"/>
              <a:t>i</a:t>
            </a:r>
            <a:r>
              <a:rPr lang="en-US" altLang="zh-CN" dirty="0"/>
              <a:t>]</a:t>
            </a:r>
            <a:r>
              <a:rPr lang="zh-CN" altLang="en-US" dirty="0"/>
              <a:t>的值用</a:t>
            </a:r>
            <a:r>
              <a:rPr lang="en-US" altLang="zh-CN" dirty="0"/>
              <a:t>O(1)</a:t>
            </a:r>
            <a:r>
              <a:rPr lang="zh-CN" altLang="en-US" dirty="0"/>
              <a:t>时间回答形如“数组中的第</a:t>
            </a:r>
            <a:r>
              <a:rPr lang="en-US" altLang="zh-CN" dirty="0" err="1"/>
              <a:t>i</a:t>
            </a:r>
            <a:r>
              <a:rPr lang="zh-CN" altLang="en-US" dirty="0"/>
              <a:t>个元素是什么”的查询</a:t>
            </a:r>
            <a:r>
              <a:rPr lang="en-US" altLang="zh-CN" dirty="0"/>
              <a:t>.</a:t>
            </a:r>
            <a:endParaRPr lang="en-US" altLang="zh-CN"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5"/>
          <p:cNvSpPr>
            <a:spLocks noGrp="1"/>
          </p:cNvSpPr>
          <p:nvPr>
            <p:ph type="sldNum" sz="quarter" idx="12"/>
          </p:nvPr>
        </p:nvSpPr>
        <p:spPr/>
        <p:txBody>
          <a:bodyPr/>
          <a:lstStyle/>
          <a:p>
            <a:pPr>
              <a:defRPr/>
            </a:pPr>
            <a:fld id="{81766E2F-7714-409E-A004-9AB9F6E2D7BE}" type="slidenum">
              <a:rPr lang="zh-CN" altLang="en-US"/>
            </a:fld>
            <a:endParaRPr lang="en-US" altLang="zh-CN"/>
          </a:p>
        </p:txBody>
      </p:sp>
      <p:sp>
        <p:nvSpPr>
          <p:cNvPr id="20483" name="Rectangle 2"/>
          <p:cNvSpPr>
            <a:spLocks noGrp="1" noChangeArrowheads="1"/>
          </p:cNvSpPr>
          <p:nvPr>
            <p:ph type="title"/>
          </p:nvPr>
        </p:nvSpPr>
        <p:spPr/>
        <p:txBody>
          <a:bodyPr/>
          <a:lstStyle/>
          <a:p>
            <a:pPr eaLnBrk="1" hangingPunct="1"/>
            <a:r>
              <a:rPr lang="zh-CN" altLang="en-US" dirty="0"/>
              <a:t>数据结构的选择</a:t>
            </a:r>
            <a:endParaRPr lang="zh-CN" altLang="en-US" dirty="0"/>
          </a:p>
        </p:txBody>
      </p:sp>
      <p:sp>
        <p:nvSpPr>
          <p:cNvPr id="20485" name="Text Box 4"/>
          <p:cNvSpPr txBox="1">
            <a:spLocks noChangeArrowheads="1"/>
          </p:cNvSpPr>
          <p:nvPr/>
        </p:nvSpPr>
        <p:spPr bwMode="auto">
          <a:xfrm>
            <a:off x="2971800" y="2667000"/>
            <a:ext cx="4495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0000"/>
              </a:lnSpc>
              <a:defRPr sz="1400" b="1">
                <a:solidFill>
                  <a:schemeClr val="bg2"/>
                </a:solidFill>
                <a:latin typeface="Courier New" panose="02070309020205020404" pitchFamily="49" charset="0"/>
                <a:ea typeface="宋体" panose="02010600030101010101" pitchFamily="2" charset="-122"/>
              </a:defRPr>
            </a:lvl1pPr>
            <a:lvl2pPr marL="742950" indent="-285750">
              <a:lnSpc>
                <a:spcPct val="110000"/>
              </a:lnSpc>
              <a:defRPr sz="1400" b="1">
                <a:solidFill>
                  <a:schemeClr val="bg2"/>
                </a:solidFill>
                <a:latin typeface="Courier New" panose="02070309020205020404" pitchFamily="49" charset="0"/>
                <a:ea typeface="宋体" panose="02010600030101010101" pitchFamily="2" charset="-122"/>
              </a:defRPr>
            </a:lvl2pPr>
            <a:lvl3pPr marL="1143000" indent="-228600">
              <a:lnSpc>
                <a:spcPct val="110000"/>
              </a:lnSpc>
              <a:defRPr sz="1400" b="1">
                <a:solidFill>
                  <a:schemeClr val="bg2"/>
                </a:solidFill>
                <a:latin typeface="Courier New" panose="02070309020205020404" pitchFamily="49" charset="0"/>
                <a:ea typeface="宋体" panose="02010600030101010101" pitchFamily="2" charset="-122"/>
              </a:defRPr>
            </a:lvl3pPr>
            <a:lvl4pPr marL="1600200" indent="-228600">
              <a:lnSpc>
                <a:spcPct val="110000"/>
              </a:lnSpc>
              <a:defRPr sz="1400" b="1">
                <a:solidFill>
                  <a:schemeClr val="bg2"/>
                </a:solidFill>
                <a:latin typeface="Courier New" panose="02070309020205020404" pitchFamily="49" charset="0"/>
                <a:ea typeface="宋体" panose="02010600030101010101" pitchFamily="2" charset="-122"/>
              </a:defRPr>
            </a:lvl4pPr>
            <a:lvl5pPr marL="2057400" indent="-228600">
              <a:lnSpc>
                <a:spcPct val="110000"/>
              </a:lnSpc>
              <a:defRPr sz="1400" b="1">
                <a:solidFill>
                  <a:schemeClr val="bg2"/>
                </a:solidFill>
                <a:latin typeface="Courier New" panose="02070309020205020404" pitchFamily="49" charset="0"/>
                <a:ea typeface="宋体" panose="02010600030101010101" pitchFamily="2" charset="-122"/>
              </a:defRPr>
            </a:lvl5pPr>
            <a:lvl6pPr marL="25146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6pPr>
            <a:lvl7pPr marL="29718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7pPr>
            <a:lvl8pPr marL="34290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8pPr>
            <a:lvl9pPr marL="38862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9pPr>
          </a:lstStyle>
          <a:p>
            <a:pPr eaLnBrk="1" hangingPunct="1">
              <a:lnSpc>
                <a:spcPct val="100000"/>
              </a:lnSpc>
              <a:spcBef>
                <a:spcPct val="50000"/>
              </a:spcBef>
            </a:pPr>
            <a:endParaRPr kumimoji="1" lang="zh-CN" altLang="en-US" sz="2400" b="0">
              <a:solidFill>
                <a:schemeClr val="tx1"/>
              </a:solidFill>
              <a:latin typeface="Tahoma" panose="020B0604030504040204" pitchFamily="34" charset="0"/>
            </a:endParaRPr>
          </a:p>
        </p:txBody>
      </p:sp>
      <p:sp>
        <p:nvSpPr>
          <p:cNvPr id="2" name="内容占位符 1"/>
          <p:cNvSpPr>
            <a:spLocks noGrp="1"/>
          </p:cNvSpPr>
          <p:nvPr>
            <p:ph idx="1"/>
          </p:nvPr>
        </p:nvSpPr>
        <p:spPr>
          <a:xfrm>
            <a:off x="485776" y="1985169"/>
            <a:ext cx="8458201" cy="4114800"/>
          </a:xfrm>
        </p:spPr>
        <p:txBody>
          <a:bodyPr/>
          <a:lstStyle/>
          <a:p>
            <a:pPr algn="just">
              <a:lnSpc>
                <a:spcPct val="120000"/>
              </a:lnSpc>
              <a:buFont typeface="Wingdings" panose="05000000000000000000" pitchFamily="2" charset="2"/>
              <a:buChar char="p"/>
            </a:pPr>
            <a:r>
              <a:rPr lang="zh-CN" altLang="en-US" dirty="0"/>
              <a:t>如果我们想确定某个特定的元素</a:t>
            </a:r>
            <a:r>
              <a:rPr lang="en-US" altLang="zh-CN" dirty="0"/>
              <a:t>e</a:t>
            </a:r>
            <a:r>
              <a:rPr lang="zh-CN" altLang="en-US" dirty="0"/>
              <a:t>是否属于这个表</a:t>
            </a:r>
            <a:r>
              <a:rPr lang="en-US" altLang="zh-CN" dirty="0"/>
              <a:t>(</a:t>
            </a:r>
            <a:r>
              <a:rPr lang="zh-CN" altLang="en-US" dirty="0"/>
              <a:t>假设我们不知道元素出现在</a:t>
            </a:r>
            <a:r>
              <a:rPr lang="en-US" altLang="zh-CN" dirty="0"/>
              <a:t>A</a:t>
            </a:r>
            <a:r>
              <a:rPr lang="zh-CN" altLang="en-US" dirty="0"/>
              <a:t>中的顺序</a:t>
            </a:r>
            <a:r>
              <a:rPr lang="en-US" altLang="zh-CN" dirty="0"/>
              <a:t>),</a:t>
            </a:r>
            <a:r>
              <a:rPr lang="zh-CN" altLang="en-US" dirty="0"/>
              <a:t>我们需要在</a:t>
            </a:r>
            <a:r>
              <a:rPr lang="en-US" altLang="zh-CN" dirty="0"/>
              <a:t>O(n)</a:t>
            </a:r>
            <a:r>
              <a:rPr lang="zh-CN" altLang="en-US" dirty="0"/>
              <a:t>时间内一个个地检查这些元素</a:t>
            </a:r>
            <a:r>
              <a:rPr lang="en-US" altLang="zh-CN" dirty="0"/>
              <a:t>.</a:t>
            </a:r>
            <a:endParaRPr lang="en-US" altLang="zh-CN" dirty="0"/>
          </a:p>
          <a:p>
            <a:pPr algn="just">
              <a:lnSpc>
                <a:spcPct val="120000"/>
              </a:lnSpc>
              <a:buFont typeface="Wingdings" panose="05000000000000000000" pitchFamily="2" charset="2"/>
              <a:buChar char="p"/>
            </a:pPr>
            <a:r>
              <a:rPr lang="zh-CN" altLang="en-US" dirty="0"/>
              <a:t>如果数组元素以某种清楚的方式排序</a:t>
            </a:r>
            <a:r>
              <a:rPr lang="en-US" altLang="zh-CN" dirty="0"/>
              <a:t>,</a:t>
            </a:r>
            <a:r>
              <a:rPr lang="zh-CN" altLang="en-US" dirty="0"/>
              <a:t>我们可以使用二分检索在</a:t>
            </a:r>
            <a:r>
              <a:rPr lang="en-US" altLang="zh-CN" dirty="0"/>
              <a:t>O(</a:t>
            </a:r>
            <a:r>
              <a:rPr lang="en-US" altLang="zh-CN" dirty="0" err="1"/>
              <a:t>logn</a:t>
            </a:r>
            <a:r>
              <a:rPr lang="en-US" altLang="zh-CN" dirty="0"/>
              <a:t>)</a:t>
            </a:r>
            <a:r>
              <a:rPr lang="zh-CN" altLang="en-US" dirty="0"/>
              <a:t>时间内确定一个元素</a:t>
            </a:r>
            <a:r>
              <a:rPr lang="en-US" altLang="zh-CN" dirty="0"/>
              <a:t>e</a:t>
            </a:r>
            <a:r>
              <a:rPr lang="zh-CN" altLang="en-US" dirty="0"/>
              <a:t>是否属于这个表</a:t>
            </a:r>
            <a:r>
              <a:rPr lang="en-US" altLang="zh-CN" dirty="0"/>
              <a:t>.</a:t>
            </a:r>
            <a:endParaRPr lang="zh-CN" alt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5"/>
          <p:cNvSpPr>
            <a:spLocks noGrp="1"/>
          </p:cNvSpPr>
          <p:nvPr>
            <p:ph type="sldNum" sz="quarter" idx="12"/>
          </p:nvPr>
        </p:nvSpPr>
        <p:spPr/>
        <p:txBody>
          <a:bodyPr/>
          <a:lstStyle/>
          <a:p>
            <a:pPr>
              <a:defRPr/>
            </a:pPr>
            <a:fld id="{81766E2F-7714-409E-A004-9AB9F6E2D7BE}" type="slidenum">
              <a:rPr lang="zh-CN" altLang="en-US"/>
            </a:fld>
            <a:endParaRPr lang="en-US" altLang="zh-CN"/>
          </a:p>
        </p:txBody>
      </p:sp>
      <p:sp>
        <p:nvSpPr>
          <p:cNvPr id="20483" name="Rectangle 2"/>
          <p:cNvSpPr>
            <a:spLocks noGrp="1" noChangeArrowheads="1"/>
          </p:cNvSpPr>
          <p:nvPr>
            <p:ph type="title"/>
          </p:nvPr>
        </p:nvSpPr>
        <p:spPr/>
        <p:txBody>
          <a:bodyPr/>
          <a:lstStyle/>
          <a:p>
            <a:pPr eaLnBrk="1" hangingPunct="1"/>
            <a:r>
              <a:rPr lang="zh-CN" altLang="en-US" dirty="0"/>
              <a:t>数据结构的选择</a:t>
            </a:r>
            <a:endParaRPr lang="zh-CN" altLang="en-US" dirty="0"/>
          </a:p>
        </p:txBody>
      </p:sp>
      <p:sp>
        <p:nvSpPr>
          <p:cNvPr id="20485" name="Text Box 4"/>
          <p:cNvSpPr txBox="1">
            <a:spLocks noChangeArrowheads="1"/>
          </p:cNvSpPr>
          <p:nvPr/>
        </p:nvSpPr>
        <p:spPr bwMode="auto">
          <a:xfrm>
            <a:off x="2971800" y="2667000"/>
            <a:ext cx="4495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0000"/>
              </a:lnSpc>
              <a:defRPr sz="1400" b="1">
                <a:solidFill>
                  <a:schemeClr val="bg2"/>
                </a:solidFill>
                <a:latin typeface="Courier New" panose="02070309020205020404" pitchFamily="49" charset="0"/>
                <a:ea typeface="宋体" panose="02010600030101010101" pitchFamily="2" charset="-122"/>
              </a:defRPr>
            </a:lvl1pPr>
            <a:lvl2pPr marL="742950" indent="-285750">
              <a:lnSpc>
                <a:spcPct val="110000"/>
              </a:lnSpc>
              <a:defRPr sz="1400" b="1">
                <a:solidFill>
                  <a:schemeClr val="bg2"/>
                </a:solidFill>
                <a:latin typeface="Courier New" panose="02070309020205020404" pitchFamily="49" charset="0"/>
                <a:ea typeface="宋体" panose="02010600030101010101" pitchFamily="2" charset="-122"/>
              </a:defRPr>
            </a:lvl2pPr>
            <a:lvl3pPr marL="1143000" indent="-228600">
              <a:lnSpc>
                <a:spcPct val="110000"/>
              </a:lnSpc>
              <a:defRPr sz="1400" b="1">
                <a:solidFill>
                  <a:schemeClr val="bg2"/>
                </a:solidFill>
                <a:latin typeface="Courier New" panose="02070309020205020404" pitchFamily="49" charset="0"/>
                <a:ea typeface="宋体" panose="02010600030101010101" pitchFamily="2" charset="-122"/>
              </a:defRPr>
            </a:lvl3pPr>
            <a:lvl4pPr marL="1600200" indent="-228600">
              <a:lnSpc>
                <a:spcPct val="110000"/>
              </a:lnSpc>
              <a:defRPr sz="1400" b="1">
                <a:solidFill>
                  <a:schemeClr val="bg2"/>
                </a:solidFill>
                <a:latin typeface="Courier New" panose="02070309020205020404" pitchFamily="49" charset="0"/>
                <a:ea typeface="宋体" panose="02010600030101010101" pitchFamily="2" charset="-122"/>
              </a:defRPr>
            </a:lvl4pPr>
            <a:lvl5pPr marL="2057400" indent="-228600">
              <a:lnSpc>
                <a:spcPct val="110000"/>
              </a:lnSpc>
              <a:defRPr sz="1400" b="1">
                <a:solidFill>
                  <a:schemeClr val="bg2"/>
                </a:solidFill>
                <a:latin typeface="Courier New" panose="02070309020205020404" pitchFamily="49" charset="0"/>
                <a:ea typeface="宋体" panose="02010600030101010101" pitchFamily="2" charset="-122"/>
              </a:defRPr>
            </a:lvl5pPr>
            <a:lvl6pPr marL="25146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6pPr>
            <a:lvl7pPr marL="29718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7pPr>
            <a:lvl8pPr marL="34290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8pPr>
            <a:lvl9pPr marL="38862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9pPr>
          </a:lstStyle>
          <a:p>
            <a:pPr eaLnBrk="1" hangingPunct="1">
              <a:lnSpc>
                <a:spcPct val="100000"/>
              </a:lnSpc>
              <a:spcBef>
                <a:spcPct val="50000"/>
              </a:spcBef>
            </a:pPr>
            <a:endParaRPr kumimoji="1" lang="zh-CN" altLang="en-US" sz="2400" b="0">
              <a:solidFill>
                <a:schemeClr val="tx1"/>
              </a:solidFill>
              <a:latin typeface="Tahoma" panose="020B0604030504040204" pitchFamily="34" charset="0"/>
            </a:endParaRPr>
          </a:p>
        </p:txBody>
      </p:sp>
      <p:sp>
        <p:nvSpPr>
          <p:cNvPr id="2" name="内容占位符 1"/>
          <p:cNvSpPr>
            <a:spLocks noGrp="1"/>
          </p:cNvSpPr>
          <p:nvPr>
            <p:ph idx="1"/>
          </p:nvPr>
        </p:nvSpPr>
        <p:spPr>
          <a:xfrm>
            <a:off x="485776" y="1985169"/>
            <a:ext cx="8458201" cy="4114800"/>
          </a:xfrm>
        </p:spPr>
        <p:txBody>
          <a:bodyPr/>
          <a:lstStyle/>
          <a:p>
            <a:pPr algn="just">
              <a:lnSpc>
                <a:spcPct val="120000"/>
              </a:lnSpc>
              <a:buFont typeface="Wingdings" panose="05000000000000000000" pitchFamily="2" charset="2"/>
              <a:buChar char="p"/>
            </a:pPr>
            <a:r>
              <a:rPr lang="zh-CN" altLang="en-US" dirty="0">
                <a:solidFill>
                  <a:srgbClr val="FF0000"/>
                </a:solidFill>
              </a:rPr>
              <a:t>问题：数组不利于动态维护元素随时间变化的表！</a:t>
            </a:r>
            <a:endParaRPr lang="en-US" altLang="zh-CN" dirty="0">
              <a:solidFill>
                <a:srgbClr val="FF0000"/>
              </a:solidFill>
            </a:endParaRPr>
          </a:p>
          <a:p>
            <a:pPr marL="0" indent="0" algn="just">
              <a:lnSpc>
                <a:spcPct val="120000"/>
              </a:lnSpc>
              <a:buNone/>
            </a:pPr>
            <a:r>
              <a:rPr lang="zh-CN" altLang="en-US" dirty="0"/>
              <a:t>例如：在稳定匹配算法中存储自由男人的表。</a:t>
            </a:r>
            <a:endParaRPr lang="en-US" altLang="zh-CN" dirty="0"/>
          </a:p>
          <a:p>
            <a:pPr algn="just">
              <a:lnSpc>
                <a:spcPct val="120000"/>
              </a:lnSpc>
              <a:buFont typeface="Wingdings" panose="05000000000000000000" pitchFamily="2" charset="2"/>
              <a:buChar char="p"/>
            </a:pPr>
            <a:r>
              <a:rPr lang="zh-CN" altLang="en-US" dirty="0"/>
              <a:t>解决办法：链表。</a:t>
            </a:r>
            <a:endParaRPr lang="en-US" altLang="zh-CN" dirty="0"/>
          </a:p>
          <a:p>
            <a:pPr marL="0" indent="0" algn="just">
              <a:lnSpc>
                <a:spcPct val="120000"/>
              </a:lnSpc>
              <a:buNone/>
            </a:pPr>
            <a:r>
              <a:rPr lang="zh-CN" altLang="en-US" dirty="0">
                <a:solidFill>
                  <a:srgbClr val="FF0000"/>
                </a:solidFill>
              </a:rPr>
              <a:t>通过每个元素指向下一个元素的指针将这些元素按顺序排到一起</a:t>
            </a:r>
            <a:r>
              <a:rPr lang="zh-CN" altLang="en-US" b="1" dirty="0">
                <a:solidFill>
                  <a:srgbClr val="FF0000"/>
                </a:solidFill>
              </a:rPr>
              <a:t>。</a:t>
            </a:r>
            <a:endParaRPr lang="en-US" altLang="zh-CN" b="1"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5"/>
          <p:cNvSpPr>
            <a:spLocks noGrp="1"/>
          </p:cNvSpPr>
          <p:nvPr>
            <p:ph type="sldNum" sz="quarter" idx="12"/>
          </p:nvPr>
        </p:nvSpPr>
        <p:spPr/>
        <p:txBody>
          <a:bodyPr/>
          <a:lstStyle/>
          <a:p>
            <a:pPr>
              <a:defRPr/>
            </a:pPr>
            <a:fld id="{81766E2F-7714-409E-A004-9AB9F6E2D7BE}" type="slidenum">
              <a:rPr lang="zh-CN" altLang="en-US"/>
            </a:fld>
            <a:endParaRPr lang="en-US" altLang="zh-CN"/>
          </a:p>
        </p:txBody>
      </p:sp>
      <p:sp>
        <p:nvSpPr>
          <p:cNvPr id="20483" name="Rectangle 2"/>
          <p:cNvSpPr>
            <a:spLocks noGrp="1" noChangeArrowheads="1"/>
          </p:cNvSpPr>
          <p:nvPr>
            <p:ph type="title"/>
          </p:nvPr>
        </p:nvSpPr>
        <p:spPr/>
        <p:txBody>
          <a:bodyPr/>
          <a:lstStyle/>
          <a:p>
            <a:pPr eaLnBrk="1" hangingPunct="1"/>
            <a:r>
              <a:rPr lang="zh-CN" altLang="en-US" dirty="0"/>
              <a:t>数据结构的选择</a:t>
            </a:r>
            <a:endParaRPr lang="zh-CN" altLang="en-US" dirty="0"/>
          </a:p>
        </p:txBody>
      </p:sp>
      <p:sp>
        <p:nvSpPr>
          <p:cNvPr id="20485" name="Text Box 4"/>
          <p:cNvSpPr txBox="1">
            <a:spLocks noChangeArrowheads="1"/>
          </p:cNvSpPr>
          <p:nvPr/>
        </p:nvSpPr>
        <p:spPr bwMode="auto">
          <a:xfrm>
            <a:off x="2971800" y="2667000"/>
            <a:ext cx="4495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0000"/>
              </a:lnSpc>
              <a:defRPr sz="1400" b="1">
                <a:solidFill>
                  <a:schemeClr val="bg2"/>
                </a:solidFill>
                <a:latin typeface="Courier New" panose="02070309020205020404" pitchFamily="49" charset="0"/>
                <a:ea typeface="宋体" panose="02010600030101010101" pitchFamily="2" charset="-122"/>
              </a:defRPr>
            </a:lvl1pPr>
            <a:lvl2pPr marL="742950" indent="-285750">
              <a:lnSpc>
                <a:spcPct val="110000"/>
              </a:lnSpc>
              <a:defRPr sz="1400" b="1">
                <a:solidFill>
                  <a:schemeClr val="bg2"/>
                </a:solidFill>
                <a:latin typeface="Courier New" panose="02070309020205020404" pitchFamily="49" charset="0"/>
                <a:ea typeface="宋体" panose="02010600030101010101" pitchFamily="2" charset="-122"/>
              </a:defRPr>
            </a:lvl2pPr>
            <a:lvl3pPr marL="1143000" indent="-228600">
              <a:lnSpc>
                <a:spcPct val="110000"/>
              </a:lnSpc>
              <a:defRPr sz="1400" b="1">
                <a:solidFill>
                  <a:schemeClr val="bg2"/>
                </a:solidFill>
                <a:latin typeface="Courier New" panose="02070309020205020404" pitchFamily="49" charset="0"/>
                <a:ea typeface="宋体" panose="02010600030101010101" pitchFamily="2" charset="-122"/>
              </a:defRPr>
            </a:lvl3pPr>
            <a:lvl4pPr marL="1600200" indent="-228600">
              <a:lnSpc>
                <a:spcPct val="110000"/>
              </a:lnSpc>
              <a:defRPr sz="1400" b="1">
                <a:solidFill>
                  <a:schemeClr val="bg2"/>
                </a:solidFill>
                <a:latin typeface="Courier New" panose="02070309020205020404" pitchFamily="49" charset="0"/>
                <a:ea typeface="宋体" panose="02010600030101010101" pitchFamily="2" charset="-122"/>
              </a:defRPr>
            </a:lvl4pPr>
            <a:lvl5pPr marL="2057400" indent="-228600">
              <a:lnSpc>
                <a:spcPct val="110000"/>
              </a:lnSpc>
              <a:defRPr sz="1400" b="1">
                <a:solidFill>
                  <a:schemeClr val="bg2"/>
                </a:solidFill>
                <a:latin typeface="Courier New" panose="02070309020205020404" pitchFamily="49" charset="0"/>
                <a:ea typeface="宋体" panose="02010600030101010101" pitchFamily="2" charset="-122"/>
              </a:defRPr>
            </a:lvl5pPr>
            <a:lvl6pPr marL="25146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6pPr>
            <a:lvl7pPr marL="29718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7pPr>
            <a:lvl8pPr marL="34290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8pPr>
            <a:lvl9pPr marL="38862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9pPr>
          </a:lstStyle>
          <a:p>
            <a:pPr eaLnBrk="1" hangingPunct="1">
              <a:lnSpc>
                <a:spcPct val="100000"/>
              </a:lnSpc>
              <a:spcBef>
                <a:spcPct val="50000"/>
              </a:spcBef>
            </a:pPr>
            <a:endParaRPr kumimoji="1" lang="zh-CN" altLang="en-US" sz="2400" b="0">
              <a:solidFill>
                <a:schemeClr val="tx1"/>
              </a:solidFill>
              <a:latin typeface="Tahoma" panose="020B0604030504040204" pitchFamily="34" charset="0"/>
            </a:endParaRPr>
          </a:p>
        </p:txBody>
      </p:sp>
      <p:sp>
        <p:nvSpPr>
          <p:cNvPr id="2" name="内容占位符 1"/>
          <p:cNvSpPr>
            <a:spLocks noGrp="1"/>
          </p:cNvSpPr>
          <p:nvPr>
            <p:ph idx="1"/>
          </p:nvPr>
        </p:nvSpPr>
        <p:spPr>
          <a:xfrm>
            <a:off x="485776" y="1985169"/>
            <a:ext cx="8458201" cy="4114800"/>
          </a:xfrm>
        </p:spPr>
        <p:txBody>
          <a:bodyPr/>
          <a:lstStyle/>
          <a:p>
            <a:pPr algn="just">
              <a:lnSpc>
                <a:spcPct val="110000"/>
              </a:lnSpc>
              <a:buFont typeface="Wingdings" panose="05000000000000000000" pitchFamily="2" charset="2"/>
              <a:buChar char="p"/>
            </a:pPr>
            <a:r>
              <a:rPr lang="zh-CN" altLang="en-US" dirty="0"/>
              <a:t>对这个表的每个元素</a:t>
            </a:r>
            <a:r>
              <a:rPr lang="en-US" altLang="zh-CN" dirty="0"/>
              <a:t>v,</a:t>
            </a:r>
            <a:r>
              <a:rPr lang="zh-CN" altLang="en-US" dirty="0"/>
              <a:t>我们需要维护一个指向下一个元素的指针</a:t>
            </a:r>
            <a:r>
              <a:rPr lang="en-US" altLang="zh-CN" dirty="0"/>
              <a:t>;</a:t>
            </a:r>
            <a:endParaRPr lang="en-US" altLang="zh-CN" dirty="0"/>
          </a:p>
          <a:p>
            <a:pPr algn="just">
              <a:lnSpc>
                <a:spcPct val="110000"/>
              </a:lnSpc>
              <a:buFont typeface="Wingdings" panose="05000000000000000000" pitchFamily="2" charset="2"/>
              <a:buChar char="p"/>
            </a:pPr>
            <a:r>
              <a:rPr lang="zh-CN" altLang="en-US" dirty="0"/>
              <a:t>如果</a:t>
            </a:r>
            <a:r>
              <a:rPr lang="en-US" altLang="zh-CN" dirty="0" err="1"/>
              <a:t>i</a:t>
            </a:r>
            <a:r>
              <a:rPr lang="zh-CN" altLang="en-US" dirty="0"/>
              <a:t>是最后的元素</a:t>
            </a:r>
            <a:r>
              <a:rPr lang="en-US" altLang="zh-CN" dirty="0"/>
              <a:t>,</a:t>
            </a:r>
            <a:r>
              <a:rPr lang="zh-CN" altLang="en-US" dirty="0"/>
              <a:t>我们将这个指针置零</a:t>
            </a:r>
            <a:r>
              <a:rPr lang="en-US" altLang="zh-CN" dirty="0"/>
              <a:t>(null);</a:t>
            </a:r>
            <a:endParaRPr lang="en-US" altLang="zh-CN" dirty="0"/>
          </a:p>
          <a:p>
            <a:pPr algn="just">
              <a:lnSpc>
                <a:spcPct val="110000"/>
              </a:lnSpc>
              <a:buFont typeface="Wingdings" panose="05000000000000000000" pitchFamily="2" charset="2"/>
              <a:buChar char="p"/>
            </a:pPr>
            <a:r>
              <a:rPr lang="zh-CN" altLang="en-US" dirty="0"/>
              <a:t>一个指向第一个元素的指针</a:t>
            </a:r>
            <a:r>
              <a:rPr lang="en-US" altLang="zh-CN" dirty="0"/>
              <a:t>First,</a:t>
            </a:r>
            <a:r>
              <a:rPr lang="zh-CN" altLang="en-US" dirty="0"/>
              <a:t>从</a:t>
            </a:r>
            <a:r>
              <a:rPr lang="en-US" altLang="zh-CN" dirty="0"/>
              <a:t>First</a:t>
            </a:r>
            <a:r>
              <a:rPr lang="zh-CN" altLang="en-US" dirty="0"/>
              <a:t>开始</a:t>
            </a:r>
            <a:r>
              <a:rPr lang="en-US" altLang="zh-CN" dirty="0"/>
              <a:t>,</a:t>
            </a:r>
            <a:r>
              <a:rPr lang="zh-CN" altLang="en-US" dirty="0"/>
              <a:t>不断跟随指针走到下一个元素直到</a:t>
            </a:r>
            <a:r>
              <a:rPr lang="en-US" altLang="zh-CN" dirty="0"/>
              <a:t>null;</a:t>
            </a:r>
            <a:endParaRPr lang="en-US" altLang="zh-CN" dirty="0"/>
          </a:p>
          <a:p>
            <a:pPr algn="just">
              <a:lnSpc>
                <a:spcPct val="110000"/>
              </a:lnSpc>
              <a:buFont typeface="Wingdings" panose="05000000000000000000" pitchFamily="2" charset="2"/>
              <a:buChar char="p"/>
            </a:pPr>
            <a:r>
              <a:rPr lang="zh-CN" altLang="en-US" dirty="0"/>
              <a:t>可以在与表的长度成正比的时间访问这个表的全部内容</a:t>
            </a:r>
            <a:r>
              <a:rPr lang="en-US" altLang="zh-CN" dirty="0"/>
              <a:t>.</a:t>
            </a:r>
            <a:endParaRPr lang="en-US" altLang="zh-CN"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5"/>
          <p:cNvSpPr>
            <a:spLocks noGrp="1"/>
          </p:cNvSpPr>
          <p:nvPr>
            <p:ph type="sldNum" sz="quarter" idx="12"/>
          </p:nvPr>
        </p:nvSpPr>
        <p:spPr/>
        <p:txBody>
          <a:bodyPr/>
          <a:lstStyle/>
          <a:p>
            <a:pPr>
              <a:defRPr/>
            </a:pPr>
            <a:fld id="{81766E2F-7714-409E-A004-9AB9F6E2D7BE}" type="slidenum">
              <a:rPr lang="zh-CN" altLang="en-US"/>
            </a:fld>
            <a:endParaRPr lang="en-US" altLang="zh-CN"/>
          </a:p>
        </p:txBody>
      </p:sp>
      <p:sp>
        <p:nvSpPr>
          <p:cNvPr id="20483" name="Rectangle 2"/>
          <p:cNvSpPr>
            <a:spLocks noGrp="1" noChangeArrowheads="1"/>
          </p:cNvSpPr>
          <p:nvPr>
            <p:ph type="title"/>
          </p:nvPr>
        </p:nvSpPr>
        <p:spPr/>
        <p:txBody>
          <a:bodyPr/>
          <a:lstStyle/>
          <a:p>
            <a:pPr eaLnBrk="1" hangingPunct="1"/>
            <a:r>
              <a:rPr lang="zh-CN" altLang="en-US" dirty="0"/>
              <a:t>数据结构的选择</a:t>
            </a:r>
            <a:endParaRPr lang="zh-CN" altLang="en-US" dirty="0"/>
          </a:p>
        </p:txBody>
      </p:sp>
      <p:sp>
        <p:nvSpPr>
          <p:cNvPr id="20485" name="Text Box 4"/>
          <p:cNvSpPr txBox="1">
            <a:spLocks noChangeArrowheads="1"/>
          </p:cNvSpPr>
          <p:nvPr/>
        </p:nvSpPr>
        <p:spPr bwMode="auto">
          <a:xfrm>
            <a:off x="2971800" y="2667000"/>
            <a:ext cx="4495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0000"/>
              </a:lnSpc>
              <a:defRPr sz="1400" b="1">
                <a:solidFill>
                  <a:schemeClr val="bg2"/>
                </a:solidFill>
                <a:latin typeface="Courier New" panose="02070309020205020404" pitchFamily="49" charset="0"/>
                <a:ea typeface="宋体" panose="02010600030101010101" pitchFamily="2" charset="-122"/>
              </a:defRPr>
            </a:lvl1pPr>
            <a:lvl2pPr marL="742950" indent="-285750">
              <a:lnSpc>
                <a:spcPct val="110000"/>
              </a:lnSpc>
              <a:defRPr sz="1400" b="1">
                <a:solidFill>
                  <a:schemeClr val="bg2"/>
                </a:solidFill>
                <a:latin typeface="Courier New" panose="02070309020205020404" pitchFamily="49" charset="0"/>
                <a:ea typeface="宋体" panose="02010600030101010101" pitchFamily="2" charset="-122"/>
              </a:defRPr>
            </a:lvl2pPr>
            <a:lvl3pPr marL="1143000" indent="-228600">
              <a:lnSpc>
                <a:spcPct val="110000"/>
              </a:lnSpc>
              <a:defRPr sz="1400" b="1">
                <a:solidFill>
                  <a:schemeClr val="bg2"/>
                </a:solidFill>
                <a:latin typeface="Courier New" panose="02070309020205020404" pitchFamily="49" charset="0"/>
                <a:ea typeface="宋体" panose="02010600030101010101" pitchFamily="2" charset="-122"/>
              </a:defRPr>
            </a:lvl3pPr>
            <a:lvl4pPr marL="1600200" indent="-228600">
              <a:lnSpc>
                <a:spcPct val="110000"/>
              </a:lnSpc>
              <a:defRPr sz="1400" b="1">
                <a:solidFill>
                  <a:schemeClr val="bg2"/>
                </a:solidFill>
                <a:latin typeface="Courier New" panose="02070309020205020404" pitchFamily="49" charset="0"/>
                <a:ea typeface="宋体" panose="02010600030101010101" pitchFamily="2" charset="-122"/>
              </a:defRPr>
            </a:lvl4pPr>
            <a:lvl5pPr marL="2057400" indent="-228600">
              <a:lnSpc>
                <a:spcPct val="110000"/>
              </a:lnSpc>
              <a:defRPr sz="1400" b="1">
                <a:solidFill>
                  <a:schemeClr val="bg2"/>
                </a:solidFill>
                <a:latin typeface="Courier New" panose="02070309020205020404" pitchFamily="49" charset="0"/>
                <a:ea typeface="宋体" panose="02010600030101010101" pitchFamily="2" charset="-122"/>
              </a:defRPr>
            </a:lvl5pPr>
            <a:lvl6pPr marL="25146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6pPr>
            <a:lvl7pPr marL="29718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7pPr>
            <a:lvl8pPr marL="34290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8pPr>
            <a:lvl9pPr marL="38862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9pPr>
          </a:lstStyle>
          <a:p>
            <a:pPr eaLnBrk="1" hangingPunct="1">
              <a:lnSpc>
                <a:spcPct val="100000"/>
              </a:lnSpc>
              <a:spcBef>
                <a:spcPct val="50000"/>
              </a:spcBef>
            </a:pPr>
            <a:endParaRPr kumimoji="1" lang="zh-CN" altLang="en-US" sz="2400" b="0">
              <a:solidFill>
                <a:schemeClr val="tx1"/>
              </a:solidFill>
              <a:latin typeface="Tahoma" panose="020B0604030504040204" pitchFamily="34" charset="0"/>
            </a:endParaRPr>
          </a:p>
        </p:txBody>
      </p:sp>
      <p:sp>
        <p:nvSpPr>
          <p:cNvPr id="2" name="内容占位符 1"/>
          <p:cNvSpPr>
            <a:spLocks noGrp="1"/>
          </p:cNvSpPr>
          <p:nvPr>
            <p:ph idx="1"/>
          </p:nvPr>
        </p:nvSpPr>
        <p:spPr>
          <a:xfrm>
            <a:off x="323528" y="1985169"/>
            <a:ext cx="8620449" cy="4114800"/>
          </a:xfrm>
        </p:spPr>
        <p:txBody>
          <a:bodyPr/>
          <a:lstStyle/>
          <a:p>
            <a:pPr algn="just">
              <a:lnSpc>
                <a:spcPct val="110000"/>
              </a:lnSpc>
              <a:buFont typeface="Wingdings" panose="05000000000000000000" pitchFamily="2" charset="2"/>
              <a:buChar char="p"/>
            </a:pPr>
            <a:r>
              <a:rPr lang="zh-CN" altLang="en-US" dirty="0"/>
              <a:t>当集合可能有哪些元素不能事前固定时</a:t>
            </a:r>
            <a:endParaRPr lang="en-US" altLang="zh-CN" dirty="0"/>
          </a:p>
          <a:p>
            <a:pPr algn="just">
              <a:lnSpc>
                <a:spcPct val="110000"/>
              </a:lnSpc>
              <a:buFont typeface="Wingdings" panose="05000000000000000000" pitchFamily="2" charset="2"/>
              <a:buChar char="p"/>
            </a:pPr>
            <a:r>
              <a:rPr lang="zh-CN" altLang="en-US" dirty="0"/>
              <a:t>对我们想放在表中的每个元素分配一个记录</a:t>
            </a:r>
            <a:r>
              <a:rPr lang="en-US" altLang="zh-CN" dirty="0"/>
              <a:t>e.</a:t>
            </a:r>
            <a:r>
              <a:rPr lang="zh-CN" altLang="en-US" dirty="0"/>
              <a:t> 包含字段</a:t>
            </a:r>
            <a:r>
              <a:rPr lang="en-US" altLang="zh-CN" dirty="0" err="1"/>
              <a:t>e.Val</a:t>
            </a:r>
            <a:r>
              <a:rPr lang="zh-CN" altLang="en-US" dirty="0"/>
              <a:t>与</a:t>
            </a:r>
            <a:r>
              <a:rPr lang="en-US" altLang="zh-CN" dirty="0" err="1"/>
              <a:t>e.Next</a:t>
            </a:r>
            <a:r>
              <a:rPr lang="en-US" altLang="zh-CN" dirty="0"/>
              <a:t>. </a:t>
            </a:r>
            <a:r>
              <a:rPr lang="en-US" altLang="zh-CN" dirty="0" err="1"/>
              <a:t>e.Val</a:t>
            </a:r>
            <a:r>
              <a:rPr lang="zh-CN" altLang="en-US" dirty="0"/>
              <a:t>包含元素的值</a:t>
            </a:r>
            <a:r>
              <a:rPr lang="en-US" altLang="zh-CN" dirty="0"/>
              <a:t>,</a:t>
            </a:r>
            <a:r>
              <a:rPr lang="en-US" altLang="zh-CN" dirty="0" err="1"/>
              <a:t>e.Next</a:t>
            </a:r>
            <a:r>
              <a:rPr lang="zh-CN" altLang="en-US" dirty="0"/>
              <a:t>包含一个指向表中下一个元素的指针</a:t>
            </a:r>
            <a:endParaRPr lang="en-US" altLang="zh-CN" dirty="0"/>
          </a:p>
          <a:p>
            <a:pPr algn="just">
              <a:lnSpc>
                <a:spcPct val="110000"/>
              </a:lnSpc>
              <a:buFont typeface="Wingdings" panose="05000000000000000000" pitchFamily="2" charset="2"/>
              <a:buChar char="p"/>
            </a:pPr>
            <a:r>
              <a:rPr lang="zh-CN" altLang="en-US" dirty="0"/>
              <a:t>创建一个双链表</a:t>
            </a:r>
            <a:r>
              <a:rPr lang="en-US" altLang="zh-CN" dirty="0"/>
              <a:t>,</a:t>
            </a:r>
            <a:r>
              <a:rPr lang="zh-CN" altLang="en-US" dirty="0"/>
              <a:t>通过再增加一个含有指向表中前一个元素指针的字段</a:t>
            </a:r>
            <a:r>
              <a:rPr lang="en-US" altLang="zh-CN" dirty="0" err="1"/>
              <a:t>e.Prev</a:t>
            </a:r>
            <a:r>
              <a:rPr lang="en-US" altLang="zh-CN" dirty="0"/>
              <a:t>,</a:t>
            </a:r>
            <a:r>
              <a:rPr lang="zh-CN" altLang="en-US" dirty="0"/>
              <a:t>从两个方向对表进行遍历</a:t>
            </a:r>
            <a:endParaRPr lang="en-US" altLang="zh-CN"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5"/>
          <p:cNvSpPr>
            <a:spLocks noGrp="1"/>
          </p:cNvSpPr>
          <p:nvPr>
            <p:ph type="sldNum" sz="quarter" idx="12"/>
          </p:nvPr>
        </p:nvSpPr>
        <p:spPr/>
        <p:txBody>
          <a:bodyPr/>
          <a:lstStyle/>
          <a:p>
            <a:pPr>
              <a:defRPr/>
            </a:pPr>
            <a:fld id="{81766E2F-7714-409E-A004-9AB9F6E2D7BE}" type="slidenum">
              <a:rPr lang="zh-CN" altLang="en-US"/>
            </a:fld>
            <a:endParaRPr lang="en-US" altLang="zh-CN"/>
          </a:p>
        </p:txBody>
      </p:sp>
      <p:sp>
        <p:nvSpPr>
          <p:cNvPr id="20483" name="Rectangle 2"/>
          <p:cNvSpPr>
            <a:spLocks noGrp="1" noChangeArrowheads="1"/>
          </p:cNvSpPr>
          <p:nvPr>
            <p:ph type="title"/>
          </p:nvPr>
        </p:nvSpPr>
        <p:spPr/>
        <p:txBody>
          <a:bodyPr/>
          <a:lstStyle/>
          <a:p>
            <a:pPr eaLnBrk="1" hangingPunct="1"/>
            <a:r>
              <a:rPr lang="zh-CN" altLang="en-US" dirty="0"/>
              <a:t>数据结构的选择</a:t>
            </a:r>
            <a:endParaRPr lang="zh-CN" altLang="en-US" dirty="0"/>
          </a:p>
        </p:txBody>
      </p:sp>
      <p:sp>
        <p:nvSpPr>
          <p:cNvPr id="20485" name="Text Box 4"/>
          <p:cNvSpPr txBox="1">
            <a:spLocks noChangeArrowheads="1"/>
          </p:cNvSpPr>
          <p:nvPr/>
        </p:nvSpPr>
        <p:spPr bwMode="auto">
          <a:xfrm>
            <a:off x="2971800" y="2667000"/>
            <a:ext cx="4495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0000"/>
              </a:lnSpc>
              <a:defRPr sz="1400" b="1">
                <a:solidFill>
                  <a:schemeClr val="bg2"/>
                </a:solidFill>
                <a:latin typeface="Courier New" panose="02070309020205020404" pitchFamily="49" charset="0"/>
                <a:ea typeface="宋体" panose="02010600030101010101" pitchFamily="2" charset="-122"/>
              </a:defRPr>
            </a:lvl1pPr>
            <a:lvl2pPr marL="742950" indent="-285750">
              <a:lnSpc>
                <a:spcPct val="110000"/>
              </a:lnSpc>
              <a:defRPr sz="1400" b="1">
                <a:solidFill>
                  <a:schemeClr val="bg2"/>
                </a:solidFill>
                <a:latin typeface="Courier New" panose="02070309020205020404" pitchFamily="49" charset="0"/>
                <a:ea typeface="宋体" panose="02010600030101010101" pitchFamily="2" charset="-122"/>
              </a:defRPr>
            </a:lvl2pPr>
            <a:lvl3pPr marL="1143000" indent="-228600">
              <a:lnSpc>
                <a:spcPct val="110000"/>
              </a:lnSpc>
              <a:defRPr sz="1400" b="1">
                <a:solidFill>
                  <a:schemeClr val="bg2"/>
                </a:solidFill>
                <a:latin typeface="Courier New" panose="02070309020205020404" pitchFamily="49" charset="0"/>
                <a:ea typeface="宋体" panose="02010600030101010101" pitchFamily="2" charset="-122"/>
              </a:defRPr>
            </a:lvl3pPr>
            <a:lvl4pPr marL="1600200" indent="-228600">
              <a:lnSpc>
                <a:spcPct val="110000"/>
              </a:lnSpc>
              <a:defRPr sz="1400" b="1">
                <a:solidFill>
                  <a:schemeClr val="bg2"/>
                </a:solidFill>
                <a:latin typeface="Courier New" panose="02070309020205020404" pitchFamily="49" charset="0"/>
                <a:ea typeface="宋体" panose="02010600030101010101" pitchFamily="2" charset="-122"/>
              </a:defRPr>
            </a:lvl4pPr>
            <a:lvl5pPr marL="2057400" indent="-228600">
              <a:lnSpc>
                <a:spcPct val="110000"/>
              </a:lnSpc>
              <a:defRPr sz="1400" b="1">
                <a:solidFill>
                  <a:schemeClr val="bg2"/>
                </a:solidFill>
                <a:latin typeface="Courier New" panose="02070309020205020404" pitchFamily="49" charset="0"/>
                <a:ea typeface="宋体" panose="02010600030101010101" pitchFamily="2" charset="-122"/>
              </a:defRPr>
            </a:lvl5pPr>
            <a:lvl6pPr marL="25146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6pPr>
            <a:lvl7pPr marL="29718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7pPr>
            <a:lvl8pPr marL="34290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8pPr>
            <a:lvl9pPr marL="38862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9pPr>
          </a:lstStyle>
          <a:p>
            <a:pPr eaLnBrk="1" hangingPunct="1">
              <a:lnSpc>
                <a:spcPct val="100000"/>
              </a:lnSpc>
              <a:spcBef>
                <a:spcPct val="50000"/>
              </a:spcBef>
            </a:pPr>
            <a:endParaRPr kumimoji="1" lang="zh-CN" altLang="en-US" sz="2400" b="0">
              <a:solidFill>
                <a:schemeClr val="tx1"/>
              </a:solidFill>
              <a:latin typeface="Tahoma" panose="020B0604030504040204" pitchFamily="34" charset="0"/>
            </a:endParaRPr>
          </a:p>
        </p:txBody>
      </p:sp>
      <p:pic>
        <p:nvPicPr>
          <p:cNvPr id="4" name="内容占位符 3"/>
          <p:cNvPicPr>
            <a:picLocks noGrp="1" noChangeAspect="1"/>
          </p:cNvPicPr>
          <p:nvPr>
            <p:ph idx="1"/>
          </p:nvPr>
        </p:nvPicPr>
        <p:blipFill>
          <a:blip r:embed="rId1"/>
          <a:stretch>
            <a:fillRect/>
          </a:stretch>
        </p:blipFill>
        <p:spPr>
          <a:xfrm>
            <a:off x="1150940" y="2052132"/>
            <a:ext cx="7266892" cy="4501068"/>
          </a:xfr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5"/>
          <p:cNvSpPr>
            <a:spLocks noGrp="1"/>
          </p:cNvSpPr>
          <p:nvPr>
            <p:ph type="sldNum" sz="quarter" idx="12"/>
          </p:nvPr>
        </p:nvSpPr>
        <p:spPr/>
        <p:txBody>
          <a:bodyPr/>
          <a:lstStyle/>
          <a:p>
            <a:pPr>
              <a:defRPr/>
            </a:pPr>
            <a:fld id="{81766E2F-7714-409E-A004-9AB9F6E2D7BE}" type="slidenum">
              <a:rPr lang="zh-CN" altLang="en-US"/>
            </a:fld>
            <a:endParaRPr lang="en-US" altLang="zh-CN"/>
          </a:p>
        </p:txBody>
      </p:sp>
      <p:sp>
        <p:nvSpPr>
          <p:cNvPr id="20483" name="Rectangle 2"/>
          <p:cNvSpPr>
            <a:spLocks noGrp="1" noChangeArrowheads="1"/>
          </p:cNvSpPr>
          <p:nvPr>
            <p:ph type="title"/>
          </p:nvPr>
        </p:nvSpPr>
        <p:spPr/>
        <p:txBody>
          <a:bodyPr/>
          <a:lstStyle/>
          <a:p>
            <a:pPr eaLnBrk="1" hangingPunct="1"/>
            <a:r>
              <a:rPr lang="zh-CN" altLang="en-US" dirty="0"/>
              <a:t>数据结构的选择</a:t>
            </a:r>
            <a:endParaRPr lang="zh-CN" altLang="en-US" dirty="0"/>
          </a:p>
        </p:txBody>
      </p:sp>
      <p:sp>
        <p:nvSpPr>
          <p:cNvPr id="20485" name="Text Box 4"/>
          <p:cNvSpPr txBox="1">
            <a:spLocks noChangeArrowheads="1"/>
          </p:cNvSpPr>
          <p:nvPr/>
        </p:nvSpPr>
        <p:spPr bwMode="auto">
          <a:xfrm>
            <a:off x="2971800" y="2667000"/>
            <a:ext cx="4495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0000"/>
              </a:lnSpc>
              <a:defRPr sz="1400" b="1">
                <a:solidFill>
                  <a:schemeClr val="bg2"/>
                </a:solidFill>
                <a:latin typeface="Courier New" panose="02070309020205020404" pitchFamily="49" charset="0"/>
                <a:ea typeface="宋体" panose="02010600030101010101" pitchFamily="2" charset="-122"/>
              </a:defRPr>
            </a:lvl1pPr>
            <a:lvl2pPr marL="742950" indent="-285750">
              <a:lnSpc>
                <a:spcPct val="110000"/>
              </a:lnSpc>
              <a:defRPr sz="1400" b="1">
                <a:solidFill>
                  <a:schemeClr val="bg2"/>
                </a:solidFill>
                <a:latin typeface="Courier New" panose="02070309020205020404" pitchFamily="49" charset="0"/>
                <a:ea typeface="宋体" panose="02010600030101010101" pitchFamily="2" charset="-122"/>
              </a:defRPr>
            </a:lvl2pPr>
            <a:lvl3pPr marL="1143000" indent="-228600">
              <a:lnSpc>
                <a:spcPct val="110000"/>
              </a:lnSpc>
              <a:defRPr sz="1400" b="1">
                <a:solidFill>
                  <a:schemeClr val="bg2"/>
                </a:solidFill>
                <a:latin typeface="Courier New" panose="02070309020205020404" pitchFamily="49" charset="0"/>
                <a:ea typeface="宋体" panose="02010600030101010101" pitchFamily="2" charset="-122"/>
              </a:defRPr>
            </a:lvl3pPr>
            <a:lvl4pPr marL="1600200" indent="-228600">
              <a:lnSpc>
                <a:spcPct val="110000"/>
              </a:lnSpc>
              <a:defRPr sz="1400" b="1">
                <a:solidFill>
                  <a:schemeClr val="bg2"/>
                </a:solidFill>
                <a:latin typeface="Courier New" panose="02070309020205020404" pitchFamily="49" charset="0"/>
                <a:ea typeface="宋体" panose="02010600030101010101" pitchFamily="2" charset="-122"/>
              </a:defRPr>
            </a:lvl4pPr>
            <a:lvl5pPr marL="2057400" indent="-228600">
              <a:lnSpc>
                <a:spcPct val="110000"/>
              </a:lnSpc>
              <a:defRPr sz="1400" b="1">
                <a:solidFill>
                  <a:schemeClr val="bg2"/>
                </a:solidFill>
                <a:latin typeface="Courier New" panose="02070309020205020404" pitchFamily="49" charset="0"/>
                <a:ea typeface="宋体" panose="02010600030101010101" pitchFamily="2" charset="-122"/>
              </a:defRPr>
            </a:lvl5pPr>
            <a:lvl6pPr marL="25146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6pPr>
            <a:lvl7pPr marL="29718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7pPr>
            <a:lvl8pPr marL="34290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8pPr>
            <a:lvl9pPr marL="38862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9pPr>
          </a:lstStyle>
          <a:p>
            <a:pPr eaLnBrk="1" hangingPunct="1">
              <a:lnSpc>
                <a:spcPct val="100000"/>
              </a:lnSpc>
              <a:spcBef>
                <a:spcPct val="50000"/>
              </a:spcBef>
            </a:pPr>
            <a:endParaRPr kumimoji="1" lang="zh-CN" altLang="en-US" sz="2400" b="0">
              <a:solidFill>
                <a:schemeClr val="tx1"/>
              </a:solidFill>
              <a:latin typeface="Tahoma" panose="020B0604030504040204" pitchFamily="34" charset="0"/>
            </a:endParaRPr>
          </a:p>
        </p:txBody>
      </p:sp>
      <p:sp>
        <p:nvSpPr>
          <p:cNvPr id="2" name="内容占位符 1"/>
          <p:cNvSpPr>
            <a:spLocks noGrp="1"/>
          </p:cNvSpPr>
          <p:nvPr>
            <p:ph idx="1"/>
          </p:nvPr>
        </p:nvSpPr>
        <p:spPr>
          <a:xfrm>
            <a:off x="323528" y="2017713"/>
            <a:ext cx="8631560" cy="4114800"/>
          </a:xfrm>
        </p:spPr>
        <p:txBody>
          <a:bodyPr/>
          <a:lstStyle/>
          <a:p>
            <a:pPr>
              <a:lnSpc>
                <a:spcPct val="110000"/>
              </a:lnSpc>
            </a:pPr>
            <a:r>
              <a:rPr lang="zh-CN" altLang="en-US" dirty="0"/>
              <a:t>删除</a:t>
            </a:r>
            <a:r>
              <a:rPr lang="en-US" altLang="zh-CN" dirty="0"/>
              <a:t>:</a:t>
            </a:r>
            <a:r>
              <a:rPr lang="zh-CN" altLang="en-US" dirty="0"/>
              <a:t>为了从一个双链表中删除元素</a:t>
            </a:r>
            <a:r>
              <a:rPr lang="en-US" altLang="zh-CN" dirty="0"/>
              <a:t>e,</a:t>
            </a:r>
            <a:r>
              <a:rPr lang="zh-CN" altLang="en-US" dirty="0"/>
              <a:t> 通过</a:t>
            </a:r>
            <a:r>
              <a:rPr lang="en-US" altLang="zh-CN" dirty="0" err="1"/>
              <a:t>e.Prev</a:t>
            </a:r>
            <a:r>
              <a:rPr lang="zh-CN" altLang="en-US" dirty="0"/>
              <a:t>的引用得到它的前一个元素</a:t>
            </a:r>
            <a:r>
              <a:rPr lang="en-US" altLang="zh-CN" dirty="0"/>
              <a:t>,</a:t>
            </a:r>
            <a:r>
              <a:rPr lang="zh-CN" altLang="en-US" dirty="0"/>
              <a:t>通过</a:t>
            </a:r>
            <a:r>
              <a:rPr lang="en-US" altLang="zh-CN" dirty="0" err="1"/>
              <a:t>e.Next</a:t>
            </a:r>
            <a:r>
              <a:rPr lang="zh-CN" altLang="en-US" dirty="0"/>
              <a:t>的引用得到后一个元素</a:t>
            </a:r>
            <a:r>
              <a:rPr lang="en-US" altLang="zh-CN" dirty="0"/>
              <a:t>,</a:t>
            </a:r>
            <a:r>
              <a:rPr lang="zh-CN" altLang="en-US" dirty="0"/>
              <a:t>将这两个元素相互直接指向对方而把</a:t>
            </a:r>
            <a:r>
              <a:rPr lang="en-US" altLang="zh-CN" dirty="0"/>
              <a:t>e</a:t>
            </a:r>
            <a:r>
              <a:rPr lang="zh-CN" altLang="en-US" dirty="0"/>
              <a:t>“拿掉”</a:t>
            </a:r>
            <a:r>
              <a:rPr lang="en-US" altLang="zh-CN" dirty="0"/>
              <a:t>.</a:t>
            </a:r>
            <a:endParaRPr lang="en-US" altLang="zh-CN" dirty="0"/>
          </a:p>
          <a:p>
            <a:pPr>
              <a:lnSpc>
                <a:spcPct val="110000"/>
              </a:lnSpc>
            </a:pPr>
            <a:r>
              <a:rPr lang="zh-CN" altLang="en-US" dirty="0"/>
              <a:t>插入</a:t>
            </a:r>
            <a:r>
              <a:rPr lang="en-US" altLang="zh-CN" dirty="0"/>
              <a:t>:</a:t>
            </a:r>
            <a:r>
              <a:rPr lang="zh-CN" altLang="en-US" dirty="0"/>
              <a:t>为了在表中的元素</a:t>
            </a:r>
            <a:r>
              <a:rPr lang="en-US" altLang="zh-CN" dirty="0"/>
              <a:t>d</a:t>
            </a:r>
            <a:r>
              <a:rPr lang="zh-CN" altLang="en-US" dirty="0"/>
              <a:t>和</a:t>
            </a:r>
            <a:r>
              <a:rPr lang="en-US" altLang="zh-CN" dirty="0"/>
              <a:t>f</a:t>
            </a:r>
            <a:r>
              <a:rPr lang="zh-CN" altLang="en-US" dirty="0"/>
              <a:t>之间插入元素</a:t>
            </a:r>
            <a:r>
              <a:rPr lang="en-US" altLang="zh-CN" dirty="0"/>
              <a:t>e,</a:t>
            </a:r>
            <a:r>
              <a:rPr lang="zh-CN" altLang="en-US" dirty="0"/>
              <a:t> 通过把</a:t>
            </a:r>
            <a:r>
              <a:rPr lang="en-US" altLang="zh-CN" dirty="0" err="1"/>
              <a:t>d.Next</a:t>
            </a:r>
            <a:r>
              <a:rPr lang="zh-CN" altLang="en-US" dirty="0"/>
              <a:t>和</a:t>
            </a:r>
            <a:r>
              <a:rPr lang="en-US" altLang="zh-CN" dirty="0" err="1"/>
              <a:t>f.Prev</a:t>
            </a:r>
            <a:r>
              <a:rPr lang="zh-CN" altLang="en-US" dirty="0"/>
              <a:t>都修改指向</a:t>
            </a:r>
            <a:r>
              <a:rPr lang="en-US" altLang="zh-CN" dirty="0"/>
              <a:t>e,</a:t>
            </a:r>
            <a:r>
              <a:rPr lang="zh-CN" altLang="en-US" dirty="0"/>
              <a:t>并且</a:t>
            </a:r>
            <a:r>
              <a:rPr lang="en-US" altLang="zh-CN" dirty="0"/>
              <a:t>e</a:t>
            </a:r>
            <a:r>
              <a:rPr lang="zh-CN" altLang="en-US" dirty="0"/>
              <a:t>的</a:t>
            </a:r>
            <a:r>
              <a:rPr lang="en-US" altLang="zh-CN" dirty="0"/>
              <a:t>Prev</a:t>
            </a:r>
            <a:r>
              <a:rPr lang="zh-CN" altLang="en-US" dirty="0"/>
              <a:t>和</a:t>
            </a:r>
            <a:r>
              <a:rPr lang="en-US" altLang="zh-CN" dirty="0"/>
              <a:t>Next</a:t>
            </a:r>
            <a:r>
              <a:rPr lang="zh-CN" altLang="en-US" dirty="0"/>
              <a:t>指针分别指向</a:t>
            </a:r>
            <a:r>
              <a:rPr lang="en-US" altLang="zh-CN" dirty="0"/>
              <a:t>d</a:t>
            </a:r>
            <a:r>
              <a:rPr lang="zh-CN" altLang="en-US" dirty="0"/>
              <a:t>和</a:t>
            </a:r>
            <a:r>
              <a:rPr lang="en-US" altLang="zh-CN" dirty="0"/>
              <a:t>f</a:t>
            </a:r>
            <a:r>
              <a:rPr lang="zh-CN" altLang="en-US" dirty="0"/>
              <a:t>来把</a:t>
            </a:r>
            <a:r>
              <a:rPr lang="en-US" altLang="zh-CN" dirty="0"/>
              <a:t>e</a:t>
            </a:r>
            <a:r>
              <a:rPr lang="zh-CN" altLang="en-US" dirty="0"/>
              <a:t>“接入”</a:t>
            </a:r>
            <a:r>
              <a:rPr lang="en-US" altLang="zh-CN" dirty="0"/>
              <a:t>.</a:t>
            </a:r>
            <a:endParaRPr lang="zh-CN" alt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5"/>
          <p:cNvSpPr>
            <a:spLocks noGrp="1"/>
          </p:cNvSpPr>
          <p:nvPr>
            <p:ph type="sldNum" sz="quarter" idx="12"/>
          </p:nvPr>
        </p:nvSpPr>
        <p:spPr/>
        <p:txBody>
          <a:bodyPr/>
          <a:lstStyle/>
          <a:p>
            <a:pPr>
              <a:defRPr/>
            </a:pPr>
            <a:fld id="{81766E2F-7714-409E-A004-9AB9F6E2D7BE}" type="slidenum">
              <a:rPr lang="zh-CN" altLang="en-US"/>
            </a:fld>
            <a:endParaRPr lang="en-US" altLang="zh-CN"/>
          </a:p>
        </p:txBody>
      </p:sp>
      <p:sp>
        <p:nvSpPr>
          <p:cNvPr id="20483" name="Rectangle 2"/>
          <p:cNvSpPr>
            <a:spLocks noGrp="1" noChangeArrowheads="1"/>
          </p:cNvSpPr>
          <p:nvPr>
            <p:ph type="title"/>
          </p:nvPr>
        </p:nvSpPr>
        <p:spPr/>
        <p:txBody>
          <a:bodyPr/>
          <a:lstStyle/>
          <a:p>
            <a:pPr eaLnBrk="1" hangingPunct="1"/>
            <a:r>
              <a:rPr lang="zh-CN" altLang="en-US" dirty="0"/>
              <a:t>稳定匹配算法的实现</a:t>
            </a:r>
            <a:endParaRPr lang="zh-CN" altLang="en-US" dirty="0"/>
          </a:p>
        </p:txBody>
      </p:sp>
      <p:sp>
        <p:nvSpPr>
          <p:cNvPr id="20485" name="Text Box 4"/>
          <p:cNvSpPr txBox="1">
            <a:spLocks noChangeArrowheads="1"/>
          </p:cNvSpPr>
          <p:nvPr/>
        </p:nvSpPr>
        <p:spPr bwMode="auto">
          <a:xfrm>
            <a:off x="2971800" y="2667000"/>
            <a:ext cx="4495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0000"/>
              </a:lnSpc>
              <a:defRPr sz="1400" b="1">
                <a:solidFill>
                  <a:schemeClr val="bg2"/>
                </a:solidFill>
                <a:latin typeface="Courier New" panose="02070309020205020404" pitchFamily="49" charset="0"/>
                <a:ea typeface="宋体" panose="02010600030101010101" pitchFamily="2" charset="-122"/>
              </a:defRPr>
            </a:lvl1pPr>
            <a:lvl2pPr marL="742950" indent="-285750">
              <a:lnSpc>
                <a:spcPct val="110000"/>
              </a:lnSpc>
              <a:defRPr sz="1400" b="1">
                <a:solidFill>
                  <a:schemeClr val="bg2"/>
                </a:solidFill>
                <a:latin typeface="Courier New" panose="02070309020205020404" pitchFamily="49" charset="0"/>
                <a:ea typeface="宋体" panose="02010600030101010101" pitchFamily="2" charset="-122"/>
              </a:defRPr>
            </a:lvl2pPr>
            <a:lvl3pPr marL="1143000" indent="-228600">
              <a:lnSpc>
                <a:spcPct val="110000"/>
              </a:lnSpc>
              <a:defRPr sz="1400" b="1">
                <a:solidFill>
                  <a:schemeClr val="bg2"/>
                </a:solidFill>
                <a:latin typeface="Courier New" panose="02070309020205020404" pitchFamily="49" charset="0"/>
                <a:ea typeface="宋体" panose="02010600030101010101" pitchFamily="2" charset="-122"/>
              </a:defRPr>
            </a:lvl3pPr>
            <a:lvl4pPr marL="1600200" indent="-228600">
              <a:lnSpc>
                <a:spcPct val="110000"/>
              </a:lnSpc>
              <a:defRPr sz="1400" b="1">
                <a:solidFill>
                  <a:schemeClr val="bg2"/>
                </a:solidFill>
                <a:latin typeface="Courier New" panose="02070309020205020404" pitchFamily="49" charset="0"/>
                <a:ea typeface="宋体" panose="02010600030101010101" pitchFamily="2" charset="-122"/>
              </a:defRPr>
            </a:lvl4pPr>
            <a:lvl5pPr marL="2057400" indent="-228600">
              <a:lnSpc>
                <a:spcPct val="110000"/>
              </a:lnSpc>
              <a:defRPr sz="1400" b="1">
                <a:solidFill>
                  <a:schemeClr val="bg2"/>
                </a:solidFill>
                <a:latin typeface="Courier New" panose="02070309020205020404" pitchFamily="49" charset="0"/>
                <a:ea typeface="宋体" panose="02010600030101010101" pitchFamily="2" charset="-122"/>
              </a:defRPr>
            </a:lvl5pPr>
            <a:lvl6pPr marL="25146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6pPr>
            <a:lvl7pPr marL="29718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7pPr>
            <a:lvl8pPr marL="34290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8pPr>
            <a:lvl9pPr marL="38862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9pPr>
          </a:lstStyle>
          <a:p>
            <a:pPr eaLnBrk="1" hangingPunct="1">
              <a:lnSpc>
                <a:spcPct val="100000"/>
              </a:lnSpc>
              <a:spcBef>
                <a:spcPct val="50000"/>
              </a:spcBef>
            </a:pPr>
            <a:endParaRPr kumimoji="1" lang="zh-CN" altLang="en-US" sz="2400" b="0">
              <a:solidFill>
                <a:schemeClr val="tx1"/>
              </a:solidFill>
              <a:latin typeface="Tahoma" panose="020B0604030504040204" pitchFamily="34" charset="0"/>
            </a:endParaRPr>
          </a:p>
        </p:txBody>
      </p:sp>
      <p:sp>
        <p:nvSpPr>
          <p:cNvPr id="2" name="内容占位符 1"/>
          <p:cNvSpPr>
            <a:spLocks noGrp="1"/>
          </p:cNvSpPr>
          <p:nvPr>
            <p:ph idx="1"/>
          </p:nvPr>
        </p:nvSpPr>
        <p:spPr>
          <a:xfrm>
            <a:off x="436954" y="2096128"/>
            <a:ext cx="8677472" cy="4114800"/>
          </a:xfrm>
        </p:spPr>
        <p:txBody>
          <a:bodyPr/>
          <a:lstStyle/>
          <a:p>
            <a:pPr>
              <a:lnSpc>
                <a:spcPct val="110000"/>
              </a:lnSpc>
            </a:pPr>
            <a:r>
              <a:rPr lang="zh-CN" altLang="en-US" sz="3000" dirty="0"/>
              <a:t>两个数组</a:t>
            </a:r>
            <a:r>
              <a:rPr lang="en-US" altLang="zh-CN" sz="3000" dirty="0"/>
              <a:t>,</a:t>
            </a:r>
            <a:r>
              <a:rPr lang="zh-CN" altLang="en-US" sz="3000" dirty="0">
                <a:solidFill>
                  <a:srgbClr val="FF0000"/>
                </a:solidFill>
              </a:rPr>
              <a:t>一个是关于女人的优先表</a:t>
            </a:r>
            <a:r>
              <a:rPr lang="en-US" altLang="zh-CN" sz="3000" dirty="0">
                <a:solidFill>
                  <a:srgbClr val="FF0000"/>
                </a:solidFill>
              </a:rPr>
              <a:t>,</a:t>
            </a:r>
            <a:r>
              <a:rPr lang="zh-CN" altLang="en-US" sz="3000" dirty="0">
                <a:solidFill>
                  <a:srgbClr val="FF0000"/>
                </a:solidFill>
              </a:rPr>
              <a:t>一个是关于男人的优先表</a:t>
            </a:r>
            <a:r>
              <a:rPr lang="en-US" altLang="zh-CN" sz="3000" dirty="0"/>
              <a:t>;</a:t>
            </a:r>
            <a:endParaRPr lang="en-US" altLang="zh-CN" sz="3000" dirty="0"/>
          </a:p>
          <a:p>
            <a:pPr>
              <a:lnSpc>
                <a:spcPct val="110000"/>
              </a:lnSpc>
            </a:pPr>
            <a:r>
              <a:rPr lang="zh-CN" altLang="en-US" sz="3000" dirty="0"/>
              <a:t>使用</a:t>
            </a:r>
            <a:r>
              <a:rPr lang="en-US" altLang="zh-CN" sz="3000" dirty="0" err="1"/>
              <a:t>ManPref</a:t>
            </a:r>
            <a:r>
              <a:rPr lang="en-US" altLang="zh-CN" sz="3000" dirty="0"/>
              <a:t>[</a:t>
            </a:r>
            <a:r>
              <a:rPr lang="en-US" altLang="zh-CN" sz="3000" dirty="0" err="1"/>
              <a:t>m,i</a:t>
            </a:r>
            <a:r>
              <a:rPr lang="en-US" altLang="zh-CN" sz="3000" dirty="0"/>
              <a:t>]</a:t>
            </a:r>
            <a:r>
              <a:rPr lang="zh-CN" altLang="en-US" sz="3000" dirty="0"/>
              <a:t>表示在男人</a:t>
            </a:r>
            <a:r>
              <a:rPr lang="en-US" altLang="zh-CN" sz="3000" dirty="0"/>
              <a:t>m</a:t>
            </a:r>
            <a:r>
              <a:rPr lang="zh-CN" altLang="en-US" sz="3000" dirty="0"/>
              <a:t>的优先表上的第</a:t>
            </a:r>
            <a:r>
              <a:rPr lang="en-US" altLang="zh-CN" sz="3000" dirty="0"/>
              <a:t>i</a:t>
            </a:r>
            <a:r>
              <a:rPr lang="zh-CN" altLang="en-US" sz="3000" dirty="0"/>
              <a:t>个女人</a:t>
            </a:r>
            <a:r>
              <a:rPr lang="en-US" altLang="zh-CN" sz="3000" dirty="0"/>
              <a:t>;</a:t>
            </a:r>
            <a:endParaRPr lang="en-US" altLang="zh-CN" sz="3000" dirty="0"/>
          </a:p>
          <a:p>
            <a:pPr>
              <a:lnSpc>
                <a:spcPct val="110000"/>
              </a:lnSpc>
            </a:pPr>
            <a:r>
              <a:rPr lang="en-US" altLang="zh-CN" sz="3000" dirty="0" err="1"/>
              <a:t>WomenPref</a:t>
            </a:r>
            <a:r>
              <a:rPr lang="en-US" altLang="zh-CN" sz="3000" dirty="0"/>
              <a:t>[</a:t>
            </a:r>
            <a:r>
              <a:rPr lang="en-US" altLang="zh-CN" sz="3000" dirty="0" err="1"/>
              <a:t>w,i</a:t>
            </a:r>
            <a:r>
              <a:rPr lang="en-US" altLang="zh-CN" sz="3000" dirty="0"/>
              <a:t>]</a:t>
            </a:r>
            <a:r>
              <a:rPr lang="zh-CN" altLang="en-US" sz="3000" dirty="0"/>
              <a:t>表示在女人</a:t>
            </a:r>
            <a:r>
              <a:rPr lang="en-US" altLang="zh-CN" sz="3000" dirty="0"/>
              <a:t>w</a:t>
            </a:r>
            <a:r>
              <a:rPr lang="zh-CN" altLang="en-US" sz="3000" dirty="0"/>
              <a:t>的优先表上的第</a:t>
            </a:r>
            <a:r>
              <a:rPr lang="en-US" altLang="zh-CN" sz="3000" dirty="0" err="1"/>
              <a:t>i</a:t>
            </a:r>
            <a:r>
              <a:rPr lang="zh-CN" altLang="en-US" sz="3000" dirty="0"/>
              <a:t>个男人</a:t>
            </a:r>
            <a:r>
              <a:rPr lang="en-US" altLang="zh-CN" sz="3000" dirty="0"/>
              <a:t>.</a:t>
            </a:r>
            <a:endParaRPr lang="en-US" altLang="zh-CN" sz="3000" dirty="0"/>
          </a:p>
          <a:p>
            <a:pPr>
              <a:lnSpc>
                <a:spcPct val="110000"/>
              </a:lnSpc>
            </a:pPr>
            <a:r>
              <a:rPr lang="zh-CN" altLang="en-US" sz="3000" dirty="0"/>
              <a:t>对所有</a:t>
            </a:r>
            <a:r>
              <a:rPr lang="en-US" altLang="zh-CN" sz="3000" dirty="0"/>
              <a:t>2n</a:t>
            </a:r>
            <a:r>
              <a:rPr lang="zh-CN" altLang="en-US" sz="3000" dirty="0"/>
              <a:t>个人给出优先表需要的空间量是</a:t>
            </a:r>
            <a:r>
              <a:rPr lang="en-US" altLang="zh-CN" sz="3000" dirty="0"/>
              <a:t>O(n)</a:t>
            </a:r>
            <a:endParaRPr lang="zh-CN" altLang="en-US" sz="3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5"/>
          <p:cNvSpPr>
            <a:spLocks noGrp="1"/>
          </p:cNvSpPr>
          <p:nvPr>
            <p:ph type="sldNum" sz="quarter" idx="12"/>
          </p:nvPr>
        </p:nvSpPr>
        <p:spPr/>
        <p:txBody>
          <a:bodyPr/>
          <a:lstStyle/>
          <a:p>
            <a:pPr>
              <a:defRPr/>
            </a:pPr>
            <a:fld id="{81766E2F-7714-409E-A004-9AB9F6E2D7BE}" type="slidenum">
              <a:rPr lang="zh-CN" altLang="en-US"/>
            </a:fld>
            <a:endParaRPr lang="en-US" altLang="zh-CN"/>
          </a:p>
        </p:txBody>
      </p:sp>
      <p:sp>
        <p:nvSpPr>
          <p:cNvPr id="20483" name="Rectangle 2"/>
          <p:cNvSpPr>
            <a:spLocks noGrp="1" noChangeArrowheads="1"/>
          </p:cNvSpPr>
          <p:nvPr>
            <p:ph type="title"/>
          </p:nvPr>
        </p:nvSpPr>
        <p:spPr/>
        <p:txBody>
          <a:bodyPr/>
          <a:lstStyle/>
          <a:p>
            <a:pPr eaLnBrk="1" hangingPunct="1"/>
            <a:r>
              <a:rPr lang="zh-CN" altLang="en-US" dirty="0"/>
              <a:t>稳定匹配算法的实现</a:t>
            </a:r>
            <a:endParaRPr lang="zh-CN" altLang="en-US" dirty="0"/>
          </a:p>
        </p:txBody>
      </p:sp>
      <p:sp>
        <p:nvSpPr>
          <p:cNvPr id="20485" name="Text Box 4"/>
          <p:cNvSpPr txBox="1">
            <a:spLocks noChangeArrowheads="1"/>
          </p:cNvSpPr>
          <p:nvPr/>
        </p:nvSpPr>
        <p:spPr bwMode="auto">
          <a:xfrm>
            <a:off x="2971800" y="2667000"/>
            <a:ext cx="4495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0000"/>
              </a:lnSpc>
              <a:defRPr sz="1400" b="1">
                <a:solidFill>
                  <a:schemeClr val="bg2"/>
                </a:solidFill>
                <a:latin typeface="Courier New" panose="02070309020205020404" pitchFamily="49" charset="0"/>
                <a:ea typeface="宋体" panose="02010600030101010101" pitchFamily="2" charset="-122"/>
              </a:defRPr>
            </a:lvl1pPr>
            <a:lvl2pPr marL="742950" indent="-285750">
              <a:lnSpc>
                <a:spcPct val="110000"/>
              </a:lnSpc>
              <a:defRPr sz="1400" b="1">
                <a:solidFill>
                  <a:schemeClr val="bg2"/>
                </a:solidFill>
                <a:latin typeface="Courier New" panose="02070309020205020404" pitchFamily="49" charset="0"/>
                <a:ea typeface="宋体" panose="02010600030101010101" pitchFamily="2" charset="-122"/>
              </a:defRPr>
            </a:lvl2pPr>
            <a:lvl3pPr marL="1143000" indent="-228600">
              <a:lnSpc>
                <a:spcPct val="110000"/>
              </a:lnSpc>
              <a:defRPr sz="1400" b="1">
                <a:solidFill>
                  <a:schemeClr val="bg2"/>
                </a:solidFill>
                <a:latin typeface="Courier New" panose="02070309020205020404" pitchFamily="49" charset="0"/>
                <a:ea typeface="宋体" panose="02010600030101010101" pitchFamily="2" charset="-122"/>
              </a:defRPr>
            </a:lvl3pPr>
            <a:lvl4pPr marL="1600200" indent="-228600">
              <a:lnSpc>
                <a:spcPct val="110000"/>
              </a:lnSpc>
              <a:defRPr sz="1400" b="1">
                <a:solidFill>
                  <a:schemeClr val="bg2"/>
                </a:solidFill>
                <a:latin typeface="Courier New" panose="02070309020205020404" pitchFamily="49" charset="0"/>
                <a:ea typeface="宋体" panose="02010600030101010101" pitchFamily="2" charset="-122"/>
              </a:defRPr>
            </a:lvl4pPr>
            <a:lvl5pPr marL="2057400" indent="-228600">
              <a:lnSpc>
                <a:spcPct val="110000"/>
              </a:lnSpc>
              <a:defRPr sz="1400" b="1">
                <a:solidFill>
                  <a:schemeClr val="bg2"/>
                </a:solidFill>
                <a:latin typeface="Courier New" panose="02070309020205020404" pitchFamily="49" charset="0"/>
                <a:ea typeface="宋体" panose="02010600030101010101" pitchFamily="2" charset="-122"/>
              </a:defRPr>
            </a:lvl5pPr>
            <a:lvl6pPr marL="25146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6pPr>
            <a:lvl7pPr marL="29718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7pPr>
            <a:lvl8pPr marL="34290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8pPr>
            <a:lvl9pPr marL="38862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9pPr>
          </a:lstStyle>
          <a:p>
            <a:pPr eaLnBrk="1" hangingPunct="1">
              <a:lnSpc>
                <a:spcPct val="100000"/>
              </a:lnSpc>
              <a:spcBef>
                <a:spcPct val="50000"/>
              </a:spcBef>
            </a:pPr>
            <a:endParaRPr kumimoji="1" lang="zh-CN" altLang="en-US" sz="2400" b="0">
              <a:solidFill>
                <a:schemeClr val="tx1"/>
              </a:solidFill>
              <a:latin typeface="Tahoma" panose="020B0604030504040204" pitchFamily="34" charset="0"/>
            </a:endParaRPr>
          </a:p>
        </p:txBody>
      </p:sp>
      <p:sp>
        <p:nvSpPr>
          <p:cNvPr id="2" name="内容占位符 1"/>
          <p:cNvSpPr>
            <a:spLocks noGrp="1"/>
          </p:cNvSpPr>
          <p:nvPr>
            <p:ph idx="1"/>
          </p:nvPr>
        </p:nvSpPr>
        <p:spPr>
          <a:xfrm>
            <a:off x="323528" y="2017713"/>
            <a:ext cx="8631560" cy="4114800"/>
          </a:xfrm>
        </p:spPr>
        <p:txBody>
          <a:bodyPr/>
          <a:lstStyle/>
          <a:p>
            <a:pPr>
              <a:lnSpc>
                <a:spcPct val="110000"/>
              </a:lnSpc>
            </a:pPr>
            <a:r>
              <a:rPr lang="zh-CN" altLang="en-US" sz="2900" dirty="0"/>
              <a:t>在常数时间内做到下面四件事</a:t>
            </a:r>
            <a:endParaRPr lang="en-US" altLang="zh-CN" sz="2900" dirty="0"/>
          </a:p>
          <a:p>
            <a:pPr marL="0" indent="0">
              <a:lnSpc>
                <a:spcPct val="110000"/>
              </a:lnSpc>
              <a:buNone/>
            </a:pPr>
            <a:r>
              <a:rPr lang="en-US" altLang="zh-CN" sz="2900" dirty="0"/>
              <a:t> 1.</a:t>
            </a:r>
            <a:r>
              <a:rPr lang="zh-CN" altLang="en-US" sz="2900" dirty="0"/>
              <a:t>我们要能挑出一个自由的人</a:t>
            </a:r>
            <a:r>
              <a:rPr lang="en-US" altLang="zh-CN" sz="2900" dirty="0"/>
              <a:t>.</a:t>
            </a:r>
            <a:endParaRPr lang="en-US" altLang="zh-CN" sz="2900" dirty="0"/>
          </a:p>
          <a:p>
            <a:pPr marL="0" indent="0">
              <a:lnSpc>
                <a:spcPct val="110000"/>
              </a:lnSpc>
              <a:buNone/>
            </a:pPr>
            <a:r>
              <a:rPr lang="en-US" altLang="zh-CN" sz="2900" dirty="0"/>
              <a:t> 2.</a:t>
            </a:r>
            <a:r>
              <a:rPr lang="zh-CN" altLang="en-US" sz="2900" dirty="0"/>
              <a:t>对一个男人</a:t>
            </a:r>
            <a:r>
              <a:rPr lang="en-US" altLang="zh-CN" sz="2900" dirty="0"/>
              <a:t>m,</a:t>
            </a:r>
            <a:r>
              <a:rPr lang="zh-CN" altLang="en-US" sz="2900" dirty="0"/>
              <a:t>我们要能够挑出他还没有求过婚的最高排名的女人</a:t>
            </a:r>
            <a:r>
              <a:rPr lang="en-US" altLang="zh-CN" sz="2900" dirty="0"/>
              <a:t>.</a:t>
            </a:r>
            <a:endParaRPr lang="en-US" altLang="zh-CN" sz="2900" dirty="0"/>
          </a:p>
          <a:p>
            <a:pPr marL="0" indent="0">
              <a:lnSpc>
                <a:spcPct val="110000"/>
              </a:lnSpc>
              <a:buNone/>
            </a:pPr>
            <a:r>
              <a:rPr lang="en-US" altLang="zh-CN" sz="2900" dirty="0"/>
              <a:t> 3.</a:t>
            </a:r>
            <a:r>
              <a:rPr lang="zh-CN" altLang="en-US" sz="2900" dirty="0"/>
              <a:t>对一个女人</a:t>
            </a:r>
            <a:r>
              <a:rPr lang="en-US" altLang="zh-CN" sz="2900" dirty="0"/>
              <a:t>w,</a:t>
            </a:r>
            <a:r>
              <a:rPr lang="zh-CN" altLang="en-US" sz="2900" dirty="0"/>
              <a:t>我们要确定</a:t>
            </a:r>
            <a:r>
              <a:rPr lang="en-US" altLang="zh-CN" sz="2900" dirty="0"/>
              <a:t>w</a:t>
            </a:r>
            <a:r>
              <a:rPr lang="zh-CN" altLang="en-US" sz="2900" dirty="0"/>
              <a:t>当前是否有约会</a:t>
            </a:r>
            <a:r>
              <a:rPr lang="en-US" altLang="zh-CN" sz="2900" dirty="0"/>
              <a:t>,</a:t>
            </a:r>
            <a:r>
              <a:rPr lang="zh-CN" altLang="en-US" sz="2900" dirty="0"/>
              <a:t>如果是</a:t>
            </a:r>
            <a:r>
              <a:rPr lang="en-US" altLang="zh-CN" sz="2900" dirty="0"/>
              <a:t>,</a:t>
            </a:r>
            <a:r>
              <a:rPr lang="zh-CN" altLang="en-US" sz="2900" dirty="0"/>
              <a:t>我们要挑出她当前的伴侣</a:t>
            </a:r>
            <a:r>
              <a:rPr lang="en-US" altLang="zh-CN" sz="2900" dirty="0"/>
              <a:t>.</a:t>
            </a:r>
            <a:endParaRPr lang="en-US" altLang="zh-CN" sz="2900" dirty="0"/>
          </a:p>
          <a:p>
            <a:pPr marL="0" indent="0">
              <a:lnSpc>
                <a:spcPct val="110000"/>
              </a:lnSpc>
              <a:buNone/>
            </a:pPr>
            <a:r>
              <a:rPr lang="en-US" altLang="zh-CN" sz="2900" dirty="0"/>
              <a:t>4.</a:t>
            </a:r>
            <a:r>
              <a:rPr lang="zh-CN" altLang="en-US" sz="2900" dirty="0"/>
              <a:t>对一个女人</a:t>
            </a:r>
            <a:r>
              <a:rPr lang="en-US" altLang="zh-CN" sz="2900" dirty="0"/>
              <a:t>w</a:t>
            </a:r>
            <a:r>
              <a:rPr lang="zh-CN" altLang="en-US" sz="2900" dirty="0"/>
              <a:t>和两个男人</a:t>
            </a:r>
            <a:r>
              <a:rPr lang="en-US" altLang="zh-CN" sz="2900" dirty="0"/>
              <a:t>m</a:t>
            </a:r>
            <a:r>
              <a:rPr lang="zh-CN" altLang="en-US" sz="2900" dirty="0"/>
              <a:t>与</a:t>
            </a:r>
            <a:r>
              <a:rPr lang="en-US" altLang="zh-CN" sz="2900" dirty="0"/>
              <a:t>m',</a:t>
            </a:r>
            <a:r>
              <a:rPr lang="zh-CN" altLang="en-US" sz="2900" dirty="0"/>
              <a:t>我们要能够再次在常数时间内确定</a:t>
            </a:r>
            <a:r>
              <a:rPr lang="en-US" altLang="zh-CN" sz="2900" dirty="0"/>
              <a:t>,m</a:t>
            </a:r>
            <a:r>
              <a:rPr lang="zh-CN" altLang="en-US" sz="2900" dirty="0"/>
              <a:t>和</a:t>
            </a:r>
            <a:r>
              <a:rPr lang="en-US" altLang="zh-CN" sz="2900" dirty="0"/>
              <a:t>m</a:t>
            </a:r>
            <a:r>
              <a:rPr lang="zh-CN" altLang="en-US" sz="2900" dirty="0"/>
              <a:t>中的哪一个更被</a:t>
            </a:r>
            <a:r>
              <a:rPr lang="en-US" altLang="zh-CN" sz="2900" dirty="0"/>
              <a:t>w</a:t>
            </a:r>
            <a:r>
              <a:rPr lang="zh-CN" altLang="en-US" sz="2900" dirty="0"/>
              <a:t>所偏爱</a:t>
            </a:r>
            <a:r>
              <a:rPr lang="en-US" altLang="zh-CN" sz="2900" dirty="0"/>
              <a:t>,</a:t>
            </a:r>
            <a:endParaRPr lang="zh-CN" altLang="en-US" sz="2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5"/>
          <p:cNvSpPr>
            <a:spLocks noGrp="1"/>
          </p:cNvSpPr>
          <p:nvPr>
            <p:ph type="sldNum" sz="quarter" idx="12"/>
          </p:nvPr>
        </p:nvSpPr>
        <p:spPr/>
        <p:txBody>
          <a:bodyPr/>
          <a:lstStyle/>
          <a:p>
            <a:pPr>
              <a:defRPr/>
            </a:pPr>
            <a:fld id="{81766E2F-7714-409E-A004-9AB9F6E2D7BE}" type="slidenum">
              <a:rPr lang="zh-CN" altLang="en-US"/>
            </a:fld>
            <a:endParaRPr lang="en-US" altLang="zh-CN"/>
          </a:p>
        </p:txBody>
      </p:sp>
      <p:sp>
        <p:nvSpPr>
          <p:cNvPr id="20483" name="Rectangle 2"/>
          <p:cNvSpPr>
            <a:spLocks noGrp="1" noChangeArrowheads="1"/>
          </p:cNvSpPr>
          <p:nvPr>
            <p:ph type="title"/>
          </p:nvPr>
        </p:nvSpPr>
        <p:spPr/>
        <p:txBody>
          <a:bodyPr/>
          <a:lstStyle/>
          <a:p>
            <a:pPr eaLnBrk="1" hangingPunct="1"/>
            <a:r>
              <a:rPr lang="zh-CN" altLang="en-US" dirty="0"/>
              <a:t>稳定匹配算法的实现</a:t>
            </a:r>
            <a:endParaRPr lang="zh-CN" altLang="en-US" dirty="0"/>
          </a:p>
        </p:txBody>
      </p:sp>
      <p:sp>
        <p:nvSpPr>
          <p:cNvPr id="20485" name="Text Box 4"/>
          <p:cNvSpPr txBox="1">
            <a:spLocks noChangeArrowheads="1"/>
          </p:cNvSpPr>
          <p:nvPr/>
        </p:nvSpPr>
        <p:spPr bwMode="auto">
          <a:xfrm>
            <a:off x="2971800" y="2667000"/>
            <a:ext cx="4495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0000"/>
              </a:lnSpc>
              <a:defRPr sz="1400" b="1">
                <a:solidFill>
                  <a:schemeClr val="bg2"/>
                </a:solidFill>
                <a:latin typeface="Courier New" panose="02070309020205020404" pitchFamily="49" charset="0"/>
                <a:ea typeface="宋体" panose="02010600030101010101" pitchFamily="2" charset="-122"/>
              </a:defRPr>
            </a:lvl1pPr>
            <a:lvl2pPr marL="742950" indent="-285750">
              <a:lnSpc>
                <a:spcPct val="110000"/>
              </a:lnSpc>
              <a:defRPr sz="1400" b="1">
                <a:solidFill>
                  <a:schemeClr val="bg2"/>
                </a:solidFill>
                <a:latin typeface="Courier New" panose="02070309020205020404" pitchFamily="49" charset="0"/>
                <a:ea typeface="宋体" panose="02010600030101010101" pitchFamily="2" charset="-122"/>
              </a:defRPr>
            </a:lvl2pPr>
            <a:lvl3pPr marL="1143000" indent="-228600">
              <a:lnSpc>
                <a:spcPct val="110000"/>
              </a:lnSpc>
              <a:defRPr sz="1400" b="1">
                <a:solidFill>
                  <a:schemeClr val="bg2"/>
                </a:solidFill>
                <a:latin typeface="Courier New" panose="02070309020205020404" pitchFamily="49" charset="0"/>
                <a:ea typeface="宋体" panose="02010600030101010101" pitchFamily="2" charset="-122"/>
              </a:defRPr>
            </a:lvl3pPr>
            <a:lvl4pPr marL="1600200" indent="-228600">
              <a:lnSpc>
                <a:spcPct val="110000"/>
              </a:lnSpc>
              <a:defRPr sz="1400" b="1">
                <a:solidFill>
                  <a:schemeClr val="bg2"/>
                </a:solidFill>
                <a:latin typeface="Courier New" panose="02070309020205020404" pitchFamily="49" charset="0"/>
                <a:ea typeface="宋体" panose="02010600030101010101" pitchFamily="2" charset="-122"/>
              </a:defRPr>
            </a:lvl4pPr>
            <a:lvl5pPr marL="2057400" indent="-228600">
              <a:lnSpc>
                <a:spcPct val="110000"/>
              </a:lnSpc>
              <a:defRPr sz="1400" b="1">
                <a:solidFill>
                  <a:schemeClr val="bg2"/>
                </a:solidFill>
                <a:latin typeface="Courier New" panose="02070309020205020404" pitchFamily="49" charset="0"/>
                <a:ea typeface="宋体" panose="02010600030101010101" pitchFamily="2" charset="-122"/>
              </a:defRPr>
            </a:lvl5pPr>
            <a:lvl6pPr marL="25146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6pPr>
            <a:lvl7pPr marL="29718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7pPr>
            <a:lvl8pPr marL="34290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8pPr>
            <a:lvl9pPr marL="38862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9pPr>
          </a:lstStyle>
          <a:p>
            <a:pPr eaLnBrk="1" hangingPunct="1">
              <a:lnSpc>
                <a:spcPct val="100000"/>
              </a:lnSpc>
              <a:spcBef>
                <a:spcPct val="50000"/>
              </a:spcBef>
            </a:pPr>
            <a:endParaRPr kumimoji="1" lang="zh-CN" altLang="en-US" sz="2400" b="0">
              <a:solidFill>
                <a:schemeClr val="tx1"/>
              </a:solidFill>
              <a:latin typeface="Tahoma" panose="020B0604030504040204" pitchFamily="34" charset="0"/>
            </a:endParaRPr>
          </a:p>
        </p:txBody>
      </p:sp>
      <p:sp>
        <p:nvSpPr>
          <p:cNvPr id="2" name="内容占位符 1"/>
          <p:cNvSpPr>
            <a:spLocks noGrp="1"/>
          </p:cNvSpPr>
          <p:nvPr>
            <p:ph idx="1"/>
          </p:nvPr>
        </p:nvSpPr>
        <p:spPr>
          <a:xfrm>
            <a:off x="323528" y="2017713"/>
            <a:ext cx="8631560" cy="4114800"/>
          </a:xfrm>
        </p:spPr>
        <p:txBody>
          <a:bodyPr/>
          <a:lstStyle/>
          <a:p>
            <a:pPr>
              <a:lnSpc>
                <a:spcPct val="110000"/>
              </a:lnSpc>
            </a:pPr>
            <a:r>
              <a:rPr lang="zh-CN" altLang="en-US" dirty="0"/>
              <a:t>首先</a:t>
            </a:r>
            <a:r>
              <a:rPr lang="en-US" altLang="zh-CN" dirty="0"/>
              <a:t>,</a:t>
            </a:r>
            <a:r>
              <a:rPr lang="zh-CN" altLang="en-US" dirty="0"/>
              <a:t>考虑选择一个自由的男人：</a:t>
            </a:r>
            <a:endParaRPr lang="en-US" altLang="zh-CN" dirty="0"/>
          </a:p>
          <a:p>
            <a:pPr>
              <a:lnSpc>
                <a:spcPct val="110000"/>
              </a:lnSpc>
            </a:pPr>
            <a:r>
              <a:rPr lang="zh-CN" altLang="en-US" dirty="0"/>
              <a:t>通过把</a:t>
            </a:r>
            <a:r>
              <a:rPr lang="zh-CN" altLang="en-US" dirty="0">
                <a:solidFill>
                  <a:srgbClr val="FF0000"/>
                </a:solidFill>
              </a:rPr>
              <a:t>自由男人的集合</a:t>
            </a:r>
            <a:r>
              <a:rPr lang="zh-CN" altLang="en-US" dirty="0"/>
              <a:t>作为</a:t>
            </a:r>
            <a:r>
              <a:rPr lang="zh-CN" altLang="en-US" dirty="0">
                <a:solidFill>
                  <a:srgbClr val="FF0000"/>
                </a:solidFill>
              </a:rPr>
              <a:t>链表</a:t>
            </a:r>
            <a:r>
              <a:rPr lang="zh-CN" altLang="en-US" dirty="0"/>
              <a:t>维护</a:t>
            </a:r>
            <a:endParaRPr lang="en-US" altLang="zh-CN" dirty="0"/>
          </a:p>
          <a:p>
            <a:pPr>
              <a:lnSpc>
                <a:spcPct val="110000"/>
              </a:lnSpc>
            </a:pPr>
            <a:r>
              <a:rPr lang="zh-CN" altLang="en-US" dirty="0"/>
              <a:t>当需要选择一个自由男人时</a:t>
            </a:r>
            <a:r>
              <a:rPr lang="en-US" altLang="zh-CN" dirty="0"/>
              <a:t>,</a:t>
            </a:r>
            <a:r>
              <a:rPr lang="zh-CN" altLang="en-US" dirty="0"/>
              <a:t>我们取在这个表中的第一个男人</a:t>
            </a:r>
            <a:r>
              <a:rPr lang="en-US" altLang="zh-CN" dirty="0"/>
              <a:t>….</a:t>
            </a:r>
            <a:r>
              <a:rPr lang="zh-CN" altLang="en-US" dirty="0"/>
              <a:t>如果他变成约会状态</a:t>
            </a:r>
            <a:r>
              <a:rPr lang="en-US" altLang="zh-CN" dirty="0"/>
              <a:t>,</a:t>
            </a:r>
            <a:r>
              <a:rPr lang="zh-CN" altLang="en-US" dirty="0"/>
              <a:t>我们就从这个表中删除</a:t>
            </a:r>
            <a:r>
              <a:rPr lang="en-US" altLang="zh-CN" dirty="0"/>
              <a:t>m;</a:t>
            </a:r>
            <a:r>
              <a:rPr lang="zh-CN" altLang="en-US" dirty="0"/>
              <a:t>如果男人</a:t>
            </a:r>
            <a:r>
              <a:rPr lang="en-US" altLang="zh-CN" dirty="0"/>
              <a:t>m</a:t>
            </a:r>
            <a:r>
              <a:rPr lang="zh-CN" altLang="en-US" dirty="0"/>
              <a:t>变成自由的</a:t>
            </a:r>
            <a:r>
              <a:rPr lang="en-US" altLang="zh-CN" dirty="0"/>
              <a:t>,</a:t>
            </a:r>
            <a:r>
              <a:rPr lang="zh-CN" altLang="en-US" dirty="0"/>
              <a:t> 以常数时间插入这个表</a:t>
            </a:r>
            <a:r>
              <a:rPr lang="en-US" altLang="zh-CN" dirty="0"/>
              <a:t>.</a:t>
            </a:r>
            <a:endParaRPr lang="zh-CN" alt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5"/>
          <p:cNvSpPr>
            <a:spLocks noGrp="1"/>
          </p:cNvSpPr>
          <p:nvPr>
            <p:ph type="sldNum" sz="quarter" idx="12"/>
          </p:nvPr>
        </p:nvSpPr>
        <p:spPr/>
        <p:txBody>
          <a:bodyPr/>
          <a:lstStyle/>
          <a:p>
            <a:pPr>
              <a:defRPr/>
            </a:pPr>
            <a:fld id="{81766E2F-7714-409E-A004-9AB9F6E2D7BE}" type="slidenum">
              <a:rPr lang="zh-CN" altLang="en-US"/>
            </a:fld>
            <a:endParaRPr lang="en-US" altLang="zh-CN"/>
          </a:p>
        </p:txBody>
      </p:sp>
      <p:sp>
        <p:nvSpPr>
          <p:cNvPr id="20483" name="Rectangle 2"/>
          <p:cNvSpPr>
            <a:spLocks noGrp="1" noChangeArrowheads="1"/>
          </p:cNvSpPr>
          <p:nvPr>
            <p:ph type="title"/>
          </p:nvPr>
        </p:nvSpPr>
        <p:spPr/>
        <p:txBody>
          <a:bodyPr/>
          <a:lstStyle/>
          <a:p>
            <a:pPr eaLnBrk="1" hangingPunct="1"/>
            <a:r>
              <a:rPr lang="zh-CN" altLang="en-US" dirty="0"/>
              <a:t>稳定匹配算法的实现</a:t>
            </a:r>
            <a:endParaRPr lang="zh-CN" altLang="en-US" dirty="0"/>
          </a:p>
        </p:txBody>
      </p:sp>
      <p:sp>
        <p:nvSpPr>
          <p:cNvPr id="20485" name="Text Box 4"/>
          <p:cNvSpPr txBox="1">
            <a:spLocks noChangeArrowheads="1"/>
          </p:cNvSpPr>
          <p:nvPr/>
        </p:nvSpPr>
        <p:spPr bwMode="auto">
          <a:xfrm>
            <a:off x="2971800" y="2667000"/>
            <a:ext cx="4495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0000"/>
              </a:lnSpc>
              <a:defRPr sz="1400" b="1">
                <a:solidFill>
                  <a:schemeClr val="bg2"/>
                </a:solidFill>
                <a:latin typeface="Courier New" panose="02070309020205020404" pitchFamily="49" charset="0"/>
                <a:ea typeface="宋体" panose="02010600030101010101" pitchFamily="2" charset="-122"/>
              </a:defRPr>
            </a:lvl1pPr>
            <a:lvl2pPr marL="742950" indent="-285750">
              <a:lnSpc>
                <a:spcPct val="110000"/>
              </a:lnSpc>
              <a:defRPr sz="1400" b="1">
                <a:solidFill>
                  <a:schemeClr val="bg2"/>
                </a:solidFill>
                <a:latin typeface="Courier New" panose="02070309020205020404" pitchFamily="49" charset="0"/>
                <a:ea typeface="宋体" panose="02010600030101010101" pitchFamily="2" charset="-122"/>
              </a:defRPr>
            </a:lvl2pPr>
            <a:lvl3pPr marL="1143000" indent="-228600">
              <a:lnSpc>
                <a:spcPct val="110000"/>
              </a:lnSpc>
              <a:defRPr sz="1400" b="1">
                <a:solidFill>
                  <a:schemeClr val="bg2"/>
                </a:solidFill>
                <a:latin typeface="Courier New" panose="02070309020205020404" pitchFamily="49" charset="0"/>
                <a:ea typeface="宋体" panose="02010600030101010101" pitchFamily="2" charset="-122"/>
              </a:defRPr>
            </a:lvl3pPr>
            <a:lvl4pPr marL="1600200" indent="-228600">
              <a:lnSpc>
                <a:spcPct val="110000"/>
              </a:lnSpc>
              <a:defRPr sz="1400" b="1">
                <a:solidFill>
                  <a:schemeClr val="bg2"/>
                </a:solidFill>
                <a:latin typeface="Courier New" panose="02070309020205020404" pitchFamily="49" charset="0"/>
                <a:ea typeface="宋体" panose="02010600030101010101" pitchFamily="2" charset="-122"/>
              </a:defRPr>
            </a:lvl4pPr>
            <a:lvl5pPr marL="2057400" indent="-228600">
              <a:lnSpc>
                <a:spcPct val="110000"/>
              </a:lnSpc>
              <a:defRPr sz="1400" b="1">
                <a:solidFill>
                  <a:schemeClr val="bg2"/>
                </a:solidFill>
                <a:latin typeface="Courier New" panose="02070309020205020404" pitchFamily="49" charset="0"/>
                <a:ea typeface="宋体" panose="02010600030101010101" pitchFamily="2" charset="-122"/>
              </a:defRPr>
            </a:lvl5pPr>
            <a:lvl6pPr marL="25146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6pPr>
            <a:lvl7pPr marL="29718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7pPr>
            <a:lvl8pPr marL="34290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8pPr>
            <a:lvl9pPr marL="38862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9pPr>
          </a:lstStyle>
          <a:p>
            <a:pPr eaLnBrk="1" hangingPunct="1">
              <a:lnSpc>
                <a:spcPct val="100000"/>
              </a:lnSpc>
              <a:spcBef>
                <a:spcPct val="50000"/>
              </a:spcBef>
            </a:pPr>
            <a:endParaRPr kumimoji="1" lang="zh-CN" altLang="en-US" sz="2400" b="0">
              <a:solidFill>
                <a:schemeClr val="tx1"/>
              </a:solidFill>
              <a:latin typeface="Tahoma" panose="020B0604030504040204" pitchFamily="34" charset="0"/>
            </a:endParaRPr>
          </a:p>
        </p:txBody>
      </p:sp>
      <p:sp>
        <p:nvSpPr>
          <p:cNvPr id="2" name="内容占位符 1"/>
          <p:cNvSpPr>
            <a:spLocks noGrp="1"/>
          </p:cNvSpPr>
          <p:nvPr>
            <p:ph idx="1"/>
          </p:nvPr>
        </p:nvSpPr>
        <p:spPr>
          <a:xfrm>
            <a:off x="323528" y="2017713"/>
            <a:ext cx="8631560" cy="4114800"/>
          </a:xfrm>
        </p:spPr>
        <p:txBody>
          <a:bodyPr/>
          <a:lstStyle/>
          <a:p>
            <a:pPr>
              <a:lnSpc>
                <a:spcPct val="110000"/>
              </a:lnSpc>
            </a:pPr>
            <a:r>
              <a:rPr lang="zh-CN" altLang="en-US" dirty="0"/>
              <a:t>挑出</a:t>
            </a:r>
            <a:r>
              <a:rPr lang="en-US" altLang="zh-CN" dirty="0"/>
              <a:t>m</a:t>
            </a:r>
            <a:r>
              <a:rPr lang="zh-CN" altLang="en-US" dirty="0"/>
              <a:t>还没有求过婚的最高排名的女人</a:t>
            </a:r>
            <a:r>
              <a:rPr lang="en-US" altLang="zh-CN" dirty="0"/>
              <a:t>.</a:t>
            </a:r>
            <a:endParaRPr lang="en-US" altLang="zh-CN" dirty="0"/>
          </a:p>
          <a:p>
            <a:pPr>
              <a:lnSpc>
                <a:spcPct val="110000"/>
              </a:lnSpc>
            </a:pPr>
            <a:r>
              <a:rPr lang="zh-CN" altLang="en-US" dirty="0"/>
              <a:t>需要维护另一个数组</a:t>
            </a:r>
            <a:r>
              <a:rPr lang="en-US" altLang="zh-CN" dirty="0">
                <a:solidFill>
                  <a:srgbClr val="FF0000"/>
                </a:solidFill>
              </a:rPr>
              <a:t>Next</a:t>
            </a:r>
            <a:r>
              <a:rPr lang="en-US" altLang="zh-CN" dirty="0"/>
              <a:t>,</a:t>
            </a:r>
            <a:r>
              <a:rPr lang="zh-CN" altLang="en-US" dirty="0"/>
              <a:t>它为</a:t>
            </a:r>
            <a:r>
              <a:rPr lang="zh-CN" altLang="en-US" dirty="0">
                <a:solidFill>
                  <a:srgbClr val="FF0000"/>
                </a:solidFill>
              </a:rPr>
              <a:t>每个男人</a:t>
            </a:r>
            <a:r>
              <a:rPr lang="en-US" altLang="zh-CN" dirty="0">
                <a:solidFill>
                  <a:srgbClr val="FF0000"/>
                </a:solidFill>
              </a:rPr>
              <a:t>m</a:t>
            </a:r>
            <a:r>
              <a:rPr lang="zh-CN" altLang="en-US" dirty="0">
                <a:solidFill>
                  <a:srgbClr val="FF0000"/>
                </a:solidFill>
              </a:rPr>
              <a:t>指出在他的表中下一个要求婚的女人位置</a:t>
            </a:r>
            <a:r>
              <a:rPr lang="en-US" altLang="zh-CN" dirty="0"/>
              <a:t>.</a:t>
            </a:r>
            <a:endParaRPr lang="en-US" altLang="zh-CN" dirty="0"/>
          </a:p>
          <a:p>
            <a:pPr>
              <a:lnSpc>
                <a:spcPct val="110000"/>
              </a:lnSpc>
            </a:pPr>
            <a:r>
              <a:rPr lang="zh-CN" altLang="en-US" dirty="0"/>
              <a:t>对所有的男人 </a:t>
            </a:r>
            <a:r>
              <a:rPr lang="en-US" altLang="zh-CN" dirty="0"/>
              <a:t>m,</a:t>
            </a:r>
            <a:r>
              <a:rPr lang="zh-CN" altLang="en-US" dirty="0"/>
              <a:t>我们初始置 </a:t>
            </a:r>
            <a:r>
              <a:rPr lang="en-US" altLang="zh-CN" dirty="0"/>
              <a:t>Next[m]=1.</a:t>
            </a:r>
            <a:r>
              <a:rPr lang="zh-CN" altLang="en-US" dirty="0"/>
              <a:t>如果一个男人</a:t>
            </a:r>
            <a:r>
              <a:rPr lang="en-US" altLang="zh-CN" dirty="0"/>
              <a:t>m</a:t>
            </a:r>
            <a:r>
              <a:rPr lang="zh-CN" altLang="en-US" dirty="0"/>
              <a:t>需要向一个女人求婚</a:t>
            </a:r>
            <a:r>
              <a:rPr lang="en-US" altLang="zh-CN" dirty="0"/>
              <a:t>,</a:t>
            </a:r>
            <a:r>
              <a:rPr lang="zh-CN" altLang="en-US" dirty="0"/>
              <a:t>他将向</a:t>
            </a:r>
            <a:r>
              <a:rPr lang="en-US" altLang="zh-CN" dirty="0"/>
              <a:t>w=</a:t>
            </a:r>
            <a:r>
              <a:rPr lang="en-US" altLang="zh-CN" dirty="0" err="1"/>
              <a:t>ManPref</a:t>
            </a:r>
            <a:r>
              <a:rPr lang="en-US" altLang="zh-CN" dirty="0"/>
              <a:t>[</a:t>
            </a:r>
            <a:r>
              <a:rPr lang="en-US" altLang="zh-CN" dirty="0" err="1"/>
              <a:t>m,Next</a:t>
            </a:r>
            <a:r>
              <a:rPr lang="en-US" altLang="zh-CN" dirty="0"/>
              <a:t>[m]]</a:t>
            </a:r>
            <a:r>
              <a:rPr lang="zh-CN" altLang="en-US" dirty="0"/>
              <a:t>求婚</a:t>
            </a:r>
            <a:r>
              <a:rPr lang="en-US" altLang="zh-CN" dirty="0"/>
              <a:t>,</a:t>
            </a:r>
            <a:r>
              <a:rPr lang="zh-CN" altLang="en-US" dirty="0"/>
              <a:t>并且一旦他向</a:t>
            </a:r>
            <a:r>
              <a:rPr lang="en-US" altLang="zh-CN" dirty="0"/>
              <a:t>w</a:t>
            </a:r>
            <a:r>
              <a:rPr lang="zh-CN" altLang="en-US" dirty="0"/>
              <a:t>求婚了</a:t>
            </a:r>
            <a:r>
              <a:rPr lang="en-US" altLang="zh-CN" dirty="0"/>
              <a:t>,</a:t>
            </a:r>
            <a:r>
              <a:rPr lang="zh-CN" altLang="en-US" dirty="0"/>
              <a:t>我们就把 </a:t>
            </a:r>
            <a:r>
              <a:rPr lang="en-US" altLang="zh-CN" dirty="0"/>
              <a:t>Next[m]</a:t>
            </a:r>
            <a:r>
              <a:rPr lang="zh-CN" altLang="en-US" dirty="0"/>
              <a:t>的值加</a:t>
            </a:r>
            <a:r>
              <a:rPr lang="en-US" altLang="zh-CN" dirty="0"/>
              <a:t>1,</a:t>
            </a:r>
            <a:r>
              <a:rPr lang="zh-CN" altLang="en-US" dirty="0"/>
              <a:t>不管</a:t>
            </a:r>
            <a:r>
              <a:rPr lang="en-US" altLang="zh-CN" dirty="0"/>
              <a:t>w</a:t>
            </a:r>
            <a:r>
              <a:rPr lang="zh-CN" altLang="en-US" dirty="0"/>
              <a:t>是否接受了他的求婚</a:t>
            </a:r>
            <a:r>
              <a:rPr lang="en-US" altLang="zh-CN" dirty="0"/>
              <a:t>.</a:t>
            </a:r>
            <a:endParaRPr lang="zh-CN" alt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5"/>
          <p:cNvSpPr>
            <a:spLocks noGrp="1"/>
          </p:cNvSpPr>
          <p:nvPr>
            <p:ph type="sldNum" sz="quarter" idx="12"/>
          </p:nvPr>
        </p:nvSpPr>
        <p:spPr/>
        <p:txBody>
          <a:bodyPr/>
          <a:lstStyle/>
          <a:p>
            <a:pPr>
              <a:defRPr/>
            </a:pPr>
            <a:fld id="{81766E2F-7714-409E-A004-9AB9F6E2D7BE}" type="slidenum">
              <a:rPr lang="zh-CN" altLang="en-US"/>
            </a:fld>
            <a:endParaRPr lang="en-US" altLang="zh-CN"/>
          </a:p>
        </p:txBody>
      </p:sp>
      <p:sp>
        <p:nvSpPr>
          <p:cNvPr id="20483" name="Rectangle 2"/>
          <p:cNvSpPr>
            <a:spLocks noGrp="1" noChangeArrowheads="1"/>
          </p:cNvSpPr>
          <p:nvPr>
            <p:ph type="title"/>
          </p:nvPr>
        </p:nvSpPr>
        <p:spPr/>
        <p:txBody>
          <a:bodyPr/>
          <a:lstStyle/>
          <a:p>
            <a:pPr eaLnBrk="1" hangingPunct="1"/>
            <a:r>
              <a:rPr lang="zh-CN" altLang="en-US" dirty="0"/>
              <a:t>稳定匹配算法的实现</a:t>
            </a:r>
            <a:endParaRPr lang="zh-CN" altLang="en-US" dirty="0"/>
          </a:p>
        </p:txBody>
      </p:sp>
      <p:sp>
        <p:nvSpPr>
          <p:cNvPr id="20485" name="Text Box 4"/>
          <p:cNvSpPr txBox="1">
            <a:spLocks noChangeArrowheads="1"/>
          </p:cNvSpPr>
          <p:nvPr/>
        </p:nvSpPr>
        <p:spPr bwMode="auto">
          <a:xfrm>
            <a:off x="2971800" y="2667000"/>
            <a:ext cx="4495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0000"/>
              </a:lnSpc>
              <a:defRPr sz="1400" b="1">
                <a:solidFill>
                  <a:schemeClr val="bg2"/>
                </a:solidFill>
                <a:latin typeface="Courier New" panose="02070309020205020404" pitchFamily="49" charset="0"/>
                <a:ea typeface="宋体" panose="02010600030101010101" pitchFamily="2" charset="-122"/>
              </a:defRPr>
            </a:lvl1pPr>
            <a:lvl2pPr marL="742950" indent="-285750">
              <a:lnSpc>
                <a:spcPct val="110000"/>
              </a:lnSpc>
              <a:defRPr sz="1400" b="1">
                <a:solidFill>
                  <a:schemeClr val="bg2"/>
                </a:solidFill>
                <a:latin typeface="Courier New" panose="02070309020205020404" pitchFamily="49" charset="0"/>
                <a:ea typeface="宋体" panose="02010600030101010101" pitchFamily="2" charset="-122"/>
              </a:defRPr>
            </a:lvl2pPr>
            <a:lvl3pPr marL="1143000" indent="-228600">
              <a:lnSpc>
                <a:spcPct val="110000"/>
              </a:lnSpc>
              <a:defRPr sz="1400" b="1">
                <a:solidFill>
                  <a:schemeClr val="bg2"/>
                </a:solidFill>
                <a:latin typeface="Courier New" panose="02070309020205020404" pitchFamily="49" charset="0"/>
                <a:ea typeface="宋体" panose="02010600030101010101" pitchFamily="2" charset="-122"/>
              </a:defRPr>
            </a:lvl3pPr>
            <a:lvl4pPr marL="1600200" indent="-228600">
              <a:lnSpc>
                <a:spcPct val="110000"/>
              </a:lnSpc>
              <a:defRPr sz="1400" b="1">
                <a:solidFill>
                  <a:schemeClr val="bg2"/>
                </a:solidFill>
                <a:latin typeface="Courier New" panose="02070309020205020404" pitchFamily="49" charset="0"/>
                <a:ea typeface="宋体" panose="02010600030101010101" pitchFamily="2" charset="-122"/>
              </a:defRPr>
            </a:lvl4pPr>
            <a:lvl5pPr marL="2057400" indent="-228600">
              <a:lnSpc>
                <a:spcPct val="110000"/>
              </a:lnSpc>
              <a:defRPr sz="1400" b="1">
                <a:solidFill>
                  <a:schemeClr val="bg2"/>
                </a:solidFill>
                <a:latin typeface="Courier New" panose="02070309020205020404" pitchFamily="49" charset="0"/>
                <a:ea typeface="宋体" panose="02010600030101010101" pitchFamily="2" charset="-122"/>
              </a:defRPr>
            </a:lvl5pPr>
            <a:lvl6pPr marL="25146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6pPr>
            <a:lvl7pPr marL="29718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7pPr>
            <a:lvl8pPr marL="34290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8pPr>
            <a:lvl9pPr marL="38862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9pPr>
          </a:lstStyle>
          <a:p>
            <a:pPr eaLnBrk="1" hangingPunct="1">
              <a:lnSpc>
                <a:spcPct val="100000"/>
              </a:lnSpc>
              <a:spcBef>
                <a:spcPct val="50000"/>
              </a:spcBef>
            </a:pPr>
            <a:endParaRPr kumimoji="1" lang="zh-CN" altLang="en-US" sz="2400" b="0">
              <a:solidFill>
                <a:schemeClr val="tx1"/>
              </a:solidFill>
              <a:latin typeface="Tahoma" panose="020B0604030504040204" pitchFamily="34" charset="0"/>
            </a:endParaRPr>
          </a:p>
        </p:txBody>
      </p:sp>
      <p:sp>
        <p:nvSpPr>
          <p:cNvPr id="2" name="内容占位符 1"/>
          <p:cNvSpPr>
            <a:spLocks noGrp="1"/>
          </p:cNvSpPr>
          <p:nvPr>
            <p:ph idx="1"/>
          </p:nvPr>
        </p:nvSpPr>
        <p:spPr>
          <a:xfrm>
            <a:off x="323528" y="2017713"/>
            <a:ext cx="8631560" cy="4114800"/>
          </a:xfrm>
        </p:spPr>
        <p:txBody>
          <a:bodyPr/>
          <a:lstStyle/>
          <a:p>
            <a:pPr>
              <a:lnSpc>
                <a:spcPct val="110000"/>
              </a:lnSpc>
            </a:pPr>
            <a:r>
              <a:rPr lang="zh-CN" altLang="en-US" sz="3100" dirty="0"/>
              <a:t>假定男人</a:t>
            </a:r>
            <a:r>
              <a:rPr lang="en-US" altLang="zh-CN" sz="3100" dirty="0"/>
              <a:t>m</a:t>
            </a:r>
            <a:r>
              <a:rPr lang="zh-CN" altLang="en-US" sz="3100" dirty="0"/>
              <a:t>向女人</a:t>
            </a:r>
            <a:r>
              <a:rPr lang="en-US" altLang="zh-CN" sz="3100" dirty="0"/>
              <a:t>w</a:t>
            </a:r>
            <a:r>
              <a:rPr lang="zh-CN" altLang="en-US" sz="3100" dirty="0"/>
              <a:t>求婚</a:t>
            </a:r>
            <a:r>
              <a:rPr lang="en-US" altLang="zh-CN" sz="3100" dirty="0"/>
              <a:t>;</a:t>
            </a:r>
            <a:endParaRPr lang="en-US" altLang="zh-CN" sz="3100" dirty="0"/>
          </a:p>
          <a:p>
            <a:pPr>
              <a:lnSpc>
                <a:spcPct val="110000"/>
              </a:lnSpc>
            </a:pPr>
            <a:r>
              <a:rPr lang="zh-CN" altLang="en-US" sz="3100" dirty="0">
                <a:solidFill>
                  <a:srgbClr val="FF0000"/>
                </a:solidFill>
              </a:rPr>
              <a:t>找出</a:t>
            </a:r>
            <a:r>
              <a:rPr lang="en-US" altLang="zh-CN" sz="3100" dirty="0">
                <a:solidFill>
                  <a:srgbClr val="FF0000"/>
                </a:solidFill>
              </a:rPr>
              <a:t>w</a:t>
            </a:r>
            <a:r>
              <a:rPr lang="zh-CN" altLang="en-US" sz="3100" dirty="0">
                <a:solidFill>
                  <a:srgbClr val="FF0000"/>
                </a:solidFill>
              </a:rPr>
              <a:t>正在约会的男人</a:t>
            </a:r>
            <a:r>
              <a:rPr lang="en-US" altLang="zh-CN" sz="3100" dirty="0">
                <a:solidFill>
                  <a:srgbClr val="FF0000"/>
                </a:solidFill>
              </a:rPr>
              <a:t>m'</a:t>
            </a:r>
            <a:r>
              <a:rPr lang="en-US" altLang="zh-CN" sz="3100" dirty="0"/>
              <a:t>(</a:t>
            </a:r>
            <a:r>
              <a:rPr lang="zh-CN" altLang="en-US" sz="3100" dirty="0"/>
              <a:t>如果有这样男人</a:t>
            </a:r>
            <a:r>
              <a:rPr lang="en-US" altLang="zh-CN" sz="3100" dirty="0"/>
              <a:t>).</a:t>
            </a:r>
            <a:endParaRPr lang="en-US" altLang="zh-CN" sz="3100" dirty="0"/>
          </a:p>
          <a:p>
            <a:pPr>
              <a:lnSpc>
                <a:spcPct val="110000"/>
              </a:lnSpc>
            </a:pPr>
            <a:r>
              <a:rPr lang="zh-CN" altLang="en-US" sz="3100" dirty="0"/>
              <a:t>通过维护一个长为</a:t>
            </a:r>
            <a:r>
              <a:rPr lang="en-US" altLang="zh-CN" sz="3100" dirty="0"/>
              <a:t>n</a:t>
            </a:r>
            <a:r>
              <a:rPr lang="zh-CN" altLang="en-US" sz="3100" dirty="0"/>
              <a:t>的数组</a:t>
            </a:r>
            <a:r>
              <a:rPr lang="en-US" altLang="zh-CN" sz="3100" dirty="0">
                <a:solidFill>
                  <a:srgbClr val="FF0000"/>
                </a:solidFill>
              </a:rPr>
              <a:t>Current</a:t>
            </a:r>
            <a:r>
              <a:rPr lang="zh-CN" altLang="en-US" sz="3100" dirty="0"/>
              <a:t>来做到这一点</a:t>
            </a:r>
            <a:endParaRPr lang="en-US" altLang="zh-CN" sz="3100" dirty="0"/>
          </a:p>
          <a:p>
            <a:pPr>
              <a:lnSpc>
                <a:spcPct val="110000"/>
              </a:lnSpc>
            </a:pPr>
            <a:r>
              <a:rPr lang="en-US" altLang="zh-CN" sz="3100" dirty="0"/>
              <a:t>Current[w]</a:t>
            </a:r>
            <a:r>
              <a:rPr lang="zh-CN" altLang="en-US" sz="3100" dirty="0"/>
              <a:t>是女人</a:t>
            </a:r>
            <a:r>
              <a:rPr lang="en-US" altLang="zh-CN" sz="3100" dirty="0"/>
              <a:t>w</a:t>
            </a:r>
            <a:r>
              <a:rPr lang="zh-CN" altLang="en-US" sz="3100" dirty="0"/>
              <a:t>目前的伴侣</a:t>
            </a:r>
            <a:r>
              <a:rPr lang="en-US" altLang="zh-CN" sz="3100" dirty="0"/>
              <a:t>m'.</a:t>
            </a:r>
            <a:r>
              <a:rPr lang="zh-CN" altLang="en-US" sz="3100" dirty="0"/>
              <a:t>当需要指出女人</a:t>
            </a:r>
            <a:r>
              <a:rPr lang="en-US" altLang="zh-CN" sz="3100" dirty="0"/>
              <a:t>w</a:t>
            </a:r>
            <a:r>
              <a:rPr lang="zh-CN" altLang="en-US" sz="3100" dirty="0"/>
              <a:t>目前没有约会时</a:t>
            </a:r>
            <a:r>
              <a:rPr lang="en-US" altLang="zh-CN" sz="3100" dirty="0"/>
              <a:t>,</a:t>
            </a:r>
            <a:r>
              <a:rPr lang="zh-CN" altLang="en-US" sz="3100" dirty="0"/>
              <a:t>我们将</a:t>
            </a:r>
            <a:r>
              <a:rPr lang="en-US" altLang="zh-CN" sz="3100" dirty="0"/>
              <a:t>Current[w]</a:t>
            </a:r>
            <a:r>
              <a:rPr lang="zh-CN" altLang="en-US" sz="3100" dirty="0"/>
              <a:t>置为</a:t>
            </a:r>
            <a:r>
              <a:rPr lang="en-US" altLang="zh-CN" sz="3100" dirty="0"/>
              <a:t>null;</a:t>
            </a:r>
            <a:r>
              <a:rPr lang="zh-CN" altLang="en-US" sz="3100" dirty="0"/>
              <a:t>在算法的开始</a:t>
            </a:r>
            <a:r>
              <a:rPr lang="en-US" altLang="zh-CN" sz="3100" dirty="0"/>
              <a:t>,</a:t>
            </a:r>
            <a:r>
              <a:rPr lang="zh-CN" altLang="en-US" sz="3100" dirty="0"/>
              <a:t>对所有的女人</a:t>
            </a:r>
            <a:r>
              <a:rPr lang="en-US" altLang="zh-CN" sz="3100" dirty="0" err="1"/>
              <a:t>w,Current</a:t>
            </a:r>
            <a:r>
              <a:rPr lang="en-US" altLang="zh-CN" sz="3100" dirty="0"/>
              <a:t>[w]</a:t>
            </a:r>
            <a:r>
              <a:rPr lang="zh-CN" altLang="en-US" sz="3100" dirty="0"/>
              <a:t>的初值置为</a:t>
            </a:r>
            <a:r>
              <a:rPr lang="en-US" altLang="zh-CN" sz="3100" dirty="0"/>
              <a:t>null.</a:t>
            </a:r>
            <a:endParaRPr lang="zh-CN" altLang="en-US" sz="31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5"/>
          <p:cNvSpPr>
            <a:spLocks noGrp="1"/>
          </p:cNvSpPr>
          <p:nvPr>
            <p:ph type="sldNum" sz="quarter" idx="12"/>
          </p:nvPr>
        </p:nvSpPr>
        <p:spPr/>
        <p:txBody>
          <a:bodyPr/>
          <a:lstStyle/>
          <a:p>
            <a:pPr>
              <a:defRPr/>
            </a:pPr>
            <a:fld id="{81766E2F-7714-409E-A004-9AB9F6E2D7BE}" type="slidenum">
              <a:rPr lang="zh-CN" altLang="en-US"/>
            </a:fld>
            <a:endParaRPr lang="en-US" altLang="zh-CN"/>
          </a:p>
        </p:txBody>
      </p:sp>
      <p:sp>
        <p:nvSpPr>
          <p:cNvPr id="20483" name="Rectangle 2"/>
          <p:cNvSpPr>
            <a:spLocks noGrp="1" noChangeArrowheads="1"/>
          </p:cNvSpPr>
          <p:nvPr>
            <p:ph type="title"/>
          </p:nvPr>
        </p:nvSpPr>
        <p:spPr/>
        <p:txBody>
          <a:bodyPr/>
          <a:lstStyle/>
          <a:p>
            <a:pPr eaLnBrk="1" hangingPunct="1"/>
            <a:r>
              <a:rPr lang="zh-CN" altLang="en-US" dirty="0"/>
              <a:t>稳定匹配算法的实现</a:t>
            </a:r>
            <a:endParaRPr lang="zh-CN" altLang="en-US" dirty="0"/>
          </a:p>
        </p:txBody>
      </p:sp>
      <p:sp>
        <p:nvSpPr>
          <p:cNvPr id="20485" name="Text Box 4"/>
          <p:cNvSpPr txBox="1">
            <a:spLocks noChangeArrowheads="1"/>
          </p:cNvSpPr>
          <p:nvPr/>
        </p:nvSpPr>
        <p:spPr bwMode="auto">
          <a:xfrm>
            <a:off x="2971800" y="2667000"/>
            <a:ext cx="4495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0000"/>
              </a:lnSpc>
              <a:defRPr sz="1400" b="1">
                <a:solidFill>
                  <a:schemeClr val="bg2"/>
                </a:solidFill>
                <a:latin typeface="Courier New" panose="02070309020205020404" pitchFamily="49" charset="0"/>
                <a:ea typeface="宋体" panose="02010600030101010101" pitchFamily="2" charset="-122"/>
              </a:defRPr>
            </a:lvl1pPr>
            <a:lvl2pPr marL="742950" indent="-285750">
              <a:lnSpc>
                <a:spcPct val="110000"/>
              </a:lnSpc>
              <a:defRPr sz="1400" b="1">
                <a:solidFill>
                  <a:schemeClr val="bg2"/>
                </a:solidFill>
                <a:latin typeface="Courier New" panose="02070309020205020404" pitchFamily="49" charset="0"/>
                <a:ea typeface="宋体" panose="02010600030101010101" pitchFamily="2" charset="-122"/>
              </a:defRPr>
            </a:lvl2pPr>
            <a:lvl3pPr marL="1143000" indent="-228600">
              <a:lnSpc>
                <a:spcPct val="110000"/>
              </a:lnSpc>
              <a:defRPr sz="1400" b="1">
                <a:solidFill>
                  <a:schemeClr val="bg2"/>
                </a:solidFill>
                <a:latin typeface="Courier New" panose="02070309020205020404" pitchFamily="49" charset="0"/>
                <a:ea typeface="宋体" panose="02010600030101010101" pitchFamily="2" charset="-122"/>
              </a:defRPr>
            </a:lvl3pPr>
            <a:lvl4pPr marL="1600200" indent="-228600">
              <a:lnSpc>
                <a:spcPct val="110000"/>
              </a:lnSpc>
              <a:defRPr sz="1400" b="1">
                <a:solidFill>
                  <a:schemeClr val="bg2"/>
                </a:solidFill>
                <a:latin typeface="Courier New" panose="02070309020205020404" pitchFamily="49" charset="0"/>
                <a:ea typeface="宋体" panose="02010600030101010101" pitchFamily="2" charset="-122"/>
              </a:defRPr>
            </a:lvl4pPr>
            <a:lvl5pPr marL="2057400" indent="-228600">
              <a:lnSpc>
                <a:spcPct val="110000"/>
              </a:lnSpc>
              <a:defRPr sz="1400" b="1">
                <a:solidFill>
                  <a:schemeClr val="bg2"/>
                </a:solidFill>
                <a:latin typeface="Courier New" panose="02070309020205020404" pitchFamily="49" charset="0"/>
                <a:ea typeface="宋体" panose="02010600030101010101" pitchFamily="2" charset="-122"/>
              </a:defRPr>
            </a:lvl5pPr>
            <a:lvl6pPr marL="25146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6pPr>
            <a:lvl7pPr marL="29718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7pPr>
            <a:lvl8pPr marL="34290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8pPr>
            <a:lvl9pPr marL="38862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9pPr>
          </a:lstStyle>
          <a:p>
            <a:pPr eaLnBrk="1" hangingPunct="1">
              <a:lnSpc>
                <a:spcPct val="100000"/>
              </a:lnSpc>
              <a:spcBef>
                <a:spcPct val="50000"/>
              </a:spcBef>
            </a:pPr>
            <a:endParaRPr kumimoji="1" lang="zh-CN" altLang="en-US" sz="2400" b="0">
              <a:solidFill>
                <a:schemeClr val="tx1"/>
              </a:solidFill>
              <a:latin typeface="Tahoma" panose="020B0604030504040204" pitchFamily="34" charset="0"/>
            </a:endParaRPr>
          </a:p>
        </p:txBody>
      </p:sp>
      <p:sp>
        <p:nvSpPr>
          <p:cNvPr id="2" name="内容占位符 1"/>
          <p:cNvSpPr>
            <a:spLocks noGrp="1"/>
          </p:cNvSpPr>
          <p:nvPr>
            <p:ph idx="1"/>
          </p:nvPr>
        </p:nvSpPr>
        <p:spPr>
          <a:xfrm>
            <a:off x="323528" y="2017713"/>
            <a:ext cx="8631560" cy="4114800"/>
          </a:xfrm>
        </p:spPr>
        <p:txBody>
          <a:bodyPr/>
          <a:lstStyle/>
          <a:p>
            <a:pPr>
              <a:lnSpc>
                <a:spcPct val="110000"/>
              </a:lnSpc>
            </a:pPr>
            <a:r>
              <a:rPr lang="zh-CN" altLang="en-US" dirty="0"/>
              <a:t>怎样维护女人的优先表以保持步</a:t>
            </a:r>
            <a:r>
              <a:rPr lang="en-US" altLang="zh-CN" dirty="0"/>
              <a:t>(4)</a:t>
            </a:r>
            <a:r>
              <a:rPr lang="zh-CN" altLang="en-US" dirty="0"/>
              <a:t>是有效率的？</a:t>
            </a:r>
            <a:endParaRPr lang="en-US" altLang="zh-CN" dirty="0"/>
          </a:p>
          <a:p>
            <a:pPr>
              <a:lnSpc>
                <a:spcPct val="110000"/>
              </a:lnSpc>
            </a:pPr>
            <a:r>
              <a:rPr lang="zh-CN" altLang="en-US" dirty="0"/>
              <a:t>考虑算法的某步</a:t>
            </a:r>
            <a:r>
              <a:rPr lang="en-US" altLang="zh-CN" dirty="0"/>
              <a:t>,</a:t>
            </a:r>
            <a:r>
              <a:rPr lang="zh-CN" altLang="en-US" dirty="0"/>
              <a:t>此刻男人</a:t>
            </a:r>
            <a:r>
              <a:rPr lang="en-US" altLang="zh-CN" dirty="0"/>
              <a:t>m</a:t>
            </a:r>
            <a:r>
              <a:rPr lang="zh-CN" altLang="en-US" dirty="0"/>
              <a:t>正向女人</a:t>
            </a:r>
            <a:r>
              <a:rPr lang="en-US" altLang="zh-CN" dirty="0"/>
              <a:t>w</a:t>
            </a:r>
            <a:r>
              <a:rPr lang="zh-CN" altLang="en-US" dirty="0"/>
              <a:t>求婚</a:t>
            </a:r>
            <a:r>
              <a:rPr lang="en-US" altLang="zh-CN" dirty="0"/>
              <a:t>.</a:t>
            </a:r>
            <a:r>
              <a:rPr lang="zh-CN" altLang="en-US" dirty="0"/>
              <a:t>假定</a:t>
            </a:r>
            <a:r>
              <a:rPr lang="en-US" altLang="zh-CN" dirty="0"/>
              <a:t>w</a:t>
            </a:r>
            <a:r>
              <a:rPr lang="zh-CN" altLang="en-US" dirty="0"/>
              <a:t>已经有约会</a:t>
            </a:r>
            <a:r>
              <a:rPr lang="en-US" altLang="zh-CN" dirty="0"/>
              <a:t>,</a:t>
            </a:r>
            <a:r>
              <a:rPr lang="zh-CN" altLang="en-US" dirty="0"/>
              <a:t>并且她目前的伴侣是</a:t>
            </a:r>
            <a:r>
              <a:rPr lang="en-US" altLang="zh-CN" dirty="0"/>
              <a:t>m'=Current[w].</a:t>
            </a:r>
            <a:endParaRPr lang="en-US" altLang="zh-CN" dirty="0"/>
          </a:p>
          <a:p>
            <a:pPr>
              <a:lnSpc>
                <a:spcPct val="110000"/>
              </a:lnSpc>
            </a:pPr>
            <a:r>
              <a:rPr lang="zh-CN" altLang="en-US" dirty="0"/>
              <a:t>我们希望在</a:t>
            </a:r>
            <a:r>
              <a:rPr lang="en-US" altLang="zh-CN" dirty="0"/>
              <a:t>O(1)</a:t>
            </a:r>
            <a:r>
              <a:rPr lang="zh-CN" altLang="en-US" dirty="0"/>
              <a:t>的时间内确定是否女人</a:t>
            </a:r>
            <a:r>
              <a:rPr lang="en-US" altLang="zh-CN" dirty="0"/>
              <a:t>w</a:t>
            </a:r>
            <a:r>
              <a:rPr lang="zh-CN" altLang="en-US" dirty="0"/>
              <a:t>更偏爱</a:t>
            </a:r>
            <a:r>
              <a:rPr lang="en-US" altLang="zh-CN" dirty="0"/>
              <a:t>m</a:t>
            </a:r>
            <a:r>
              <a:rPr lang="zh-CN" altLang="en-US" dirty="0"/>
              <a:t>而不爱</a:t>
            </a:r>
            <a:r>
              <a:rPr lang="en-US" altLang="zh-CN" dirty="0"/>
              <a:t>m’.</a:t>
            </a:r>
            <a:endParaRPr lang="zh-CN" alt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5"/>
          <p:cNvSpPr>
            <a:spLocks noGrp="1"/>
          </p:cNvSpPr>
          <p:nvPr>
            <p:ph type="sldNum" sz="quarter" idx="12"/>
          </p:nvPr>
        </p:nvSpPr>
        <p:spPr/>
        <p:txBody>
          <a:bodyPr/>
          <a:lstStyle/>
          <a:p>
            <a:pPr>
              <a:defRPr/>
            </a:pPr>
            <a:fld id="{81766E2F-7714-409E-A004-9AB9F6E2D7BE}" type="slidenum">
              <a:rPr lang="zh-CN" altLang="en-US"/>
            </a:fld>
            <a:endParaRPr lang="en-US" altLang="zh-CN"/>
          </a:p>
        </p:txBody>
      </p:sp>
      <p:sp>
        <p:nvSpPr>
          <p:cNvPr id="20483" name="Rectangle 2"/>
          <p:cNvSpPr>
            <a:spLocks noGrp="1" noChangeArrowheads="1"/>
          </p:cNvSpPr>
          <p:nvPr>
            <p:ph type="title"/>
          </p:nvPr>
        </p:nvSpPr>
        <p:spPr/>
        <p:txBody>
          <a:bodyPr/>
          <a:lstStyle/>
          <a:p>
            <a:pPr eaLnBrk="1" hangingPunct="1"/>
            <a:r>
              <a:rPr lang="zh-CN" altLang="en-US" dirty="0"/>
              <a:t>稳定匹配算法的实现</a:t>
            </a:r>
            <a:endParaRPr lang="zh-CN" altLang="en-US" dirty="0"/>
          </a:p>
        </p:txBody>
      </p:sp>
      <p:sp>
        <p:nvSpPr>
          <p:cNvPr id="20485" name="Text Box 4"/>
          <p:cNvSpPr txBox="1">
            <a:spLocks noChangeArrowheads="1"/>
          </p:cNvSpPr>
          <p:nvPr/>
        </p:nvSpPr>
        <p:spPr bwMode="auto">
          <a:xfrm>
            <a:off x="2971800" y="2667000"/>
            <a:ext cx="4495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0000"/>
              </a:lnSpc>
              <a:defRPr sz="1400" b="1">
                <a:solidFill>
                  <a:schemeClr val="bg2"/>
                </a:solidFill>
                <a:latin typeface="Courier New" panose="02070309020205020404" pitchFamily="49" charset="0"/>
                <a:ea typeface="宋体" panose="02010600030101010101" pitchFamily="2" charset="-122"/>
              </a:defRPr>
            </a:lvl1pPr>
            <a:lvl2pPr marL="742950" indent="-285750">
              <a:lnSpc>
                <a:spcPct val="110000"/>
              </a:lnSpc>
              <a:defRPr sz="1400" b="1">
                <a:solidFill>
                  <a:schemeClr val="bg2"/>
                </a:solidFill>
                <a:latin typeface="Courier New" panose="02070309020205020404" pitchFamily="49" charset="0"/>
                <a:ea typeface="宋体" panose="02010600030101010101" pitchFamily="2" charset="-122"/>
              </a:defRPr>
            </a:lvl2pPr>
            <a:lvl3pPr marL="1143000" indent="-228600">
              <a:lnSpc>
                <a:spcPct val="110000"/>
              </a:lnSpc>
              <a:defRPr sz="1400" b="1">
                <a:solidFill>
                  <a:schemeClr val="bg2"/>
                </a:solidFill>
                <a:latin typeface="Courier New" panose="02070309020205020404" pitchFamily="49" charset="0"/>
                <a:ea typeface="宋体" panose="02010600030101010101" pitchFamily="2" charset="-122"/>
              </a:defRPr>
            </a:lvl3pPr>
            <a:lvl4pPr marL="1600200" indent="-228600">
              <a:lnSpc>
                <a:spcPct val="110000"/>
              </a:lnSpc>
              <a:defRPr sz="1400" b="1">
                <a:solidFill>
                  <a:schemeClr val="bg2"/>
                </a:solidFill>
                <a:latin typeface="Courier New" panose="02070309020205020404" pitchFamily="49" charset="0"/>
                <a:ea typeface="宋体" panose="02010600030101010101" pitchFamily="2" charset="-122"/>
              </a:defRPr>
            </a:lvl4pPr>
            <a:lvl5pPr marL="2057400" indent="-228600">
              <a:lnSpc>
                <a:spcPct val="110000"/>
              </a:lnSpc>
              <a:defRPr sz="1400" b="1">
                <a:solidFill>
                  <a:schemeClr val="bg2"/>
                </a:solidFill>
                <a:latin typeface="Courier New" panose="02070309020205020404" pitchFamily="49" charset="0"/>
                <a:ea typeface="宋体" panose="02010600030101010101" pitchFamily="2" charset="-122"/>
              </a:defRPr>
            </a:lvl5pPr>
            <a:lvl6pPr marL="25146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6pPr>
            <a:lvl7pPr marL="29718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7pPr>
            <a:lvl8pPr marL="34290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8pPr>
            <a:lvl9pPr marL="38862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9pPr>
          </a:lstStyle>
          <a:p>
            <a:pPr eaLnBrk="1" hangingPunct="1">
              <a:lnSpc>
                <a:spcPct val="100000"/>
              </a:lnSpc>
              <a:spcBef>
                <a:spcPct val="50000"/>
              </a:spcBef>
            </a:pPr>
            <a:endParaRPr kumimoji="1" lang="zh-CN" altLang="en-US" sz="2400" b="0">
              <a:solidFill>
                <a:schemeClr val="tx1"/>
              </a:solidFill>
              <a:latin typeface="Tahoma" panose="020B0604030504040204" pitchFamily="34" charset="0"/>
            </a:endParaRPr>
          </a:p>
        </p:txBody>
      </p:sp>
      <p:sp>
        <p:nvSpPr>
          <p:cNvPr id="2" name="内容占位符 1"/>
          <p:cNvSpPr>
            <a:spLocks noGrp="1"/>
          </p:cNvSpPr>
          <p:nvPr>
            <p:ph idx="1"/>
          </p:nvPr>
        </p:nvSpPr>
        <p:spPr>
          <a:xfrm>
            <a:off x="323528" y="2017713"/>
            <a:ext cx="8631560" cy="4114800"/>
          </a:xfrm>
        </p:spPr>
        <p:txBody>
          <a:bodyPr/>
          <a:lstStyle/>
          <a:p>
            <a:pPr>
              <a:lnSpc>
                <a:spcPct val="110000"/>
              </a:lnSpc>
            </a:pPr>
            <a:r>
              <a:rPr lang="zh-CN" altLang="en-US" dirty="0"/>
              <a:t>建立一个辅助的数据结构</a:t>
            </a:r>
            <a:endParaRPr lang="en-US" altLang="zh-CN" dirty="0"/>
          </a:p>
          <a:p>
            <a:pPr>
              <a:lnSpc>
                <a:spcPct val="110000"/>
              </a:lnSpc>
            </a:pPr>
            <a:r>
              <a:rPr lang="zh-CN" altLang="en-US" dirty="0"/>
              <a:t>建立一个</a:t>
            </a:r>
            <a:r>
              <a:rPr lang="en-US" altLang="zh-CN" dirty="0"/>
              <a:t>n*n</a:t>
            </a:r>
            <a:r>
              <a:rPr lang="zh-CN" altLang="en-US" dirty="0"/>
              <a:t>的数组</a:t>
            </a:r>
            <a:r>
              <a:rPr lang="en-US" altLang="zh-CN" dirty="0">
                <a:solidFill>
                  <a:srgbClr val="FF0000"/>
                </a:solidFill>
              </a:rPr>
              <a:t>Ranking</a:t>
            </a:r>
            <a:r>
              <a:rPr lang="en-US" altLang="zh-CN" dirty="0"/>
              <a:t>,</a:t>
            </a:r>
            <a:r>
              <a:rPr lang="zh-CN" altLang="en-US" dirty="0"/>
              <a:t>其</a:t>
            </a:r>
            <a:r>
              <a:rPr lang="en-US" altLang="zh-CN" dirty="0"/>
              <a:t>Ranking[</a:t>
            </a:r>
            <a:r>
              <a:rPr lang="en-US" altLang="zh-CN" dirty="0" err="1"/>
              <a:t>w,m</a:t>
            </a:r>
            <a:r>
              <a:rPr lang="en-US" altLang="zh-CN" dirty="0"/>
              <a:t>]</a:t>
            </a:r>
            <a:r>
              <a:rPr lang="zh-CN" altLang="en-US" dirty="0">
                <a:solidFill>
                  <a:srgbClr val="FF0000"/>
                </a:solidFill>
              </a:rPr>
              <a:t>含有按照</a:t>
            </a:r>
            <a:r>
              <a:rPr lang="en-US" altLang="zh-CN" dirty="0">
                <a:solidFill>
                  <a:srgbClr val="FF0000"/>
                </a:solidFill>
              </a:rPr>
              <a:t>w</a:t>
            </a:r>
            <a:r>
              <a:rPr lang="zh-CN" altLang="en-US" dirty="0">
                <a:solidFill>
                  <a:srgbClr val="FF0000"/>
                </a:solidFill>
              </a:rPr>
              <a:t>的优先表排序的男人</a:t>
            </a:r>
            <a:r>
              <a:rPr lang="en-US" altLang="zh-CN" dirty="0">
                <a:solidFill>
                  <a:srgbClr val="FF0000"/>
                </a:solidFill>
              </a:rPr>
              <a:t>m</a:t>
            </a:r>
            <a:r>
              <a:rPr lang="zh-CN" altLang="en-US" dirty="0">
                <a:solidFill>
                  <a:srgbClr val="FF0000"/>
                </a:solidFill>
              </a:rPr>
              <a:t>的排名</a:t>
            </a:r>
            <a:r>
              <a:rPr lang="en-US" altLang="zh-CN" dirty="0">
                <a:solidFill>
                  <a:srgbClr val="FF0000"/>
                </a:solidFill>
              </a:rPr>
              <a:t>.</a:t>
            </a:r>
            <a:endParaRPr lang="en-US" altLang="zh-CN" dirty="0">
              <a:solidFill>
                <a:srgbClr val="FF0000"/>
              </a:solidFill>
            </a:endParaRPr>
          </a:p>
          <a:p>
            <a:pPr>
              <a:lnSpc>
                <a:spcPct val="110000"/>
              </a:lnSpc>
            </a:pPr>
            <a:r>
              <a:rPr lang="zh-CN" altLang="en-US" dirty="0"/>
              <a:t>通过扫描一遍</a:t>
            </a:r>
            <a:r>
              <a:rPr lang="en-US" altLang="zh-CN" dirty="0"/>
              <a:t>w</a:t>
            </a:r>
            <a:r>
              <a:rPr lang="zh-CN" altLang="en-US" dirty="0"/>
              <a:t>的优先表</a:t>
            </a:r>
            <a:r>
              <a:rPr lang="en-US" altLang="zh-CN" dirty="0"/>
              <a:t>,</a:t>
            </a:r>
            <a:r>
              <a:rPr lang="zh-CN" altLang="en-US" dirty="0"/>
              <a:t>对每个女人我们可以用线性时间建立这个数组。</a:t>
            </a:r>
            <a:endParaRPr lang="en-US" altLang="zh-CN" dirty="0"/>
          </a:p>
          <a:p>
            <a:pPr>
              <a:lnSpc>
                <a:spcPct val="110000"/>
              </a:lnSpc>
            </a:pPr>
            <a:r>
              <a:rPr lang="zh-CN" altLang="en-US" dirty="0"/>
              <a:t>只要比较</a:t>
            </a:r>
            <a:r>
              <a:rPr lang="en-US" altLang="zh-CN" dirty="0"/>
              <a:t>Ranking[</a:t>
            </a:r>
            <a:r>
              <a:rPr lang="en-US" altLang="zh-CN" dirty="0" err="1"/>
              <a:t>w,m</a:t>
            </a:r>
            <a:r>
              <a:rPr lang="en-US" altLang="zh-CN" dirty="0"/>
              <a:t>]</a:t>
            </a:r>
            <a:r>
              <a:rPr lang="zh-CN" altLang="en-US" dirty="0"/>
              <a:t>与</a:t>
            </a:r>
            <a:r>
              <a:rPr lang="en-US" altLang="zh-CN" dirty="0"/>
              <a:t>Ranking[</a:t>
            </a:r>
            <a:r>
              <a:rPr lang="en-US" altLang="zh-CN" dirty="0" err="1"/>
              <a:t>w,m</a:t>
            </a:r>
            <a:r>
              <a:rPr lang="en-US" altLang="zh-CN" dirty="0"/>
              <a:t>]</a:t>
            </a:r>
            <a:r>
              <a:rPr lang="zh-CN" altLang="en-US" dirty="0"/>
              <a:t>的值即可确定</a:t>
            </a:r>
            <a:r>
              <a:rPr lang="en-US" altLang="zh-CN" dirty="0"/>
              <a:t>m</a:t>
            </a:r>
            <a:r>
              <a:rPr lang="zh-CN" altLang="en-US" dirty="0"/>
              <a:t>或</a:t>
            </a:r>
            <a:r>
              <a:rPr lang="en-US" altLang="zh-CN" dirty="0"/>
              <a:t>m’</a:t>
            </a:r>
            <a:r>
              <a:rPr lang="zh-CN" altLang="en-US" dirty="0"/>
              <a:t>谁更被</a:t>
            </a:r>
            <a:r>
              <a:rPr lang="en-US" altLang="zh-CN" dirty="0"/>
              <a:t>w</a:t>
            </a:r>
            <a:r>
              <a:rPr lang="zh-CN" altLang="en-US" dirty="0"/>
              <a:t>偏爱</a:t>
            </a:r>
            <a:endParaRPr lang="zh-CN" alt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C6FC6C40-0D69-4554-98C7-49407632F59E}" type="slidenum">
              <a:rPr lang="zh-CN" altLang="en-US"/>
            </a:fld>
            <a:endParaRPr lang="en-US" altLang="zh-CN"/>
          </a:p>
        </p:txBody>
      </p:sp>
      <p:sp>
        <p:nvSpPr>
          <p:cNvPr id="21507" name="Rectangle 2"/>
          <p:cNvSpPr>
            <a:spLocks noGrp="1" noChangeArrowheads="1"/>
          </p:cNvSpPr>
          <p:nvPr>
            <p:ph type="title"/>
          </p:nvPr>
        </p:nvSpPr>
        <p:spPr/>
        <p:txBody>
          <a:bodyPr/>
          <a:lstStyle/>
          <a:p>
            <a:pPr eaLnBrk="1" hangingPunct="1"/>
            <a:r>
              <a:rPr lang="zh-CN" altLang="en-US"/>
              <a:t>一般运行时间的描述</a:t>
            </a:r>
            <a:endParaRPr lang="zh-CN" altLang="en-US"/>
          </a:p>
        </p:txBody>
      </p:sp>
      <p:sp>
        <p:nvSpPr>
          <p:cNvPr id="21508" name="Rectangle 3"/>
          <p:cNvSpPr>
            <a:spLocks noGrp="1" noChangeArrowheads="1"/>
          </p:cNvSpPr>
          <p:nvPr>
            <p:ph type="body" idx="1"/>
          </p:nvPr>
        </p:nvSpPr>
        <p:spPr>
          <a:xfrm>
            <a:off x="914400" y="1985169"/>
            <a:ext cx="7772400" cy="4114800"/>
          </a:xfrm>
        </p:spPr>
        <p:txBody>
          <a:bodyPr/>
          <a:lstStyle/>
          <a:p>
            <a:pPr marL="0" indent="0" eaLnBrk="1" hangingPunct="1">
              <a:buNone/>
            </a:pPr>
            <a:r>
              <a:rPr lang="zh-CN" altLang="en-US" dirty="0"/>
              <a:t>对日常中我们经常碰到的算法问题，按照阶数的大小进行</a:t>
            </a:r>
            <a:r>
              <a:rPr lang="zh-CN" altLang="en-US" b="1" dirty="0"/>
              <a:t>分类</a:t>
            </a:r>
            <a:endParaRPr lang="zh-CN" altLang="en-US" b="1" dirty="0"/>
          </a:p>
          <a:p>
            <a:pPr eaLnBrk="1" hangingPunct="1"/>
            <a:r>
              <a:rPr lang="en-US" altLang="zh-CN" dirty="0"/>
              <a:t>O(</a:t>
            </a:r>
            <a:r>
              <a:rPr lang="en-US" altLang="zh-CN" dirty="0" err="1"/>
              <a:t>logn</a:t>
            </a:r>
            <a:r>
              <a:rPr lang="en-US" altLang="zh-CN" dirty="0"/>
              <a:t>)</a:t>
            </a:r>
            <a:endParaRPr lang="en-US" altLang="zh-CN" dirty="0"/>
          </a:p>
          <a:p>
            <a:pPr eaLnBrk="1" hangingPunct="1"/>
            <a:r>
              <a:rPr lang="en-US" altLang="zh-CN" dirty="0"/>
              <a:t>O(n),O(</a:t>
            </a:r>
            <a:r>
              <a:rPr lang="en-US" altLang="zh-CN" dirty="0" err="1"/>
              <a:t>nlogn</a:t>
            </a:r>
            <a:r>
              <a:rPr lang="en-US" altLang="zh-CN" dirty="0"/>
              <a:t>)</a:t>
            </a:r>
            <a:endParaRPr lang="en-US" altLang="zh-CN" dirty="0"/>
          </a:p>
          <a:p>
            <a:pPr eaLnBrk="1" hangingPunct="1"/>
            <a:r>
              <a:rPr lang="en-US" altLang="zh-CN" dirty="0"/>
              <a:t>O(n</a:t>
            </a:r>
            <a:r>
              <a:rPr lang="en-US" altLang="zh-CN" baseline="30000" dirty="0"/>
              <a:t>2</a:t>
            </a:r>
            <a:r>
              <a:rPr lang="en-US" altLang="zh-CN" dirty="0"/>
              <a:t>),O(n</a:t>
            </a:r>
            <a:r>
              <a:rPr lang="en-US" altLang="zh-CN" baseline="30000" dirty="0"/>
              <a:t>3</a:t>
            </a:r>
            <a:r>
              <a:rPr lang="en-US" altLang="zh-CN" dirty="0"/>
              <a:t>),O(</a:t>
            </a:r>
            <a:r>
              <a:rPr lang="en-US" altLang="zh-CN" dirty="0" err="1"/>
              <a:t>n</a:t>
            </a:r>
            <a:r>
              <a:rPr lang="en-US" altLang="zh-CN" baseline="30000" dirty="0" err="1"/>
              <a:t>k</a:t>
            </a:r>
            <a:r>
              <a:rPr lang="en-US" altLang="zh-CN" dirty="0"/>
              <a:t>)</a:t>
            </a:r>
            <a:endParaRPr lang="en-US" altLang="zh-CN" dirty="0"/>
          </a:p>
          <a:p>
            <a:pPr eaLnBrk="1" hangingPunct="1"/>
            <a:r>
              <a:rPr lang="en-US" altLang="zh-CN" dirty="0"/>
              <a:t>O(a</a:t>
            </a:r>
            <a:r>
              <a:rPr lang="en-US" altLang="zh-CN" baseline="30000" dirty="0"/>
              <a:t>n</a:t>
            </a:r>
            <a:r>
              <a:rPr lang="en-US" altLang="zh-CN" dirty="0"/>
              <a:t>),O(n!)</a:t>
            </a:r>
            <a:endParaRPr lang="en-US" altLang="zh-CN"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pPr>
              <a:defRPr/>
            </a:pPr>
            <a:fld id="{8BE0C732-B569-4799-85D5-51A7F8BCC966}" type="slidenum">
              <a:rPr lang="zh-CN" altLang="en-US"/>
            </a:fld>
            <a:endParaRPr lang="en-US" altLang="zh-CN"/>
          </a:p>
        </p:txBody>
      </p:sp>
      <p:sp>
        <p:nvSpPr>
          <p:cNvPr id="22531" name="Rectangle 2"/>
          <p:cNvSpPr>
            <a:spLocks noGrp="1" noChangeArrowheads="1"/>
          </p:cNvSpPr>
          <p:nvPr>
            <p:ph type="title"/>
          </p:nvPr>
        </p:nvSpPr>
        <p:spPr/>
        <p:txBody>
          <a:bodyPr/>
          <a:lstStyle/>
          <a:p>
            <a:pPr eaLnBrk="1" hangingPunct="1"/>
            <a:r>
              <a:rPr lang="zh-CN" altLang="en-US"/>
              <a:t>亚线性时间(</a:t>
            </a:r>
            <a:r>
              <a:rPr lang="en-US" altLang="zh-CN"/>
              <a:t>O(logn))</a:t>
            </a:r>
            <a:endParaRPr lang="en-US" altLang="zh-CN"/>
          </a:p>
        </p:txBody>
      </p:sp>
      <p:sp>
        <p:nvSpPr>
          <p:cNvPr id="22532" name="Rectangle 3"/>
          <p:cNvSpPr>
            <a:spLocks noGrp="1" noChangeArrowheads="1"/>
          </p:cNvSpPr>
          <p:nvPr>
            <p:ph type="body" idx="1"/>
          </p:nvPr>
        </p:nvSpPr>
        <p:spPr>
          <a:xfrm>
            <a:off x="914400" y="2017713"/>
            <a:ext cx="7772400" cy="4114800"/>
          </a:xfrm>
        </p:spPr>
        <p:txBody>
          <a:bodyPr/>
          <a:lstStyle/>
          <a:p>
            <a:pPr marL="0" indent="0" algn="just" eaLnBrk="1" hangingPunct="1">
              <a:buNone/>
            </a:pPr>
            <a:r>
              <a:rPr lang="zh-CN" altLang="en-US" sz="2800" dirty="0"/>
              <a:t>例子：给定一个</a:t>
            </a:r>
            <a:r>
              <a:rPr lang="zh-CN" altLang="en-US" sz="2800" u="sng" dirty="0">
                <a:solidFill>
                  <a:srgbClr val="FF0000"/>
                </a:solidFill>
              </a:rPr>
              <a:t>排好序</a:t>
            </a:r>
            <a:r>
              <a:rPr lang="zh-CN" altLang="en-US" sz="2800" dirty="0"/>
              <a:t>的含有</a:t>
            </a:r>
            <a:r>
              <a:rPr lang="en-US" altLang="zh-CN" sz="2800" dirty="0"/>
              <a:t>n</a:t>
            </a:r>
            <a:r>
              <a:rPr lang="zh-CN" altLang="en-US" sz="2800" dirty="0"/>
              <a:t>个数的数组</a:t>
            </a:r>
            <a:r>
              <a:rPr lang="en-US" altLang="zh-CN" sz="2800" dirty="0"/>
              <a:t>A,</a:t>
            </a:r>
            <a:r>
              <a:rPr lang="zh-CN" altLang="en-US" sz="2800" dirty="0"/>
              <a:t>我们想确定一个给定的数</a:t>
            </a:r>
            <a:r>
              <a:rPr lang="en-US" altLang="zh-CN" sz="2800" dirty="0"/>
              <a:t>p</a:t>
            </a:r>
            <a:r>
              <a:rPr lang="zh-CN" altLang="en-US" sz="2800" dirty="0"/>
              <a:t>是否属于这个数组。</a:t>
            </a:r>
            <a:endParaRPr lang="zh-CN" altLang="en-US" sz="2800" dirty="0"/>
          </a:p>
          <a:p>
            <a:pPr marL="0" indent="0" eaLnBrk="1" hangingPunct="1">
              <a:buNone/>
            </a:pPr>
            <a:r>
              <a:rPr lang="zh-CN" altLang="en-US" sz="2800" dirty="0"/>
              <a:t>算法要点:</a:t>
            </a:r>
            <a:endParaRPr lang="en-US" altLang="zh-CN" sz="2800" dirty="0"/>
          </a:p>
          <a:p>
            <a:pPr eaLnBrk="1" hangingPunct="1"/>
            <a:r>
              <a:rPr lang="zh-CN" altLang="en-US" sz="2800" dirty="0"/>
              <a:t>每次比较</a:t>
            </a:r>
            <a:r>
              <a:rPr lang="en-US" altLang="zh-CN" sz="2800" dirty="0"/>
              <a:t>p</a:t>
            </a:r>
            <a:r>
              <a:rPr lang="zh-CN" altLang="en-US" sz="2800" dirty="0"/>
              <a:t>与剩余集合中间元素的值</a:t>
            </a:r>
            <a:endParaRPr lang="zh-CN" altLang="en-US" sz="2800" dirty="0"/>
          </a:p>
          <a:p>
            <a:pPr eaLnBrk="1" hangingPunct="1"/>
            <a:r>
              <a:rPr lang="en-US" altLang="zh-CN" sz="2800" dirty="0"/>
              <a:t>k</a:t>
            </a:r>
            <a:r>
              <a:rPr lang="zh-CN" altLang="en-US" sz="2800" dirty="0"/>
              <a:t>次试探以后，剩余的区间大小为：</a:t>
            </a:r>
            <a:r>
              <a:rPr lang="en-US" altLang="zh-CN" sz="2800" dirty="0"/>
              <a:t>n/2</a:t>
            </a:r>
            <a:r>
              <a:rPr lang="en-US" altLang="zh-CN" sz="2800" baseline="30000" dirty="0"/>
              <a:t>k</a:t>
            </a:r>
            <a:endParaRPr lang="zh-CN" altLang="en-US" sz="2800" baseline="30000" dirty="0"/>
          </a:p>
          <a:p>
            <a:pPr eaLnBrk="1" hangingPunct="1"/>
            <a:r>
              <a:rPr lang="zh-CN" altLang="en-US" sz="2800" dirty="0"/>
              <a:t>所以</a:t>
            </a:r>
            <a:r>
              <a:rPr lang="en-US" altLang="zh-CN" sz="2800" dirty="0"/>
              <a:t>k=log</a:t>
            </a:r>
            <a:r>
              <a:rPr lang="en-US" altLang="zh-CN" sz="1400" dirty="0"/>
              <a:t>2</a:t>
            </a:r>
            <a:r>
              <a:rPr lang="en-US" altLang="zh-CN" sz="2800" dirty="0"/>
              <a:t>(n), </a:t>
            </a:r>
            <a:r>
              <a:rPr lang="zh-CN" altLang="en-US" sz="2800" dirty="0"/>
              <a:t>剩余集合的大小减少到一个常数，最后可在常数时间内直接搜索。</a:t>
            </a:r>
            <a:endParaRPr lang="en-US" altLang="zh-CN" sz="2800" dirty="0"/>
          </a:p>
          <a:p>
            <a:pPr eaLnBrk="1" hangingPunct="1">
              <a:buFont typeface="Wingdings" panose="05000000000000000000" pitchFamily="2" charset="2"/>
              <a:buNone/>
            </a:pPr>
            <a:r>
              <a:rPr lang="en-US" altLang="zh-CN" sz="2800" dirty="0"/>
              <a:t>   </a:t>
            </a:r>
            <a:r>
              <a:rPr lang="en-US" altLang="zh-CN" sz="2800" dirty="0">
                <a:solidFill>
                  <a:srgbClr val="FF0000"/>
                </a:solidFill>
              </a:rPr>
              <a:t>O(log</a:t>
            </a:r>
            <a:r>
              <a:rPr lang="en-US" altLang="zh-CN" sz="2800" baseline="-25000" dirty="0">
                <a:solidFill>
                  <a:srgbClr val="FF0000"/>
                </a:solidFill>
              </a:rPr>
              <a:t> a </a:t>
            </a:r>
            <a:r>
              <a:rPr lang="en-US" altLang="zh-CN" sz="2800" dirty="0">
                <a:solidFill>
                  <a:srgbClr val="FF0000"/>
                </a:solidFill>
              </a:rPr>
              <a:t>n) = O(log</a:t>
            </a:r>
            <a:r>
              <a:rPr lang="en-US" altLang="zh-CN" sz="2800" baseline="-25000" dirty="0">
                <a:solidFill>
                  <a:srgbClr val="FF0000"/>
                </a:solidFill>
              </a:rPr>
              <a:t> b </a:t>
            </a:r>
            <a:r>
              <a:rPr lang="en-US" altLang="zh-CN" sz="2800" dirty="0">
                <a:solidFill>
                  <a:srgbClr val="FF0000"/>
                </a:solidFill>
              </a:rPr>
              <a:t>n) </a:t>
            </a:r>
            <a:r>
              <a:rPr lang="zh-CN" altLang="en-US" sz="2800" dirty="0">
                <a:solidFill>
                  <a:srgbClr val="FF0000"/>
                </a:solidFill>
              </a:rPr>
              <a:t>∴ 算法复杂度为</a:t>
            </a:r>
            <a:r>
              <a:rPr lang="en-US" altLang="zh-CN" sz="2800" dirty="0">
                <a:solidFill>
                  <a:srgbClr val="FF0000"/>
                </a:solidFill>
              </a:rPr>
              <a:t>O(</a:t>
            </a:r>
            <a:r>
              <a:rPr lang="en-US" altLang="zh-CN" sz="2800" dirty="0" err="1">
                <a:solidFill>
                  <a:srgbClr val="FF0000"/>
                </a:solidFill>
              </a:rPr>
              <a:t>logn</a:t>
            </a:r>
            <a:r>
              <a:rPr lang="en-US" altLang="zh-CN" sz="2800" dirty="0">
                <a:solidFill>
                  <a:srgbClr val="FF0000"/>
                </a:solidFill>
              </a:rPr>
              <a:t>) </a:t>
            </a:r>
            <a:endParaRPr lang="zh-CN" altLang="en-US" sz="2800" dirty="0">
              <a:solidFill>
                <a:srgbClr val="FF0000"/>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5"/>
          <p:cNvSpPr>
            <a:spLocks noGrp="1"/>
          </p:cNvSpPr>
          <p:nvPr>
            <p:ph type="sldNum" sz="quarter" idx="12"/>
          </p:nvPr>
        </p:nvSpPr>
        <p:spPr/>
        <p:txBody>
          <a:bodyPr/>
          <a:lstStyle/>
          <a:p>
            <a:pPr>
              <a:defRPr/>
            </a:pPr>
            <a:fld id="{C403871C-CA88-47FC-98B6-C31749E01E1D}" type="slidenum">
              <a:rPr lang="zh-CN" altLang="en-US"/>
            </a:fld>
            <a:endParaRPr lang="en-US" altLang="zh-CN"/>
          </a:p>
        </p:txBody>
      </p:sp>
      <p:sp>
        <p:nvSpPr>
          <p:cNvPr id="23555" name="Rectangle 2"/>
          <p:cNvSpPr>
            <a:spLocks noGrp="1" noChangeArrowheads="1"/>
          </p:cNvSpPr>
          <p:nvPr>
            <p:ph type="title"/>
          </p:nvPr>
        </p:nvSpPr>
        <p:spPr/>
        <p:txBody>
          <a:bodyPr/>
          <a:lstStyle/>
          <a:p>
            <a:pPr eaLnBrk="1" hangingPunct="1"/>
            <a:r>
              <a:rPr lang="zh-CN" altLang="en-US" dirty="0"/>
              <a:t>线性时间</a:t>
            </a:r>
            <a:endParaRPr lang="zh-CN" altLang="en-US" dirty="0"/>
          </a:p>
        </p:txBody>
      </p:sp>
      <p:sp>
        <p:nvSpPr>
          <p:cNvPr id="23556" name="Rectangle 3"/>
          <p:cNvSpPr>
            <a:spLocks noGrp="1" noChangeArrowheads="1"/>
          </p:cNvSpPr>
          <p:nvPr>
            <p:ph type="body" idx="1"/>
          </p:nvPr>
        </p:nvSpPr>
        <p:spPr>
          <a:xfrm>
            <a:off x="914400" y="1988840"/>
            <a:ext cx="7772400" cy="4114800"/>
          </a:xfrm>
        </p:spPr>
        <p:txBody>
          <a:bodyPr/>
          <a:lstStyle/>
          <a:p>
            <a:pPr eaLnBrk="1" hangingPunct="1"/>
            <a:r>
              <a:rPr lang="zh-CN" altLang="en-US"/>
              <a:t>线性时间 </a:t>
            </a:r>
            <a:r>
              <a:rPr lang="en-US" altLang="zh-CN"/>
              <a:t>O(n)</a:t>
            </a:r>
            <a:endParaRPr lang="en-US" altLang="zh-CN"/>
          </a:p>
          <a:p>
            <a:pPr eaLnBrk="1" hangingPunct="1">
              <a:buFont typeface="Wingdings" panose="05000000000000000000" pitchFamily="2" charset="2"/>
              <a:buNone/>
            </a:pPr>
            <a:r>
              <a:rPr lang="zh-CN" altLang="en-US"/>
              <a:t>  </a:t>
            </a:r>
            <a:endParaRPr lang="zh-CN" altLang="en-US" dirty="0"/>
          </a:p>
        </p:txBody>
      </p:sp>
      <p:sp>
        <p:nvSpPr>
          <p:cNvPr id="23557" name="Text Box 5"/>
          <p:cNvSpPr txBox="1">
            <a:spLocks noChangeArrowheads="1"/>
          </p:cNvSpPr>
          <p:nvPr/>
        </p:nvSpPr>
        <p:spPr bwMode="auto">
          <a:xfrm>
            <a:off x="2339752" y="3641730"/>
            <a:ext cx="4648200" cy="1661993"/>
          </a:xfrm>
          <a:prstGeom prst="rect">
            <a:avLst/>
          </a:prstGeom>
          <a:solidFill>
            <a:srgbClr val="C0C0C0"/>
          </a:solid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2880" tIns="91440" rIns="137160" bIns="91440">
            <a:spAutoFit/>
          </a:bodyPr>
          <a:lstStyle>
            <a:lvl1pPr>
              <a:lnSpc>
                <a:spcPct val="110000"/>
              </a:lnSpc>
              <a:defRPr sz="1400" b="1">
                <a:solidFill>
                  <a:schemeClr val="bg2"/>
                </a:solidFill>
                <a:latin typeface="Courier New" panose="02070309020205020404" pitchFamily="49" charset="0"/>
                <a:ea typeface="宋体" panose="02010600030101010101" pitchFamily="2" charset="-122"/>
              </a:defRPr>
            </a:lvl1pPr>
            <a:lvl2pPr marL="742950" indent="-285750">
              <a:lnSpc>
                <a:spcPct val="110000"/>
              </a:lnSpc>
              <a:defRPr sz="1400" b="1">
                <a:solidFill>
                  <a:schemeClr val="bg2"/>
                </a:solidFill>
                <a:latin typeface="Courier New" panose="02070309020205020404" pitchFamily="49" charset="0"/>
                <a:ea typeface="宋体" panose="02010600030101010101" pitchFamily="2" charset="-122"/>
              </a:defRPr>
            </a:lvl2pPr>
            <a:lvl3pPr marL="1143000" indent="-228600">
              <a:lnSpc>
                <a:spcPct val="110000"/>
              </a:lnSpc>
              <a:defRPr sz="1400" b="1">
                <a:solidFill>
                  <a:schemeClr val="bg2"/>
                </a:solidFill>
                <a:latin typeface="Courier New" panose="02070309020205020404" pitchFamily="49" charset="0"/>
                <a:ea typeface="宋体" panose="02010600030101010101" pitchFamily="2" charset="-122"/>
              </a:defRPr>
            </a:lvl3pPr>
            <a:lvl4pPr marL="1600200" indent="-228600">
              <a:lnSpc>
                <a:spcPct val="110000"/>
              </a:lnSpc>
              <a:defRPr sz="1400" b="1">
                <a:solidFill>
                  <a:schemeClr val="bg2"/>
                </a:solidFill>
                <a:latin typeface="Courier New" panose="02070309020205020404" pitchFamily="49" charset="0"/>
                <a:ea typeface="宋体" panose="02010600030101010101" pitchFamily="2" charset="-122"/>
              </a:defRPr>
            </a:lvl4pPr>
            <a:lvl5pPr marL="2057400" indent="-228600">
              <a:lnSpc>
                <a:spcPct val="110000"/>
              </a:lnSpc>
              <a:defRPr sz="1400" b="1">
                <a:solidFill>
                  <a:schemeClr val="bg2"/>
                </a:solidFill>
                <a:latin typeface="Courier New" panose="02070309020205020404" pitchFamily="49" charset="0"/>
                <a:ea typeface="宋体" panose="02010600030101010101" pitchFamily="2" charset="-122"/>
              </a:defRPr>
            </a:lvl5pPr>
            <a:lvl6pPr marL="25146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6pPr>
            <a:lvl7pPr marL="29718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7pPr>
            <a:lvl8pPr marL="34290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8pPr>
            <a:lvl9pPr marL="38862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9pPr>
          </a:lstStyle>
          <a:p>
            <a:pPr>
              <a:lnSpc>
                <a:spcPct val="100000"/>
              </a:lnSpc>
            </a:pPr>
            <a:r>
              <a:rPr lang="en-US" altLang="zh-CN" sz="2400" dirty="0"/>
              <a:t>max </a:t>
            </a:r>
            <a:r>
              <a:rPr lang="en-US" altLang="zh-CN" sz="2400" dirty="0">
                <a:sym typeface="Symbol" panose="05050102010706020507" pitchFamily="18" charset="2"/>
              </a:rPr>
              <a:t></a:t>
            </a:r>
            <a:r>
              <a:rPr lang="en-US" altLang="zh-CN" sz="2400" dirty="0"/>
              <a:t> a</a:t>
            </a:r>
            <a:r>
              <a:rPr lang="en-US" altLang="zh-CN" sz="2400" baseline="-25000" dirty="0"/>
              <a:t>1</a:t>
            </a:r>
            <a:endParaRPr lang="en-US" altLang="zh-CN" sz="2400" baseline="-25000" dirty="0"/>
          </a:p>
          <a:p>
            <a:pPr>
              <a:lnSpc>
                <a:spcPct val="100000"/>
              </a:lnSpc>
            </a:pPr>
            <a:r>
              <a:rPr lang="en-US" altLang="zh-CN" sz="2400" dirty="0">
                <a:solidFill>
                  <a:srgbClr val="003399"/>
                </a:solidFill>
              </a:rPr>
              <a:t>for</a:t>
            </a:r>
            <a:r>
              <a:rPr lang="en-US" altLang="zh-CN" sz="2400" dirty="0"/>
              <a:t> </a:t>
            </a:r>
            <a:r>
              <a:rPr lang="en-US" altLang="zh-CN" sz="2400" dirty="0" err="1"/>
              <a:t>i</a:t>
            </a:r>
            <a:r>
              <a:rPr lang="en-US" altLang="zh-CN" sz="2400" dirty="0"/>
              <a:t> = 2 to n {</a:t>
            </a:r>
            <a:endParaRPr lang="en-US" altLang="zh-CN" sz="2400" dirty="0"/>
          </a:p>
          <a:p>
            <a:pPr>
              <a:lnSpc>
                <a:spcPct val="100000"/>
              </a:lnSpc>
            </a:pPr>
            <a:r>
              <a:rPr lang="en-US" altLang="zh-CN" sz="2400" dirty="0"/>
              <a:t>   </a:t>
            </a:r>
            <a:r>
              <a:rPr lang="en-US" altLang="zh-CN" sz="2400" dirty="0">
                <a:solidFill>
                  <a:srgbClr val="003399"/>
                </a:solidFill>
              </a:rPr>
              <a:t>if</a:t>
            </a:r>
            <a:r>
              <a:rPr lang="en-US" altLang="zh-CN" sz="2400" dirty="0"/>
              <a:t> (a</a:t>
            </a:r>
            <a:r>
              <a:rPr lang="en-US" altLang="zh-CN" sz="2400" baseline="-25000" dirty="0"/>
              <a:t>i</a:t>
            </a:r>
            <a:r>
              <a:rPr lang="en-US" altLang="zh-CN" sz="2400" dirty="0"/>
              <a:t> &gt; max)</a:t>
            </a:r>
            <a:endParaRPr lang="en-US" altLang="zh-CN" sz="2400" dirty="0"/>
          </a:p>
          <a:p>
            <a:pPr>
              <a:lnSpc>
                <a:spcPct val="100000"/>
              </a:lnSpc>
            </a:pPr>
            <a:r>
              <a:rPr lang="en-US" altLang="zh-CN" sz="2400" dirty="0"/>
              <a:t>      max </a:t>
            </a:r>
            <a:r>
              <a:rPr lang="en-US" altLang="zh-CN" sz="2400" dirty="0">
                <a:latin typeface="Comic Sans MS" panose="030F0702030302020204" pitchFamily="66" charset="0"/>
                <a:sym typeface="Symbol" panose="05050102010706020507" pitchFamily="18" charset="2"/>
              </a:rPr>
              <a:t></a:t>
            </a:r>
            <a:r>
              <a:rPr lang="en-US" altLang="zh-CN" sz="2400" dirty="0"/>
              <a:t> a</a:t>
            </a:r>
            <a:r>
              <a:rPr lang="en-US" altLang="zh-CN" sz="2400" baseline="-25000" dirty="0"/>
              <a:t>i</a:t>
            </a:r>
            <a:r>
              <a:rPr lang="en-US" altLang="zh-CN" sz="2400" dirty="0"/>
              <a:t>}</a:t>
            </a:r>
            <a:endParaRPr lang="en-US" altLang="zh-CN" sz="2400" dirty="0"/>
          </a:p>
        </p:txBody>
      </p:sp>
      <p:sp>
        <p:nvSpPr>
          <p:cNvPr id="23559" name="Text Box 7"/>
          <p:cNvSpPr txBox="1">
            <a:spLocks noChangeArrowheads="1"/>
          </p:cNvSpPr>
          <p:nvPr/>
        </p:nvSpPr>
        <p:spPr bwMode="auto">
          <a:xfrm>
            <a:off x="885072" y="2665731"/>
            <a:ext cx="7772400" cy="579438"/>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110000"/>
              </a:lnSpc>
              <a:defRPr sz="1400" b="1">
                <a:solidFill>
                  <a:schemeClr val="bg2"/>
                </a:solidFill>
                <a:latin typeface="Courier New" panose="02070309020205020404" pitchFamily="49" charset="0"/>
                <a:ea typeface="宋体" panose="02010600030101010101" pitchFamily="2" charset="-122"/>
              </a:defRPr>
            </a:lvl1pPr>
            <a:lvl2pPr marL="742950" indent="-285750">
              <a:lnSpc>
                <a:spcPct val="110000"/>
              </a:lnSpc>
              <a:defRPr sz="1400" b="1">
                <a:solidFill>
                  <a:schemeClr val="bg2"/>
                </a:solidFill>
                <a:latin typeface="Courier New" panose="02070309020205020404" pitchFamily="49" charset="0"/>
                <a:ea typeface="宋体" panose="02010600030101010101" pitchFamily="2" charset="-122"/>
              </a:defRPr>
            </a:lvl2pPr>
            <a:lvl3pPr marL="1143000" indent="-228600">
              <a:lnSpc>
                <a:spcPct val="110000"/>
              </a:lnSpc>
              <a:defRPr sz="1400" b="1">
                <a:solidFill>
                  <a:schemeClr val="bg2"/>
                </a:solidFill>
                <a:latin typeface="Courier New" panose="02070309020205020404" pitchFamily="49" charset="0"/>
                <a:ea typeface="宋体" panose="02010600030101010101" pitchFamily="2" charset="-122"/>
              </a:defRPr>
            </a:lvl3pPr>
            <a:lvl4pPr marL="1600200" indent="-228600">
              <a:lnSpc>
                <a:spcPct val="110000"/>
              </a:lnSpc>
              <a:defRPr sz="1400" b="1">
                <a:solidFill>
                  <a:schemeClr val="bg2"/>
                </a:solidFill>
                <a:latin typeface="Courier New" panose="02070309020205020404" pitchFamily="49" charset="0"/>
                <a:ea typeface="宋体" panose="02010600030101010101" pitchFamily="2" charset="-122"/>
              </a:defRPr>
            </a:lvl4pPr>
            <a:lvl5pPr marL="2057400" indent="-228600">
              <a:lnSpc>
                <a:spcPct val="110000"/>
              </a:lnSpc>
              <a:defRPr sz="1400" b="1">
                <a:solidFill>
                  <a:schemeClr val="bg2"/>
                </a:solidFill>
                <a:latin typeface="Courier New" panose="02070309020205020404" pitchFamily="49" charset="0"/>
                <a:ea typeface="宋体" panose="02010600030101010101" pitchFamily="2" charset="-122"/>
              </a:defRPr>
            </a:lvl5pPr>
            <a:lvl6pPr marL="25146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6pPr>
            <a:lvl7pPr marL="29718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7pPr>
            <a:lvl8pPr marL="34290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8pPr>
            <a:lvl9pPr marL="38862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9pPr>
          </a:lstStyle>
          <a:p>
            <a:pPr eaLnBrk="1" hangingPunct="1">
              <a:lnSpc>
                <a:spcPct val="100000"/>
              </a:lnSpc>
              <a:spcBef>
                <a:spcPct val="20000"/>
              </a:spcBef>
              <a:buClr>
                <a:schemeClr val="folHlink"/>
              </a:buClr>
              <a:buSzPct val="60000"/>
              <a:buFont typeface="Wingdings" panose="05000000000000000000" pitchFamily="2" charset="2"/>
              <a:buNone/>
            </a:pPr>
            <a:r>
              <a:rPr kumimoji="1" lang="zh-CN" altLang="en-US" sz="3200" b="0" dirty="0">
                <a:solidFill>
                  <a:schemeClr val="tx1"/>
                </a:solidFill>
                <a:latin typeface="Tahoma" panose="020B0604030504040204" pitchFamily="34" charset="0"/>
              </a:rPr>
              <a:t>问题</a:t>
            </a:r>
            <a:r>
              <a:rPr kumimoji="1" lang="en-US" altLang="zh-CN" sz="3200" b="0" dirty="0">
                <a:solidFill>
                  <a:schemeClr val="tx1"/>
                </a:solidFill>
                <a:latin typeface="Tahoma" panose="020B0604030504040204" pitchFamily="34" charset="0"/>
              </a:rPr>
              <a:t>1</a:t>
            </a:r>
            <a:r>
              <a:rPr kumimoji="1" lang="zh-CN" altLang="en-US" sz="3200" b="0" dirty="0">
                <a:solidFill>
                  <a:schemeClr val="tx1"/>
                </a:solidFill>
                <a:latin typeface="Tahoma" panose="020B0604030504040204" pitchFamily="34" charset="0"/>
              </a:rPr>
              <a:t>：计算</a:t>
            </a:r>
            <a:r>
              <a:rPr kumimoji="1" lang="en-US" altLang="zh-CN" sz="3200" b="0" dirty="0">
                <a:solidFill>
                  <a:schemeClr val="tx1"/>
                </a:solidFill>
                <a:latin typeface="Tahoma" panose="020B0604030504040204" pitchFamily="34" charset="0"/>
              </a:rPr>
              <a:t>n</a:t>
            </a:r>
            <a:r>
              <a:rPr kumimoji="1" lang="zh-CN" altLang="en-US" sz="3200" b="0" dirty="0">
                <a:solidFill>
                  <a:schemeClr val="tx1"/>
                </a:solidFill>
                <a:latin typeface="Tahoma" panose="020B0604030504040204" pitchFamily="34" charset="0"/>
              </a:rPr>
              <a:t>个数</a:t>
            </a:r>
            <a:r>
              <a:rPr kumimoji="1" lang="en-US" altLang="zh-CN" sz="3200" b="0" dirty="0">
                <a:solidFill>
                  <a:schemeClr val="tx1"/>
                </a:solidFill>
                <a:latin typeface="Tahoma" panose="020B0604030504040204" pitchFamily="34" charset="0"/>
              </a:rPr>
              <a:t>a</a:t>
            </a:r>
            <a:r>
              <a:rPr kumimoji="1" lang="en-US" altLang="zh-CN" sz="3200" b="0" baseline="-25000" dirty="0">
                <a:solidFill>
                  <a:schemeClr val="tx1"/>
                </a:solidFill>
                <a:latin typeface="Tahoma" panose="020B0604030504040204" pitchFamily="34" charset="0"/>
              </a:rPr>
              <a:t>1</a:t>
            </a:r>
            <a:r>
              <a:rPr kumimoji="1" lang="en-US" altLang="zh-CN" sz="3200" b="0" dirty="0">
                <a:solidFill>
                  <a:schemeClr val="tx1"/>
                </a:solidFill>
                <a:latin typeface="Tahoma" panose="020B0604030504040204" pitchFamily="34" charset="0"/>
              </a:rPr>
              <a:t>, </a:t>
            </a:r>
            <a:r>
              <a:rPr kumimoji="1" lang="en-US" altLang="zh-CN" sz="3200" b="0" dirty="0">
                <a:solidFill>
                  <a:schemeClr val="tx1"/>
                </a:solidFill>
                <a:latin typeface="Comic Sans MS" panose="030F0702030302020204" pitchFamily="66" charset="0"/>
              </a:rPr>
              <a:t>…</a:t>
            </a:r>
            <a:r>
              <a:rPr kumimoji="1" lang="en-US" altLang="zh-CN" sz="3200" b="0" dirty="0">
                <a:solidFill>
                  <a:schemeClr val="tx1"/>
                </a:solidFill>
                <a:latin typeface="Tahoma" panose="020B0604030504040204" pitchFamily="34" charset="0"/>
              </a:rPr>
              <a:t>, a</a:t>
            </a:r>
            <a:r>
              <a:rPr kumimoji="1" lang="en-US" altLang="zh-CN" sz="3200" b="0" baseline="-25000" dirty="0">
                <a:solidFill>
                  <a:schemeClr val="tx1"/>
                </a:solidFill>
                <a:latin typeface="Tahoma" panose="020B0604030504040204" pitchFamily="34" charset="0"/>
              </a:rPr>
              <a:t>n</a:t>
            </a:r>
            <a:r>
              <a:rPr kumimoji="1" lang="zh-CN" altLang="en-US" sz="3200" b="0" dirty="0">
                <a:solidFill>
                  <a:schemeClr val="tx1"/>
                </a:solidFill>
                <a:latin typeface="Tahoma" panose="020B0604030504040204" pitchFamily="34" charset="0"/>
              </a:rPr>
              <a:t>中的最大数。</a:t>
            </a:r>
            <a:endParaRPr lang="zh-CN" altLang="en-US" dirty="0"/>
          </a:p>
        </p:txBody>
      </p:sp>
      <p:sp>
        <p:nvSpPr>
          <p:cNvPr id="3" name="文本框 2"/>
          <p:cNvSpPr txBox="1"/>
          <p:nvPr/>
        </p:nvSpPr>
        <p:spPr>
          <a:xfrm>
            <a:off x="2123728" y="5887263"/>
            <a:ext cx="4572000" cy="707886"/>
          </a:xfrm>
          <a:prstGeom prst="rect">
            <a:avLst/>
          </a:prstGeom>
          <a:noFill/>
        </p:spPr>
        <p:txBody>
          <a:bodyPr wrap="square">
            <a:spAutoFit/>
          </a:bodyPr>
          <a:lstStyle/>
          <a:p>
            <a:r>
              <a:rPr lang="zh-CN" altLang="en-US" sz="2000" dirty="0">
                <a:solidFill>
                  <a:srgbClr val="FF0000"/>
                </a:solidFill>
              </a:rPr>
              <a:t>循环</a:t>
            </a:r>
            <a:r>
              <a:rPr lang="en-US" altLang="zh-CN" sz="2000" dirty="0">
                <a:solidFill>
                  <a:srgbClr val="FF0000"/>
                </a:solidFill>
              </a:rPr>
              <a:t>n-1</a:t>
            </a:r>
            <a:r>
              <a:rPr lang="zh-CN" altLang="en-US" sz="2000" dirty="0">
                <a:solidFill>
                  <a:srgbClr val="FF0000"/>
                </a:solidFill>
              </a:rPr>
              <a:t>次</a:t>
            </a:r>
            <a:endParaRPr lang="en-US" altLang="zh-CN" sz="2000" dirty="0">
              <a:solidFill>
                <a:srgbClr val="FF0000"/>
              </a:solidFill>
            </a:endParaRPr>
          </a:p>
          <a:p>
            <a:r>
              <a:rPr lang="zh-CN" altLang="en-US" sz="2000" dirty="0">
                <a:solidFill>
                  <a:srgbClr val="FF0000"/>
                </a:solidFill>
              </a:rPr>
              <a:t>复杂度为</a:t>
            </a:r>
            <a:r>
              <a:rPr lang="en-US" altLang="zh-CN" sz="2000" dirty="0">
                <a:solidFill>
                  <a:srgbClr val="FF0000"/>
                </a:solidFill>
              </a:rPr>
              <a:t>O(n)</a:t>
            </a:r>
            <a:endParaRPr lang="en-US" altLang="zh-CN" sz="2000"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3559"/>
                                        </p:tgtEl>
                                        <p:attrNameLst>
                                          <p:attrName>style.visibility</p:attrName>
                                        </p:attrNameLst>
                                      </p:cBhvr>
                                      <p:to>
                                        <p:strVal val="visible"/>
                                      </p:to>
                                    </p:set>
                                    <p:anim calcmode="lin" valueType="num">
                                      <p:cBhvr additive="base">
                                        <p:cTn id="7" dur="500" fill="hold"/>
                                        <p:tgtEl>
                                          <p:spTgt spid="23559"/>
                                        </p:tgtEl>
                                        <p:attrNameLst>
                                          <p:attrName>ppt_x</p:attrName>
                                        </p:attrNameLst>
                                      </p:cBhvr>
                                      <p:tavLst>
                                        <p:tav tm="0">
                                          <p:val>
                                            <p:strVal val="0-#ppt_w/2"/>
                                          </p:val>
                                        </p:tav>
                                        <p:tav tm="100000">
                                          <p:val>
                                            <p:strVal val="#ppt_x"/>
                                          </p:val>
                                        </p:tav>
                                      </p:tavLst>
                                    </p:anim>
                                    <p:anim calcmode="lin" valueType="num">
                                      <p:cBhvr additive="base">
                                        <p:cTn id="8" dur="500" fill="hold"/>
                                        <p:tgtEl>
                                          <p:spTgt spid="2355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3557"/>
                                        </p:tgtEl>
                                        <p:attrNameLst>
                                          <p:attrName>style.visibility</p:attrName>
                                        </p:attrNameLst>
                                      </p:cBhvr>
                                      <p:to>
                                        <p:strVal val="visible"/>
                                      </p:to>
                                    </p:set>
                                    <p:anim calcmode="lin" valueType="num">
                                      <p:cBhvr additive="base">
                                        <p:cTn id="13" dur="500" fill="hold"/>
                                        <p:tgtEl>
                                          <p:spTgt spid="23557"/>
                                        </p:tgtEl>
                                        <p:attrNameLst>
                                          <p:attrName>ppt_x</p:attrName>
                                        </p:attrNameLst>
                                      </p:cBhvr>
                                      <p:tavLst>
                                        <p:tav tm="0">
                                          <p:val>
                                            <p:strVal val="0-#ppt_w/2"/>
                                          </p:val>
                                        </p:tav>
                                        <p:tav tm="100000">
                                          <p:val>
                                            <p:strVal val="#ppt_x"/>
                                          </p:val>
                                        </p:tav>
                                      </p:tavLst>
                                    </p:anim>
                                    <p:anim calcmode="lin" valueType="num">
                                      <p:cBhvr additive="base">
                                        <p:cTn id="14" dur="500" fill="hold"/>
                                        <p:tgtEl>
                                          <p:spTgt spid="2355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7" grpId="0" animBg="1" autoUpdateAnimBg="0"/>
      <p:bldP spid="23559" grpId="0" autoUpdateAnimBg="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47B586DF-CD9C-4CD4-976E-C1469CC03CE6}" type="slidenum">
              <a:rPr lang="zh-CN" altLang="en-US"/>
            </a:fld>
            <a:endParaRPr lang="en-US" altLang="zh-CN"/>
          </a:p>
        </p:txBody>
      </p:sp>
      <p:sp>
        <p:nvSpPr>
          <p:cNvPr id="24579" name="Rectangle 2"/>
          <p:cNvSpPr>
            <a:spLocks noGrp="1" noChangeArrowheads="1"/>
          </p:cNvSpPr>
          <p:nvPr>
            <p:ph type="title"/>
          </p:nvPr>
        </p:nvSpPr>
        <p:spPr>
          <a:xfrm>
            <a:off x="1143000" y="609600"/>
            <a:ext cx="7793038" cy="1143000"/>
          </a:xfrm>
        </p:spPr>
        <p:txBody>
          <a:bodyPr/>
          <a:lstStyle/>
          <a:p>
            <a:pPr eaLnBrk="1" hangingPunct="1"/>
            <a:r>
              <a:rPr lang="zh-CN" altLang="en-US"/>
              <a:t>线性时间</a:t>
            </a:r>
            <a:endParaRPr lang="zh-CN" altLang="en-US"/>
          </a:p>
        </p:txBody>
      </p:sp>
      <p:sp>
        <p:nvSpPr>
          <p:cNvPr id="24580" name="Rectangle 3"/>
          <p:cNvSpPr>
            <a:spLocks noGrp="1" noChangeArrowheads="1"/>
          </p:cNvSpPr>
          <p:nvPr>
            <p:ph type="body" idx="1"/>
          </p:nvPr>
        </p:nvSpPr>
        <p:spPr>
          <a:xfrm>
            <a:off x="467544" y="1981200"/>
            <a:ext cx="7772400" cy="4114800"/>
          </a:xfrm>
        </p:spPr>
        <p:txBody>
          <a:bodyPr/>
          <a:lstStyle/>
          <a:p>
            <a:pPr eaLnBrk="1" hangingPunct="1">
              <a:buFont typeface="Wingdings" panose="05000000000000000000" pitchFamily="2" charset="2"/>
              <a:buNone/>
            </a:pPr>
            <a:r>
              <a:rPr lang="zh-CN" altLang="en-US" dirty="0"/>
              <a:t>归并两个</a:t>
            </a:r>
            <a:r>
              <a:rPr lang="zh-CN" altLang="en-US" dirty="0">
                <a:solidFill>
                  <a:srgbClr val="FF0000"/>
                </a:solidFill>
              </a:rPr>
              <a:t>排好序</a:t>
            </a:r>
            <a:r>
              <a:rPr lang="zh-CN" altLang="en-US" dirty="0"/>
              <a:t>的数表</a:t>
            </a:r>
            <a:endParaRPr lang="zh-CN" altLang="en-US" dirty="0"/>
          </a:p>
          <a:p>
            <a:pPr eaLnBrk="1" hangingPunct="1"/>
            <a:r>
              <a:rPr lang="zh-CN" altLang="en-US" dirty="0"/>
              <a:t>问题</a:t>
            </a:r>
            <a:r>
              <a:rPr lang="en-US" altLang="zh-CN" dirty="0"/>
              <a:t>2</a:t>
            </a:r>
            <a:r>
              <a:rPr lang="zh-CN" altLang="en-US" dirty="0"/>
              <a:t>：给定两个数组，每个包含有</a:t>
            </a:r>
            <a:r>
              <a:rPr lang="en-US" altLang="zh-CN" dirty="0"/>
              <a:t>n</a:t>
            </a:r>
            <a:r>
              <a:rPr lang="zh-CN" altLang="en-US" dirty="0"/>
              <a:t>个数，并且按照上升的顺序排列， </a:t>
            </a:r>
            <a:r>
              <a:rPr kumimoji="0" lang="en-US" altLang="zh-CN" sz="2800" b="1" dirty="0">
                <a:latin typeface="Courier New" panose="02070309020205020404" pitchFamily="49" charset="0"/>
                <a:cs typeface="Courier New" panose="02070309020205020404" pitchFamily="49" charset="0"/>
              </a:rPr>
              <a:t>A = a</a:t>
            </a:r>
            <a:r>
              <a:rPr kumimoji="0" lang="en-US" altLang="zh-CN" sz="2800" b="1" baseline="-25000" dirty="0">
                <a:latin typeface="Courier New" panose="02070309020205020404" pitchFamily="49" charset="0"/>
                <a:cs typeface="Courier New" panose="02070309020205020404" pitchFamily="49" charset="0"/>
              </a:rPr>
              <a:t>1</a:t>
            </a:r>
            <a:r>
              <a:rPr kumimoji="0" lang="en-US" altLang="zh-CN" sz="2800" b="1" dirty="0">
                <a:latin typeface="Courier New" panose="02070309020205020404" pitchFamily="49" charset="0"/>
                <a:cs typeface="Courier New" panose="02070309020205020404" pitchFamily="49" charset="0"/>
              </a:rPr>
              <a:t>, a</a:t>
            </a:r>
            <a:r>
              <a:rPr kumimoji="0" lang="en-US" altLang="zh-CN" sz="2800" b="1" baseline="-25000" dirty="0">
                <a:latin typeface="Courier New" panose="02070309020205020404" pitchFamily="49" charset="0"/>
                <a:cs typeface="Courier New" panose="02070309020205020404" pitchFamily="49" charset="0"/>
              </a:rPr>
              <a:t>2</a:t>
            </a:r>
            <a:r>
              <a:rPr kumimoji="0" lang="en-US" altLang="zh-CN" sz="2800" b="1" dirty="0">
                <a:latin typeface="Courier New" panose="02070309020205020404" pitchFamily="49" charset="0"/>
                <a:cs typeface="Courier New" panose="02070309020205020404" pitchFamily="49" charset="0"/>
              </a:rPr>
              <a:t>,…, </a:t>
            </a:r>
            <a:r>
              <a:rPr kumimoji="0" lang="en-US" altLang="zh-CN" sz="2800" b="1" dirty="0" err="1">
                <a:latin typeface="Courier New" panose="02070309020205020404" pitchFamily="49" charset="0"/>
                <a:cs typeface="Courier New" panose="02070309020205020404" pitchFamily="49" charset="0"/>
              </a:rPr>
              <a:t>a</a:t>
            </a:r>
            <a:r>
              <a:rPr kumimoji="0" lang="en-US" altLang="zh-CN" sz="2800" b="1" baseline="-25000" dirty="0" err="1">
                <a:latin typeface="Courier New" panose="02070309020205020404" pitchFamily="49" charset="0"/>
                <a:cs typeface="Courier New" panose="02070309020205020404" pitchFamily="49" charset="0"/>
              </a:rPr>
              <a:t>n</a:t>
            </a:r>
            <a:r>
              <a:rPr kumimoji="0" lang="en-US" altLang="zh-CN" sz="2800" b="1" dirty="0" err="1">
                <a:latin typeface="Courier New" panose="02070309020205020404" pitchFamily="49" charset="0"/>
              </a:rPr>
              <a:t>；</a:t>
            </a:r>
            <a:r>
              <a:rPr kumimoji="0" lang="en-US" altLang="zh-CN" sz="2800" b="1" dirty="0" err="1">
                <a:latin typeface="Courier New" panose="02070309020205020404" pitchFamily="49" charset="0"/>
                <a:cs typeface="Courier New" panose="02070309020205020404" pitchFamily="49" charset="0"/>
              </a:rPr>
              <a:t>B</a:t>
            </a:r>
            <a:r>
              <a:rPr kumimoji="0" lang="en-US" altLang="zh-CN" sz="2800" b="1" dirty="0">
                <a:latin typeface="Courier New" panose="02070309020205020404" pitchFamily="49" charset="0"/>
                <a:cs typeface="Courier New" panose="02070309020205020404" pitchFamily="49" charset="0"/>
              </a:rPr>
              <a:t> = b</a:t>
            </a:r>
            <a:r>
              <a:rPr kumimoji="0" lang="en-US" altLang="zh-CN" sz="2800" b="1" baseline="-25000" dirty="0">
                <a:latin typeface="Courier New" panose="02070309020205020404" pitchFamily="49" charset="0"/>
                <a:cs typeface="Courier New" panose="02070309020205020404" pitchFamily="49" charset="0"/>
              </a:rPr>
              <a:t>1</a:t>
            </a:r>
            <a:r>
              <a:rPr kumimoji="0" lang="en-US" altLang="zh-CN" sz="2800" b="1" dirty="0">
                <a:latin typeface="Courier New" panose="02070309020205020404" pitchFamily="49" charset="0"/>
                <a:cs typeface="Courier New" panose="02070309020205020404" pitchFamily="49" charset="0"/>
              </a:rPr>
              <a:t>,b</a:t>
            </a:r>
            <a:r>
              <a:rPr kumimoji="0" lang="en-US" altLang="zh-CN" sz="2800" b="1" baseline="-25000" dirty="0">
                <a:latin typeface="Courier New" panose="02070309020205020404" pitchFamily="49" charset="0"/>
                <a:cs typeface="Courier New" panose="02070309020205020404" pitchFamily="49" charset="0"/>
              </a:rPr>
              <a:t>2</a:t>
            </a:r>
            <a:r>
              <a:rPr kumimoji="0" lang="en-US" altLang="zh-CN" sz="2800" b="1" dirty="0">
                <a:latin typeface="Courier New" panose="02070309020205020404" pitchFamily="49" charset="0"/>
                <a:cs typeface="Courier New" panose="02070309020205020404" pitchFamily="49" charset="0"/>
              </a:rPr>
              <a:t>,…,b</a:t>
            </a:r>
            <a:r>
              <a:rPr kumimoji="0" lang="en-US" altLang="zh-CN" sz="2800" b="1" baseline="-25000" dirty="0">
                <a:latin typeface="Courier New" panose="02070309020205020404" pitchFamily="49" charset="0"/>
                <a:cs typeface="Courier New" panose="02070309020205020404" pitchFamily="49" charset="0"/>
              </a:rPr>
              <a:t>n</a:t>
            </a:r>
            <a:r>
              <a:rPr lang="en-US" altLang="zh-CN" dirty="0"/>
              <a:t> ，</a:t>
            </a:r>
            <a:r>
              <a:rPr lang="zh-CN" altLang="en-US" dirty="0"/>
              <a:t>把它们归并成按照上升顺序排列的数组。</a:t>
            </a:r>
            <a:endParaRPr lang="zh-CN" alt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5"/>
          <p:cNvSpPr>
            <a:spLocks noGrp="1"/>
          </p:cNvSpPr>
          <p:nvPr>
            <p:ph type="sldNum" sz="quarter" idx="12"/>
          </p:nvPr>
        </p:nvSpPr>
        <p:spPr/>
        <p:txBody>
          <a:bodyPr/>
          <a:lstStyle/>
          <a:p>
            <a:pPr>
              <a:defRPr/>
            </a:pPr>
            <a:fld id="{9A72E1E8-C33F-49EF-BA7F-E4E6C92B0B8E}" type="slidenum">
              <a:rPr lang="zh-CN" altLang="en-US"/>
            </a:fld>
            <a:endParaRPr lang="en-US" altLang="zh-CN"/>
          </a:p>
        </p:txBody>
      </p:sp>
      <p:sp>
        <p:nvSpPr>
          <p:cNvPr id="25603" name="Rectangle 2"/>
          <p:cNvSpPr>
            <a:spLocks noGrp="1" noChangeArrowheads="1"/>
          </p:cNvSpPr>
          <p:nvPr>
            <p:ph type="title"/>
          </p:nvPr>
        </p:nvSpPr>
        <p:spPr/>
        <p:txBody>
          <a:bodyPr/>
          <a:lstStyle/>
          <a:p>
            <a:pPr eaLnBrk="1" hangingPunct="1"/>
            <a:r>
              <a:rPr lang="zh-CN" altLang="en-US"/>
              <a:t>线性时间</a:t>
            </a:r>
            <a:endParaRPr lang="zh-CN" altLang="en-US"/>
          </a:p>
        </p:txBody>
      </p:sp>
      <p:sp>
        <p:nvSpPr>
          <p:cNvPr id="25604" name="Rectangle 3"/>
          <p:cNvSpPr>
            <a:spLocks noGrp="1" noChangeArrowheads="1"/>
          </p:cNvSpPr>
          <p:nvPr>
            <p:ph type="body" idx="1"/>
          </p:nvPr>
        </p:nvSpPr>
        <p:spPr/>
        <p:txBody>
          <a:bodyPr/>
          <a:lstStyle/>
          <a:p>
            <a:pPr eaLnBrk="1" hangingPunct="1">
              <a:buFont typeface="Wingdings" panose="05000000000000000000" pitchFamily="2" charset="2"/>
              <a:buNone/>
            </a:pPr>
            <a:r>
              <a:rPr lang="zh-CN" altLang="en-US"/>
              <a:t> </a:t>
            </a:r>
            <a:endParaRPr lang="zh-CN" altLang="en-US"/>
          </a:p>
        </p:txBody>
      </p:sp>
      <p:pic>
        <p:nvPicPr>
          <p:cNvPr id="25605" name="Picture 4" descr="kleinberg_02F02"/>
          <p:cNvPicPr preferRelativeResize="0">
            <a:picLocks noChangeAspect="1" noChangeArrowheads="1"/>
          </p:cNvPicPr>
          <p:nvPr/>
        </p:nvPicPr>
        <p:blipFill>
          <a:blip r:embed="rId1">
            <a:extLst>
              <a:ext uri="{28A0092B-C50C-407E-A947-70E740481C1C}">
                <a14:useLocalDpi xmlns:a14="http://schemas.microsoft.com/office/drawing/2010/main" val="0"/>
              </a:ext>
            </a:extLst>
          </a:blip>
          <a:srcRect l="23979" t="36714" r="25246" b="24937"/>
          <a:stretch>
            <a:fillRect/>
          </a:stretch>
        </p:blipFill>
        <p:spPr bwMode="auto">
          <a:xfrm>
            <a:off x="1524000" y="1910331"/>
            <a:ext cx="3696072" cy="11519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5606" name="Text Box 6"/>
          <p:cNvSpPr txBox="1">
            <a:spLocks noChangeArrowheads="1"/>
          </p:cNvSpPr>
          <p:nvPr/>
        </p:nvSpPr>
        <p:spPr bwMode="auto">
          <a:xfrm>
            <a:off x="840149" y="3295253"/>
            <a:ext cx="7463702" cy="2693045"/>
          </a:xfrm>
          <a:prstGeom prst="rect">
            <a:avLst/>
          </a:prstGeom>
          <a:solidFill>
            <a:srgbClr val="C0C0C0"/>
          </a:solid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182880" tIns="137160" rIns="137160" bIns="91440">
            <a:spAutoFit/>
          </a:bodyPr>
          <a:lstStyle>
            <a:lvl1pPr>
              <a:lnSpc>
                <a:spcPct val="110000"/>
              </a:lnSpc>
              <a:defRPr sz="1400" b="1">
                <a:solidFill>
                  <a:schemeClr val="bg2"/>
                </a:solidFill>
                <a:latin typeface="Courier New" panose="02070309020205020404" pitchFamily="49" charset="0"/>
                <a:ea typeface="宋体" panose="02010600030101010101" pitchFamily="2" charset="-122"/>
              </a:defRPr>
            </a:lvl1pPr>
            <a:lvl2pPr marL="742950" indent="-285750">
              <a:lnSpc>
                <a:spcPct val="110000"/>
              </a:lnSpc>
              <a:defRPr sz="1400" b="1">
                <a:solidFill>
                  <a:schemeClr val="bg2"/>
                </a:solidFill>
                <a:latin typeface="Courier New" panose="02070309020205020404" pitchFamily="49" charset="0"/>
                <a:ea typeface="宋体" panose="02010600030101010101" pitchFamily="2" charset="-122"/>
              </a:defRPr>
            </a:lvl2pPr>
            <a:lvl3pPr marL="1143000" indent="-228600">
              <a:lnSpc>
                <a:spcPct val="110000"/>
              </a:lnSpc>
              <a:defRPr sz="1400" b="1">
                <a:solidFill>
                  <a:schemeClr val="bg2"/>
                </a:solidFill>
                <a:latin typeface="Courier New" panose="02070309020205020404" pitchFamily="49" charset="0"/>
                <a:ea typeface="宋体" panose="02010600030101010101" pitchFamily="2" charset="-122"/>
              </a:defRPr>
            </a:lvl3pPr>
            <a:lvl4pPr marL="1600200" indent="-228600">
              <a:lnSpc>
                <a:spcPct val="110000"/>
              </a:lnSpc>
              <a:defRPr sz="1400" b="1">
                <a:solidFill>
                  <a:schemeClr val="bg2"/>
                </a:solidFill>
                <a:latin typeface="Courier New" panose="02070309020205020404" pitchFamily="49" charset="0"/>
                <a:ea typeface="宋体" panose="02010600030101010101" pitchFamily="2" charset="-122"/>
              </a:defRPr>
            </a:lvl4pPr>
            <a:lvl5pPr marL="2057400" indent="-228600">
              <a:lnSpc>
                <a:spcPct val="110000"/>
              </a:lnSpc>
              <a:defRPr sz="1400" b="1">
                <a:solidFill>
                  <a:schemeClr val="bg2"/>
                </a:solidFill>
                <a:latin typeface="Courier New" panose="02070309020205020404" pitchFamily="49" charset="0"/>
                <a:ea typeface="宋体" panose="02010600030101010101" pitchFamily="2" charset="-122"/>
              </a:defRPr>
            </a:lvl5pPr>
            <a:lvl6pPr marL="25146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6pPr>
            <a:lvl7pPr marL="29718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7pPr>
            <a:lvl8pPr marL="34290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8pPr>
            <a:lvl9pPr marL="38862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9pPr>
          </a:lstStyle>
          <a:p>
            <a:pPr>
              <a:lnSpc>
                <a:spcPct val="100000"/>
              </a:lnSpc>
            </a:pPr>
            <a:r>
              <a:rPr lang="en-US" altLang="zh-CN" sz="2000" dirty="0" err="1">
                <a:solidFill>
                  <a:schemeClr val="tx1"/>
                </a:solidFill>
              </a:rPr>
              <a:t>i</a:t>
            </a:r>
            <a:r>
              <a:rPr lang="en-US" altLang="zh-CN" sz="2000" dirty="0">
                <a:solidFill>
                  <a:schemeClr val="tx1"/>
                </a:solidFill>
              </a:rPr>
              <a:t> = 1, j = 1</a:t>
            </a:r>
            <a:endParaRPr lang="en-US" altLang="zh-CN" sz="2000" dirty="0">
              <a:solidFill>
                <a:srgbClr val="003399"/>
              </a:solidFill>
            </a:endParaRPr>
          </a:p>
          <a:p>
            <a:pPr>
              <a:lnSpc>
                <a:spcPct val="100000"/>
              </a:lnSpc>
            </a:pPr>
            <a:r>
              <a:rPr lang="en-US" altLang="zh-CN" sz="2000" dirty="0">
                <a:solidFill>
                  <a:srgbClr val="003399"/>
                </a:solidFill>
              </a:rPr>
              <a:t>while</a:t>
            </a:r>
            <a:r>
              <a:rPr lang="en-US" altLang="zh-CN" sz="2000" dirty="0"/>
              <a:t> (both lists are nonempty) {</a:t>
            </a:r>
            <a:endParaRPr lang="en-US" altLang="zh-CN" sz="2000" dirty="0"/>
          </a:p>
          <a:p>
            <a:pPr>
              <a:lnSpc>
                <a:spcPct val="100000"/>
              </a:lnSpc>
            </a:pPr>
            <a:r>
              <a:rPr lang="en-US" altLang="zh-CN" sz="2000" dirty="0">
                <a:solidFill>
                  <a:srgbClr val="003399"/>
                </a:solidFill>
              </a:rPr>
              <a:t>   if</a:t>
            </a:r>
            <a:r>
              <a:rPr lang="en-US" altLang="zh-CN" sz="2000" dirty="0"/>
              <a:t> (a</a:t>
            </a:r>
            <a:r>
              <a:rPr lang="en-US" altLang="zh-CN" sz="2000" baseline="-25000" dirty="0"/>
              <a:t>i</a:t>
            </a:r>
            <a:r>
              <a:rPr lang="en-US" altLang="zh-CN" sz="2000" dirty="0"/>
              <a:t> </a:t>
            </a:r>
            <a:r>
              <a:rPr lang="en-US" altLang="zh-CN" sz="2000" dirty="0">
                <a:sym typeface="Symbol" panose="05050102010706020507" pitchFamily="18" charset="2"/>
              </a:rPr>
              <a:t> </a:t>
            </a:r>
            <a:r>
              <a:rPr lang="en-US" altLang="zh-CN" sz="2000" dirty="0" err="1">
                <a:sym typeface="Symbol" panose="05050102010706020507" pitchFamily="18" charset="2"/>
              </a:rPr>
              <a:t>b</a:t>
            </a:r>
            <a:r>
              <a:rPr lang="en-US" altLang="zh-CN" sz="2000" baseline="-25000" dirty="0" err="1">
                <a:sym typeface="Symbol" panose="05050102010706020507" pitchFamily="18" charset="2"/>
              </a:rPr>
              <a:t>j</a:t>
            </a:r>
            <a:r>
              <a:rPr lang="en-US" altLang="zh-CN" sz="2000" dirty="0">
                <a:sym typeface="Symbol" panose="05050102010706020507" pitchFamily="18" charset="2"/>
              </a:rPr>
              <a:t>) append a</a:t>
            </a:r>
            <a:r>
              <a:rPr lang="en-US" altLang="zh-CN" sz="2000" baseline="-25000" dirty="0">
                <a:sym typeface="Symbol" panose="05050102010706020507" pitchFamily="18" charset="2"/>
              </a:rPr>
              <a:t>i</a:t>
            </a:r>
            <a:r>
              <a:rPr lang="en-US" altLang="zh-CN" sz="2000" dirty="0">
                <a:sym typeface="Symbol" panose="05050102010706020507" pitchFamily="18" charset="2"/>
              </a:rPr>
              <a:t> to output list and increment </a:t>
            </a:r>
            <a:r>
              <a:rPr lang="en-US" altLang="zh-CN" sz="2000" dirty="0" err="1">
                <a:sym typeface="Symbol" panose="05050102010706020507" pitchFamily="18" charset="2"/>
              </a:rPr>
              <a:t>i</a:t>
            </a:r>
            <a:endParaRPr lang="en-US" altLang="zh-CN" sz="2000" dirty="0">
              <a:sym typeface="Symbol" panose="05050102010706020507" pitchFamily="18" charset="2"/>
            </a:endParaRPr>
          </a:p>
          <a:p>
            <a:pPr>
              <a:lnSpc>
                <a:spcPct val="100000"/>
              </a:lnSpc>
            </a:pPr>
            <a:r>
              <a:rPr lang="en-US" altLang="zh-CN" sz="2000" dirty="0">
                <a:solidFill>
                  <a:srgbClr val="003399"/>
                </a:solidFill>
              </a:rPr>
              <a:t>   else </a:t>
            </a:r>
            <a:r>
              <a:rPr lang="en-US" altLang="zh-CN" sz="2000" dirty="0"/>
              <a:t>append </a:t>
            </a:r>
            <a:r>
              <a:rPr lang="en-US" altLang="zh-CN" sz="2000" dirty="0" err="1"/>
              <a:t>b</a:t>
            </a:r>
            <a:r>
              <a:rPr lang="en-US" altLang="zh-CN" sz="2000" baseline="-25000" dirty="0" err="1"/>
              <a:t>j</a:t>
            </a:r>
            <a:r>
              <a:rPr lang="en-US" altLang="zh-CN" sz="2000" dirty="0"/>
              <a:t> to output list and </a:t>
            </a:r>
            <a:r>
              <a:rPr lang="en-US" altLang="zh-CN" sz="2000" dirty="0" err="1"/>
              <a:t>incrementj</a:t>
            </a:r>
            <a:endParaRPr lang="en-US" altLang="zh-CN" sz="2000" baseline="-25000" dirty="0"/>
          </a:p>
          <a:p>
            <a:pPr>
              <a:lnSpc>
                <a:spcPct val="100000"/>
              </a:lnSpc>
            </a:pPr>
            <a:r>
              <a:rPr lang="en-US" altLang="zh-CN" sz="2000" dirty="0"/>
              <a:t>}</a:t>
            </a:r>
            <a:endParaRPr lang="en-US" altLang="zh-CN" sz="2000" dirty="0"/>
          </a:p>
          <a:p>
            <a:pPr>
              <a:lnSpc>
                <a:spcPct val="100000"/>
              </a:lnSpc>
            </a:pPr>
            <a:r>
              <a:rPr lang="en-US" altLang="zh-CN" sz="2000" dirty="0"/>
              <a:t>append remainder of nonempty list to output list</a:t>
            </a:r>
            <a:endParaRPr lang="en-US" altLang="zh-CN" sz="2000" dirty="0"/>
          </a:p>
        </p:txBody>
      </p:sp>
      <p:sp>
        <p:nvSpPr>
          <p:cNvPr id="3" name="文本框 2"/>
          <p:cNvSpPr txBox="1"/>
          <p:nvPr/>
        </p:nvSpPr>
        <p:spPr>
          <a:xfrm>
            <a:off x="2286000" y="6039840"/>
            <a:ext cx="4572000" cy="707886"/>
          </a:xfrm>
          <a:prstGeom prst="rect">
            <a:avLst/>
          </a:prstGeom>
          <a:noFill/>
        </p:spPr>
        <p:txBody>
          <a:bodyPr wrap="square">
            <a:spAutoFit/>
          </a:bodyPr>
          <a:lstStyle/>
          <a:p>
            <a:r>
              <a:rPr lang="en-US" altLang="zh-CN" sz="2000" dirty="0">
                <a:solidFill>
                  <a:srgbClr val="FF0000"/>
                </a:solidFill>
              </a:rPr>
              <a:t>2n-1</a:t>
            </a:r>
            <a:r>
              <a:rPr lang="zh-CN" altLang="en-US" sz="2000" dirty="0">
                <a:solidFill>
                  <a:srgbClr val="FF0000"/>
                </a:solidFill>
              </a:rPr>
              <a:t>次比较，忽略低阶项和系数 </a:t>
            </a:r>
            <a:endParaRPr lang="en-US" altLang="zh-CN" sz="2000" dirty="0">
              <a:solidFill>
                <a:srgbClr val="FF0000"/>
              </a:solidFill>
            </a:endParaRPr>
          </a:p>
          <a:p>
            <a:r>
              <a:rPr lang="zh-CN" altLang="en-US" sz="2000" dirty="0">
                <a:solidFill>
                  <a:srgbClr val="FF0000"/>
                </a:solidFill>
              </a:rPr>
              <a:t>时间复杂度为</a:t>
            </a:r>
            <a:r>
              <a:rPr lang="en-US" altLang="zh-CN" sz="2000" dirty="0">
                <a:solidFill>
                  <a:srgbClr val="FF0000"/>
                </a:solidFill>
              </a:rPr>
              <a:t>O(n)</a:t>
            </a:r>
            <a:endParaRPr lang="zh-CN" altLang="en-US" sz="2000" dirty="0">
              <a:solidFill>
                <a:srgbClr val="FF0000"/>
              </a:solidFil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20030822-6A8F-4ADC-8899-CC9E0B57D25F}" type="slidenum">
              <a:rPr lang="zh-CN" altLang="en-US"/>
            </a:fld>
            <a:endParaRPr lang="en-US" altLang="zh-CN"/>
          </a:p>
        </p:txBody>
      </p:sp>
      <p:sp>
        <p:nvSpPr>
          <p:cNvPr id="26627" name="Rectangle 2"/>
          <p:cNvSpPr>
            <a:spLocks noGrp="1" noChangeArrowheads="1"/>
          </p:cNvSpPr>
          <p:nvPr>
            <p:ph type="title"/>
          </p:nvPr>
        </p:nvSpPr>
        <p:spPr/>
        <p:txBody>
          <a:bodyPr/>
          <a:lstStyle/>
          <a:p>
            <a:pPr eaLnBrk="1" hangingPunct="1"/>
            <a:r>
              <a:rPr lang="en-US" altLang="zh-CN"/>
              <a:t>O(nlogn)</a:t>
            </a:r>
            <a:r>
              <a:rPr lang="zh-CN" altLang="en-US"/>
              <a:t>阶时间</a:t>
            </a:r>
            <a:endParaRPr lang="zh-CN" altLang="en-US"/>
          </a:p>
        </p:txBody>
      </p:sp>
      <p:sp>
        <p:nvSpPr>
          <p:cNvPr id="2" name="Rectangle 3"/>
          <p:cNvSpPr>
            <a:spLocks noGrp="1" noChangeArrowheads="1"/>
          </p:cNvSpPr>
          <p:nvPr>
            <p:ph type="body" idx="1"/>
          </p:nvPr>
        </p:nvSpPr>
        <p:spPr/>
        <p:txBody>
          <a:bodyPr/>
          <a:lstStyle/>
          <a:p>
            <a:pPr eaLnBrk="1" hangingPunct="1"/>
            <a:r>
              <a:rPr lang="zh-CN" altLang="en-US"/>
              <a:t>快速排序(</a:t>
            </a:r>
            <a:r>
              <a:rPr lang="en-US" altLang="zh-CN"/>
              <a:t>Quicksort)</a:t>
            </a:r>
            <a:endParaRPr lang="en-US" altLang="zh-CN"/>
          </a:p>
          <a:p>
            <a:pPr eaLnBrk="1" hangingPunct="1"/>
            <a:endParaRPr lang="en-US" altLang="zh-CN"/>
          </a:p>
          <a:p>
            <a:pPr eaLnBrk="1" hangingPunct="1"/>
            <a:r>
              <a:rPr lang="en-US" altLang="zh-CN"/>
              <a:t>FFT(</a:t>
            </a:r>
            <a:r>
              <a:rPr lang="zh-CN" altLang="en-US"/>
              <a:t>快速傅立叶变换)</a:t>
            </a:r>
            <a:endParaRPr lang="zh-CN" altLang="en-US"/>
          </a:p>
          <a:p>
            <a:pPr eaLnBrk="1" hangingPunct="1"/>
            <a:endParaRPr lang="zh-CN" altLang="en-US"/>
          </a:p>
          <a:p>
            <a:pPr eaLnBrk="1" hangingPunct="1"/>
            <a:r>
              <a:rPr lang="zh-CN" altLang="en-US"/>
              <a:t>归并排序，堆排序</a:t>
            </a:r>
            <a:endParaRPr lang="zh-CN" altLang="en-US"/>
          </a:p>
          <a:p>
            <a:pPr eaLnBrk="1" hangingPunct="1"/>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anim calcmode="lin" valueType="num">
                                      <p:cBhvr additive="base">
                                        <p:cTn id="19" dur="500" fill="hold"/>
                                        <p:tgtEl>
                                          <p:spTgt spid="2">
                                            <p:txEl>
                                              <p:pRg st="4" end="4"/>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build="p"/>
    </p:bldLst>
  </p:timing>
</p:sld>
</file>

<file path=ppt/slides/slide5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20199ED9-42B6-45FF-9013-8ACAEF0183AF}" type="slidenum">
              <a:rPr lang="zh-CN" altLang="en-US"/>
            </a:fld>
            <a:endParaRPr lang="en-US" altLang="zh-CN"/>
          </a:p>
        </p:txBody>
      </p:sp>
      <p:sp>
        <p:nvSpPr>
          <p:cNvPr id="27651" name="Rectangle 2"/>
          <p:cNvSpPr>
            <a:spLocks noGrp="1" noChangeArrowheads="1"/>
          </p:cNvSpPr>
          <p:nvPr>
            <p:ph type="title"/>
          </p:nvPr>
        </p:nvSpPr>
        <p:spPr/>
        <p:txBody>
          <a:bodyPr/>
          <a:lstStyle/>
          <a:p>
            <a:pPr eaLnBrk="1" hangingPunct="1"/>
            <a:r>
              <a:rPr lang="en-US" altLang="zh-CN"/>
              <a:t>O(nlogn)</a:t>
            </a:r>
            <a:r>
              <a:rPr lang="zh-CN" altLang="en-US"/>
              <a:t>阶时间</a:t>
            </a:r>
            <a:endParaRPr lang="zh-CN" altLang="en-US"/>
          </a:p>
        </p:txBody>
      </p:sp>
      <p:sp>
        <p:nvSpPr>
          <p:cNvPr id="2" name="Rectangle 3"/>
          <p:cNvSpPr>
            <a:spLocks noGrp="1" noChangeArrowheads="1"/>
          </p:cNvSpPr>
          <p:nvPr>
            <p:ph type="body" idx="1"/>
          </p:nvPr>
        </p:nvSpPr>
        <p:spPr>
          <a:xfrm>
            <a:off x="685800" y="1968098"/>
            <a:ext cx="7772400" cy="4114800"/>
          </a:xfrm>
        </p:spPr>
        <p:txBody>
          <a:bodyPr/>
          <a:lstStyle/>
          <a:p>
            <a:pPr marL="0" indent="0" eaLnBrk="1" hangingPunct="1">
              <a:lnSpc>
                <a:spcPct val="90000"/>
              </a:lnSpc>
              <a:buNone/>
            </a:pPr>
            <a:r>
              <a:rPr lang="zh-CN" altLang="en-US" dirty="0"/>
              <a:t>实际中碰到的问题：</a:t>
            </a:r>
            <a:endParaRPr lang="zh-CN" altLang="en-US" dirty="0"/>
          </a:p>
          <a:p>
            <a:pPr algn="just" eaLnBrk="1" hangingPunct="1">
              <a:lnSpc>
                <a:spcPct val="90000"/>
              </a:lnSpc>
            </a:pPr>
            <a:r>
              <a:rPr lang="zh-CN" altLang="en-US" b="1" dirty="0"/>
              <a:t>最大时间间隔问题</a:t>
            </a:r>
            <a:r>
              <a:rPr lang="zh-CN" altLang="en-US" dirty="0"/>
              <a:t>：给定一组</a:t>
            </a:r>
            <a:r>
              <a:rPr lang="en-US" altLang="zh-CN" dirty="0"/>
              <a:t>n</a:t>
            </a:r>
            <a:r>
              <a:rPr lang="zh-CN" altLang="en-US" dirty="0"/>
              <a:t>个时间标签</a:t>
            </a:r>
            <a:r>
              <a:rPr lang="en-US" altLang="zh-CN" dirty="0"/>
              <a:t>x</a:t>
            </a:r>
            <a:r>
              <a:rPr lang="en-US" altLang="zh-CN" baseline="-25000" dirty="0"/>
              <a:t>1</a:t>
            </a:r>
            <a:r>
              <a:rPr lang="en-US" altLang="zh-CN" dirty="0"/>
              <a:t>, </a:t>
            </a:r>
            <a:r>
              <a:rPr lang="en-US" altLang="zh-CN" dirty="0">
                <a:latin typeface="Comic Sans MS" panose="030F0702030302020204" pitchFamily="66" charset="0"/>
              </a:rPr>
              <a:t>…</a:t>
            </a:r>
            <a:r>
              <a:rPr lang="en-US" altLang="zh-CN" dirty="0"/>
              <a:t>, </a:t>
            </a:r>
            <a:r>
              <a:rPr lang="en-US" altLang="zh-CN" dirty="0" err="1"/>
              <a:t>x</a:t>
            </a:r>
            <a:r>
              <a:rPr lang="en-US" altLang="zh-CN" baseline="-25000" dirty="0" err="1"/>
              <a:t>n</a:t>
            </a:r>
            <a:r>
              <a:rPr lang="en-US" altLang="zh-CN" dirty="0"/>
              <a:t> , </a:t>
            </a:r>
            <a:r>
              <a:rPr lang="zh-CN" altLang="en-US" dirty="0"/>
              <a:t>一个文件的副本在这些时间到达一个服务器，我们想找出在第一个和最后一个时间标签之间的</a:t>
            </a:r>
            <a:r>
              <a:rPr lang="zh-CN" altLang="en-US" b="1" dirty="0">
                <a:solidFill>
                  <a:srgbClr val="FF0000"/>
                </a:solidFill>
              </a:rPr>
              <a:t>最大的</a:t>
            </a:r>
            <a:r>
              <a:rPr lang="zh-CN" altLang="en-US" dirty="0"/>
              <a:t>没有文件副本到达的</a:t>
            </a:r>
            <a:r>
              <a:rPr lang="zh-CN" altLang="en-US" b="1" dirty="0">
                <a:solidFill>
                  <a:srgbClr val="FF0000"/>
                </a:solidFill>
              </a:rPr>
              <a:t>时间区间</a:t>
            </a:r>
            <a:r>
              <a:rPr lang="zh-CN" altLang="en-US" dirty="0"/>
              <a:t>。</a:t>
            </a:r>
            <a:endParaRPr lang="zh-CN" altLang="en-US" dirty="0"/>
          </a:p>
          <a:p>
            <a:pPr eaLnBrk="1" hangingPunct="1">
              <a:lnSpc>
                <a:spcPct val="90000"/>
              </a:lnSpc>
            </a:pPr>
            <a:r>
              <a:rPr lang="zh-CN" altLang="en-US" dirty="0"/>
              <a:t>本质上是一个排序问题：寻找最大的时间间隔</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build="p"/>
    </p:bldLst>
  </p:timing>
</p:sld>
</file>

<file path=ppt/slides/slide5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20199ED9-42B6-45FF-9013-8ACAEF0183AF}" type="slidenum">
              <a:rPr lang="zh-CN" altLang="en-US"/>
            </a:fld>
            <a:endParaRPr lang="en-US" altLang="zh-CN"/>
          </a:p>
        </p:txBody>
      </p:sp>
      <p:sp>
        <p:nvSpPr>
          <p:cNvPr id="27651" name="Rectangle 2"/>
          <p:cNvSpPr>
            <a:spLocks noGrp="1" noChangeArrowheads="1"/>
          </p:cNvSpPr>
          <p:nvPr>
            <p:ph type="title"/>
          </p:nvPr>
        </p:nvSpPr>
        <p:spPr/>
        <p:txBody>
          <a:bodyPr/>
          <a:lstStyle/>
          <a:p>
            <a:pPr eaLnBrk="1" hangingPunct="1"/>
            <a:r>
              <a:rPr lang="en-US" altLang="zh-CN"/>
              <a:t>O(nlogn)</a:t>
            </a:r>
            <a:r>
              <a:rPr lang="zh-CN" altLang="en-US"/>
              <a:t>阶时间</a:t>
            </a:r>
            <a:endParaRPr lang="zh-CN" altLang="en-US"/>
          </a:p>
        </p:txBody>
      </p:sp>
      <p:sp>
        <p:nvSpPr>
          <p:cNvPr id="3" name="内容占位符 2"/>
          <p:cNvSpPr>
            <a:spLocks noGrp="1"/>
          </p:cNvSpPr>
          <p:nvPr>
            <p:ph idx="1"/>
          </p:nvPr>
        </p:nvSpPr>
        <p:spPr>
          <a:xfrm>
            <a:off x="863555" y="2093654"/>
            <a:ext cx="7772400" cy="4114800"/>
          </a:xfrm>
        </p:spPr>
        <p:txBody>
          <a:bodyPr/>
          <a:lstStyle/>
          <a:p>
            <a:pPr marL="0" indent="0">
              <a:spcAft>
                <a:spcPts val="300"/>
              </a:spcAft>
              <a:buNone/>
            </a:pPr>
            <a:r>
              <a:rPr lang="zh-CN" altLang="en-US" b="1" dirty="0">
                <a:latin typeface="Inter"/>
              </a:rPr>
              <a:t>先</a:t>
            </a:r>
            <a:r>
              <a:rPr lang="zh-CN" altLang="en-US" b="1" i="0" dirty="0">
                <a:effectLst/>
                <a:latin typeface="Inter"/>
              </a:rPr>
              <a:t>排序后遍历：</a:t>
            </a:r>
            <a:endParaRPr lang="zh-CN" altLang="en-US" b="1" i="0" dirty="0">
              <a:effectLst/>
              <a:latin typeface="Inter"/>
            </a:endParaRPr>
          </a:p>
          <a:p>
            <a:pPr marL="0" indent="0">
              <a:spcAft>
                <a:spcPts val="300"/>
              </a:spcAft>
              <a:buNone/>
            </a:pPr>
            <a:r>
              <a:rPr lang="zh-CN" altLang="en-US" b="1" i="0" dirty="0">
                <a:effectLst/>
                <a:latin typeface="Inter"/>
              </a:rPr>
              <a:t>算法步骤</a:t>
            </a:r>
            <a:endParaRPr lang="en-US" altLang="zh-CN" dirty="0"/>
          </a:p>
          <a:p>
            <a:pPr>
              <a:spcAft>
                <a:spcPts val="300"/>
              </a:spcAft>
            </a:pPr>
            <a:r>
              <a:rPr lang="zh-CN" altLang="en-US" b="1" i="0" dirty="0">
                <a:solidFill>
                  <a:srgbClr val="222222"/>
                </a:solidFill>
                <a:effectLst/>
                <a:latin typeface="Inter"/>
              </a:rPr>
              <a:t>排序</a:t>
            </a:r>
            <a:r>
              <a:rPr lang="zh-CN" altLang="en-US" b="0" i="0" dirty="0">
                <a:solidFill>
                  <a:srgbClr val="222222"/>
                </a:solidFill>
                <a:effectLst/>
                <a:latin typeface="Inter"/>
              </a:rPr>
              <a:t>：对给定的 </a:t>
            </a:r>
            <a:r>
              <a:rPr lang="en-US" altLang="zh-CN" b="0" i="0" dirty="0">
                <a:solidFill>
                  <a:srgbClr val="222222"/>
                </a:solidFill>
                <a:effectLst/>
                <a:latin typeface="Inter"/>
              </a:rPr>
              <a:t>n</a:t>
            </a:r>
            <a:r>
              <a:rPr lang="zh-CN" altLang="en-US" b="0" i="0" dirty="0">
                <a:solidFill>
                  <a:srgbClr val="222222"/>
                </a:solidFill>
                <a:effectLst/>
                <a:latin typeface="Inter"/>
              </a:rPr>
              <a:t>个时间标签进行排序，将它们按从小到大的顺序排列。</a:t>
            </a:r>
            <a:endParaRPr lang="zh-CN" altLang="en-US" b="0" i="0" dirty="0">
              <a:solidFill>
                <a:srgbClr val="222222"/>
              </a:solidFill>
              <a:effectLst/>
              <a:latin typeface="Inter"/>
            </a:endParaRPr>
          </a:p>
          <a:p>
            <a:pPr>
              <a:spcBef>
                <a:spcPts val="600"/>
              </a:spcBef>
              <a:spcAft>
                <a:spcPts val="600"/>
              </a:spcAft>
            </a:pPr>
            <a:r>
              <a:rPr lang="zh-CN" altLang="en-US" b="1" i="0" dirty="0">
                <a:solidFill>
                  <a:srgbClr val="222222"/>
                </a:solidFill>
                <a:effectLst/>
                <a:latin typeface="Inter"/>
              </a:rPr>
              <a:t>遍历计算间隔</a:t>
            </a:r>
            <a:r>
              <a:rPr lang="zh-CN" altLang="en-US" b="0" i="0" dirty="0">
                <a:solidFill>
                  <a:srgbClr val="222222"/>
                </a:solidFill>
                <a:effectLst/>
                <a:latin typeface="Inter"/>
              </a:rPr>
              <a:t>：排序完成后，遍历排序后的时间标签数组</a:t>
            </a:r>
            <a:r>
              <a:rPr lang="en-US" altLang="zh-CN" b="0" i="0" dirty="0">
                <a:solidFill>
                  <a:srgbClr val="222222"/>
                </a:solidFill>
                <a:effectLst/>
                <a:latin typeface="Inter"/>
              </a:rPr>
              <a:t>, </a:t>
            </a:r>
            <a:r>
              <a:rPr lang="zh-CN" altLang="en-US" b="0" i="0" dirty="0">
                <a:solidFill>
                  <a:srgbClr val="222222"/>
                </a:solidFill>
                <a:effectLst/>
                <a:latin typeface="Inter"/>
              </a:rPr>
              <a:t>计算相邻两个时间标签之间的时间间隔</a:t>
            </a:r>
            <a:r>
              <a:rPr lang="en-US" altLang="zh-CN" b="0" i="0" dirty="0">
                <a:solidFill>
                  <a:srgbClr val="222222"/>
                </a:solidFill>
                <a:effectLst/>
                <a:latin typeface="Inter"/>
              </a:rPr>
              <a:t>, </a:t>
            </a:r>
            <a:r>
              <a:rPr lang="zh-CN" altLang="en-US" b="0" i="0" dirty="0">
                <a:solidFill>
                  <a:srgbClr val="222222"/>
                </a:solidFill>
                <a:effectLst/>
                <a:latin typeface="Inter"/>
              </a:rPr>
              <a:t>找出其中的最大值。</a:t>
            </a:r>
            <a:endParaRPr lang="zh-CN" altLang="en-US" b="0" i="0" dirty="0">
              <a:solidFill>
                <a:srgbClr val="222222"/>
              </a:solidFill>
              <a:effectLst/>
              <a:latin typeface="Inter"/>
            </a:endParaRPr>
          </a:p>
          <a:p>
            <a:endParaRPr lang="zh-CN" alt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20199ED9-42B6-45FF-9013-8ACAEF0183AF}" type="slidenum">
              <a:rPr lang="zh-CN" altLang="en-US"/>
            </a:fld>
            <a:endParaRPr lang="en-US" altLang="zh-CN"/>
          </a:p>
        </p:txBody>
      </p:sp>
      <p:sp>
        <p:nvSpPr>
          <p:cNvPr id="27651" name="Rectangle 2"/>
          <p:cNvSpPr>
            <a:spLocks noGrp="1" noChangeArrowheads="1"/>
          </p:cNvSpPr>
          <p:nvPr>
            <p:ph type="title"/>
          </p:nvPr>
        </p:nvSpPr>
        <p:spPr/>
        <p:txBody>
          <a:bodyPr/>
          <a:lstStyle/>
          <a:p>
            <a:pPr eaLnBrk="1" hangingPunct="1"/>
            <a:r>
              <a:rPr lang="en-US" altLang="zh-CN" dirty="0"/>
              <a:t>O(</a:t>
            </a:r>
            <a:r>
              <a:rPr lang="en-US" altLang="zh-CN" dirty="0" err="1"/>
              <a:t>nlogn</a:t>
            </a:r>
            <a:r>
              <a:rPr lang="en-US" altLang="zh-CN" dirty="0"/>
              <a:t>)</a:t>
            </a:r>
            <a:r>
              <a:rPr lang="zh-CN" altLang="en-US" dirty="0"/>
              <a:t>阶时间</a:t>
            </a:r>
            <a:endParaRPr lang="zh-CN" altLang="en-US" dirty="0"/>
          </a:p>
        </p:txBody>
      </p:sp>
      <p:sp>
        <p:nvSpPr>
          <p:cNvPr id="2" name="内容占位符 1"/>
          <p:cNvSpPr>
            <a:spLocks noGrp="1"/>
          </p:cNvSpPr>
          <p:nvPr>
            <p:ph idx="1"/>
          </p:nvPr>
        </p:nvSpPr>
        <p:spPr>
          <a:xfrm>
            <a:off x="467544" y="1916832"/>
            <a:ext cx="8676456" cy="5040560"/>
          </a:xfrm>
        </p:spPr>
        <p:txBody>
          <a:bodyPr/>
          <a:lstStyle/>
          <a:p>
            <a:pPr marL="0" indent="0">
              <a:buNone/>
            </a:pPr>
            <a:r>
              <a:rPr lang="zh-CN" altLang="en-US" sz="2800" dirty="0"/>
              <a:t>复杂度分析</a:t>
            </a:r>
            <a:endParaRPr lang="zh-CN" altLang="en-US" sz="2800" dirty="0"/>
          </a:p>
          <a:p>
            <a:r>
              <a:rPr lang="zh-CN" altLang="en-US" sz="2800" dirty="0"/>
              <a:t>排序操作：通常使用的排序算法的时间复杂度为</a:t>
            </a:r>
            <a:r>
              <a:rPr lang="en-US" altLang="zh-CN" sz="2800" dirty="0"/>
              <a:t>O(</a:t>
            </a:r>
            <a:r>
              <a:rPr lang="en-US" altLang="zh-CN" sz="2800" dirty="0" err="1"/>
              <a:t>nlogn</a:t>
            </a:r>
            <a:r>
              <a:rPr lang="en-US" altLang="zh-CN" sz="2800" dirty="0"/>
              <a:t>)</a:t>
            </a:r>
            <a:r>
              <a:rPr lang="zh-CN" altLang="en-US" sz="2800" dirty="0"/>
              <a:t>。</a:t>
            </a:r>
            <a:endParaRPr lang="zh-CN" altLang="en-US" sz="2800" dirty="0"/>
          </a:p>
          <a:p>
            <a:r>
              <a:rPr lang="zh-CN" altLang="en-US" sz="2800" dirty="0"/>
              <a:t>遍历操作：遍历排序后的时间标签数组，计算相邻标签之间的间隔，这个操作的时间复杂度为</a:t>
            </a:r>
            <a:r>
              <a:rPr lang="en-US" altLang="zh-CN" sz="2800" dirty="0"/>
              <a:t>O(n)</a:t>
            </a:r>
            <a:r>
              <a:rPr lang="zh-CN" altLang="en-US" sz="2800" dirty="0"/>
              <a:t> ，因为只需要对数组进行一次线性遍历。</a:t>
            </a:r>
            <a:endParaRPr lang="en-US" altLang="zh-CN" sz="2800" dirty="0"/>
          </a:p>
          <a:p>
            <a:r>
              <a:rPr lang="zh-CN" altLang="en-US" sz="2800" dirty="0"/>
              <a:t>总体时间复杂度：根据大</a:t>
            </a:r>
            <a:r>
              <a:rPr lang="en-US" altLang="zh-CN" sz="2800" dirty="0"/>
              <a:t>O</a:t>
            </a:r>
            <a:r>
              <a:rPr lang="zh-CN" altLang="en-US" sz="2800" dirty="0"/>
              <a:t>表示法，当一个算法由多个步骤组成时，其时间复杂度取决于其中时间复杂度最高的步骤。</a:t>
            </a:r>
            <a:endParaRPr lang="en-US" altLang="zh-CN" sz="2800" dirty="0"/>
          </a:p>
          <a:p>
            <a:r>
              <a:rPr lang="zh-CN" altLang="en-US" sz="2800" dirty="0"/>
              <a:t>因此，该算法的总体时间复杂度为</a:t>
            </a:r>
            <a:r>
              <a:rPr lang="en-US" altLang="zh-CN" sz="2800" dirty="0"/>
              <a:t>O(</a:t>
            </a:r>
            <a:r>
              <a:rPr lang="en-US" altLang="zh-CN" sz="2800" dirty="0" err="1"/>
              <a:t>nlogn</a:t>
            </a:r>
            <a:r>
              <a:rPr lang="en-US" altLang="zh-CN" sz="2800" dirty="0"/>
              <a:t>)</a:t>
            </a:r>
            <a:r>
              <a:rPr lang="zh-CN" altLang="en-US" sz="2800" dirty="0"/>
              <a:t> 。</a:t>
            </a:r>
            <a:endParaRPr lang="zh-CN" altLang="en-US" sz="2800" dirty="0"/>
          </a:p>
          <a:p>
            <a:endParaRPr lang="zh-CN" altLang="en-US" sz="28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617C132B-8CED-4F80-ACE3-7AB4BDEA0A96}" type="slidenum">
              <a:rPr lang="zh-CN" altLang="en-US"/>
            </a:fld>
            <a:endParaRPr lang="en-US" altLang="zh-CN"/>
          </a:p>
        </p:txBody>
      </p:sp>
      <p:sp>
        <p:nvSpPr>
          <p:cNvPr id="28675" name="Rectangle 2"/>
          <p:cNvSpPr>
            <a:spLocks noGrp="1" noChangeArrowheads="1"/>
          </p:cNvSpPr>
          <p:nvPr>
            <p:ph type="title"/>
          </p:nvPr>
        </p:nvSpPr>
        <p:spPr/>
        <p:txBody>
          <a:bodyPr/>
          <a:lstStyle/>
          <a:p>
            <a:pPr eaLnBrk="1" hangingPunct="1"/>
            <a:r>
              <a:rPr lang="zh-CN" altLang="en-US"/>
              <a:t>平方时间</a:t>
            </a:r>
            <a:endParaRPr lang="zh-CN" altLang="en-US"/>
          </a:p>
        </p:txBody>
      </p:sp>
      <p:sp>
        <p:nvSpPr>
          <p:cNvPr id="2" name="Rectangle 3"/>
          <p:cNvSpPr>
            <a:spLocks noGrp="1" noChangeArrowheads="1"/>
          </p:cNvSpPr>
          <p:nvPr>
            <p:ph type="body" idx="1"/>
          </p:nvPr>
        </p:nvSpPr>
        <p:spPr>
          <a:xfrm>
            <a:off x="827584" y="2093979"/>
            <a:ext cx="7772400" cy="4114800"/>
          </a:xfrm>
        </p:spPr>
        <p:txBody>
          <a:bodyPr/>
          <a:lstStyle/>
          <a:p>
            <a:pPr eaLnBrk="1" hangingPunct="1"/>
            <a:r>
              <a:rPr lang="zh-CN" altLang="en-US" dirty="0"/>
              <a:t>问题：假设平面上给定</a:t>
            </a:r>
            <a:r>
              <a:rPr lang="en-US" altLang="zh-CN" dirty="0"/>
              <a:t>n</a:t>
            </a:r>
            <a:r>
              <a:rPr lang="zh-CN" altLang="en-US" dirty="0"/>
              <a:t>个点，每个点由(</a:t>
            </a:r>
            <a:r>
              <a:rPr lang="en-US" altLang="zh-CN" dirty="0"/>
              <a:t>x, y)</a:t>
            </a:r>
            <a:r>
              <a:rPr lang="zh-CN" altLang="en-US" dirty="0"/>
              <a:t>坐标指定。需要找最邻近(距离最小)的点对。</a:t>
            </a:r>
            <a:endParaRPr lang="zh-CN" altLang="en-US" dirty="0"/>
          </a:p>
          <a:p>
            <a:pPr eaLnBrk="1" hangingPunct="1">
              <a:buFont typeface="Wingdings" panose="05000000000000000000" pitchFamily="2" charset="2"/>
              <a:buNone/>
            </a:pPr>
            <a:endParaRPr lang="zh-CN" altLang="en-US" dirty="0"/>
          </a:p>
          <a:p>
            <a:pPr eaLnBrk="1" hangingPunct="1"/>
            <a:r>
              <a:rPr lang="en-US" altLang="zh-CN" dirty="0"/>
              <a:t>O(n</a:t>
            </a:r>
            <a:r>
              <a:rPr lang="en-US" altLang="zh-CN" baseline="30000" dirty="0"/>
              <a:t>2</a:t>
            </a:r>
            <a:r>
              <a:rPr lang="en-US" altLang="zh-CN" dirty="0"/>
              <a:t>)</a:t>
            </a:r>
            <a:r>
              <a:rPr lang="zh-CN" altLang="en-US" dirty="0"/>
              <a:t>解决方法：一个个点对尝试</a:t>
            </a:r>
            <a:r>
              <a:rPr lang="en-US" altLang="zh-CN" dirty="0"/>
              <a:t>(</a:t>
            </a:r>
            <a:r>
              <a:rPr lang="zh-CN" altLang="en-US" dirty="0"/>
              <a:t>暴力枚举</a:t>
            </a:r>
            <a:r>
              <a:rPr lang="en-US" altLang="zh-CN" dirty="0"/>
              <a:t>)</a:t>
            </a:r>
            <a:r>
              <a:rPr lang="zh-CN" altLang="en-US" dirty="0"/>
              <a:t>，需要计算每一对点之间的距离，然后找出距离最小的点对。</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build="p"/>
    </p:bldLst>
  </p:timing>
</p:sld>
</file>

<file path=ppt/slides/slide5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617C132B-8CED-4F80-ACE3-7AB4BDEA0A96}" type="slidenum">
              <a:rPr lang="zh-CN" altLang="en-US"/>
            </a:fld>
            <a:endParaRPr lang="en-US" altLang="zh-CN"/>
          </a:p>
        </p:txBody>
      </p:sp>
      <p:sp>
        <p:nvSpPr>
          <p:cNvPr id="28675" name="Rectangle 2"/>
          <p:cNvSpPr>
            <a:spLocks noGrp="1" noChangeArrowheads="1"/>
          </p:cNvSpPr>
          <p:nvPr>
            <p:ph type="title"/>
          </p:nvPr>
        </p:nvSpPr>
        <p:spPr/>
        <p:txBody>
          <a:bodyPr/>
          <a:lstStyle/>
          <a:p>
            <a:pPr eaLnBrk="1" hangingPunct="1"/>
            <a:r>
              <a:rPr lang="zh-CN" altLang="en-US"/>
              <a:t>平方时间</a:t>
            </a:r>
            <a:endParaRPr lang="zh-CN" altLang="en-US"/>
          </a:p>
        </p:txBody>
      </p:sp>
      <p:pic>
        <p:nvPicPr>
          <p:cNvPr id="5" name="图片 4"/>
          <p:cNvPicPr>
            <a:picLocks noChangeAspect="1"/>
          </p:cNvPicPr>
          <p:nvPr/>
        </p:nvPicPr>
        <p:blipFill>
          <a:blip r:embed="rId1"/>
          <a:stretch>
            <a:fillRect/>
          </a:stretch>
        </p:blipFill>
        <p:spPr>
          <a:xfrm>
            <a:off x="109793" y="2264734"/>
            <a:ext cx="8924421" cy="4095692"/>
          </a:xfrm>
          <a:prstGeom prst="rect">
            <a:avLst/>
          </a:prstGeom>
        </p:spPr>
      </p:pic>
      <p:cxnSp>
        <p:nvCxnSpPr>
          <p:cNvPr id="4" name="直接连接符 3"/>
          <p:cNvCxnSpPr/>
          <p:nvPr/>
        </p:nvCxnSpPr>
        <p:spPr bwMode="auto">
          <a:xfrm>
            <a:off x="1259632" y="4797152"/>
            <a:ext cx="4392488" cy="0"/>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7" name="直接连接符 6"/>
          <p:cNvCxnSpPr/>
          <p:nvPr/>
        </p:nvCxnSpPr>
        <p:spPr bwMode="auto">
          <a:xfrm>
            <a:off x="1763688" y="5517232"/>
            <a:ext cx="4032448" cy="0"/>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pPr>
              <a:defRPr/>
            </a:pPr>
            <a:fld id="{E2D3C87F-D039-4656-8408-99C6E42A9942}" type="slidenum">
              <a:rPr lang="zh-CN" altLang="en-US"/>
            </a:fld>
            <a:endParaRPr lang="en-US" altLang="zh-CN"/>
          </a:p>
        </p:txBody>
      </p:sp>
      <p:sp>
        <p:nvSpPr>
          <p:cNvPr id="29699" name="Rectangle 2"/>
          <p:cNvSpPr>
            <a:spLocks noGrp="1" noChangeArrowheads="1"/>
          </p:cNvSpPr>
          <p:nvPr>
            <p:ph type="title"/>
          </p:nvPr>
        </p:nvSpPr>
        <p:spPr/>
        <p:txBody>
          <a:bodyPr/>
          <a:lstStyle/>
          <a:p>
            <a:pPr eaLnBrk="1" hangingPunct="1"/>
            <a:r>
              <a:rPr lang="zh-CN" altLang="en-US"/>
              <a:t>平方时间</a:t>
            </a:r>
            <a:endParaRPr lang="zh-CN" altLang="en-US"/>
          </a:p>
        </p:txBody>
      </p:sp>
      <p:sp>
        <p:nvSpPr>
          <p:cNvPr id="29700" name="Text Box 4"/>
          <p:cNvSpPr>
            <a:spLocks noGrp="1" noChangeArrowheads="1"/>
          </p:cNvSpPr>
          <p:nvPr>
            <p:ph type="body" idx="1"/>
          </p:nvPr>
        </p:nvSpPr>
        <p:spPr>
          <a:xfrm>
            <a:off x="1331640" y="2420888"/>
            <a:ext cx="6132512" cy="3672408"/>
          </a:xfrm>
          <a:solidFill>
            <a:srgbClr val="C0C0C0"/>
          </a:solidFill>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nSpc>
                <a:spcPct val="110000"/>
              </a:lnSpc>
              <a:spcBef>
                <a:spcPct val="0"/>
              </a:spcBef>
              <a:buClrTx/>
              <a:buSzTx/>
              <a:buFontTx/>
              <a:buNone/>
            </a:pPr>
            <a:r>
              <a:rPr kumimoji="0" lang="en-US" altLang="zh-CN" sz="2400" b="1" dirty="0">
                <a:solidFill>
                  <a:schemeClr val="bg2"/>
                </a:solidFill>
                <a:latin typeface="Courier New" panose="02070309020205020404" pitchFamily="49" charset="0"/>
                <a:cs typeface="Courier New" panose="02070309020205020404" pitchFamily="49" charset="0"/>
              </a:rPr>
              <a:t>min </a:t>
            </a:r>
            <a:r>
              <a:rPr kumimoji="0" lang="en-US" altLang="zh-CN" sz="2400" b="1" dirty="0">
                <a:solidFill>
                  <a:schemeClr val="bg2"/>
                </a:solidFill>
                <a:latin typeface="Comic Sans MS" panose="030F0702030302020204" pitchFamily="66" charset="0"/>
                <a:sym typeface="Symbol" panose="05050102010706020507" pitchFamily="18" charset="2"/>
              </a:rPr>
              <a:t></a:t>
            </a:r>
            <a:r>
              <a:rPr kumimoji="0" lang="en-US" altLang="zh-CN" sz="2400" b="1" dirty="0">
                <a:solidFill>
                  <a:schemeClr val="bg2"/>
                </a:solidFill>
                <a:latin typeface="Courier New" panose="02070309020205020404" pitchFamily="49" charset="0"/>
                <a:cs typeface="Courier New" panose="02070309020205020404" pitchFamily="49" charset="0"/>
              </a:rPr>
              <a:t> (x</a:t>
            </a:r>
            <a:r>
              <a:rPr kumimoji="0" lang="en-US" altLang="zh-CN" sz="2400" b="1" baseline="-25000" dirty="0">
                <a:solidFill>
                  <a:schemeClr val="bg2"/>
                </a:solidFill>
                <a:latin typeface="Courier New" panose="02070309020205020404" pitchFamily="49" charset="0"/>
                <a:cs typeface="Courier New" panose="02070309020205020404" pitchFamily="49" charset="0"/>
              </a:rPr>
              <a:t>1</a:t>
            </a:r>
            <a:r>
              <a:rPr kumimoji="0" lang="en-US" altLang="zh-CN" sz="2400" b="1" dirty="0">
                <a:solidFill>
                  <a:schemeClr val="bg2"/>
                </a:solidFill>
                <a:latin typeface="Courier New" panose="02070309020205020404" pitchFamily="49" charset="0"/>
                <a:cs typeface="Courier New" panose="02070309020205020404" pitchFamily="49" charset="0"/>
              </a:rPr>
              <a:t> - x</a:t>
            </a:r>
            <a:r>
              <a:rPr kumimoji="0" lang="en-US" altLang="zh-CN" sz="2400" b="1" baseline="-25000" dirty="0">
                <a:solidFill>
                  <a:schemeClr val="bg2"/>
                </a:solidFill>
                <a:latin typeface="Courier New" panose="02070309020205020404" pitchFamily="49" charset="0"/>
                <a:cs typeface="Courier New" panose="02070309020205020404" pitchFamily="49" charset="0"/>
              </a:rPr>
              <a:t>2</a:t>
            </a:r>
            <a:r>
              <a:rPr kumimoji="0" lang="en-US" altLang="zh-CN" sz="2400" b="1" dirty="0">
                <a:solidFill>
                  <a:schemeClr val="bg2"/>
                </a:solidFill>
                <a:latin typeface="Courier New" panose="02070309020205020404" pitchFamily="49" charset="0"/>
                <a:cs typeface="Courier New" panose="02070309020205020404" pitchFamily="49" charset="0"/>
              </a:rPr>
              <a:t>)</a:t>
            </a:r>
            <a:r>
              <a:rPr kumimoji="0" lang="en-US" altLang="zh-CN" sz="2400" b="1" baseline="30000" dirty="0">
                <a:solidFill>
                  <a:schemeClr val="bg2"/>
                </a:solidFill>
                <a:latin typeface="Courier New" panose="02070309020205020404" pitchFamily="49" charset="0"/>
                <a:cs typeface="Courier New" panose="02070309020205020404" pitchFamily="49" charset="0"/>
              </a:rPr>
              <a:t>2</a:t>
            </a:r>
            <a:r>
              <a:rPr kumimoji="0" lang="en-US" altLang="zh-CN" sz="2400" b="1" dirty="0">
                <a:solidFill>
                  <a:schemeClr val="bg2"/>
                </a:solidFill>
                <a:latin typeface="Courier New" panose="02070309020205020404" pitchFamily="49" charset="0"/>
                <a:cs typeface="Courier New" panose="02070309020205020404" pitchFamily="49" charset="0"/>
              </a:rPr>
              <a:t> + (y</a:t>
            </a:r>
            <a:r>
              <a:rPr kumimoji="0" lang="en-US" altLang="zh-CN" sz="2400" b="1" baseline="-25000" dirty="0">
                <a:solidFill>
                  <a:schemeClr val="bg2"/>
                </a:solidFill>
                <a:latin typeface="Courier New" panose="02070309020205020404" pitchFamily="49" charset="0"/>
                <a:cs typeface="Courier New" panose="02070309020205020404" pitchFamily="49" charset="0"/>
              </a:rPr>
              <a:t>1</a:t>
            </a:r>
            <a:r>
              <a:rPr kumimoji="0" lang="en-US" altLang="zh-CN" sz="2400" b="1" dirty="0">
                <a:solidFill>
                  <a:schemeClr val="bg2"/>
                </a:solidFill>
                <a:latin typeface="Courier New" panose="02070309020205020404" pitchFamily="49" charset="0"/>
                <a:cs typeface="Courier New" panose="02070309020205020404" pitchFamily="49" charset="0"/>
              </a:rPr>
              <a:t> - y</a:t>
            </a:r>
            <a:r>
              <a:rPr kumimoji="0" lang="en-US" altLang="zh-CN" sz="2400" b="1" baseline="-25000" dirty="0">
                <a:solidFill>
                  <a:schemeClr val="bg2"/>
                </a:solidFill>
                <a:latin typeface="Courier New" panose="02070309020205020404" pitchFamily="49" charset="0"/>
                <a:cs typeface="Courier New" panose="02070309020205020404" pitchFamily="49" charset="0"/>
              </a:rPr>
              <a:t>2</a:t>
            </a:r>
            <a:r>
              <a:rPr kumimoji="0" lang="en-US" altLang="zh-CN" sz="2400" b="1" dirty="0">
                <a:solidFill>
                  <a:schemeClr val="bg2"/>
                </a:solidFill>
                <a:latin typeface="Courier New" panose="02070309020205020404" pitchFamily="49" charset="0"/>
                <a:cs typeface="Courier New" panose="02070309020205020404" pitchFamily="49" charset="0"/>
              </a:rPr>
              <a:t>)</a:t>
            </a:r>
            <a:r>
              <a:rPr kumimoji="0" lang="en-US" altLang="zh-CN" sz="2400" b="1" baseline="30000" dirty="0">
                <a:solidFill>
                  <a:schemeClr val="bg2"/>
                </a:solidFill>
                <a:latin typeface="Courier New" panose="02070309020205020404" pitchFamily="49" charset="0"/>
                <a:cs typeface="Courier New" panose="02070309020205020404" pitchFamily="49" charset="0"/>
              </a:rPr>
              <a:t>2</a:t>
            </a:r>
            <a:endParaRPr kumimoji="0" lang="en-US" altLang="zh-CN" sz="2400" b="1" baseline="-25000" dirty="0">
              <a:solidFill>
                <a:schemeClr val="bg2"/>
              </a:solidFill>
              <a:latin typeface="Courier New" panose="02070309020205020404" pitchFamily="49" charset="0"/>
              <a:cs typeface="Courier New" panose="02070309020205020404" pitchFamily="49" charset="0"/>
            </a:endParaRPr>
          </a:p>
          <a:p>
            <a:pPr>
              <a:lnSpc>
                <a:spcPct val="110000"/>
              </a:lnSpc>
              <a:spcBef>
                <a:spcPct val="0"/>
              </a:spcBef>
              <a:buClrTx/>
              <a:buSzTx/>
              <a:buFontTx/>
              <a:buNone/>
            </a:pPr>
            <a:r>
              <a:rPr kumimoji="0" lang="en-US" altLang="zh-CN" sz="2400" b="1" dirty="0">
                <a:solidFill>
                  <a:srgbClr val="003399"/>
                </a:solidFill>
                <a:latin typeface="Courier New" panose="02070309020205020404" pitchFamily="49" charset="0"/>
                <a:cs typeface="Courier New" panose="02070309020205020404" pitchFamily="49" charset="0"/>
              </a:rPr>
              <a:t>for</a:t>
            </a:r>
            <a:r>
              <a:rPr kumimoji="0" lang="en-US" altLang="zh-CN" sz="2400" b="1" dirty="0">
                <a:solidFill>
                  <a:schemeClr val="bg2"/>
                </a:solidFill>
                <a:latin typeface="Courier New" panose="02070309020205020404" pitchFamily="49" charset="0"/>
                <a:cs typeface="Courier New" panose="02070309020205020404" pitchFamily="49" charset="0"/>
              </a:rPr>
              <a:t> </a:t>
            </a:r>
            <a:r>
              <a:rPr kumimoji="0" lang="en-US" altLang="zh-CN" sz="2400" b="1" dirty="0" err="1">
                <a:solidFill>
                  <a:schemeClr val="bg2"/>
                </a:solidFill>
                <a:latin typeface="Courier New" panose="02070309020205020404" pitchFamily="49" charset="0"/>
                <a:cs typeface="Courier New" panose="02070309020205020404" pitchFamily="49" charset="0"/>
              </a:rPr>
              <a:t>i</a:t>
            </a:r>
            <a:r>
              <a:rPr kumimoji="0" lang="en-US" altLang="zh-CN" sz="2400" b="1" dirty="0">
                <a:solidFill>
                  <a:schemeClr val="bg2"/>
                </a:solidFill>
                <a:latin typeface="Courier New" panose="02070309020205020404" pitchFamily="49" charset="0"/>
                <a:cs typeface="Courier New" panose="02070309020205020404" pitchFamily="49" charset="0"/>
              </a:rPr>
              <a:t> = 1 to n {</a:t>
            </a:r>
            <a:endParaRPr kumimoji="0" lang="en-US" altLang="zh-CN" sz="2400" b="1" dirty="0">
              <a:solidFill>
                <a:schemeClr val="bg2"/>
              </a:solidFill>
              <a:latin typeface="Courier New" panose="02070309020205020404" pitchFamily="49" charset="0"/>
              <a:cs typeface="Courier New" panose="02070309020205020404" pitchFamily="49" charset="0"/>
            </a:endParaRPr>
          </a:p>
          <a:p>
            <a:pPr>
              <a:lnSpc>
                <a:spcPct val="110000"/>
              </a:lnSpc>
              <a:spcBef>
                <a:spcPct val="0"/>
              </a:spcBef>
              <a:buClrTx/>
              <a:buSzTx/>
              <a:buFontTx/>
              <a:buNone/>
            </a:pPr>
            <a:r>
              <a:rPr kumimoji="0" lang="en-US" altLang="zh-CN" sz="2400" b="1" dirty="0">
                <a:solidFill>
                  <a:srgbClr val="003399"/>
                </a:solidFill>
                <a:latin typeface="Courier New" panose="02070309020205020404" pitchFamily="49" charset="0"/>
                <a:cs typeface="Courier New" panose="02070309020205020404" pitchFamily="49" charset="0"/>
              </a:rPr>
              <a:t>   for</a:t>
            </a:r>
            <a:r>
              <a:rPr kumimoji="0" lang="en-US" altLang="zh-CN" sz="2400" b="1" dirty="0">
                <a:solidFill>
                  <a:schemeClr val="bg2"/>
                </a:solidFill>
                <a:latin typeface="Courier New" panose="02070309020205020404" pitchFamily="49" charset="0"/>
                <a:cs typeface="Courier New" panose="02070309020205020404" pitchFamily="49" charset="0"/>
              </a:rPr>
              <a:t> j = i+1 to n {</a:t>
            </a:r>
            <a:endParaRPr kumimoji="0" lang="en-US" altLang="zh-CN" sz="2400" b="1" dirty="0">
              <a:solidFill>
                <a:schemeClr val="bg2"/>
              </a:solidFill>
              <a:latin typeface="Courier New" panose="02070309020205020404" pitchFamily="49" charset="0"/>
              <a:cs typeface="Courier New" panose="02070309020205020404" pitchFamily="49" charset="0"/>
            </a:endParaRPr>
          </a:p>
          <a:p>
            <a:pPr>
              <a:lnSpc>
                <a:spcPct val="110000"/>
              </a:lnSpc>
              <a:spcBef>
                <a:spcPct val="0"/>
              </a:spcBef>
              <a:buClrTx/>
              <a:buSzTx/>
              <a:buFontTx/>
              <a:buNone/>
            </a:pPr>
            <a:r>
              <a:rPr kumimoji="0" lang="en-US" altLang="zh-CN" sz="2400" b="1" dirty="0">
                <a:solidFill>
                  <a:schemeClr val="bg2"/>
                </a:solidFill>
                <a:latin typeface="Courier New" panose="02070309020205020404" pitchFamily="49" charset="0"/>
                <a:cs typeface="Courier New" panose="02070309020205020404" pitchFamily="49" charset="0"/>
              </a:rPr>
              <a:t>      d </a:t>
            </a:r>
            <a:r>
              <a:rPr kumimoji="0" lang="en-US" altLang="zh-CN" sz="2400" b="1" dirty="0">
                <a:solidFill>
                  <a:schemeClr val="bg2"/>
                </a:solidFill>
                <a:latin typeface="Comic Sans MS" panose="030F0702030302020204" pitchFamily="66" charset="0"/>
                <a:sym typeface="Symbol" panose="05050102010706020507" pitchFamily="18" charset="2"/>
              </a:rPr>
              <a:t></a:t>
            </a:r>
            <a:r>
              <a:rPr kumimoji="0" lang="en-US" altLang="zh-CN" sz="2400" b="1" dirty="0">
                <a:solidFill>
                  <a:schemeClr val="bg2"/>
                </a:solidFill>
                <a:latin typeface="Courier New" panose="02070309020205020404" pitchFamily="49" charset="0"/>
                <a:cs typeface="Courier New" panose="02070309020205020404" pitchFamily="49" charset="0"/>
              </a:rPr>
              <a:t> (x</a:t>
            </a:r>
            <a:r>
              <a:rPr kumimoji="0" lang="en-US" altLang="zh-CN" sz="2400" b="1" baseline="-25000" dirty="0">
                <a:solidFill>
                  <a:schemeClr val="bg2"/>
                </a:solidFill>
                <a:latin typeface="Courier New" panose="02070309020205020404" pitchFamily="49" charset="0"/>
                <a:cs typeface="Courier New" panose="02070309020205020404" pitchFamily="49" charset="0"/>
              </a:rPr>
              <a:t>i</a:t>
            </a:r>
            <a:r>
              <a:rPr kumimoji="0" lang="en-US" altLang="zh-CN" sz="2400" b="1" dirty="0">
                <a:solidFill>
                  <a:schemeClr val="bg2"/>
                </a:solidFill>
                <a:latin typeface="Courier New" panose="02070309020205020404" pitchFamily="49" charset="0"/>
                <a:cs typeface="Courier New" panose="02070309020205020404" pitchFamily="49" charset="0"/>
              </a:rPr>
              <a:t> - </a:t>
            </a:r>
            <a:r>
              <a:rPr kumimoji="0" lang="en-US" altLang="zh-CN" sz="2400" b="1" dirty="0" err="1">
                <a:solidFill>
                  <a:schemeClr val="bg2"/>
                </a:solidFill>
                <a:latin typeface="Courier New" panose="02070309020205020404" pitchFamily="49" charset="0"/>
                <a:cs typeface="Courier New" panose="02070309020205020404" pitchFamily="49" charset="0"/>
              </a:rPr>
              <a:t>x</a:t>
            </a:r>
            <a:r>
              <a:rPr kumimoji="0" lang="en-US" altLang="zh-CN" sz="2400" b="1" baseline="-25000" dirty="0" err="1">
                <a:solidFill>
                  <a:schemeClr val="bg2"/>
                </a:solidFill>
                <a:latin typeface="Courier New" panose="02070309020205020404" pitchFamily="49" charset="0"/>
                <a:cs typeface="Courier New" panose="02070309020205020404" pitchFamily="49" charset="0"/>
              </a:rPr>
              <a:t>j</a:t>
            </a:r>
            <a:r>
              <a:rPr kumimoji="0" lang="en-US" altLang="zh-CN" sz="2400" b="1" dirty="0">
                <a:solidFill>
                  <a:schemeClr val="bg2"/>
                </a:solidFill>
                <a:latin typeface="Courier New" panose="02070309020205020404" pitchFamily="49" charset="0"/>
                <a:cs typeface="Courier New" panose="02070309020205020404" pitchFamily="49" charset="0"/>
              </a:rPr>
              <a:t>)</a:t>
            </a:r>
            <a:r>
              <a:rPr kumimoji="0" lang="en-US" altLang="zh-CN" sz="2400" b="1" baseline="30000" dirty="0">
                <a:solidFill>
                  <a:schemeClr val="bg2"/>
                </a:solidFill>
                <a:latin typeface="Courier New" panose="02070309020205020404" pitchFamily="49" charset="0"/>
                <a:cs typeface="Courier New" panose="02070309020205020404" pitchFamily="49" charset="0"/>
              </a:rPr>
              <a:t>2</a:t>
            </a:r>
            <a:r>
              <a:rPr kumimoji="0" lang="en-US" altLang="zh-CN" sz="2400" b="1" dirty="0">
                <a:solidFill>
                  <a:schemeClr val="bg2"/>
                </a:solidFill>
                <a:latin typeface="Courier New" panose="02070309020205020404" pitchFamily="49" charset="0"/>
                <a:cs typeface="Courier New" panose="02070309020205020404" pitchFamily="49" charset="0"/>
              </a:rPr>
              <a:t> + (</a:t>
            </a:r>
            <a:r>
              <a:rPr kumimoji="0" lang="en-US" altLang="zh-CN" sz="2400" b="1" dirty="0" err="1">
                <a:solidFill>
                  <a:schemeClr val="bg2"/>
                </a:solidFill>
                <a:latin typeface="Courier New" panose="02070309020205020404" pitchFamily="49" charset="0"/>
                <a:cs typeface="Courier New" panose="02070309020205020404" pitchFamily="49" charset="0"/>
              </a:rPr>
              <a:t>y</a:t>
            </a:r>
            <a:r>
              <a:rPr kumimoji="0" lang="en-US" altLang="zh-CN" sz="2400" b="1" baseline="-25000" dirty="0" err="1">
                <a:solidFill>
                  <a:schemeClr val="bg2"/>
                </a:solidFill>
                <a:latin typeface="Courier New" panose="02070309020205020404" pitchFamily="49" charset="0"/>
                <a:cs typeface="Courier New" panose="02070309020205020404" pitchFamily="49" charset="0"/>
              </a:rPr>
              <a:t>i</a:t>
            </a:r>
            <a:r>
              <a:rPr kumimoji="0" lang="en-US" altLang="zh-CN" sz="2400" b="1" dirty="0">
                <a:solidFill>
                  <a:schemeClr val="bg2"/>
                </a:solidFill>
                <a:latin typeface="Courier New" panose="02070309020205020404" pitchFamily="49" charset="0"/>
                <a:cs typeface="Courier New" panose="02070309020205020404" pitchFamily="49" charset="0"/>
              </a:rPr>
              <a:t> - </a:t>
            </a:r>
            <a:r>
              <a:rPr kumimoji="0" lang="en-US" altLang="zh-CN" sz="2400" b="1" dirty="0" err="1">
                <a:solidFill>
                  <a:schemeClr val="bg2"/>
                </a:solidFill>
                <a:latin typeface="Courier New" panose="02070309020205020404" pitchFamily="49" charset="0"/>
                <a:cs typeface="Courier New" panose="02070309020205020404" pitchFamily="49" charset="0"/>
              </a:rPr>
              <a:t>y</a:t>
            </a:r>
            <a:r>
              <a:rPr kumimoji="0" lang="en-US" altLang="zh-CN" sz="2400" b="1" baseline="-25000" dirty="0" err="1">
                <a:solidFill>
                  <a:schemeClr val="bg2"/>
                </a:solidFill>
                <a:latin typeface="Courier New" panose="02070309020205020404" pitchFamily="49" charset="0"/>
                <a:cs typeface="Courier New" panose="02070309020205020404" pitchFamily="49" charset="0"/>
              </a:rPr>
              <a:t>j</a:t>
            </a:r>
            <a:r>
              <a:rPr kumimoji="0" lang="en-US" altLang="zh-CN" sz="2400" b="1" dirty="0">
                <a:solidFill>
                  <a:schemeClr val="bg2"/>
                </a:solidFill>
                <a:latin typeface="Courier New" panose="02070309020205020404" pitchFamily="49" charset="0"/>
                <a:cs typeface="Courier New" panose="02070309020205020404" pitchFamily="49" charset="0"/>
              </a:rPr>
              <a:t>)</a:t>
            </a:r>
            <a:r>
              <a:rPr kumimoji="0" lang="en-US" altLang="zh-CN" sz="2400" b="1" baseline="30000" dirty="0">
                <a:solidFill>
                  <a:schemeClr val="bg2"/>
                </a:solidFill>
                <a:latin typeface="Courier New" panose="02070309020205020404" pitchFamily="49" charset="0"/>
                <a:cs typeface="Courier New" panose="02070309020205020404" pitchFamily="49" charset="0"/>
              </a:rPr>
              <a:t>2</a:t>
            </a:r>
            <a:endParaRPr kumimoji="0" lang="en-US" altLang="zh-CN" sz="2400" b="1" baseline="-25000" dirty="0">
              <a:solidFill>
                <a:schemeClr val="bg2"/>
              </a:solidFill>
              <a:latin typeface="Courier New" panose="02070309020205020404" pitchFamily="49" charset="0"/>
              <a:cs typeface="Courier New" panose="02070309020205020404" pitchFamily="49" charset="0"/>
            </a:endParaRPr>
          </a:p>
          <a:p>
            <a:pPr>
              <a:lnSpc>
                <a:spcPct val="110000"/>
              </a:lnSpc>
              <a:spcBef>
                <a:spcPct val="0"/>
              </a:spcBef>
              <a:buClrTx/>
              <a:buSzTx/>
              <a:buFontTx/>
              <a:buNone/>
            </a:pPr>
            <a:r>
              <a:rPr kumimoji="0" lang="en-US" altLang="zh-CN" sz="2400" b="1" dirty="0">
                <a:solidFill>
                  <a:srgbClr val="003399"/>
                </a:solidFill>
                <a:latin typeface="Courier New" panose="02070309020205020404" pitchFamily="49" charset="0"/>
                <a:cs typeface="Courier New" panose="02070309020205020404" pitchFamily="49" charset="0"/>
              </a:rPr>
              <a:t>      if</a:t>
            </a:r>
            <a:r>
              <a:rPr kumimoji="0" lang="en-US" altLang="zh-CN" sz="2400" b="1" dirty="0">
                <a:solidFill>
                  <a:schemeClr val="bg2"/>
                </a:solidFill>
                <a:latin typeface="Courier New" panose="02070309020205020404" pitchFamily="49" charset="0"/>
                <a:cs typeface="Courier New" panose="02070309020205020404" pitchFamily="49" charset="0"/>
              </a:rPr>
              <a:t> (d &lt; min)</a:t>
            </a:r>
            <a:endParaRPr kumimoji="0" lang="en-US" altLang="zh-CN" sz="2400" b="1" dirty="0">
              <a:solidFill>
                <a:schemeClr val="bg2"/>
              </a:solidFill>
              <a:latin typeface="Courier New" panose="02070309020205020404" pitchFamily="49" charset="0"/>
              <a:cs typeface="Courier New" panose="02070309020205020404" pitchFamily="49" charset="0"/>
            </a:endParaRPr>
          </a:p>
          <a:p>
            <a:pPr>
              <a:lnSpc>
                <a:spcPct val="110000"/>
              </a:lnSpc>
              <a:spcBef>
                <a:spcPct val="0"/>
              </a:spcBef>
              <a:buClrTx/>
              <a:buSzTx/>
              <a:buFontTx/>
              <a:buNone/>
            </a:pPr>
            <a:r>
              <a:rPr kumimoji="0" lang="en-US" altLang="zh-CN" sz="2400" b="1" dirty="0">
                <a:solidFill>
                  <a:schemeClr val="bg2"/>
                </a:solidFill>
                <a:latin typeface="Courier New" panose="02070309020205020404" pitchFamily="49" charset="0"/>
                <a:cs typeface="Courier New" panose="02070309020205020404" pitchFamily="49" charset="0"/>
              </a:rPr>
              <a:t>         min </a:t>
            </a:r>
            <a:r>
              <a:rPr kumimoji="0" lang="en-US" altLang="zh-CN" sz="2400" b="1" dirty="0">
                <a:solidFill>
                  <a:schemeClr val="bg2"/>
                </a:solidFill>
                <a:latin typeface="Comic Sans MS" panose="030F0702030302020204" pitchFamily="66" charset="0"/>
                <a:sym typeface="Symbol" panose="05050102010706020507" pitchFamily="18" charset="2"/>
              </a:rPr>
              <a:t></a:t>
            </a:r>
            <a:r>
              <a:rPr kumimoji="0" lang="en-US" altLang="zh-CN" sz="2400" b="1" dirty="0">
                <a:solidFill>
                  <a:schemeClr val="bg2"/>
                </a:solidFill>
                <a:latin typeface="Courier New" panose="02070309020205020404" pitchFamily="49" charset="0"/>
                <a:cs typeface="Courier New" panose="02070309020205020404" pitchFamily="49" charset="0"/>
              </a:rPr>
              <a:t> d</a:t>
            </a:r>
            <a:endParaRPr kumimoji="0" lang="en-US" altLang="zh-CN" sz="2400" b="1" dirty="0">
              <a:solidFill>
                <a:schemeClr val="bg2"/>
              </a:solidFill>
              <a:latin typeface="Courier New" panose="02070309020205020404" pitchFamily="49" charset="0"/>
              <a:cs typeface="Courier New" panose="02070309020205020404" pitchFamily="49" charset="0"/>
            </a:endParaRPr>
          </a:p>
          <a:p>
            <a:pPr>
              <a:lnSpc>
                <a:spcPct val="110000"/>
              </a:lnSpc>
              <a:spcBef>
                <a:spcPct val="0"/>
              </a:spcBef>
              <a:buClrTx/>
              <a:buSzTx/>
              <a:buFontTx/>
              <a:buNone/>
            </a:pPr>
            <a:r>
              <a:rPr kumimoji="0" lang="en-US" altLang="zh-CN" sz="2400" b="1" dirty="0">
                <a:solidFill>
                  <a:schemeClr val="bg2"/>
                </a:solidFill>
                <a:latin typeface="Courier New" panose="02070309020205020404" pitchFamily="49" charset="0"/>
                <a:cs typeface="Courier New" panose="02070309020205020404" pitchFamily="49" charset="0"/>
              </a:rPr>
              <a:t>   }</a:t>
            </a:r>
            <a:endParaRPr kumimoji="0" lang="en-US" altLang="zh-CN" sz="2400" b="1" dirty="0">
              <a:solidFill>
                <a:schemeClr val="bg2"/>
              </a:solidFill>
              <a:latin typeface="Courier New" panose="02070309020205020404" pitchFamily="49" charset="0"/>
              <a:cs typeface="Courier New" panose="02070309020205020404" pitchFamily="49" charset="0"/>
            </a:endParaRPr>
          </a:p>
          <a:p>
            <a:pPr>
              <a:lnSpc>
                <a:spcPct val="110000"/>
              </a:lnSpc>
              <a:spcBef>
                <a:spcPct val="0"/>
              </a:spcBef>
              <a:buClrTx/>
              <a:buSzTx/>
              <a:buFontTx/>
              <a:buNone/>
            </a:pPr>
            <a:r>
              <a:rPr kumimoji="0" lang="en-US" altLang="zh-CN" sz="2400" b="1" dirty="0">
                <a:solidFill>
                  <a:schemeClr val="bg2"/>
                </a:solidFill>
                <a:latin typeface="Courier New" panose="02070309020205020404" pitchFamily="49" charset="0"/>
                <a:cs typeface="Courier New" panose="02070309020205020404" pitchFamily="49" charset="0"/>
              </a:rPr>
              <a:t>}</a:t>
            </a:r>
            <a:endParaRPr kumimoji="0" lang="en-US" altLang="zh-CN" sz="2400" b="1" dirty="0">
              <a:solidFill>
                <a:schemeClr val="bg2"/>
              </a:solidFill>
              <a:latin typeface="Courier New" panose="02070309020205020404" pitchFamily="49" charset="0"/>
              <a:cs typeface="Courier New" panose="02070309020205020404" pitchFamily="49" charset="0"/>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pPr>
              <a:defRPr/>
            </a:pPr>
            <a:fld id="{E2D3C87F-D039-4656-8408-99C6E42A9942}" type="slidenum">
              <a:rPr lang="zh-CN" altLang="en-US"/>
            </a:fld>
            <a:endParaRPr lang="en-US" altLang="zh-CN"/>
          </a:p>
        </p:txBody>
      </p:sp>
      <p:sp>
        <p:nvSpPr>
          <p:cNvPr id="29699" name="Rectangle 2"/>
          <p:cNvSpPr>
            <a:spLocks noGrp="1" noChangeArrowheads="1"/>
          </p:cNvSpPr>
          <p:nvPr>
            <p:ph type="title"/>
          </p:nvPr>
        </p:nvSpPr>
        <p:spPr/>
        <p:txBody>
          <a:bodyPr/>
          <a:lstStyle/>
          <a:p>
            <a:pPr eaLnBrk="1" hangingPunct="1"/>
            <a:r>
              <a:rPr lang="zh-CN" altLang="en-US"/>
              <a:t>平方时间</a:t>
            </a:r>
            <a:endParaRPr lang="zh-CN" altLang="en-US"/>
          </a:p>
        </p:txBody>
      </p:sp>
      <p:pic>
        <p:nvPicPr>
          <p:cNvPr id="4" name="内容占位符 3"/>
          <p:cNvPicPr>
            <a:picLocks noGrp="1" noChangeAspect="1"/>
          </p:cNvPicPr>
          <p:nvPr>
            <p:ph idx="1"/>
          </p:nvPr>
        </p:nvPicPr>
        <p:blipFill>
          <a:blip r:embed="rId1"/>
          <a:stretch>
            <a:fillRect/>
          </a:stretch>
        </p:blipFill>
        <p:spPr>
          <a:xfrm>
            <a:off x="376786" y="1647946"/>
            <a:ext cx="8390428" cy="4742892"/>
          </a:xfr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pPr>
              <a:defRPr/>
            </a:pPr>
            <a:fld id="{E2D3C87F-D039-4656-8408-99C6E42A9942}" type="slidenum">
              <a:rPr lang="zh-CN" altLang="en-US"/>
            </a:fld>
            <a:endParaRPr lang="en-US" altLang="zh-CN"/>
          </a:p>
        </p:txBody>
      </p:sp>
      <p:sp>
        <p:nvSpPr>
          <p:cNvPr id="29699" name="Rectangle 2"/>
          <p:cNvSpPr>
            <a:spLocks noGrp="1" noChangeArrowheads="1"/>
          </p:cNvSpPr>
          <p:nvPr>
            <p:ph type="title"/>
          </p:nvPr>
        </p:nvSpPr>
        <p:spPr/>
        <p:txBody>
          <a:bodyPr/>
          <a:lstStyle/>
          <a:p>
            <a:pPr eaLnBrk="1" hangingPunct="1"/>
            <a:r>
              <a:rPr lang="zh-CN" altLang="en-US"/>
              <a:t>平方时间</a:t>
            </a:r>
            <a:endParaRPr lang="zh-CN" altLang="en-US"/>
          </a:p>
        </p:txBody>
      </p:sp>
      <p:pic>
        <p:nvPicPr>
          <p:cNvPr id="4" name="内容占位符 3"/>
          <p:cNvPicPr>
            <a:picLocks noGrp="1" noChangeAspect="1"/>
          </p:cNvPicPr>
          <p:nvPr>
            <p:ph idx="1"/>
          </p:nvPr>
        </p:nvPicPr>
        <p:blipFill>
          <a:blip r:embed="rId1"/>
          <a:stretch>
            <a:fillRect/>
          </a:stretch>
        </p:blipFill>
        <p:spPr>
          <a:xfrm>
            <a:off x="4" y="2106503"/>
            <a:ext cx="9065623" cy="2990960"/>
          </a:xfrm>
        </p:spPr>
      </p:pic>
      <mc:AlternateContent xmlns:mc="http://schemas.openxmlformats.org/markup-compatibility/2006">
        <mc:Choice xmlns:a14="http://schemas.microsoft.com/office/drawing/2010/main" Requires="a14">
          <p:sp>
            <p:nvSpPr>
              <p:cNvPr id="29701" name="Text Box 5"/>
              <p:cNvSpPr txBox="1">
                <a:spLocks noChangeArrowheads="1"/>
              </p:cNvSpPr>
              <p:nvPr/>
            </p:nvSpPr>
            <p:spPr bwMode="auto">
              <a:xfrm>
                <a:off x="1257164" y="5229200"/>
                <a:ext cx="6629672" cy="1084464"/>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lnSpc>
                    <a:spcPct val="110000"/>
                  </a:lnSpc>
                  <a:defRPr sz="1400" b="1">
                    <a:solidFill>
                      <a:schemeClr val="bg2"/>
                    </a:solidFill>
                    <a:latin typeface="Courier New" panose="02070309020205020404" pitchFamily="49" charset="0"/>
                    <a:ea typeface="宋体" panose="02010600030101010101" pitchFamily="2" charset="-122"/>
                  </a:defRPr>
                </a:lvl1pPr>
                <a:lvl2pPr marL="742950" indent="-285750">
                  <a:lnSpc>
                    <a:spcPct val="110000"/>
                  </a:lnSpc>
                  <a:defRPr sz="1400" b="1">
                    <a:solidFill>
                      <a:schemeClr val="bg2"/>
                    </a:solidFill>
                    <a:latin typeface="Courier New" panose="02070309020205020404" pitchFamily="49" charset="0"/>
                    <a:ea typeface="宋体" panose="02010600030101010101" pitchFamily="2" charset="-122"/>
                  </a:defRPr>
                </a:lvl2pPr>
                <a:lvl3pPr marL="1143000" indent="-228600">
                  <a:lnSpc>
                    <a:spcPct val="110000"/>
                  </a:lnSpc>
                  <a:defRPr sz="1400" b="1">
                    <a:solidFill>
                      <a:schemeClr val="bg2"/>
                    </a:solidFill>
                    <a:latin typeface="Courier New" panose="02070309020205020404" pitchFamily="49" charset="0"/>
                    <a:ea typeface="宋体" panose="02010600030101010101" pitchFamily="2" charset="-122"/>
                  </a:defRPr>
                </a:lvl3pPr>
                <a:lvl4pPr marL="1600200" indent="-228600">
                  <a:lnSpc>
                    <a:spcPct val="110000"/>
                  </a:lnSpc>
                  <a:defRPr sz="1400" b="1">
                    <a:solidFill>
                      <a:schemeClr val="bg2"/>
                    </a:solidFill>
                    <a:latin typeface="Courier New" panose="02070309020205020404" pitchFamily="49" charset="0"/>
                    <a:ea typeface="宋体" panose="02010600030101010101" pitchFamily="2" charset="-122"/>
                  </a:defRPr>
                </a:lvl4pPr>
                <a:lvl5pPr marL="2057400" indent="-228600">
                  <a:lnSpc>
                    <a:spcPct val="110000"/>
                  </a:lnSpc>
                  <a:defRPr sz="1400" b="1">
                    <a:solidFill>
                      <a:schemeClr val="bg2"/>
                    </a:solidFill>
                    <a:latin typeface="Courier New" panose="02070309020205020404" pitchFamily="49" charset="0"/>
                    <a:ea typeface="宋体" panose="02010600030101010101" pitchFamily="2" charset="-122"/>
                  </a:defRPr>
                </a:lvl5pPr>
                <a:lvl6pPr marL="25146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6pPr>
                <a:lvl7pPr marL="29718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7pPr>
                <a:lvl8pPr marL="34290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8pPr>
                <a:lvl9pPr marL="38862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9pPr>
              </a:lstStyle>
              <a:p>
                <a:pPr>
                  <a:spcBef>
                    <a:spcPct val="50000"/>
                  </a:spcBef>
                </a:pPr>
                <a14:m>
                  <m:oMath xmlns:m="http://schemas.openxmlformats.org/officeDocument/2006/math">
                    <m:r>
                      <a:rPr lang="en-US" altLang="zh-CN" sz="2800" i="1">
                        <a:solidFill>
                          <a:schemeClr val="hlink"/>
                        </a:solidFill>
                        <a:latin typeface="Cambria Math" panose="02040503050406030204" pitchFamily="18" charset="0"/>
                      </a:rPr>
                      <m:t>𝑶</m:t>
                    </m:r>
                    <m:d>
                      <m:dPr>
                        <m:ctrlPr>
                          <a:rPr lang="en-US" altLang="zh-CN" sz="2800" i="1">
                            <a:solidFill>
                              <a:schemeClr val="hlink"/>
                            </a:solidFill>
                            <a:latin typeface="Cambria Math" panose="02040503050406030204" pitchFamily="18" charset="0"/>
                          </a:rPr>
                        </m:ctrlPr>
                      </m:dPr>
                      <m:e>
                        <m:sSup>
                          <m:sSupPr>
                            <m:ctrlPr>
                              <a:rPr lang="en-US" altLang="zh-CN" sz="2800" i="1">
                                <a:solidFill>
                                  <a:schemeClr val="hlink"/>
                                </a:solidFill>
                                <a:latin typeface="Cambria Math" panose="02040503050406030204" pitchFamily="18" charset="0"/>
                              </a:rPr>
                            </m:ctrlPr>
                          </m:sSupPr>
                          <m:e>
                            <m:r>
                              <a:rPr lang="en-US" altLang="zh-CN" sz="2800" i="1">
                                <a:solidFill>
                                  <a:schemeClr val="hlink"/>
                                </a:solidFill>
                                <a:latin typeface="Cambria Math" panose="02040503050406030204" pitchFamily="18" charset="0"/>
                              </a:rPr>
                              <m:t>𝒏</m:t>
                            </m:r>
                          </m:e>
                          <m:sup>
                            <m:r>
                              <a:rPr lang="en-US" altLang="zh-CN" sz="2800" i="1">
                                <a:solidFill>
                                  <a:schemeClr val="hlink"/>
                                </a:solidFill>
                                <a:latin typeface="Cambria Math" panose="02040503050406030204" pitchFamily="18" charset="0"/>
                              </a:rPr>
                              <m:t>𝟐</m:t>
                            </m:r>
                          </m:sup>
                        </m:sSup>
                      </m:e>
                    </m:d>
                  </m:oMath>
                </a14:m>
                <a:r>
                  <a:rPr lang="zh-CN" altLang="en-US" sz="2800" dirty="0">
                    <a:solidFill>
                      <a:schemeClr val="hlink"/>
                    </a:solidFill>
                  </a:rPr>
                  <a:t>的解决办法看起来是最好的，但还有更好的方法！分治法 </a:t>
                </a:r>
                <a:r>
                  <a:rPr lang="en-US" altLang="zh-CN" sz="2800" dirty="0">
                    <a:solidFill>
                      <a:srgbClr val="FF0000"/>
                    </a:solidFill>
                  </a:rPr>
                  <a:t>O(</a:t>
                </a:r>
                <a:r>
                  <a:rPr lang="en-US" altLang="zh-CN" sz="2800" dirty="0" err="1">
                    <a:solidFill>
                      <a:srgbClr val="FF0000"/>
                    </a:solidFill>
                  </a:rPr>
                  <a:t>nlogn</a:t>
                </a:r>
                <a:r>
                  <a:rPr lang="en-US" altLang="zh-CN" sz="2800" dirty="0">
                    <a:solidFill>
                      <a:srgbClr val="FF0000"/>
                    </a:solidFill>
                  </a:rPr>
                  <a:t>)</a:t>
                </a:r>
                <a:endParaRPr lang="zh-CN" altLang="en-US" sz="2800" dirty="0">
                  <a:solidFill>
                    <a:srgbClr val="FF0000"/>
                  </a:solidFill>
                </a:endParaRPr>
              </a:p>
            </p:txBody>
          </p:sp>
        </mc:Choice>
        <mc:Fallback>
          <p:sp>
            <p:nvSpPr>
              <p:cNvPr id="29701" name="Text Box 5"/>
              <p:cNvSpPr txBox="1">
                <a:spLocks noRot="1" noChangeAspect="1" noMove="1" noResize="1" noEditPoints="1" noAdjustHandles="1" noChangeArrowheads="1" noChangeShapeType="1" noTextEdit="1"/>
              </p:cNvSpPr>
              <p:nvPr/>
            </p:nvSpPr>
            <p:spPr bwMode="auto">
              <a:xfrm>
                <a:off x="1257164" y="5229200"/>
                <a:ext cx="6629672" cy="1084464"/>
              </a:xfrm>
              <a:prstGeom prst="rect">
                <a:avLst/>
              </a:prstGeom>
              <a:blipFill rotWithShape="1">
                <a:blip r:embed="rId2"/>
                <a:stretch>
                  <a:fillRect l="-8" t="-56" r="2" b="46"/>
                </a:stretch>
              </a:blip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9701"/>
                                        </p:tgtEl>
                                        <p:attrNameLst>
                                          <p:attrName>style.visibility</p:attrName>
                                        </p:attrNameLst>
                                      </p:cBhvr>
                                      <p:to>
                                        <p:strVal val="visible"/>
                                      </p:to>
                                    </p:set>
                                    <p:anim calcmode="lin" valueType="num">
                                      <p:cBhvr additive="base">
                                        <p:cTn id="7" dur="500" fill="hold"/>
                                        <p:tgtEl>
                                          <p:spTgt spid="29701"/>
                                        </p:tgtEl>
                                        <p:attrNameLst>
                                          <p:attrName>ppt_x</p:attrName>
                                        </p:attrNameLst>
                                      </p:cBhvr>
                                      <p:tavLst>
                                        <p:tav tm="0">
                                          <p:val>
                                            <p:strVal val="0-#ppt_w/2"/>
                                          </p:val>
                                        </p:tav>
                                        <p:tav tm="100000">
                                          <p:val>
                                            <p:strVal val="#ppt_x"/>
                                          </p:val>
                                        </p:tav>
                                      </p:tavLst>
                                    </p:anim>
                                    <p:anim calcmode="lin" valueType="num">
                                      <p:cBhvr additive="base">
                                        <p:cTn id="8" dur="500" fill="hold"/>
                                        <p:tgtEl>
                                          <p:spTgt spid="2970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01" grpId="0" autoUpdateAnimBg="0"/>
    </p:bldLst>
  </p:timing>
</p:sld>
</file>

<file path=ppt/slides/slide6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03C5637D-B742-448D-89E1-5DDE5944276C}" type="slidenum">
              <a:rPr lang="zh-CN" altLang="en-US"/>
            </a:fld>
            <a:endParaRPr lang="en-US" altLang="zh-CN"/>
          </a:p>
        </p:txBody>
      </p:sp>
      <p:sp>
        <p:nvSpPr>
          <p:cNvPr id="30723" name="Rectangle 2"/>
          <p:cNvSpPr>
            <a:spLocks noGrp="1" noChangeArrowheads="1"/>
          </p:cNvSpPr>
          <p:nvPr>
            <p:ph type="title"/>
          </p:nvPr>
        </p:nvSpPr>
        <p:spPr>
          <a:xfrm>
            <a:off x="1143000" y="609600"/>
            <a:ext cx="7793038" cy="1143000"/>
          </a:xfrm>
        </p:spPr>
        <p:txBody>
          <a:bodyPr/>
          <a:lstStyle/>
          <a:p>
            <a:pPr eaLnBrk="1" hangingPunct="1"/>
            <a:r>
              <a:rPr lang="zh-CN" altLang="en-US"/>
              <a:t>立方时间</a:t>
            </a:r>
            <a:endParaRPr lang="zh-CN" altLang="en-US"/>
          </a:p>
        </p:txBody>
      </p:sp>
      <p:sp>
        <p:nvSpPr>
          <p:cNvPr id="2" name="Rectangle 3"/>
          <p:cNvSpPr>
            <a:spLocks noGrp="1" noChangeArrowheads="1"/>
          </p:cNvSpPr>
          <p:nvPr>
            <p:ph type="body" idx="1"/>
          </p:nvPr>
        </p:nvSpPr>
        <p:spPr>
          <a:xfrm>
            <a:off x="827584" y="2017713"/>
            <a:ext cx="7772400" cy="4114800"/>
          </a:xfrm>
        </p:spPr>
        <p:txBody>
          <a:bodyPr/>
          <a:lstStyle/>
          <a:p>
            <a:pPr algn="just" eaLnBrk="1" hangingPunct="1"/>
            <a:r>
              <a:rPr lang="zh-CN" altLang="en-US" dirty="0"/>
              <a:t>问题：给定集合</a:t>
            </a:r>
            <a:r>
              <a:rPr lang="en-US" altLang="zh-CN" dirty="0"/>
              <a:t>S</a:t>
            </a:r>
            <a:r>
              <a:rPr lang="en-US" altLang="zh-CN" baseline="-25000" dirty="0"/>
              <a:t>1</a:t>
            </a:r>
            <a:r>
              <a:rPr lang="en-US" altLang="zh-CN" dirty="0"/>
              <a:t>, </a:t>
            </a:r>
            <a:r>
              <a:rPr lang="en-US" altLang="zh-CN" dirty="0">
                <a:latin typeface="Comic Sans MS" panose="030F0702030302020204" pitchFamily="66" charset="0"/>
              </a:rPr>
              <a:t>…</a:t>
            </a:r>
            <a:r>
              <a:rPr lang="en-US" altLang="zh-CN" dirty="0"/>
              <a:t>, S</a:t>
            </a:r>
            <a:r>
              <a:rPr lang="en-US" altLang="zh-CN" baseline="-25000" dirty="0"/>
              <a:t>n</a:t>
            </a:r>
            <a:r>
              <a:rPr lang="en-US" altLang="zh-CN" dirty="0"/>
              <a:t>，</a:t>
            </a:r>
            <a:r>
              <a:rPr lang="zh-CN" altLang="en-US" dirty="0"/>
              <a:t>它们都是{1,2,</a:t>
            </a:r>
            <a:r>
              <a:rPr lang="zh-CN" altLang="en-US" dirty="0">
                <a:latin typeface="Comic Sans MS" panose="030F0702030302020204" pitchFamily="66" charset="0"/>
              </a:rPr>
              <a:t>…</a:t>
            </a:r>
            <a:r>
              <a:rPr lang="zh-CN" altLang="en-US" dirty="0"/>
              <a:t>,</a:t>
            </a:r>
            <a:r>
              <a:rPr lang="en-US" altLang="zh-CN" dirty="0"/>
              <a:t>n}</a:t>
            </a:r>
            <a:r>
              <a:rPr lang="zh-CN" altLang="en-US" dirty="0"/>
              <a:t>的子集，我们想知道这些子集中是否有</a:t>
            </a:r>
            <a:r>
              <a:rPr lang="zh-CN" altLang="en-US" dirty="0">
                <a:solidFill>
                  <a:srgbClr val="FF0000"/>
                </a:solidFill>
              </a:rPr>
              <a:t>某对子集</a:t>
            </a:r>
            <a:r>
              <a:rPr lang="zh-CN" altLang="en-US" dirty="0"/>
              <a:t>是</a:t>
            </a:r>
            <a:r>
              <a:rPr lang="zh-CN" altLang="en-US" b="1" dirty="0">
                <a:solidFill>
                  <a:srgbClr val="FF0000"/>
                </a:solidFill>
              </a:rPr>
              <a:t>不相交</a:t>
            </a:r>
            <a:r>
              <a:rPr lang="zh-CN" altLang="en-US" dirty="0"/>
              <a:t>的，也就是没有共同的元素。</a:t>
            </a:r>
            <a:endParaRPr lang="zh-CN" altLang="en-US" dirty="0"/>
          </a:p>
          <a:p>
            <a:pPr eaLnBrk="1" hangingPunct="1"/>
            <a:r>
              <a:rPr lang="zh-CN" altLang="en-US" dirty="0"/>
              <a:t>解决思路：对每对集合</a:t>
            </a:r>
            <a:r>
              <a:rPr lang="en-US" altLang="zh-CN" dirty="0" err="1"/>
              <a:t>S</a:t>
            </a:r>
            <a:r>
              <a:rPr lang="en-US" altLang="zh-CN" sz="1600" dirty="0" err="1"/>
              <a:t>i</a:t>
            </a:r>
            <a:r>
              <a:rPr lang="en-US" altLang="zh-CN" dirty="0" err="1"/>
              <a:t>,S</a:t>
            </a:r>
            <a:r>
              <a:rPr lang="en-US" altLang="zh-CN" sz="1600" dirty="0" err="1"/>
              <a:t>j</a:t>
            </a:r>
            <a:r>
              <a:rPr lang="en-US" altLang="zh-CN" dirty="0"/>
              <a:t>,</a:t>
            </a:r>
            <a:r>
              <a:rPr lang="zh-CN" altLang="en-US" dirty="0"/>
              <a:t>确定是否</a:t>
            </a:r>
            <a:r>
              <a:rPr lang="en-US" altLang="zh-CN" dirty="0" err="1"/>
              <a:t>S</a:t>
            </a:r>
            <a:r>
              <a:rPr lang="en-US" altLang="zh-CN" sz="1600" dirty="0" err="1"/>
              <a:t>i</a:t>
            </a:r>
            <a:r>
              <a:rPr lang="en-US" altLang="zh-CN" dirty="0" err="1"/>
              <a:t>,S</a:t>
            </a:r>
            <a:r>
              <a:rPr lang="en-US" altLang="zh-CN" sz="1600" dirty="0" err="1"/>
              <a:t>j</a:t>
            </a:r>
            <a:r>
              <a:rPr lang="zh-CN" altLang="en-US" dirty="0"/>
              <a:t>有一个共同的元素。</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pPr>
              <a:defRPr/>
            </a:pPr>
            <a:fld id="{4C516066-5B43-4AA2-B361-174FF3B2FE3D}" type="slidenum">
              <a:rPr lang="zh-CN" altLang="en-US"/>
            </a:fld>
            <a:endParaRPr lang="en-US" altLang="zh-CN"/>
          </a:p>
        </p:txBody>
      </p:sp>
      <p:sp>
        <p:nvSpPr>
          <p:cNvPr id="31747" name="Rectangle 2"/>
          <p:cNvSpPr>
            <a:spLocks noGrp="1" noChangeArrowheads="1"/>
          </p:cNvSpPr>
          <p:nvPr>
            <p:ph type="title"/>
          </p:nvPr>
        </p:nvSpPr>
        <p:spPr/>
        <p:txBody>
          <a:bodyPr/>
          <a:lstStyle/>
          <a:p>
            <a:pPr eaLnBrk="1" hangingPunct="1"/>
            <a:r>
              <a:rPr lang="zh-CN" altLang="en-US"/>
              <a:t>立方时间</a:t>
            </a:r>
            <a:endParaRPr lang="zh-CN" altLang="en-US"/>
          </a:p>
        </p:txBody>
      </p:sp>
      <p:sp>
        <p:nvSpPr>
          <p:cNvPr id="31748" name="Text Box 4"/>
          <p:cNvSpPr>
            <a:spLocks noGrp="1" noChangeArrowheads="1"/>
          </p:cNvSpPr>
          <p:nvPr>
            <p:ph type="body" idx="1"/>
          </p:nvPr>
        </p:nvSpPr>
        <p:spPr>
          <a:xfrm>
            <a:off x="557547" y="2060848"/>
            <a:ext cx="7793037" cy="3341882"/>
          </a:xfrm>
          <a:solidFill>
            <a:srgbClr val="C0C0C0"/>
          </a:solidFill>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nSpc>
                <a:spcPct val="110000"/>
              </a:lnSpc>
              <a:spcBef>
                <a:spcPct val="0"/>
              </a:spcBef>
              <a:buClrTx/>
              <a:buSzTx/>
              <a:buFontTx/>
              <a:buNone/>
            </a:pPr>
            <a:r>
              <a:rPr kumimoji="0" lang="en-US" altLang="zh-CN" sz="2000" b="1" dirty="0">
                <a:solidFill>
                  <a:srgbClr val="003399"/>
                </a:solidFill>
                <a:latin typeface="Courier New" panose="02070309020205020404" pitchFamily="49" charset="0"/>
                <a:cs typeface="Courier New" panose="02070309020205020404" pitchFamily="49" charset="0"/>
              </a:rPr>
              <a:t>foreach</a:t>
            </a:r>
            <a:r>
              <a:rPr kumimoji="0" lang="en-US" altLang="zh-CN" sz="2000" b="1" dirty="0">
                <a:solidFill>
                  <a:schemeClr val="bg2"/>
                </a:solidFill>
                <a:latin typeface="Courier New" panose="02070309020205020404" pitchFamily="49" charset="0"/>
                <a:cs typeface="Courier New" panose="02070309020205020404" pitchFamily="49" charset="0"/>
              </a:rPr>
              <a:t> set S</a:t>
            </a:r>
            <a:r>
              <a:rPr kumimoji="0" lang="en-US" altLang="zh-CN" sz="2000" b="1" baseline="-25000" dirty="0">
                <a:solidFill>
                  <a:schemeClr val="bg2"/>
                </a:solidFill>
                <a:latin typeface="Courier New" panose="02070309020205020404" pitchFamily="49" charset="0"/>
                <a:cs typeface="Courier New" panose="02070309020205020404" pitchFamily="49" charset="0"/>
              </a:rPr>
              <a:t>i</a:t>
            </a:r>
            <a:r>
              <a:rPr kumimoji="0" lang="en-US" altLang="zh-CN" sz="2000" b="1" dirty="0">
                <a:solidFill>
                  <a:schemeClr val="bg2"/>
                </a:solidFill>
                <a:latin typeface="Courier New" panose="02070309020205020404" pitchFamily="49" charset="0"/>
                <a:cs typeface="Courier New" panose="02070309020205020404" pitchFamily="49" charset="0"/>
              </a:rPr>
              <a:t> {</a:t>
            </a:r>
            <a:endParaRPr kumimoji="0" lang="en-US" altLang="zh-CN" sz="2000" b="1" dirty="0">
              <a:solidFill>
                <a:schemeClr val="bg2"/>
              </a:solidFill>
              <a:latin typeface="Courier New" panose="02070309020205020404" pitchFamily="49" charset="0"/>
              <a:cs typeface="Courier New" panose="02070309020205020404" pitchFamily="49" charset="0"/>
            </a:endParaRPr>
          </a:p>
          <a:p>
            <a:pPr>
              <a:lnSpc>
                <a:spcPct val="110000"/>
              </a:lnSpc>
              <a:spcBef>
                <a:spcPct val="0"/>
              </a:spcBef>
              <a:buClrTx/>
              <a:buSzTx/>
              <a:buFontTx/>
              <a:buNone/>
            </a:pPr>
            <a:r>
              <a:rPr kumimoji="0" lang="en-US" altLang="zh-CN" sz="2000" b="1" dirty="0">
                <a:solidFill>
                  <a:srgbClr val="003399"/>
                </a:solidFill>
                <a:latin typeface="Courier New" panose="02070309020205020404" pitchFamily="49" charset="0"/>
                <a:cs typeface="Courier New" panose="02070309020205020404" pitchFamily="49" charset="0"/>
              </a:rPr>
              <a:t>   foreach</a:t>
            </a:r>
            <a:r>
              <a:rPr kumimoji="0" lang="en-US" altLang="zh-CN" sz="2000" b="1" dirty="0">
                <a:solidFill>
                  <a:schemeClr val="bg2"/>
                </a:solidFill>
                <a:latin typeface="Courier New" panose="02070309020205020404" pitchFamily="49" charset="0"/>
                <a:cs typeface="Courier New" panose="02070309020205020404" pitchFamily="49" charset="0"/>
              </a:rPr>
              <a:t> other set </a:t>
            </a:r>
            <a:r>
              <a:rPr kumimoji="0" lang="en-US" altLang="zh-CN" sz="2000" b="1" dirty="0" err="1">
                <a:solidFill>
                  <a:schemeClr val="bg2"/>
                </a:solidFill>
                <a:latin typeface="Courier New" panose="02070309020205020404" pitchFamily="49" charset="0"/>
                <a:cs typeface="Courier New" panose="02070309020205020404" pitchFamily="49" charset="0"/>
              </a:rPr>
              <a:t>S</a:t>
            </a:r>
            <a:r>
              <a:rPr kumimoji="0" lang="en-US" altLang="zh-CN" sz="2000" b="1" baseline="-25000" dirty="0" err="1">
                <a:solidFill>
                  <a:schemeClr val="bg2"/>
                </a:solidFill>
                <a:latin typeface="Courier New" panose="02070309020205020404" pitchFamily="49" charset="0"/>
                <a:cs typeface="Courier New" panose="02070309020205020404" pitchFamily="49" charset="0"/>
              </a:rPr>
              <a:t>j</a:t>
            </a:r>
            <a:r>
              <a:rPr kumimoji="0" lang="en-US" altLang="zh-CN" sz="2000" b="1" dirty="0">
                <a:solidFill>
                  <a:schemeClr val="bg2"/>
                </a:solidFill>
                <a:latin typeface="Courier New" panose="02070309020205020404" pitchFamily="49" charset="0"/>
                <a:cs typeface="Courier New" panose="02070309020205020404" pitchFamily="49" charset="0"/>
              </a:rPr>
              <a:t> {</a:t>
            </a:r>
            <a:endParaRPr kumimoji="0" lang="en-US" altLang="zh-CN" sz="2000" b="1" dirty="0">
              <a:solidFill>
                <a:schemeClr val="bg2"/>
              </a:solidFill>
              <a:latin typeface="Courier New" panose="02070309020205020404" pitchFamily="49" charset="0"/>
              <a:cs typeface="Courier New" panose="02070309020205020404" pitchFamily="49" charset="0"/>
            </a:endParaRPr>
          </a:p>
          <a:p>
            <a:pPr>
              <a:lnSpc>
                <a:spcPct val="110000"/>
              </a:lnSpc>
              <a:spcBef>
                <a:spcPct val="0"/>
              </a:spcBef>
              <a:buClrTx/>
              <a:buSzTx/>
              <a:buFontTx/>
              <a:buNone/>
            </a:pPr>
            <a:r>
              <a:rPr kumimoji="0" lang="en-US" altLang="zh-CN" sz="2000" b="1" dirty="0">
                <a:solidFill>
                  <a:srgbClr val="003399"/>
                </a:solidFill>
                <a:latin typeface="Courier New" panose="02070309020205020404" pitchFamily="49" charset="0"/>
                <a:cs typeface="Courier New" panose="02070309020205020404" pitchFamily="49" charset="0"/>
              </a:rPr>
              <a:t>      foreach</a:t>
            </a:r>
            <a:r>
              <a:rPr kumimoji="0" lang="en-US" altLang="zh-CN" sz="2000" b="1" dirty="0">
                <a:solidFill>
                  <a:schemeClr val="bg2"/>
                </a:solidFill>
                <a:latin typeface="Courier New" panose="02070309020205020404" pitchFamily="49" charset="0"/>
                <a:cs typeface="Courier New" panose="02070309020205020404" pitchFamily="49" charset="0"/>
              </a:rPr>
              <a:t> element p of S</a:t>
            </a:r>
            <a:r>
              <a:rPr kumimoji="0" lang="en-US" altLang="zh-CN" sz="2000" b="1" baseline="-25000" dirty="0">
                <a:solidFill>
                  <a:schemeClr val="bg2"/>
                </a:solidFill>
                <a:latin typeface="Courier New" panose="02070309020205020404" pitchFamily="49" charset="0"/>
                <a:cs typeface="Courier New" panose="02070309020205020404" pitchFamily="49" charset="0"/>
              </a:rPr>
              <a:t>i</a:t>
            </a:r>
            <a:r>
              <a:rPr kumimoji="0" lang="en-US" altLang="zh-CN" sz="2000" b="1" dirty="0">
                <a:solidFill>
                  <a:schemeClr val="bg2"/>
                </a:solidFill>
                <a:latin typeface="Courier New" panose="02070309020205020404" pitchFamily="49" charset="0"/>
                <a:cs typeface="Courier New" panose="02070309020205020404" pitchFamily="49" charset="0"/>
              </a:rPr>
              <a:t> {</a:t>
            </a:r>
            <a:endParaRPr kumimoji="0" lang="en-US" altLang="zh-CN" sz="2000" b="1" baseline="-25000" dirty="0">
              <a:solidFill>
                <a:schemeClr val="bg2"/>
              </a:solidFill>
              <a:latin typeface="Courier New" panose="02070309020205020404" pitchFamily="49" charset="0"/>
              <a:cs typeface="Courier New" panose="02070309020205020404" pitchFamily="49" charset="0"/>
            </a:endParaRPr>
          </a:p>
          <a:p>
            <a:pPr>
              <a:lnSpc>
                <a:spcPct val="110000"/>
              </a:lnSpc>
              <a:spcBef>
                <a:spcPct val="0"/>
              </a:spcBef>
              <a:buClrTx/>
              <a:buSzTx/>
              <a:buFontTx/>
              <a:buNone/>
            </a:pPr>
            <a:r>
              <a:rPr kumimoji="0" lang="en-US" altLang="zh-CN" sz="2000" b="1" dirty="0">
                <a:solidFill>
                  <a:schemeClr val="bg2"/>
                </a:solidFill>
                <a:latin typeface="Courier New" panose="02070309020205020404" pitchFamily="49" charset="0"/>
                <a:cs typeface="Courier New" panose="02070309020205020404" pitchFamily="49" charset="0"/>
              </a:rPr>
              <a:t>         </a:t>
            </a:r>
            <a:r>
              <a:rPr kumimoji="0" lang="en-US" altLang="zh-CN" sz="2000" b="1" dirty="0">
                <a:solidFill>
                  <a:schemeClr val="hlink"/>
                </a:solidFill>
                <a:latin typeface="Courier New" panose="02070309020205020404" pitchFamily="49" charset="0"/>
                <a:cs typeface="Courier New" panose="02070309020205020404" pitchFamily="49" charset="0"/>
              </a:rPr>
              <a:t>determine whether p also belongs to </a:t>
            </a:r>
            <a:r>
              <a:rPr kumimoji="0" lang="en-US" altLang="zh-CN" sz="2000" b="1" dirty="0" err="1">
                <a:solidFill>
                  <a:schemeClr val="hlink"/>
                </a:solidFill>
                <a:latin typeface="Courier New" panose="02070309020205020404" pitchFamily="49" charset="0"/>
                <a:cs typeface="Courier New" panose="02070309020205020404" pitchFamily="49" charset="0"/>
              </a:rPr>
              <a:t>S</a:t>
            </a:r>
            <a:r>
              <a:rPr kumimoji="0" lang="en-US" altLang="zh-CN" sz="2000" b="1" baseline="-25000" dirty="0" err="1">
                <a:solidFill>
                  <a:schemeClr val="hlink"/>
                </a:solidFill>
                <a:latin typeface="Courier New" panose="02070309020205020404" pitchFamily="49" charset="0"/>
                <a:cs typeface="Courier New" panose="02070309020205020404" pitchFamily="49" charset="0"/>
              </a:rPr>
              <a:t>j</a:t>
            </a:r>
            <a:endParaRPr kumimoji="0" lang="en-US" altLang="zh-CN" sz="2000" b="1" baseline="-25000" dirty="0">
              <a:solidFill>
                <a:schemeClr val="hlink"/>
              </a:solidFill>
              <a:latin typeface="Courier New" panose="02070309020205020404" pitchFamily="49" charset="0"/>
              <a:cs typeface="Courier New" panose="02070309020205020404" pitchFamily="49" charset="0"/>
            </a:endParaRPr>
          </a:p>
          <a:p>
            <a:pPr>
              <a:lnSpc>
                <a:spcPct val="110000"/>
              </a:lnSpc>
              <a:spcBef>
                <a:spcPct val="0"/>
              </a:spcBef>
              <a:buClrTx/>
              <a:buSzTx/>
              <a:buFontTx/>
              <a:buNone/>
            </a:pPr>
            <a:r>
              <a:rPr kumimoji="0" lang="en-US" altLang="zh-CN" sz="2000" b="1" dirty="0">
                <a:solidFill>
                  <a:schemeClr val="bg2"/>
                </a:solidFill>
                <a:latin typeface="Courier New" panose="02070309020205020404" pitchFamily="49" charset="0"/>
                <a:cs typeface="Courier New" panose="02070309020205020404" pitchFamily="49" charset="0"/>
              </a:rPr>
              <a:t>      }</a:t>
            </a:r>
            <a:endParaRPr kumimoji="0" lang="en-US" altLang="zh-CN" sz="2000" b="1" dirty="0">
              <a:solidFill>
                <a:schemeClr val="bg2"/>
              </a:solidFill>
              <a:latin typeface="Courier New" panose="02070309020205020404" pitchFamily="49" charset="0"/>
              <a:cs typeface="Courier New" panose="02070309020205020404" pitchFamily="49" charset="0"/>
            </a:endParaRPr>
          </a:p>
          <a:p>
            <a:pPr>
              <a:lnSpc>
                <a:spcPct val="110000"/>
              </a:lnSpc>
              <a:spcBef>
                <a:spcPct val="0"/>
              </a:spcBef>
              <a:buClrTx/>
              <a:buSzTx/>
              <a:buFontTx/>
              <a:buNone/>
            </a:pPr>
            <a:r>
              <a:rPr kumimoji="0" lang="en-US" altLang="zh-CN" sz="2000" b="1" dirty="0">
                <a:solidFill>
                  <a:schemeClr val="bg2"/>
                </a:solidFill>
                <a:latin typeface="Courier New" panose="02070309020205020404" pitchFamily="49" charset="0"/>
                <a:cs typeface="Courier New" panose="02070309020205020404" pitchFamily="49" charset="0"/>
              </a:rPr>
              <a:t>      </a:t>
            </a:r>
            <a:r>
              <a:rPr kumimoji="0" lang="en-US" altLang="zh-CN" sz="2000" b="1" dirty="0">
                <a:solidFill>
                  <a:srgbClr val="003399"/>
                </a:solidFill>
                <a:latin typeface="Courier New" panose="02070309020205020404" pitchFamily="49" charset="0"/>
                <a:cs typeface="Courier New" panose="02070309020205020404" pitchFamily="49" charset="0"/>
              </a:rPr>
              <a:t>if</a:t>
            </a:r>
            <a:r>
              <a:rPr kumimoji="0" lang="en-US" altLang="zh-CN" sz="2000" b="1" dirty="0">
                <a:solidFill>
                  <a:schemeClr val="bg2"/>
                </a:solidFill>
                <a:latin typeface="Courier New" panose="02070309020205020404" pitchFamily="49" charset="0"/>
                <a:cs typeface="Courier New" panose="02070309020205020404" pitchFamily="49" charset="0"/>
              </a:rPr>
              <a:t> (no element of S</a:t>
            </a:r>
            <a:r>
              <a:rPr kumimoji="0" lang="en-US" altLang="zh-CN" sz="2000" b="1" baseline="-25000" dirty="0">
                <a:solidFill>
                  <a:schemeClr val="bg2"/>
                </a:solidFill>
                <a:latin typeface="Courier New" panose="02070309020205020404" pitchFamily="49" charset="0"/>
                <a:cs typeface="Courier New" panose="02070309020205020404" pitchFamily="49" charset="0"/>
              </a:rPr>
              <a:t>i</a:t>
            </a:r>
            <a:r>
              <a:rPr kumimoji="0" lang="en-US" altLang="zh-CN" sz="2000" b="1" dirty="0">
                <a:solidFill>
                  <a:schemeClr val="bg2"/>
                </a:solidFill>
                <a:latin typeface="Courier New" panose="02070309020205020404" pitchFamily="49" charset="0"/>
                <a:cs typeface="Courier New" panose="02070309020205020404" pitchFamily="49" charset="0"/>
              </a:rPr>
              <a:t> belongs to </a:t>
            </a:r>
            <a:r>
              <a:rPr kumimoji="0" lang="en-US" altLang="zh-CN" sz="2000" b="1" dirty="0" err="1">
                <a:solidFill>
                  <a:schemeClr val="bg2"/>
                </a:solidFill>
                <a:latin typeface="Courier New" panose="02070309020205020404" pitchFamily="49" charset="0"/>
                <a:cs typeface="Courier New" panose="02070309020205020404" pitchFamily="49" charset="0"/>
              </a:rPr>
              <a:t>S</a:t>
            </a:r>
            <a:r>
              <a:rPr kumimoji="0" lang="en-US" altLang="zh-CN" sz="2000" b="1" baseline="-25000" dirty="0" err="1">
                <a:solidFill>
                  <a:schemeClr val="bg2"/>
                </a:solidFill>
                <a:latin typeface="Courier New" panose="02070309020205020404" pitchFamily="49" charset="0"/>
                <a:cs typeface="Courier New" panose="02070309020205020404" pitchFamily="49" charset="0"/>
              </a:rPr>
              <a:t>j</a:t>
            </a:r>
            <a:r>
              <a:rPr kumimoji="0" lang="en-US" altLang="zh-CN" sz="2000" b="1" dirty="0">
                <a:solidFill>
                  <a:schemeClr val="bg2"/>
                </a:solidFill>
                <a:latin typeface="Courier New" panose="02070309020205020404" pitchFamily="49" charset="0"/>
                <a:cs typeface="Courier New" panose="02070309020205020404" pitchFamily="49" charset="0"/>
              </a:rPr>
              <a:t>)</a:t>
            </a:r>
            <a:endParaRPr kumimoji="0" lang="en-US" altLang="zh-CN" sz="2000" b="1" dirty="0">
              <a:solidFill>
                <a:schemeClr val="bg2"/>
              </a:solidFill>
              <a:latin typeface="Courier New" panose="02070309020205020404" pitchFamily="49" charset="0"/>
              <a:cs typeface="Courier New" panose="02070309020205020404" pitchFamily="49" charset="0"/>
            </a:endParaRPr>
          </a:p>
          <a:p>
            <a:pPr>
              <a:lnSpc>
                <a:spcPct val="110000"/>
              </a:lnSpc>
              <a:spcBef>
                <a:spcPct val="0"/>
              </a:spcBef>
              <a:buClrTx/>
              <a:buSzTx/>
              <a:buFontTx/>
              <a:buNone/>
            </a:pPr>
            <a:r>
              <a:rPr kumimoji="0" lang="en-US" altLang="zh-CN" sz="2000" b="1" dirty="0">
                <a:solidFill>
                  <a:schemeClr val="bg2"/>
                </a:solidFill>
                <a:latin typeface="Courier New" panose="02070309020205020404" pitchFamily="49" charset="0"/>
                <a:cs typeface="Courier New" panose="02070309020205020404" pitchFamily="49" charset="0"/>
              </a:rPr>
              <a:t>         report that S</a:t>
            </a:r>
            <a:r>
              <a:rPr kumimoji="0" lang="en-US" altLang="zh-CN" sz="2000" b="1" baseline="-25000" dirty="0">
                <a:solidFill>
                  <a:schemeClr val="bg2"/>
                </a:solidFill>
                <a:latin typeface="Courier New" panose="02070309020205020404" pitchFamily="49" charset="0"/>
                <a:cs typeface="Courier New" panose="02070309020205020404" pitchFamily="49" charset="0"/>
              </a:rPr>
              <a:t>i</a:t>
            </a:r>
            <a:r>
              <a:rPr kumimoji="0" lang="en-US" altLang="zh-CN" sz="2000" b="1" dirty="0">
                <a:solidFill>
                  <a:schemeClr val="bg2"/>
                </a:solidFill>
                <a:latin typeface="Courier New" panose="02070309020205020404" pitchFamily="49" charset="0"/>
                <a:cs typeface="Courier New" panose="02070309020205020404" pitchFamily="49" charset="0"/>
              </a:rPr>
              <a:t> and </a:t>
            </a:r>
            <a:r>
              <a:rPr kumimoji="0" lang="en-US" altLang="zh-CN" sz="2000" b="1" dirty="0" err="1">
                <a:solidFill>
                  <a:schemeClr val="bg2"/>
                </a:solidFill>
                <a:latin typeface="Courier New" panose="02070309020205020404" pitchFamily="49" charset="0"/>
                <a:cs typeface="Courier New" panose="02070309020205020404" pitchFamily="49" charset="0"/>
              </a:rPr>
              <a:t>S</a:t>
            </a:r>
            <a:r>
              <a:rPr kumimoji="0" lang="en-US" altLang="zh-CN" sz="2000" b="1" baseline="-25000" dirty="0" err="1">
                <a:solidFill>
                  <a:schemeClr val="bg2"/>
                </a:solidFill>
                <a:latin typeface="Courier New" panose="02070309020205020404" pitchFamily="49" charset="0"/>
                <a:cs typeface="Courier New" panose="02070309020205020404" pitchFamily="49" charset="0"/>
              </a:rPr>
              <a:t>j</a:t>
            </a:r>
            <a:r>
              <a:rPr kumimoji="0" lang="en-US" altLang="zh-CN" sz="2000" b="1" dirty="0">
                <a:solidFill>
                  <a:schemeClr val="bg2"/>
                </a:solidFill>
                <a:latin typeface="Courier New" panose="02070309020205020404" pitchFamily="49" charset="0"/>
                <a:cs typeface="Courier New" panose="02070309020205020404" pitchFamily="49" charset="0"/>
              </a:rPr>
              <a:t> are disjoint</a:t>
            </a:r>
            <a:endParaRPr kumimoji="0" lang="en-US" altLang="zh-CN" sz="2000" b="1" dirty="0">
              <a:solidFill>
                <a:schemeClr val="bg2"/>
              </a:solidFill>
              <a:latin typeface="Courier New" panose="02070309020205020404" pitchFamily="49" charset="0"/>
              <a:cs typeface="Courier New" panose="02070309020205020404" pitchFamily="49" charset="0"/>
            </a:endParaRPr>
          </a:p>
          <a:p>
            <a:pPr>
              <a:lnSpc>
                <a:spcPct val="110000"/>
              </a:lnSpc>
              <a:spcBef>
                <a:spcPct val="0"/>
              </a:spcBef>
              <a:buClrTx/>
              <a:buSzTx/>
              <a:buFontTx/>
              <a:buNone/>
            </a:pPr>
            <a:r>
              <a:rPr kumimoji="0" lang="en-US" altLang="zh-CN" sz="2000" b="1" dirty="0">
                <a:solidFill>
                  <a:schemeClr val="bg2"/>
                </a:solidFill>
                <a:latin typeface="Courier New" panose="02070309020205020404" pitchFamily="49" charset="0"/>
                <a:cs typeface="Courier New" panose="02070309020205020404" pitchFamily="49" charset="0"/>
              </a:rPr>
              <a:t>   }</a:t>
            </a:r>
            <a:endParaRPr kumimoji="0" lang="en-US" altLang="zh-CN" sz="2000" b="1" dirty="0">
              <a:solidFill>
                <a:schemeClr val="bg2"/>
              </a:solidFill>
              <a:latin typeface="Courier New" panose="02070309020205020404" pitchFamily="49" charset="0"/>
              <a:cs typeface="Courier New" panose="02070309020205020404" pitchFamily="49" charset="0"/>
            </a:endParaRPr>
          </a:p>
          <a:p>
            <a:pPr>
              <a:lnSpc>
                <a:spcPct val="110000"/>
              </a:lnSpc>
              <a:spcBef>
                <a:spcPct val="0"/>
              </a:spcBef>
              <a:buClrTx/>
              <a:buSzTx/>
              <a:buFontTx/>
              <a:buNone/>
            </a:pPr>
            <a:r>
              <a:rPr kumimoji="0" lang="en-US" altLang="zh-CN" sz="2000" b="1" dirty="0">
                <a:solidFill>
                  <a:schemeClr val="bg2"/>
                </a:solidFill>
                <a:latin typeface="Courier New" panose="02070309020205020404" pitchFamily="49" charset="0"/>
                <a:cs typeface="Courier New" panose="02070309020205020404" pitchFamily="49" charset="0"/>
              </a:rPr>
              <a:t>}</a:t>
            </a:r>
            <a:endParaRPr kumimoji="0" lang="en-US" altLang="zh-CN" sz="2000" b="1" dirty="0">
              <a:solidFill>
                <a:schemeClr val="bg2"/>
              </a:solidFill>
              <a:latin typeface="Courier New" panose="02070309020205020404" pitchFamily="49" charset="0"/>
              <a:cs typeface="Courier New" panose="02070309020205020404" pitchFamily="49" charset="0"/>
            </a:endParaRPr>
          </a:p>
        </p:txBody>
      </p:sp>
      <p:sp>
        <p:nvSpPr>
          <p:cNvPr id="31749" name="Text Box 5"/>
          <p:cNvSpPr txBox="1">
            <a:spLocks noChangeArrowheads="1"/>
          </p:cNvSpPr>
          <p:nvPr/>
        </p:nvSpPr>
        <p:spPr bwMode="auto">
          <a:xfrm>
            <a:off x="1371600" y="5943600"/>
            <a:ext cx="4038600" cy="6286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110000"/>
              </a:lnSpc>
              <a:defRPr sz="1400" b="1">
                <a:solidFill>
                  <a:schemeClr val="bg2"/>
                </a:solidFill>
                <a:latin typeface="Courier New" panose="02070309020205020404" pitchFamily="49" charset="0"/>
                <a:ea typeface="宋体" panose="02010600030101010101" pitchFamily="2" charset="-122"/>
              </a:defRPr>
            </a:lvl1pPr>
            <a:lvl2pPr marL="742950" indent="-285750">
              <a:lnSpc>
                <a:spcPct val="110000"/>
              </a:lnSpc>
              <a:defRPr sz="1400" b="1">
                <a:solidFill>
                  <a:schemeClr val="bg2"/>
                </a:solidFill>
                <a:latin typeface="Courier New" panose="02070309020205020404" pitchFamily="49" charset="0"/>
                <a:ea typeface="宋体" panose="02010600030101010101" pitchFamily="2" charset="-122"/>
              </a:defRPr>
            </a:lvl2pPr>
            <a:lvl3pPr marL="1143000" indent="-228600">
              <a:lnSpc>
                <a:spcPct val="110000"/>
              </a:lnSpc>
              <a:defRPr sz="1400" b="1">
                <a:solidFill>
                  <a:schemeClr val="bg2"/>
                </a:solidFill>
                <a:latin typeface="Courier New" panose="02070309020205020404" pitchFamily="49" charset="0"/>
                <a:ea typeface="宋体" panose="02010600030101010101" pitchFamily="2" charset="-122"/>
              </a:defRPr>
            </a:lvl3pPr>
            <a:lvl4pPr marL="1600200" indent="-228600">
              <a:lnSpc>
                <a:spcPct val="110000"/>
              </a:lnSpc>
              <a:defRPr sz="1400" b="1">
                <a:solidFill>
                  <a:schemeClr val="bg2"/>
                </a:solidFill>
                <a:latin typeface="Courier New" panose="02070309020205020404" pitchFamily="49" charset="0"/>
                <a:ea typeface="宋体" panose="02010600030101010101" pitchFamily="2" charset="-122"/>
              </a:defRPr>
            </a:lvl4pPr>
            <a:lvl5pPr marL="2057400" indent="-228600">
              <a:lnSpc>
                <a:spcPct val="110000"/>
              </a:lnSpc>
              <a:defRPr sz="1400" b="1">
                <a:solidFill>
                  <a:schemeClr val="bg2"/>
                </a:solidFill>
                <a:latin typeface="Courier New" panose="02070309020205020404" pitchFamily="49" charset="0"/>
                <a:ea typeface="宋体" panose="02010600030101010101" pitchFamily="2" charset="-122"/>
              </a:defRPr>
            </a:lvl5pPr>
            <a:lvl6pPr marL="25146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6pPr>
            <a:lvl7pPr marL="29718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7pPr>
            <a:lvl8pPr marL="34290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8pPr>
            <a:lvl9pPr marL="38862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9pPr>
          </a:lstStyle>
          <a:p>
            <a:pPr>
              <a:spcBef>
                <a:spcPct val="50000"/>
              </a:spcBef>
            </a:pPr>
            <a:r>
              <a:rPr lang="en-US" altLang="zh-CN" sz="3200">
                <a:solidFill>
                  <a:schemeClr val="hlink"/>
                </a:solidFill>
              </a:rPr>
              <a:t>O(n</a:t>
            </a:r>
            <a:r>
              <a:rPr lang="en-US" altLang="zh-CN" sz="3200" baseline="30000">
                <a:solidFill>
                  <a:schemeClr val="hlink"/>
                </a:solidFill>
              </a:rPr>
              <a:t>3</a:t>
            </a:r>
            <a:r>
              <a:rPr lang="en-US" altLang="zh-CN" sz="3200">
                <a:solidFill>
                  <a:schemeClr val="hlink"/>
                </a:solidFill>
              </a:rPr>
              <a:t>) solution</a:t>
            </a:r>
            <a:endParaRPr lang="en-US" altLang="zh-CN" sz="3200">
              <a:solidFill>
                <a:schemeClr val="hlink"/>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7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9"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6BD13F92-7146-4CB0-BC83-78A88ADD5180}" type="slidenum">
              <a:rPr lang="zh-CN" altLang="en-US"/>
            </a:fld>
            <a:endParaRPr lang="en-US" altLang="zh-CN"/>
          </a:p>
        </p:txBody>
      </p:sp>
      <p:sp>
        <p:nvSpPr>
          <p:cNvPr id="32771" name="Rectangle 2"/>
          <p:cNvSpPr>
            <a:spLocks noGrp="1" noChangeArrowheads="1"/>
          </p:cNvSpPr>
          <p:nvPr>
            <p:ph type="title"/>
          </p:nvPr>
        </p:nvSpPr>
        <p:spPr/>
        <p:txBody>
          <a:bodyPr/>
          <a:lstStyle/>
          <a:p>
            <a:pPr eaLnBrk="1" hangingPunct="1"/>
            <a:r>
              <a:rPr lang="en-US" altLang="zh-CN"/>
              <a:t>O(n</a:t>
            </a:r>
            <a:r>
              <a:rPr lang="en-US" altLang="zh-CN" baseline="30000"/>
              <a:t>k</a:t>
            </a:r>
            <a:r>
              <a:rPr lang="en-US" altLang="zh-CN"/>
              <a:t>)</a:t>
            </a:r>
            <a:r>
              <a:rPr lang="zh-CN" altLang="en-US"/>
              <a:t>时间</a:t>
            </a:r>
            <a:endParaRPr lang="zh-CN" altLang="en-US"/>
          </a:p>
        </p:txBody>
      </p:sp>
      <p:sp>
        <p:nvSpPr>
          <p:cNvPr id="32772" name="Rectangle 3"/>
          <p:cNvSpPr>
            <a:spLocks noGrp="1" noChangeArrowheads="1"/>
          </p:cNvSpPr>
          <p:nvPr>
            <p:ph type="body" idx="1"/>
          </p:nvPr>
        </p:nvSpPr>
        <p:spPr>
          <a:xfrm>
            <a:off x="755576" y="1985169"/>
            <a:ext cx="7772400" cy="4114800"/>
          </a:xfrm>
        </p:spPr>
        <p:txBody>
          <a:bodyPr/>
          <a:lstStyle/>
          <a:p>
            <a:pPr eaLnBrk="1" hangingPunct="1"/>
            <a:r>
              <a:rPr lang="zh-CN" altLang="en-US" dirty="0"/>
              <a:t>问题： 对某个固定常数</a:t>
            </a:r>
            <a:r>
              <a:rPr lang="en-US" altLang="zh-CN" dirty="0"/>
              <a:t>k, </a:t>
            </a:r>
            <a:r>
              <a:rPr lang="zh-CN" altLang="en-US" dirty="0"/>
              <a:t>我们想知道给定的</a:t>
            </a:r>
            <a:r>
              <a:rPr lang="en-US" altLang="zh-CN" dirty="0"/>
              <a:t>n</a:t>
            </a:r>
            <a:r>
              <a:rPr lang="zh-CN" altLang="en-US" dirty="0"/>
              <a:t>个结点的输入图是否</a:t>
            </a:r>
            <a:r>
              <a:rPr lang="zh-CN" altLang="en-US" dirty="0">
                <a:solidFill>
                  <a:srgbClr val="FF0000"/>
                </a:solidFill>
              </a:rPr>
              <a:t>有一个大小为</a:t>
            </a:r>
            <a:r>
              <a:rPr lang="en-US" altLang="zh-CN" dirty="0">
                <a:solidFill>
                  <a:srgbClr val="FF0000"/>
                </a:solidFill>
              </a:rPr>
              <a:t>k</a:t>
            </a:r>
            <a:r>
              <a:rPr lang="zh-CN" altLang="en-US" dirty="0">
                <a:solidFill>
                  <a:srgbClr val="FF0000"/>
                </a:solidFill>
              </a:rPr>
              <a:t>的独立集</a:t>
            </a:r>
            <a:r>
              <a:rPr lang="zh-CN" altLang="en-US" dirty="0"/>
              <a:t>。</a:t>
            </a:r>
            <a:endParaRPr lang="zh-CN" altLang="en-US" dirty="0"/>
          </a:p>
          <a:p>
            <a:pPr eaLnBrk="1" hangingPunct="1"/>
            <a:endParaRPr lang="zh-CN" altLang="en-US" dirty="0"/>
          </a:p>
          <a:p>
            <a:pPr eaLnBrk="1" hangingPunct="1"/>
            <a:r>
              <a:rPr lang="zh-CN" altLang="en-US" dirty="0"/>
              <a:t>用蛮力搜索的方法：枚举所有</a:t>
            </a:r>
            <a:r>
              <a:rPr lang="en-US" altLang="zh-CN" dirty="0"/>
              <a:t>k</a:t>
            </a:r>
            <a:r>
              <a:rPr lang="zh-CN" altLang="en-US" dirty="0"/>
              <a:t>个结点的子集，并且对每个子集</a:t>
            </a:r>
            <a:r>
              <a:rPr lang="en-US" altLang="zh-CN" dirty="0"/>
              <a:t>S</a:t>
            </a:r>
            <a:r>
              <a:rPr lang="zh-CN" altLang="en-US" dirty="0"/>
              <a:t>检查是否存在一条边与</a:t>
            </a:r>
            <a:r>
              <a:rPr lang="en-US" altLang="zh-CN" dirty="0"/>
              <a:t>S</a:t>
            </a:r>
            <a:r>
              <a:rPr lang="zh-CN" altLang="en-US" dirty="0"/>
              <a:t>中的任意两个元素相交</a:t>
            </a:r>
            <a:endParaRPr lang="zh-CN" altLang="en-US"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 name="灯片编号占位符 5"/>
          <p:cNvSpPr>
            <a:spLocks noGrp="1"/>
          </p:cNvSpPr>
          <p:nvPr>
            <p:ph type="sldNum" sz="quarter" idx="12"/>
          </p:nvPr>
        </p:nvSpPr>
        <p:spPr/>
        <p:txBody>
          <a:bodyPr/>
          <a:lstStyle/>
          <a:p>
            <a:pPr>
              <a:defRPr/>
            </a:pPr>
            <a:fld id="{EDE14E10-B51B-4AF5-BF42-CFE92DAC3D43}" type="slidenum">
              <a:rPr lang="zh-CN" altLang="en-US"/>
            </a:fld>
            <a:endParaRPr lang="en-US" altLang="zh-CN"/>
          </a:p>
        </p:txBody>
      </p:sp>
      <p:sp>
        <p:nvSpPr>
          <p:cNvPr id="33795" name="Rectangle 2"/>
          <p:cNvSpPr>
            <a:spLocks noGrp="1" noChangeArrowheads="1"/>
          </p:cNvSpPr>
          <p:nvPr>
            <p:ph type="title"/>
          </p:nvPr>
        </p:nvSpPr>
        <p:spPr/>
        <p:txBody>
          <a:bodyPr/>
          <a:lstStyle/>
          <a:p>
            <a:pPr eaLnBrk="1" hangingPunct="1"/>
            <a:r>
              <a:rPr lang="en-US" altLang="zh-CN"/>
              <a:t>O(n</a:t>
            </a:r>
            <a:r>
              <a:rPr lang="en-US" altLang="zh-CN" baseline="30000"/>
              <a:t>k</a:t>
            </a:r>
            <a:r>
              <a:rPr lang="en-US" altLang="zh-CN"/>
              <a:t>)</a:t>
            </a:r>
            <a:r>
              <a:rPr lang="zh-CN" altLang="en-US"/>
              <a:t>时间</a:t>
            </a:r>
            <a:endParaRPr lang="zh-CN" altLang="en-US"/>
          </a:p>
        </p:txBody>
      </p:sp>
      <p:sp>
        <p:nvSpPr>
          <p:cNvPr id="33796" name="Text Box 4"/>
          <p:cNvSpPr>
            <a:spLocks noGrp="1" noChangeArrowheads="1"/>
          </p:cNvSpPr>
          <p:nvPr>
            <p:ph type="body" idx="1"/>
          </p:nvPr>
        </p:nvSpPr>
        <p:spPr>
          <a:xfrm>
            <a:off x="1219200" y="1981200"/>
            <a:ext cx="6553200" cy="2095872"/>
          </a:xfrm>
          <a:solidFill>
            <a:srgbClr val="C0C0C0"/>
          </a:solidFill>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nSpc>
                <a:spcPct val="110000"/>
              </a:lnSpc>
              <a:spcBef>
                <a:spcPct val="0"/>
              </a:spcBef>
              <a:buClrTx/>
              <a:buSzTx/>
              <a:buFontTx/>
              <a:buNone/>
            </a:pPr>
            <a:r>
              <a:rPr kumimoji="0" lang="en-US" altLang="zh-CN" sz="2000" b="1">
                <a:solidFill>
                  <a:srgbClr val="003399"/>
                </a:solidFill>
                <a:latin typeface="Courier New" panose="02070309020205020404" pitchFamily="49" charset="0"/>
                <a:cs typeface="Courier New" panose="02070309020205020404" pitchFamily="49" charset="0"/>
              </a:rPr>
              <a:t>foreach</a:t>
            </a:r>
            <a:r>
              <a:rPr kumimoji="0" lang="en-US" altLang="zh-CN" sz="2000" b="1">
                <a:solidFill>
                  <a:schemeClr val="bg2"/>
                </a:solidFill>
                <a:latin typeface="Courier New" panose="02070309020205020404" pitchFamily="49" charset="0"/>
                <a:cs typeface="Courier New" panose="02070309020205020404" pitchFamily="49" charset="0"/>
              </a:rPr>
              <a:t> subset S of k nodes {</a:t>
            </a:r>
            <a:endParaRPr kumimoji="0" lang="en-US" altLang="zh-CN" sz="2000" b="1">
              <a:solidFill>
                <a:schemeClr val="bg2"/>
              </a:solidFill>
              <a:latin typeface="Courier New" panose="02070309020205020404" pitchFamily="49" charset="0"/>
              <a:cs typeface="Courier New" panose="02070309020205020404" pitchFamily="49" charset="0"/>
            </a:endParaRPr>
          </a:p>
          <a:p>
            <a:pPr>
              <a:lnSpc>
                <a:spcPct val="110000"/>
              </a:lnSpc>
              <a:spcBef>
                <a:spcPct val="0"/>
              </a:spcBef>
              <a:buClrTx/>
              <a:buSzTx/>
              <a:buFontTx/>
              <a:buNone/>
            </a:pPr>
            <a:r>
              <a:rPr kumimoji="0" lang="en-US" altLang="zh-CN" sz="2000" b="1">
                <a:solidFill>
                  <a:schemeClr val="bg2"/>
                </a:solidFill>
                <a:latin typeface="Courier New" panose="02070309020205020404" pitchFamily="49" charset="0"/>
                <a:cs typeface="Courier New" panose="02070309020205020404" pitchFamily="49" charset="0"/>
              </a:rPr>
              <a:t>   check whether S in an independent set</a:t>
            </a:r>
            <a:endParaRPr kumimoji="0" lang="en-US" altLang="zh-CN" sz="2000" b="1">
              <a:solidFill>
                <a:schemeClr val="bg2"/>
              </a:solidFill>
              <a:latin typeface="Courier New" panose="02070309020205020404" pitchFamily="49" charset="0"/>
              <a:cs typeface="Courier New" panose="02070309020205020404" pitchFamily="49" charset="0"/>
            </a:endParaRPr>
          </a:p>
          <a:p>
            <a:pPr>
              <a:lnSpc>
                <a:spcPct val="110000"/>
              </a:lnSpc>
              <a:spcBef>
                <a:spcPct val="0"/>
              </a:spcBef>
              <a:buClrTx/>
              <a:buSzTx/>
              <a:buFontTx/>
              <a:buNone/>
            </a:pPr>
            <a:r>
              <a:rPr kumimoji="0" lang="en-US" altLang="zh-CN" sz="2000" b="1">
                <a:solidFill>
                  <a:srgbClr val="003399"/>
                </a:solidFill>
                <a:latin typeface="Courier New" panose="02070309020205020404" pitchFamily="49" charset="0"/>
                <a:cs typeface="Courier New" panose="02070309020205020404" pitchFamily="49" charset="0"/>
              </a:rPr>
              <a:t>   if</a:t>
            </a:r>
            <a:r>
              <a:rPr kumimoji="0" lang="en-US" altLang="zh-CN" sz="2000" b="1">
                <a:solidFill>
                  <a:schemeClr val="bg2"/>
                </a:solidFill>
                <a:latin typeface="Courier New" panose="02070309020205020404" pitchFamily="49" charset="0"/>
                <a:cs typeface="Courier New" panose="02070309020205020404" pitchFamily="49" charset="0"/>
              </a:rPr>
              <a:t> (S is an independent set)</a:t>
            </a:r>
            <a:endParaRPr kumimoji="0" lang="en-US" altLang="zh-CN" sz="2000" b="1">
              <a:solidFill>
                <a:schemeClr val="bg2"/>
              </a:solidFill>
              <a:latin typeface="Courier New" panose="02070309020205020404" pitchFamily="49" charset="0"/>
              <a:cs typeface="Courier New" panose="02070309020205020404" pitchFamily="49" charset="0"/>
            </a:endParaRPr>
          </a:p>
          <a:p>
            <a:pPr>
              <a:lnSpc>
                <a:spcPct val="110000"/>
              </a:lnSpc>
              <a:spcBef>
                <a:spcPct val="0"/>
              </a:spcBef>
              <a:buClrTx/>
              <a:buSzTx/>
              <a:buFontTx/>
              <a:buNone/>
            </a:pPr>
            <a:r>
              <a:rPr kumimoji="0" lang="en-US" altLang="zh-CN" sz="2000" b="1">
                <a:solidFill>
                  <a:schemeClr val="bg2"/>
                </a:solidFill>
                <a:latin typeface="Courier New" panose="02070309020205020404" pitchFamily="49" charset="0"/>
                <a:cs typeface="Courier New" panose="02070309020205020404" pitchFamily="49" charset="0"/>
              </a:rPr>
              <a:t>      report S is an independent set</a:t>
            </a:r>
            <a:endParaRPr kumimoji="0" lang="en-US" altLang="zh-CN" sz="2000" b="1">
              <a:solidFill>
                <a:schemeClr val="bg2"/>
              </a:solidFill>
              <a:latin typeface="Courier New" panose="02070309020205020404" pitchFamily="49" charset="0"/>
              <a:cs typeface="Courier New" panose="02070309020205020404" pitchFamily="49" charset="0"/>
            </a:endParaRPr>
          </a:p>
          <a:p>
            <a:pPr>
              <a:lnSpc>
                <a:spcPct val="110000"/>
              </a:lnSpc>
              <a:spcBef>
                <a:spcPct val="0"/>
              </a:spcBef>
              <a:buClrTx/>
              <a:buSzTx/>
              <a:buFontTx/>
              <a:buNone/>
            </a:pPr>
            <a:r>
              <a:rPr kumimoji="0" lang="en-US" altLang="zh-CN" sz="2000" b="1">
                <a:solidFill>
                  <a:schemeClr val="bg2"/>
                </a:solidFill>
                <a:latin typeface="Courier New" panose="02070309020205020404" pitchFamily="49" charset="0"/>
                <a:cs typeface="Courier New" panose="02070309020205020404" pitchFamily="49" charset="0"/>
              </a:rPr>
              <a:t>   }</a:t>
            </a:r>
            <a:endParaRPr kumimoji="0" lang="en-US" altLang="zh-CN" sz="2000" b="1">
              <a:solidFill>
                <a:schemeClr val="bg2"/>
              </a:solidFill>
              <a:latin typeface="Courier New" panose="02070309020205020404" pitchFamily="49" charset="0"/>
              <a:cs typeface="Courier New" panose="02070309020205020404" pitchFamily="49" charset="0"/>
            </a:endParaRPr>
          </a:p>
          <a:p>
            <a:pPr>
              <a:lnSpc>
                <a:spcPct val="110000"/>
              </a:lnSpc>
              <a:spcBef>
                <a:spcPct val="0"/>
              </a:spcBef>
              <a:buClrTx/>
              <a:buSzTx/>
              <a:buFontTx/>
              <a:buNone/>
            </a:pPr>
            <a:r>
              <a:rPr kumimoji="0" lang="en-US" altLang="zh-CN" sz="2000" b="1">
                <a:solidFill>
                  <a:schemeClr val="bg2"/>
                </a:solidFill>
                <a:latin typeface="Courier New" panose="02070309020205020404" pitchFamily="49" charset="0"/>
                <a:cs typeface="Courier New" panose="02070309020205020404" pitchFamily="49" charset="0"/>
              </a:rPr>
              <a:t>}</a:t>
            </a:r>
            <a:endParaRPr kumimoji="0" lang="en-US" altLang="zh-CN" sz="2000" b="1">
              <a:solidFill>
                <a:schemeClr val="bg2"/>
              </a:solidFill>
              <a:latin typeface="Courier New" panose="02070309020205020404" pitchFamily="49" charset="0"/>
              <a:cs typeface="Courier New" panose="02070309020205020404" pitchFamily="49" charset="0"/>
            </a:endParaRPr>
          </a:p>
        </p:txBody>
      </p:sp>
      <p:sp>
        <p:nvSpPr>
          <p:cNvPr id="33797" name="Text Box 5"/>
          <p:cNvSpPr txBox="1">
            <a:spLocks noChangeArrowheads="1"/>
          </p:cNvSpPr>
          <p:nvPr/>
        </p:nvSpPr>
        <p:spPr bwMode="auto">
          <a:xfrm>
            <a:off x="609600" y="4235181"/>
            <a:ext cx="6172200" cy="561975"/>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110000"/>
              </a:lnSpc>
              <a:defRPr sz="1400" b="1">
                <a:solidFill>
                  <a:schemeClr val="bg2"/>
                </a:solidFill>
                <a:latin typeface="Courier New" panose="02070309020205020404" pitchFamily="49" charset="0"/>
                <a:ea typeface="宋体" panose="02010600030101010101" pitchFamily="2" charset="-122"/>
              </a:defRPr>
            </a:lvl1pPr>
            <a:lvl2pPr marL="742950" indent="-285750">
              <a:lnSpc>
                <a:spcPct val="110000"/>
              </a:lnSpc>
              <a:defRPr sz="1400" b="1">
                <a:solidFill>
                  <a:schemeClr val="bg2"/>
                </a:solidFill>
                <a:latin typeface="Courier New" panose="02070309020205020404" pitchFamily="49" charset="0"/>
                <a:ea typeface="宋体" panose="02010600030101010101" pitchFamily="2" charset="-122"/>
              </a:defRPr>
            </a:lvl2pPr>
            <a:lvl3pPr marL="1143000" indent="-228600">
              <a:lnSpc>
                <a:spcPct val="110000"/>
              </a:lnSpc>
              <a:defRPr sz="1400" b="1">
                <a:solidFill>
                  <a:schemeClr val="bg2"/>
                </a:solidFill>
                <a:latin typeface="Courier New" panose="02070309020205020404" pitchFamily="49" charset="0"/>
                <a:ea typeface="宋体" panose="02010600030101010101" pitchFamily="2" charset="-122"/>
              </a:defRPr>
            </a:lvl3pPr>
            <a:lvl4pPr marL="1600200" indent="-228600">
              <a:lnSpc>
                <a:spcPct val="110000"/>
              </a:lnSpc>
              <a:defRPr sz="1400" b="1">
                <a:solidFill>
                  <a:schemeClr val="bg2"/>
                </a:solidFill>
                <a:latin typeface="Courier New" panose="02070309020205020404" pitchFamily="49" charset="0"/>
                <a:ea typeface="宋体" panose="02010600030101010101" pitchFamily="2" charset="-122"/>
              </a:defRPr>
            </a:lvl4pPr>
            <a:lvl5pPr marL="2057400" indent="-228600">
              <a:lnSpc>
                <a:spcPct val="110000"/>
              </a:lnSpc>
              <a:defRPr sz="1400" b="1">
                <a:solidFill>
                  <a:schemeClr val="bg2"/>
                </a:solidFill>
                <a:latin typeface="Courier New" panose="02070309020205020404" pitchFamily="49" charset="0"/>
                <a:ea typeface="宋体" panose="02010600030101010101" pitchFamily="2" charset="-122"/>
              </a:defRPr>
            </a:lvl5pPr>
            <a:lvl6pPr marL="25146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6pPr>
            <a:lvl7pPr marL="29718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7pPr>
            <a:lvl8pPr marL="34290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8pPr>
            <a:lvl9pPr marL="38862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9pPr>
          </a:lstStyle>
          <a:p>
            <a:pPr>
              <a:spcBef>
                <a:spcPct val="50000"/>
              </a:spcBef>
            </a:pPr>
            <a:r>
              <a:rPr lang="zh-CN" altLang="en-US" sz="2800" dirty="0"/>
              <a:t>枚举所有</a:t>
            </a:r>
            <a:r>
              <a:rPr lang="en-US" altLang="zh-CN" sz="2800" dirty="0"/>
              <a:t>k</a:t>
            </a:r>
            <a:r>
              <a:rPr lang="zh-CN" altLang="en-US" sz="2800" dirty="0"/>
              <a:t>个结点的子集：</a:t>
            </a:r>
            <a:r>
              <a:rPr lang="zh-CN" altLang="en-US" dirty="0"/>
              <a:t> </a:t>
            </a:r>
            <a:endParaRPr lang="zh-CN" altLang="en-US" dirty="0"/>
          </a:p>
        </p:txBody>
      </p:sp>
      <p:graphicFrame>
        <p:nvGraphicFramePr>
          <p:cNvPr id="33798" name="Object 6"/>
          <p:cNvGraphicFramePr>
            <a:graphicFrameLocks noChangeAspect="1"/>
          </p:cNvGraphicFramePr>
          <p:nvPr/>
        </p:nvGraphicFramePr>
        <p:xfrm>
          <a:off x="4722440" y="4208437"/>
          <a:ext cx="3964360" cy="660727"/>
        </p:xfrm>
        <a:graphic>
          <a:graphicData uri="http://schemas.openxmlformats.org/presentationml/2006/ole">
            <mc:AlternateContent xmlns:mc="http://schemas.openxmlformats.org/markup-compatibility/2006">
              <mc:Choice xmlns:v="urn:schemas-microsoft-com:vml" Requires="v">
                <p:oleObj spid="_x0000_s2" name="Equation" r:id="rId1" imgW="3810000" imgH="635000" progId="Equation.3">
                  <p:embed/>
                </p:oleObj>
              </mc:Choice>
              <mc:Fallback>
                <p:oleObj name="Equation" r:id="rId1" imgW="3810000" imgH="635000" progId="Equation.3">
                  <p:embed/>
                  <p:pic>
                    <p:nvPicPr>
                      <p:cNvPr id="0" name="Object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22440" y="4208437"/>
                        <a:ext cx="3964360" cy="660727"/>
                      </a:xfrm>
                      <a:prstGeom prst="rect">
                        <a:avLst/>
                      </a:prstGeom>
                      <a:noFill/>
                      <a:ln>
                        <a:noFill/>
                      </a:ln>
                      <a:effectLst/>
                    </p:spPr>
                  </p:pic>
                </p:oleObj>
              </mc:Fallback>
            </mc:AlternateContent>
          </a:graphicData>
        </a:graphic>
      </p:graphicFrame>
      <p:sp>
        <p:nvSpPr>
          <p:cNvPr id="33799" name="Text Box 7"/>
          <p:cNvSpPr txBox="1">
            <a:spLocks noChangeArrowheads="1"/>
          </p:cNvSpPr>
          <p:nvPr/>
        </p:nvSpPr>
        <p:spPr bwMode="auto">
          <a:xfrm>
            <a:off x="762000" y="5027269"/>
            <a:ext cx="6629400" cy="561975"/>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110000"/>
              </a:lnSpc>
              <a:defRPr sz="1400" b="1">
                <a:solidFill>
                  <a:schemeClr val="bg2"/>
                </a:solidFill>
                <a:latin typeface="Courier New" panose="02070309020205020404" pitchFamily="49" charset="0"/>
                <a:ea typeface="宋体" panose="02010600030101010101" pitchFamily="2" charset="-122"/>
              </a:defRPr>
            </a:lvl1pPr>
            <a:lvl2pPr marL="742950" indent="-285750">
              <a:lnSpc>
                <a:spcPct val="110000"/>
              </a:lnSpc>
              <a:defRPr sz="1400" b="1">
                <a:solidFill>
                  <a:schemeClr val="bg2"/>
                </a:solidFill>
                <a:latin typeface="Courier New" panose="02070309020205020404" pitchFamily="49" charset="0"/>
                <a:ea typeface="宋体" panose="02010600030101010101" pitchFamily="2" charset="-122"/>
              </a:defRPr>
            </a:lvl2pPr>
            <a:lvl3pPr marL="1143000" indent="-228600">
              <a:lnSpc>
                <a:spcPct val="110000"/>
              </a:lnSpc>
              <a:defRPr sz="1400" b="1">
                <a:solidFill>
                  <a:schemeClr val="bg2"/>
                </a:solidFill>
                <a:latin typeface="Courier New" panose="02070309020205020404" pitchFamily="49" charset="0"/>
                <a:ea typeface="宋体" panose="02010600030101010101" pitchFamily="2" charset="-122"/>
              </a:defRPr>
            </a:lvl3pPr>
            <a:lvl4pPr marL="1600200" indent="-228600">
              <a:lnSpc>
                <a:spcPct val="110000"/>
              </a:lnSpc>
              <a:defRPr sz="1400" b="1">
                <a:solidFill>
                  <a:schemeClr val="bg2"/>
                </a:solidFill>
                <a:latin typeface="Courier New" panose="02070309020205020404" pitchFamily="49" charset="0"/>
                <a:ea typeface="宋体" panose="02010600030101010101" pitchFamily="2" charset="-122"/>
              </a:defRPr>
            </a:lvl4pPr>
            <a:lvl5pPr marL="2057400" indent="-228600">
              <a:lnSpc>
                <a:spcPct val="110000"/>
              </a:lnSpc>
              <a:defRPr sz="1400" b="1">
                <a:solidFill>
                  <a:schemeClr val="bg2"/>
                </a:solidFill>
                <a:latin typeface="Courier New" panose="02070309020205020404" pitchFamily="49" charset="0"/>
                <a:ea typeface="宋体" panose="02010600030101010101" pitchFamily="2" charset="-122"/>
              </a:defRPr>
            </a:lvl5pPr>
            <a:lvl6pPr marL="25146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6pPr>
            <a:lvl7pPr marL="29718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7pPr>
            <a:lvl8pPr marL="34290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8pPr>
            <a:lvl9pPr marL="38862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9pPr>
          </a:lstStyle>
          <a:p>
            <a:pPr>
              <a:spcBef>
                <a:spcPct val="50000"/>
              </a:spcBef>
            </a:pPr>
            <a:r>
              <a:rPr lang="zh-CN" altLang="en-US" sz="2800" dirty="0"/>
              <a:t>判断</a:t>
            </a:r>
            <a:r>
              <a:rPr lang="en-US" altLang="zh-CN" sz="2800" dirty="0"/>
              <a:t>k</a:t>
            </a:r>
            <a:r>
              <a:rPr lang="zh-CN" altLang="en-US" sz="2800" dirty="0"/>
              <a:t>个结点的子集是否独立：</a:t>
            </a:r>
            <a:r>
              <a:rPr lang="en-US" altLang="zh-CN" sz="2800" dirty="0"/>
              <a:t>O(k</a:t>
            </a:r>
            <a:r>
              <a:rPr lang="en-US" altLang="zh-CN" sz="2800" baseline="30000" dirty="0"/>
              <a:t>2</a:t>
            </a:r>
            <a:r>
              <a:rPr lang="en-US" altLang="zh-CN" sz="2800" dirty="0"/>
              <a:t>)</a:t>
            </a:r>
            <a:endParaRPr lang="en-US" altLang="zh-CN" sz="2800" dirty="0"/>
          </a:p>
        </p:txBody>
      </p:sp>
      <p:sp>
        <p:nvSpPr>
          <p:cNvPr id="33801" name="Text Box 9"/>
          <p:cNvSpPr txBox="1">
            <a:spLocks noChangeArrowheads="1"/>
          </p:cNvSpPr>
          <p:nvPr/>
        </p:nvSpPr>
        <p:spPr bwMode="auto">
          <a:xfrm>
            <a:off x="685800" y="5867400"/>
            <a:ext cx="6248400" cy="325438"/>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110000"/>
              </a:lnSpc>
              <a:defRPr sz="1400" b="1">
                <a:solidFill>
                  <a:schemeClr val="bg2"/>
                </a:solidFill>
                <a:latin typeface="Courier New" panose="02070309020205020404" pitchFamily="49" charset="0"/>
                <a:ea typeface="宋体" panose="02010600030101010101" pitchFamily="2" charset="-122"/>
              </a:defRPr>
            </a:lvl1pPr>
            <a:lvl2pPr marL="742950" indent="-285750">
              <a:lnSpc>
                <a:spcPct val="110000"/>
              </a:lnSpc>
              <a:defRPr sz="1400" b="1">
                <a:solidFill>
                  <a:schemeClr val="bg2"/>
                </a:solidFill>
                <a:latin typeface="Courier New" panose="02070309020205020404" pitchFamily="49" charset="0"/>
                <a:ea typeface="宋体" panose="02010600030101010101" pitchFamily="2" charset="-122"/>
              </a:defRPr>
            </a:lvl2pPr>
            <a:lvl3pPr marL="1143000" indent="-228600">
              <a:lnSpc>
                <a:spcPct val="110000"/>
              </a:lnSpc>
              <a:defRPr sz="1400" b="1">
                <a:solidFill>
                  <a:schemeClr val="bg2"/>
                </a:solidFill>
                <a:latin typeface="Courier New" panose="02070309020205020404" pitchFamily="49" charset="0"/>
                <a:ea typeface="宋体" panose="02010600030101010101" pitchFamily="2" charset="-122"/>
              </a:defRPr>
            </a:lvl3pPr>
            <a:lvl4pPr marL="1600200" indent="-228600">
              <a:lnSpc>
                <a:spcPct val="110000"/>
              </a:lnSpc>
              <a:defRPr sz="1400" b="1">
                <a:solidFill>
                  <a:schemeClr val="bg2"/>
                </a:solidFill>
                <a:latin typeface="Courier New" panose="02070309020205020404" pitchFamily="49" charset="0"/>
                <a:ea typeface="宋体" panose="02010600030101010101" pitchFamily="2" charset="-122"/>
              </a:defRPr>
            </a:lvl4pPr>
            <a:lvl5pPr marL="2057400" indent="-228600">
              <a:lnSpc>
                <a:spcPct val="110000"/>
              </a:lnSpc>
              <a:defRPr sz="1400" b="1">
                <a:solidFill>
                  <a:schemeClr val="bg2"/>
                </a:solidFill>
                <a:latin typeface="Courier New" panose="02070309020205020404" pitchFamily="49" charset="0"/>
                <a:ea typeface="宋体" panose="02010600030101010101" pitchFamily="2" charset="-122"/>
              </a:defRPr>
            </a:lvl5pPr>
            <a:lvl6pPr marL="25146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6pPr>
            <a:lvl7pPr marL="29718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7pPr>
            <a:lvl8pPr marL="34290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8pPr>
            <a:lvl9pPr marL="38862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9pPr>
          </a:lstStyle>
          <a:p>
            <a:pPr>
              <a:spcBef>
                <a:spcPct val="50000"/>
              </a:spcBef>
            </a:pPr>
            <a:endParaRPr lang="zh-CN" altLang="en-US"/>
          </a:p>
        </p:txBody>
      </p:sp>
      <p:sp>
        <p:nvSpPr>
          <p:cNvPr id="33802" name="Text Box 10"/>
          <p:cNvSpPr txBox="1">
            <a:spLocks noChangeArrowheads="1"/>
          </p:cNvSpPr>
          <p:nvPr/>
        </p:nvSpPr>
        <p:spPr bwMode="auto">
          <a:xfrm>
            <a:off x="762000" y="5867404"/>
            <a:ext cx="7848600" cy="561975"/>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110000"/>
              </a:lnSpc>
              <a:defRPr sz="1400" b="1">
                <a:solidFill>
                  <a:schemeClr val="bg2"/>
                </a:solidFill>
                <a:latin typeface="Courier New" panose="02070309020205020404" pitchFamily="49" charset="0"/>
                <a:ea typeface="宋体" panose="02010600030101010101" pitchFamily="2" charset="-122"/>
              </a:defRPr>
            </a:lvl1pPr>
            <a:lvl2pPr marL="742950" indent="-285750">
              <a:lnSpc>
                <a:spcPct val="110000"/>
              </a:lnSpc>
              <a:defRPr sz="1400" b="1">
                <a:solidFill>
                  <a:schemeClr val="bg2"/>
                </a:solidFill>
                <a:latin typeface="Courier New" panose="02070309020205020404" pitchFamily="49" charset="0"/>
                <a:ea typeface="宋体" panose="02010600030101010101" pitchFamily="2" charset="-122"/>
              </a:defRPr>
            </a:lvl2pPr>
            <a:lvl3pPr marL="1143000" indent="-228600">
              <a:lnSpc>
                <a:spcPct val="110000"/>
              </a:lnSpc>
              <a:defRPr sz="1400" b="1">
                <a:solidFill>
                  <a:schemeClr val="bg2"/>
                </a:solidFill>
                <a:latin typeface="Courier New" panose="02070309020205020404" pitchFamily="49" charset="0"/>
                <a:ea typeface="宋体" panose="02010600030101010101" pitchFamily="2" charset="-122"/>
              </a:defRPr>
            </a:lvl3pPr>
            <a:lvl4pPr marL="1600200" indent="-228600">
              <a:lnSpc>
                <a:spcPct val="110000"/>
              </a:lnSpc>
              <a:defRPr sz="1400" b="1">
                <a:solidFill>
                  <a:schemeClr val="bg2"/>
                </a:solidFill>
                <a:latin typeface="Courier New" panose="02070309020205020404" pitchFamily="49" charset="0"/>
                <a:ea typeface="宋体" panose="02010600030101010101" pitchFamily="2" charset="-122"/>
              </a:defRPr>
            </a:lvl4pPr>
            <a:lvl5pPr marL="2057400" indent="-228600">
              <a:lnSpc>
                <a:spcPct val="110000"/>
              </a:lnSpc>
              <a:defRPr sz="1400" b="1">
                <a:solidFill>
                  <a:schemeClr val="bg2"/>
                </a:solidFill>
                <a:latin typeface="Courier New" panose="02070309020205020404" pitchFamily="49" charset="0"/>
                <a:ea typeface="宋体" panose="02010600030101010101" pitchFamily="2" charset="-122"/>
              </a:defRPr>
            </a:lvl5pPr>
            <a:lvl6pPr marL="25146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6pPr>
            <a:lvl7pPr marL="29718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7pPr>
            <a:lvl8pPr marL="34290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8pPr>
            <a:lvl9pPr marL="38862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9pPr>
          </a:lstStyle>
          <a:p>
            <a:pPr>
              <a:spcBef>
                <a:spcPct val="50000"/>
              </a:spcBef>
            </a:pPr>
            <a:r>
              <a:rPr lang="zh-CN" altLang="en-US" sz="2800"/>
              <a:t>所以蛮力搜索的代价为：</a:t>
            </a:r>
            <a:r>
              <a:rPr kumimoji="1" lang="en-US" altLang="zh-CN" sz="2800" b="0">
                <a:solidFill>
                  <a:schemeClr val="hlink"/>
                </a:solidFill>
                <a:latin typeface="Comic Sans MS" panose="030F0702030302020204" pitchFamily="66" charset="0"/>
              </a:rPr>
              <a:t>O(k</a:t>
            </a:r>
            <a:r>
              <a:rPr kumimoji="1" lang="en-US" altLang="zh-CN" sz="2800" b="0" baseline="30000">
                <a:solidFill>
                  <a:schemeClr val="hlink"/>
                </a:solidFill>
                <a:latin typeface="Comic Sans MS" panose="030F0702030302020204" pitchFamily="66" charset="0"/>
              </a:rPr>
              <a:t>2</a:t>
            </a:r>
            <a:r>
              <a:rPr kumimoji="1" lang="en-US" altLang="zh-CN" sz="2800" b="0">
                <a:solidFill>
                  <a:schemeClr val="hlink"/>
                </a:solidFill>
                <a:latin typeface="Comic Sans MS" panose="030F0702030302020204" pitchFamily="66" charset="0"/>
              </a:rPr>
              <a:t> n</a:t>
            </a:r>
            <a:r>
              <a:rPr kumimoji="1" lang="en-US" altLang="zh-CN" sz="2800" b="0" baseline="30000">
                <a:solidFill>
                  <a:schemeClr val="hlink"/>
                </a:solidFill>
                <a:latin typeface="Comic Sans MS" panose="030F0702030302020204" pitchFamily="66" charset="0"/>
              </a:rPr>
              <a:t>k</a:t>
            </a:r>
            <a:r>
              <a:rPr kumimoji="1" lang="en-US" altLang="zh-CN" sz="2800" b="0">
                <a:solidFill>
                  <a:schemeClr val="hlink"/>
                </a:solidFill>
                <a:latin typeface="Comic Sans MS" panose="030F0702030302020204" pitchFamily="66" charset="0"/>
              </a:rPr>
              <a:t> / k!) = O(n</a:t>
            </a:r>
            <a:r>
              <a:rPr kumimoji="1" lang="en-US" altLang="zh-CN" sz="2800" b="0" baseline="30000">
                <a:solidFill>
                  <a:schemeClr val="hlink"/>
                </a:solidFill>
                <a:latin typeface="Comic Sans MS" panose="030F0702030302020204" pitchFamily="66" charset="0"/>
              </a:rPr>
              <a:t>k</a:t>
            </a:r>
            <a:r>
              <a:rPr kumimoji="1" lang="en-US" altLang="zh-CN" sz="2800" b="0">
                <a:solidFill>
                  <a:schemeClr val="hlink"/>
                </a:solidFill>
                <a:latin typeface="Comic Sans MS" panose="030F0702030302020204" pitchFamily="66" charset="0"/>
              </a:rPr>
              <a:t>)</a:t>
            </a:r>
            <a:r>
              <a:rPr lang="zh-CN" altLang="en-US" sz="2800"/>
              <a:t> </a:t>
            </a:r>
            <a:endParaRPr lang="zh-CN" altLang="en-US" sz="28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3796"/>
                                        </p:tgtEl>
                                        <p:attrNameLst>
                                          <p:attrName>style.visibility</p:attrName>
                                        </p:attrNameLst>
                                      </p:cBhvr>
                                      <p:to>
                                        <p:strVal val="visible"/>
                                      </p:to>
                                    </p:set>
                                    <p:anim calcmode="lin" valueType="num">
                                      <p:cBhvr additive="base">
                                        <p:cTn id="7" dur="500" fill="hold"/>
                                        <p:tgtEl>
                                          <p:spTgt spid="33796"/>
                                        </p:tgtEl>
                                        <p:attrNameLst>
                                          <p:attrName>ppt_x</p:attrName>
                                        </p:attrNameLst>
                                      </p:cBhvr>
                                      <p:tavLst>
                                        <p:tav tm="0">
                                          <p:val>
                                            <p:strVal val="0-#ppt_w/2"/>
                                          </p:val>
                                        </p:tav>
                                        <p:tav tm="100000">
                                          <p:val>
                                            <p:strVal val="#ppt_x"/>
                                          </p:val>
                                        </p:tav>
                                      </p:tavLst>
                                    </p:anim>
                                    <p:anim calcmode="lin" valueType="num">
                                      <p:cBhvr additive="base">
                                        <p:cTn id="8" dur="500" fill="hold"/>
                                        <p:tgtEl>
                                          <p:spTgt spid="3379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3797"/>
                                        </p:tgtEl>
                                        <p:attrNameLst>
                                          <p:attrName>style.visibility</p:attrName>
                                        </p:attrNameLst>
                                      </p:cBhvr>
                                      <p:to>
                                        <p:strVal val="visible"/>
                                      </p:to>
                                    </p:set>
                                    <p:anim calcmode="lin" valueType="num">
                                      <p:cBhvr additive="base">
                                        <p:cTn id="13" dur="500" fill="hold"/>
                                        <p:tgtEl>
                                          <p:spTgt spid="33797"/>
                                        </p:tgtEl>
                                        <p:attrNameLst>
                                          <p:attrName>ppt_x</p:attrName>
                                        </p:attrNameLst>
                                      </p:cBhvr>
                                      <p:tavLst>
                                        <p:tav tm="0">
                                          <p:val>
                                            <p:strVal val="0-#ppt_w/2"/>
                                          </p:val>
                                        </p:tav>
                                        <p:tav tm="100000">
                                          <p:val>
                                            <p:strVal val="#ppt_x"/>
                                          </p:val>
                                        </p:tav>
                                      </p:tavLst>
                                    </p:anim>
                                    <p:anim calcmode="lin" valueType="num">
                                      <p:cBhvr additive="base">
                                        <p:cTn id="14" dur="500" fill="hold"/>
                                        <p:tgtEl>
                                          <p:spTgt spid="33797"/>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nodeType="clickEffect">
                                  <p:stCondLst>
                                    <p:cond delay="0"/>
                                  </p:stCondLst>
                                  <p:childTnLst>
                                    <p:set>
                                      <p:cBhvr>
                                        <p:cTn id="18" dur="1" fill="hold">
                                          <p:stCondLst>
                                            <p:cond delay="0"/>
                                          </p:stCondLst>
                                        </p:cTn>
                                        <p:tgtEl>
                                          <p:spTgt spid="33798"/>
                                        </p:tgtEl>
                                        <p:attrNameLst>
                                          <p:attrName>style.visibility</p:attrName>
                                        </p:attrNameLst>
                                      </p:cBhvr>
                                      <p:to>
                                        <p:strVal val="visible"/>
                                      </p:to>
                                    </p:set>
                                    <p:anim calcmode="lin" valueType="num">
                                      <p:cBhvr additive="base">
                                        <p:cTn id="19" dur="500" fill="hold"/>
                                        <p:tgtEl>
                                          <p:spTgt spid="33798"/>
                                        </p:tgtEl>
                                        <p:attrNameLst>
                                          <p:attrName>ppt_x</p:attrName>
                                        </p:attrNameLst>
                                      </p:cBhvr>
                                      <p:tavLst>
                                        <p:tav tm="0">
                                          <p:val>
                                            <p:strVal val="1+#ppt_w/2"/>
                                          </p:val>
                                        </p:tav>
                                        <p:tav tm="100000">
                                          <p:val>
                                            <p:strVal val="#ppt_x"/>
                                          </p:val>
                                        </p:tav>
                                      </p:tavLst>
                                    </p:anim>
                                    <p:anim calcmode="lin" valueType="num">
                                      <p:cBhvr additive="base">
                                        <p:cTn id="20" dur="500" fill="hold"/>
                                        <p:tgtEl>
                                          <p:spTgt spid="33798"/>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3799"/>
                                        </p:tgtEl>
                                        <p:attrNameLst>
                                          <p:attrName>style.visibility</p:attrName>
                                        </p:attrNameLst>
                                      </p:cBhvr>
                                      <p:to>
                                        <p:strVal val="visible"/>
                                      </p:to>
                                    </p:set>
                                    <p:anim calcmode="lin" valueType="num">
                                      <p:cBhvr additive="base">
                                        <p:cTn id="25" dur="500" fill="hold"/>
                                        <p:tgtEl>
                                          <p:spTgt spid="33799"/>
                                        </p:tgtEl>
                                        <p:attrNameLst>
                                          <p:attrName>ppt_x</p:attrName>
                                        </p:attrNameLst>
                                      </p:cBhvr>
                                      <p:tavLst>
                                        <p:tav tm="0">
                                          <p:val>
                                            <p:strVal val="0-#ppt_w/2"/>
                                          </p:val>
                                        </p:tav>
                                        <p:tav tm="100000">
                                          <p:val>
                                            <p:strVal val="#ppt_x"/>
                                          </p:val>
                                        </p:tav>
                                      </p:tavLst>
                                    </p:anim>
                                    <p:anim calcmode="lin" valueType="num">
                                      <p:cBhvr additive="base">
                                        <p:cTn id="26" dur="500" fill="hold"/>
                                        <p:tgtEl>
                                          <p:spTgt spid="33799"/>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nodePh="1">
                                  <p:stCondLst>
                                    <p:cond delay="0"/>
                                  </p:stCondLst>
                                  <p:endCondLst>
                                    <p:cond evt="begin" delay="0">
                                      <p:tn val="29"/>
                                    </p:cond>
                                  </p:endCondLst>
                                  <p:childTnLst>
                                    <p:set>
                                      <p:cBhvr>
                                        <p:cTn id="30" dur="1" fill="hold">
                                          <p:stCondLst>
                                            <p:cond delay="0"/>
                                          </p:stCondLst>
                                        </p:cTn>
                                        <p:tgtEl>
                                          <p:spTgt spid="33801"/>
                                        </p:tgtEl>
                                        <p:attrNameLst>
                                          <p:attrName>style.visibility</p:attrName>
                                        </p:attrNameLst>
                                      </p:cBhvr>
                                      <p:to>
                                        <p:strVal val="visible"/>
                                      </p:to>
                                    </p:set>
                                    <p:anim calcmode="lin" valueType="num">
                                      <p:cBhvr additive="base">
                                        <p:cTn id="31" dur="500" fill="hold"/>
                                        <p:tgtEl>
                                          <p:spTgt spid="33801"/>
                                        </p:tgtEl>
                                        <p:attrNameLst>
                                          <p:attrName>ppt_x</p:attrName>
                                        </p:attrNameLst>
                                      </p:cBhvr>
                                      <p:tavLst>
                                        <p:tav tm="0">
                                          <p:val>
                                            <p:strVal val="0-#ppt_w/2"/>
                                          </p:val>
                                        </p:tav>
                                        <p:tav tm="100000">
                                          <p:val>
                                            <p:strVal val="#ppt_x"/>
                                          </p:val>
                                        </p:tav>
                                      </p:tavLst>
                                    </p:anim>
                                    <p:anim calcmode="lin" valueType="num">
                                      <p:cBhvr additive="base">
                                        <p:cTn id="32" dur="500" fill="hold"/>
                                        <p:tgtEl>
                                          <p:spTgt spid="33801"/>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33802"/>
                                        </p:tgtEl>
                                        <p:attrNameLst>
                                          <p:attrName>style.visibility</p:attrName>
                                        </p:attrNameLst>
                                      </p:cBhvr>
                                      <p:to>
                                        <p:strVal val="visible"/>
                                      </p:to>
                                    </p:set>
                                    <p:anim calcmode="lin" valueType="num">
                                      <p:cBhvr additive="base">
                                        <p:cTn id="37" dur="500" fill="hold"/>
                                        <p:tgtEl>
                                          <p:spTgt spid="33802"/>
                                        </p:tgtEl>
                                        <p:attrNameLst>
                                          <p:attrName>ppt_x</p:attrName>
                                        </p:attrNameLst>
                                      </p:cBhvr>
                                      <p:tavLst>
                                        <p:tav tm="0">
                                          <p:val>
                                            <p:strVal val="0-#ppt_w/2"/>
                                          </p:val>
                                        </p:tav>
                                        <p:tav tm="100000">
                                          <p:val>
                                            <p:strVal val="#ppt_x"/>
                                          </p:val>
                                        </p:tav>
                                      </p:tavLst>
                                    </p:anim>
                                    <p:anim calcmode="lin" valueType="num">
                                      <p:cBhvr additive="base">
                                        <p:cTn id="38" dur="500" fill="hold"/>
                                        <p:tgtEl>
                                          <p:spTgt spid="3380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6" grpId="0" animBg="1" autoUpdateAnimBg="0"/>
      <p:bldP spid="33797" grpId="0" autoUpdateAnimBg="0"/>
      <p:bldP spid="33799" grpId="0" autoUpdateAnimBg="0"/>
      <p:bldP spid="33801" grpId="0" autoUpdateAnimBg="0"/>
      <p:bldP spid="33802" grpId="0" autoUpdateAnimBg="0"/>
    </p:bldLst>
  </p:timing>
</p:sld>
</file>

<file path=ppt/slides/slide6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FF820AB6-E32D-434B-AE22-49BE6840E743}" type="slidenum">
              <a:rPr lang="zh-CN" altLang="en-US"/>
            </a:fld>
            <a:endParaRPr lang="en-US" altLang="zh-CN"/>
          </a:p>
        </p:txBody>
      </p:sp>
      <p:sp>
        <p:nvSpPr>
          <p:cNvPr id="34819" name="Rectangle 2"/>
          <p:cNvSpPr>
            <a:spLocks noGrp="1" noChangeArrowheads="1"/>
          </p:cNvSpPr>
          <p:nvPr>
            <p:ph type="title"/>
          </p:nvPr>
        </p:nvSpPr>
        <p:spPr/>
        <p:txBody>
          <a:bodyPr/>
          <a:lstStyle/>
          <a:p>
            <a:pPr eaLnBrk="1" hangingPunct="1"/>
            <a:r>
              <a:rPr lang="zh-CN" altLang="en-US"/>
              <a:t>指数时间(</a:t>
            </a:r>
            <a:r>
              <a:rPr lang="en-US" altLang="zh-CN"/>
              <a:t>Exponential time)</a:t>
            </a:r>
            <a:endParaRPr lang="en-US" altLang="zh-CN"/>
          </a:p>
        </p:txBody>
      </p:sp>
      <p:sp>
        <p:nvSpPr>
          <p:cNvPr id="35843" name="Rectangle 3"/>
          <p:cNvSpPr>
            <a:spLocks noGrp="1" noChangeArrowheads="1"/>
          </p:cNvSpPr>
          <p:nvPr>
            <p:ph type="body" idx="1"/>
          </p:nvPr>
        </p:nvSpPr>
        <p:spPr>
          <a:xfrm>
            <a:off x="937668" y="2125662"/>
            <a:ext cx="7772400" cy="4114800"/>
          </a:xfrm>
        </p:spPr>
        <p:txBody>
          <a:bodyPr/>
          <a:lstStyle/>
          <a:p>
            <a:pPr eaLnBrk="1" hangingPunct="1"/>
            <a:r>
              <a:rPr lang="zh-CN" altLang="en-US" dirty="0"/>
              <a:t>问题：假设给定一个图，需要找一个</a:t>
            </a:r>
            <a:r>
              <a:rPr lang="zh-CN" altLang="en-US" dirty="0">
                <a:solidFill>
                  <a:schemeClr val="hlink"/>
                </a:solidFill>
              </a:rPr>
              <a:t>最大规模的独立集</a:t>
            </a:r>
            <a:r>
              <a:rPr lang="zh-CN" altLang="en-US" dirty="0"/>
              <a:t>。</a:t>
            </a:r>
            <a:endParaRPr lang="zh-CN" altLang="en-US" dirty="0"/>
          </a:p>
          <a:p>
            <a:pPr eaLnBrk="1" hangingPunct="1"/>
            <a:endParaRPr lang="zh-CN" altLang="en-US" dirty="0"/>
          </a:p>
          <a:p>
            <a:pPr eaLnBrk="1" hangingPunct="1"/>
            <a:r>
              <a:rPr lang="zh-CN" altLang="en-US" dirty="0"/>
              <a:t>解决思路：蛮力搜索的方法, 检查每一个子集是否是独立集，是否最大。</a:t>
            </a:r>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5843">
                                            <p:txEl>
                                              <p:pRg st="0" end="0"/>
                                            </p:txEl>
                                          </p:spTgt>
                                        </p:tgtEl>
                                        <p:attrNameLst>
                                          <p:attrName>style.visibility</p:attrName>
                                        </p:attrNameLst>
                                      </p:cBhvr>
                                      <p:to>
                                        <p:strVal val="visible"/>
                                      </p:to>
                                    </p:set>
                                    <p:anim calcmode="lin" valueType="num">
                                      <p:cBhvr additive="base">
                                        <p:cTn id="7" dur="500" fill="hold"/>
                                        <p:tgtEl>
                                          <p:spTgt spid="358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584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5843">
                                            <p:txEl>
                                              <p:pRg st="2" end="2"/>
                                            </p:txEl>
                                          </p:spTgt>
                                        </p:tgtEl>
                                        <p:attrNameLst>
                                          <p:attrName>style.visibility</p:attrName>
                                        </p:attrNameLst>
                                      </p:cBhvr>
                                      <p:to>
                                        <p:strVal val="visible"/>
                                      </p:to>
                                    </p:set>
                                    <p:anim calcmode="lin" valueType="num">
                                      <p:cBhvr additive="base">
                                        <p:cTn id="13" dur="500" fill="hold"/>
                                        <p:tgtEl>
                                          <p:spTgt spid="35843">
                                            <p:txEl>
                                              <p:pRg st="2" end="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5843">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3" grpId="0" autoUpdateAnimBg="0" build="p"/>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5"/>
          <p:cNvSpPr>
            <a:spLocks noGrp="1"/>
          </p:cNvSpPr>
          <p:nvPr>
            <p:ph type="sldNum" sz="quarter" idx="12"/>
          </p:nvPr>
        </p:nvSpPr>
        <p:spPr/>
        <p:txBody>
          <a:bodyPr/>
          <a:lstStyle/>
          <a:p>
            <a:pPr>
              <a:defRPr/>
            </a:pPr>
            <a:fld id="{DC4242EB-0F9A-44AD-813A-391A0C9E8A61}" type="slidenum">
              <a:rPr lang="zh-CN" altLang="en-US"/>
            </a:fld>
            <a:endParaRPr lang="en-US" altLang="zh-CN"/>
          </a:p>
        </p:txBody>
      </p:sp>
      <p:sp>
        <p:nvSpPr>
          <p:cNvPr id="35843" name="Rectangle 2"/>
          <p:cNvSpPr>
            <a:spLocks noGrp="1" noChangeArrowheads="1"/>
          </p:cNvSpPr>
          <p:nvPr>
            <p:ph type="title"/>
          </p:nvPr>
        </p:nvSpPr>
        <p:spPr/>
        <p:txBody>
          <a:bodyPr/>
          <a:lstStyle/>
          <a:p>
            <a:pPr eaLnBrk="1" hangingPunct="1"/>
            <a:r>
              <a:rPr lang="zh-CN" altLang="en-US"/>
              <a:t>指数时间(</a:t>
            </a:r>
            <a:r>
              <a:rPr lang="en-US" altLang="zh-CN"/>
              <a:t>Exponential time)</a:t>
            </a:r>
            <a:endParaRPr lang="zh-CN" altLang="en-US"/>
          </a:p>
        </p:txBody>
      </p:sp>
      <p:sp>
        <p:nvSpPr>
          <p:cNvPr id="35844" name="Text Box 4"/>
          <p:cNvSpPr>
            <a:spLocks noGrp="1" noChangeArrowheads="1"/>
          </p:cNvSpPr>
          <p:nvPr>
            <p:ph type="body" idx="1"/>
          </p:nvPr>
        </p:nvSpPr>
        <p:spPr>
          <a:xfrm>
            <a:off x="1182688" y="2005434"/>
            <a:ext cx="6208712" cy="3079750"/>
          </a:xfrm>
          <a:solidFill>
            <a:srgbClr val="C0C0C0"/>
          </a:solidFill>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nSpc>
                <a:spcPct val="110000"/>
              </a:lnSpc>
              <a:spcBef>
                <a:spcPct val="0"/>
              </a:spcBef>
              <a:buClrTx/>
              <a:buSzTx/>
              <a:buFontTx/>
              <a:buNone/>
            </a:pPr>
            <a:r>
              <a:rPr kumimoji="0" lang="en-US" altLang="zh-CN" sz="2000" b="1" dirty="0">
                <a:solidFill>
                  <a:schemeClr val="bg2"/>
                </a:solidFill>
                <a:latin typeface="Courier New" panose="02070309020205020404" pitchFamily="49" charset="0"/>
                <a:cs typeface="Courier New" panose="02070309020205020404" pitchFamily="49" charset="0"/>
              </a:rPr>
              <a:t>S* </a:t>
            </a:r>
            <a:r>
              <a:rPr kumimoji="0" lang="en-US" altLang="zh-CN" sz="2000" b="1" dirty="0">
                <a:solidFill>
                  <a:schemeClr val="bg2"/>
                </a:solidFill>
                <a:latin typeface="Comic Sans MS" panose="030F0702030302020204" pitchFamily="66" charset="0"/>
                <a:sym typeface="Symbol" panose="05050102010706020507" pitchFamily="18" charset="2"/>
              </a:rPr>
              <a:t></a:t>
            </a:r>
            <a:r>
              <a:rPr kumimoji="0" lang="en-US" altLang="zh-CN" sz="2000" b="1" dirty="0">
                <a:solidFill>
                  <a:schemeClr val="bg2"/>
                </a:solidFill>
                <a:latin typeface="Courier New" panose="02070309020205020404" pitchFamily="49" charset="0"/>
                <a:cs typeface="Courier New" panose="02070309020205020404" pitchFamily="49" charset="0"/>
              </a:rPr>
              <a:t> </a:t>
            </a:r>
            <a:r>
              <a:rPr kumimoji="0" lang="en-US" altLang="zh-CN" sz="2000" b="1" dirty="0">
                <a:solidFill>
                  <a:schemeClr val="bg2"/>
                </a:solidFill>
                <a:latin typeface="Courier New" panose="02070309020205020404" pitchFamily="49" charset="0"/>
                <a:cs typeface="Courier New" panose="02070309020205020404" pitchFamily="49" charset="0"/>
                <a:sym typeface="Symbol" panose="05050102010706020507" pitchFamily="18" charset="2"/>
              </a:rPr>
              <a:t></a:t>
            </a:r>
            <a:endParaRPr kumimoji="0" lang="en-US" altLang="zh-CN" sz="2000" b="1" dirty="0">
              <a:solidFill>
                <a:schemeClr val="bg2"/>
              </a:solidFill>
              <a:latin typeface="Courier New" panose="02070309020205020404" pitchFamily="49" charset="0"/>
              <a:cs typeface="Courier New" panose="02070309020205020404" pitchFamily="49" charset="0"/>
              <a:sym typeface="Symbol" panose="05050102010706020507" pitchFamily="18" charset="2"/>
            </a:endParaRPr>
          </a:p>
          <a:p>
            <a:pPr>
              <a:lnSpc>
                <a:spcPct val="110000"/>
              </a:lnSpc>
              <a:spcBef>
                <a:spcPct val="0"/>
              </a:spcBef>
              <a:buClrTx/>
              <a:buSzTx/>
              <a:buFontTx/>
              <a:buNone/>
            </a:pPr>
            <a:r>
              <a:rPr kumimoji="0" lang="en-US" altLang="zh-CN" sz="2000" b="1" dirty="0">
                <a:solidFill>
                  <a:srgbClr val="003399"/>
                </a:solidFill>
                <a:latin typeface="Courier New" panose="02070309020205020404" pitchFamily="49" charset="0"/>
                <a:cs typeface="Courier New" panose="02070309020205020404" pitchFamily="49" charset="0"/>
              </a:rPr>
              <a:t>foreach</a:t>
            </a:r>
            <a:r>
              <a:rPr kumimoji="0" lang="en-US" altLang="zh-CN" sz="2000" b="1" dirty="0">
                <a:solidFill>
                  <a:schemeClr val="bg2"/>
                </a:solidFill>
                <a:latin typeface="Courier New" panose="02070309020205020404" pitchFamily="49" charset="0"/>
                <a:cs typeface="Courier New" panose="02070309020205020404" pitchFamily="49" charset="0"/>
              </a:rPr>
              <a:t> subset S of nodes {</a:t>
            </a:r>
            <a:endParaRPr kumimoji="0" lang="en-US" altLang="zh-CN" sz="2000" b="1" dirty="0">
              <a:solidFill>
                <a:schemeClr val="bg2"/>
              </a:solidFill>
              <a:latin typeface="Courier New" panose="02070309020205020404" pitchFamily="49" charset="0"/>
              <a:cs typeface="Courier New" panose="02070309020205020404" pitchFamily="49" charset="0"/>
            </a:endParaRPr>
          </a:p>
          <a:p>
            <a:pPr>
              <a:lnSpc>
                <a:spcPct val="110000"/>
              </a:lnSpc>
              <a:spcBef>
                <a:spcPct val="0"/>
              </a:spcBef>
              <a:buClrTx/>
              <a:buSzTx/>
              <a:buFontTx/>
              <a:buNone/>
            </a:pPr>
            <a:r>
              <a:rPr kumimoji="0" lang="en-US" altLang="zh-CN" sz="2000" b="1" dirty="0">
                <a:solidFill>
                  <a:schemeClr val="bg2"/>
                </a:solidFill>
                <a:latin typeface="Courier New" panose="02070309020205020404" pitchFamily="49" charset="0"/>
                <a:cs typeface="Courier New" panose="02070309020205020404" pitchFamily="49" charset="0"/>
              </a:rPr>
              <a:t>   check whether S in an independent set</a:t>
            </a:r>
            <a:endParaRPr kumimoji="0" lang="en-US" altLang="zh-CN" sz="2000" b="1" dirty="0">
              <a:solidFill>
                <a:schemeClr val="bg2"/>
              </a:solidFill>
              <a:latin typeface="Courier New" panose="02070309020205020404" pitchFamily="49" charset="0"/>
              <a:cs typeface="Courier New" panose="02070309020205020404" pitchFamily="49" charset="0"/>
            </a:endParaRPr>
          </a:p>
          <a:p>
            <a:pPr>
              <a:lnSpc>
                <a:spcPct val="110000"/>
              </a:lnSpc>
              <a:spcBef>
                <a:spcPct val="0"/>
              </a:spcBef>
              <a:buClrTx/>
              <a:buSzTx/>
              <a:buFontTx/>
              <a:buNone/>
            </a:pPr>
            <a:r>
              <a:rPr kumimoji="0" lang="en-US" altLang="zh-CN" sz="2000" b="1" dirty="0">
                <a:solidFill>
                  <a:srgbClr val="003399"/>
                </a:solidFill>
                <a:latin typeface="Courier New" panose="02070309020205020404" pitchFamily="49" charset="0"/>
                <a:cs typeface="Courier New" panose="02070309020205020404" pitchFamily="49" charset="0"/>
              </a:rPr>
              <a:t>   if</a:t>
            </a:r>
            <a:r>
              <a:rPr kumimoji="0" lang="en-US" altLang="zh-CN" sz="2000" b="1" dirty="0">
                <a:solidFill>
                  <a:schemeClr val="bg2"/>
                </a:solidFill>
                <a:latin typeface="Courier New" panose="02070309020205020404" pitchFamily="49" charset="0"/>
                <a:cs typeface="Courier New" panose="02070309020205020404" pitchFamily="49" charset="0"/>
              </a:rPr>
              <a:t> (S is largest independent set seen so far)</a:t>
            </a:r>
            <a:endParaRPr kumimoji="0" lang="en-US" altLang="zh-CN" sz="2000" b="1" dirty="0">
              <a:solidFill>
                <a:schemeClr val="bg2"/>
              </a:solidFill>
              <a:latin typeface="Courier New" panose="02070309020205020404" pitchFamily="49" charset="0"/>
              <a:cs typeface="Courier New" panose="02070309020205020404" pitchFamily="49" charset="0"/>
            </a:endParaRPr>
          </a:p>
          <a:p>
            <a:pPr>
              <a:lnSpc>
                <a:spcPct val="110000"/>
              </a:lnSpc>
              <a:spcBef>
                <a:spcPct val="0"/>
              </a:spcBef>
              <a:buClrTx/>
              <a:buSzTx/>
              <a:buFontTx/>
              <a:buNone/>
            </a:pPr>
            <a:r>
              <a:rPr kumimoji="0" lang="en-US" altLang="zh-CN" sz="2000" b="1" dirty="0">
                <a:solidFill>
                  <a:schemeClr val="bg2"/>
                </a:solidFill>
                <a:latin typeface="Courier New" panose="02070309020205020404" pitchFamily="49" charset="0"/>
                <a:cs typeface="Courier New" panose="02070309020205020404" pitchFamily="49" charset="0"/>
              </a:rPr>
              <a:t>      update S* </a:t>
            </a:r>
            <a:r>
              <a:rPr kumimoji="0" lang="en-US" altLang="zh-CN" sz="2000" b="1" dirty="0">
                <a:solidFill>
                  <a:schemeClr val="bg2"/>
                </a:solidFill>
                <a:latin typeface="Comic Sans MS" panose="030F0702030302020204" pitchFamily="66" charset="0"/>
                <a:sym typeface="Symbol" panose="05050102010706020507" pitchFamily="18" charset="2"/>
              </a:rPr>
              <a:t></a:t>
            </a:r>
            <a:r>
              <a:rPr kumimoji="0" lang="en-US" altLang="zh-CN" sz="2000" b="1" dirty="0">
                <a:solidFill>
                  <a:schemeClr val="bg2"/>
                </a:solidFill>
                <a:latin typeface="Courier New" panose="02070309020205020404" pitchFamily="49" charset="0"/>
                <a:cs typeface="Courier New" panose="02070309020205020404" pitchFamily="49" charset="0"/>
              </a:rPr>
              <a:t> </a:t>
            </a:r>
            <a:r>
              <a:rPr kumimoji="0" lang="en-US" altLang="zh-CN" sz="2000" b="1" dirty="0">
                <a:solidFill>
                  <a:schemeClr val="bg2"/>
                </a:solidFill>
                <a:latin typeface="Courier New" panose="02070309020205020404" pitchFamily="49" charset="0"/>
                <a:cs typeface="Courier New" panose="02070309020205020404" pitchFamily="49" charset="0"/>
                <a:sym typeface="Symbol" panose="05050102010706020507" pitchFamily="18" charset="2"/>
              </a:rPr>
              <a:t>S</a:t>
            </a:r>
            <a:endParaRPr kumimoji="0" lang="en-US" altLang="zh-CN" sz="2000" b="1" dirty="0">
              <a:solidFill>
                <a:schemeClr val="bg2"/>
              </a:solidFill>
              <a:latin typeface="Courier New" panose="02070309020205020404" pitchFamily="49" charset="0"/>
              <a:cs typeface="Courier New" panose="02070309020205020404" pitchFamily="49" charset="0"/>
            </a:endParaRPr>
          </a:p>
          <a:p>
            <a:pPr>
              <a:lnSpc>
                <a:spcPct val="110000"/>
              </a:lnSpc>
              <a:spcBef>
                <a:spcPct val="0"/>
              </a:spcBef>
              <a:buClrTx/>
              <a:buSzTx/>
              <a:buFontTx/>
              <a:buNone/>
            </a:pPr>
            <a:r>
              <a:rPr kumimoji="0" lang="en-US" altLang="zh-CN" sz="2000" b="1" dirty="0">
                <a:solidFill>
                  <a:schemeClr val="bg2"/>
                </a:solidFill>
                <a:latin typeface="Courier New" panose="02070309020205020404" pitchFamily="49" charset="0"/>
                <a:cs typeface="Courier New" panose="02070309020205020404" pitchFamily="49" charset="0"/>
              </a:rPr>
              <a:t>   }</a:t>
            </a:r>
            <a:endParaRPr kumimoji="0" lang="en-US" altLang="zh-CN" sz="2000" b="1" dirty="0">
              <a:solidFill>
                <a:schemeClr val="bg2"/>
              </a:solidFill>
              <a:latin typeface="Courier New" panose="02070309020205020404" pitchFamily="49" charset="0"/>
              <a:cs typeface="Courier New" panose="02070309020205020404" pitchFamily="49" charset="0"/>
            </a:endParaRPr>
          </a:p>
          <a:p>
            <a:pPr>
              <a:lnSpc>
                <a:spcPct val="110000"/>
              </a:lnSpc>
              <a:spcBef>
                <a:spcPct val="0"/>
              </a:spcBef>
              <a:buClrTx/>
              <a:buSzTx/>
              <a:buFontTx/>
              <a:buNone/>
            </a:pPr>
            <a:r>
              <a:rPr kumimoji="0" lang="en-US" altLang="zh-CN" sz="2000" b="1" dirty="0">
                <a:solidFill>
                  <a:schemeClr val="bg2"/>
                </a:solidFill>
                <a:latin typeface="Courier New" panose="02070309020205020404" pitchFamily="49" charset="0"/>
                <a:cs typeface="Courier New" panose="02070309020205020404" pitchFamily="49" charset="0"/>
              </a:rPr>
              <a:t>}</a:t>
            </a:r>
            <a:endParaRPr kumimoji="0" lang="en-US" altLang="zh-CN" sz="2000" b="1" dirty="0">
              <a:solidFill>
                <a:schemeClr val="bg2"/>
              </a:solidFill>
              <a:latin typeface="Courier New" panose="02070309020205020404" pitchFamily="49" charset="0"/>
              <a:cs typeface="Courier New" panose="02070309020205020404" pitchFamily="49" charset="0"/>
            </a:endParaRPr>
          </a:p>
        </p:txBody>
      </p:sp>
      <p:sp>
        <p:nvSpPr>
          <p:cNvPr id="36869" name="Text Box 5"/>
          <p:cNvSpPr txBox="1">
            <a:spLocks noChangeArrowheads="1"/>
          </p:cNvSpPr>
          <p:nvPr/>
        </p:nvSpPr>
        <p:spPr bwMode="auto">
          <a:xfrm>
            <a:off x="1393067" y="5505362"/>
            <a:ext cx="4495800" cy="6286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110000"/>
              </a:lnSpc>
              <a:defRPr sz="1400" b="1">
                <a:solidFill>
                  <a:schemeClr val="bg2"/>
                </a:solidFill>
                <a:latin typeface="Courier New" panose="02070309020205020404" pitchFamily="49" charset="0"/>
                <a:ea typeface="宋体" panose="02010600030101010101" pitchFamily="2" charset="-122"/>
              </a:defRPr>
            </a:lvl1pPr>
            <a:lvl2pPr marL="742950" indent="-285750">
              <a:lnSpc>
                <a:spcPct val="110000"/>
              </a:lnSpc>
              <a:defRPr sz="1400" b="1">
                <a:solidFill>
                  <a:schemeClr val="bg2"/>
                </a:solidFill>
                <a:latin typeface="Courier New" panose="02070309020205020404" pitchFamily="49" charset="0"/>
                <a:ea typeface="宋体" panose="02010600030101010101" pitchFamily="2" charset="-122"/>
              </a:defRPr>
            </a:lvl2pPr>
            <a:lvl3pPr marL="1143000" indent="-228600">
              <a:lnSpc>
                <a:spcPct val="110000"/>
              </a:lnSpc>
              <a:defRPr sz="1400" b="1">
                <a:solidFill>
                  <a:schemeClr val="bg2"/>
                </a:solidFill>
                <a:latin typeface="Courier New" panose="02070309020205020404" pitchFamily="49" charset="0"/>
                <a:ea typeface="宋体" panose="02010600030101010101" pitchFamily="2" charset="-122"/>
              </a:defRPr>
            </a:lvl3pPr>
            <a:lvl4pPr marL="1600200" indent="-228600">
              <a:lnSpc>
                <a:spcPct val="110000"/>
              </a:lnSpc>
              <a:defRPr sz="1400" b="1">
                <a:solidFill>
                  <a:schemeClr val="bg2"/>
                </a:solidFill>
                <a:latin typeface="Courier New" panose="02070309020205020404" pitchFamily="49" charset="0"/>
                <a:ea typeface="宋体" panose="02010600030101010101" pitchFamily="2" charset="-122"/>
              </a:defRPr>
            </a:lvl4pPr>
            <a:lvl5pPr marL="2057400" indent="-228600">
              <a:lnSpc>
                <a:spcPct val="110000"/>
              </a:lnSpc>
              <a:defRPr sz="1400" b="1">
                <a:solidFill>
                  <a:schemeClr val="bg2"/>
                </a:solidFill>
                <a:latin typeface="Courier New" panose="02070309020205020404" pitchFamily="49" charset="0"/>
                <a:ea typeface="宋体" panose="02010600030101010101" pitchFamily="2" charset="-122"/>
              </a:defRPr>
            </a:lvl5pPr>
            <a:lvl6pPr marL="25146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6pPr>
            <a:lvl7pPr marL="29718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7pPr>
            <a:lvl8pPr marL="34290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8pPr>
            <a:lvl9pPr marL="38862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9pPr>
          </a:lstStyle>
          <a:p>
            <a:pPr>
              <a:spcBef>
                <a:spcPct val="50000"/>
              </a:spcBef>
            </a:pPr>
            <a:r>
              <a:rPr lang="zh-CN" altLang="en-US" sz="3200" dirty="0">
                <a:solidFill>
                  <a:schemeClr val="hlink"/>
                </a:solidFill>
              </a:rPr>
              <a:t>估算计算时间的代价</a:t>
            </a:r>
            <a:endParaRPr lang="zh-CN" altLang="en-US" sz="3200" dirty="0">
              <a:solidFill>
                <a:schemeClr val="hlink"/>
              </a:solidFill>
            </a:endParaRPr>
          </a:p>
        </p:txBody>
      </p:sp>
      <p:graphicFrame>
        <p:nvGraphicFramePr>
          <p:cNvPr id="36870" name="Object 6"/>
          <p:cNvGraphicFramePr>
            <a:graphicFrameLocks noChangeAspect="1"/>
          </p:cNvGraphicFramePr>
          <p:nvPr/>
        </p:nvGraphicFramePr>
        <p:xfrm>
          <a:off x="5905500" y="5445125"/>
          <a:ext cx="1752600" cy="717550"/>
        </p:xfrm>
        <a:graphic>
          <a:graphicData uri="http://schemas.openxmlformats.org/presentationml/2006/ole">
            <mc:AlternateContent xmlns:mc="http://schemas.openxmlformats.org/markup-compatibility/2006">
              <mc:Choice xmlns:v="urn:schemas-microsoft-com:vml" Requires="v">
                <p:oleObj spid="_x0000_s2" name="Equation" r:id="rId1" imgW="558800" imgH="228600" progId="Equation.3">
                  <p:embed/>
                </p:oleObj>
              </mc:Choice>
              <mc:Fallback>
                <p:oleObj name="Equation" r:id="rId1" imgW="558800" imgH="228600" progId="Equation.3">
                  <p:embed/>
                  <p:pic>
                    <p:nvPicPr>
                      <p:cNvPr id="0" name="Object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05500" y="5445125"/>
                        <a:ext cx="1752600" cy="717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6869"/>
                                        </p:tgtEl>
                                        <p:attrNameLst>
                                          <p:attrName>style.visibility</p:attrName>
                                        </p:attrNameLst>
                                      </p:cBhvr>
                                      <p:to>
                                        <p:strVal val="visible"/>
                                      </p:to>
                                    </p:set>
                                    <p:anim calcmode="lin" valueType="num">
                                      <p:cBhvr additive="base">
                                        <p:cTn id="7" dur="500" fill="hold"/>
                                        <p:tgtEl>
                                          <p:spTgt spid="36869"/>
                                        </p:tgtEl>
                                        <p:attrNameLst>
                                          <p:attrName>ppt_x</p:attrName>
                                        </p:attrNameLst>
                                      </p:cBhvr>
                                      <p:tavLst>
                                        <p:tav tm="0">
                                          <p:val>
                                            <p:strVal val="0-#ppt_w/2"/>
                                          </p:val>
                                        </p:tav>
                                        <p:tav tm="100000">
                                          <p:val>
                                            <p:strVal val="#ppt_x"/>
                                          </p:val>
                                        </p:tav>
                                      </p:tavLst>
                                    </p:anim>
                                    <p:anim calcmode="lin" valueType="num">
                                      <p:cBhvr additive="base">
                                        <p:cTn id="8" dur="500" fill="hold"/>
                                        <p:tgtEl>
                                          <p:spTgt spid="3686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36870"/>
                                        </p:tgtEl>
                                        <p:attrNameLst>
                                          <p:attrName>style.visibility</p:attrName>
                                        </p:attrNameLst>
                                      </p:cBhvr>
                                      <p:to>
                                        <p:strVal val="visible"/>
                                      </p:to>
                                    </p:set>
                                    <p:anim calcmode="lin" valueType="num">
                                      <p:cBhvr additive="base">
                                        <p:cTn id="13" dur="500" fill="hold"/>
                                        <p:tgtEl>
                                          <p:spTgt spid="36870"/>
                                        </p:tgtEl>
                                        <p:attrNameLst>
                                          <p:attrName>ppt_x</p:attrName>
                                        </p:attrNameLst>
                                      </p:cBhvr>
                                      <p:tavLst>
                                        <p:tav tm="0">
                                          <p:val>
                                            <p:strVal val="0-#ppt_w/2"/>
                                          </p:val>
                                        </p:tav>
                                        <p:tav tm="100000">
                                          <p:val>
                                            <p:strVal val="#ppt_x"/>
                                          </p:val>
                                        </p:tav>
                                      </p:tavLst>
                                    </p:anim>
                                    <p:anim calcmode="lin" valueType="num">
                                      <p:cBhvr additive="base">
                                        <p:cTn id="14" dur="500" fill="hold"/>
                                        <p:tgtEl>
                                          <p:spTgt spid="3687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9" grpId="0" autoUpdateAnimBg="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5"/>
          <p:cNvSpPr>
            <a:spLocks noGrp="1"/>
          </p:cNvSpPr>
          <p:nvPr>
            <p:ph type="sldNum" sz="quarter" idx="12"/>
          </p:nvPr>
        </p:nvSpPr>
        <p:spPr/>
        <p:txBody>
          <a:bodyPr/>
          <a:lstStyle/>
          <a:p>
            <a:pPr>
              <a:defRPr/>
            </a:pPr>
            <a:fld id="{DC4242EB-0F9A-44AD-813A-391A0C9E8A61}" type="slidenum">
              <a:rPr lang="zh-CN" altLang="en-US"/>
            </a:fld>
            <a:endParaRPr lang="en-US" altLang="zh-CN"/>
          </a:p>
        </p:txBody>
      </p:sp>
      <p:sp>
        <p:nvSpPr>
          <p:cNvPr id="35843" name="Rectangle 2"/>
          <p:cNvSpPr>
            <a:spLocks noGrp="1" noChangeArrowheads="1"/>
          </p:cNvSpPr>
          <p:nvPr>
            <p:ph type="title"/>
          </p:nvPr>
        </p:nvSpPr>
        <p:spPr/>
        <p:txBody>
          <a:bodyPr/>
          <a:lstStyle/>
          <a:p>
            <a:pPr eaLnBrk="1" hangingPunct="1"/>
            <a:r>
              <a:rPr lang="zh-CN" altLang="en-US"/>
              <a:t>指数时间(</a:t>
            </a:r>
            <a:r>
              <a:rPr lang="en-US" altLang="zh-CN"/>
              <a:t>Exponential time)</a:t>
            </a:r>
            <a:endParaRPr lang="zh-CN" altLang="en-US"/>
          </a:p>
        </p:txBody>
      </p:sp>
      <p:pic>
        <p:nvPicPr>
          <p:cNvPr id="4" name="图片 3"/>
          <p:cNvPicPr>
            <a:picLocks noChangeAspect="1"/>
          </p:cNvPicPr>
          <p:nvPr/>
        </p:nvPicPr>
        <p:blipFill>
          <a:blip r:embed="rId1"/>
          <a:stretch>
            <a:fillRect/>
          </a:stretch>
        </p:blipFill>
        <p:spPr>
          <a:xfrm>
            <a:off x="611560" y="2185993"/>
            <a:ext cx="8160056" cy="4572630"/>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5"/>
          <p:cNvSpPr>
            <a:spLocks noGrp="1"/>
          </p:cNvSpPr>
          <p:nvPr>
            <p:ph type="sldNum" sz="quarter" idx="12"/>
          </p:nvPr>
        </p:nvSpPr>
        <p:spPr/>
        <p:txBody>
          <a:bodyPr/>
          <a:lstStyle/>
          <a:p>
            <a:pPr>
              <a:defRPr/>
            </a:pPr>
            <a:fld id="{DC4242EB-0F9A-44AD-813A-391A0C9E8A61}" type="slidenum">
              <a:rPr lang="zh-CN" altLang="en-US"/>
            </a:fld>
            <a:endParaRPr lang="en-US" altLang="zh-CN"/>
          </a:p>
        </p:txBody>
      </p:sp>
      <p:sp>
        <p:nvSpPr>
          <p:cNvPr id="35843" name="Rectangle 2"/>
          <p:cNvSpPr>
            <a:spLocks noGrp="1" noChangeArrowheads="1"/>
          </p:cNvSpPr>
          <p:nvPr>
            <p:ph type="title"/>
          </p:nvPr>
        </p:nvSpPr>
        <p:spPr/>
        <p:txBody>
          <a:bodyPr/>
          <a:lstStyle/>
          <a:p>
            <a:pPr eaLnBrk="1" hangingPunct="1"/>
            <a:r>
              <a:rPr lang="zh-CN" altLang="en-US"/>
              <a:t>指数时间(</a:t>
            </a:r>
            <a:r>
              <a:rPr lang="en-US" altLang="zh-CN"/>
              <a:t>Exponential time)</a:t>
            </a:r>
            <a:endParaRPr lang="zh-CN" altLang="en-US"/>
          </a:p>
        </p:txBody>
      </p:sp>
      <p:pic>
        <p:nvPicPr>
          <p:cNvPr id="3" name="图片 2"/>
          <p:cNvPicPr>
            <a:picLocks noChangeAspect="1"/>
          </p:cNvPicPr>
          <p:nvPr/>
        </p:nvPicPr>
        <p:blipFill>
          <a:blip r:embed="rId1"/>
          <a:stretch>
            <a:fillRect/>
          </a:stretch>
        </p:blipFill>
        <p:spPr>
          <a:xfrm>
            <a:off x="251520" y="2201714"/>
            <a:ext cx="8670318" cy="4035598"/>
          </a:xfrm>
          <a:prstGeom prst="rect">
            <a:avLst/>
          </a:prstGeom>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5"/>
          <p:cNvSpPr>
            <a:spLocks noGrp="1"/>
          </p:cNvSpPr>
          <p:nvPr>
            <p:ph type="sldNum" sz="quarter" idx="12"/>
          </p:nvPr>
        </p:nvSpPr>
        <p:spPr/>
        <p:txBody>
          <a:bodyPr/>
          <a:lstStyle/>
          <a:p>
            <a:pPr>
              <a:defRPr/>
            </a:pPr>
            <a:fld id="{DC4242EB-0F9A-44AD-813A-391A0C9E8A61}" type="slidenum">
              <a:rPr lang="zh-CN" altLang="en-US"/>
            </a:fld>
            <a:endParaRPr lang="en-US" altLang="zh-CN"/>
          </a:p>
        </p:txBody>
      </p:sp>
      <p:sp>
        <p:nvSpPr>
          <p:cNvPr id="35843" name="Rectangle 2"/>
          <p:cNvSpPr>
            <a:spLocks noGrp="1" noChangeArrowheads="1"/>
          </p:cNvSpPr>
          <p:nvPr>
            <p:ph type="title"/>
          </p:nvPr>
        </p:nvSpPr>
        <p:spPr/>
        <p:txBody>
          <a:bodyPr/>
          <a:lstStyle/>
          <a:p>
            <a:pPr eaLnBrk="1" hangingPunct="1"/>
            <a:r>
              <a:rPr lang="zh-CN" altLang="en-US"/>
              <a:t>指数时间(</a:t>
            </a:r>
            <a:r>
              <a:rPr lang="en-US" altLang="zh-CN"/>
              <a:t>Exponential time)</a:t>
            </a:r>
            <a:endParaRPr lang="zh-CN" altLang="en-US"/>
          </a:p>
        </p:txBody>
      </p:sp>
      <p:sp>
        <p:nvSpPr>
          <p:cNvPr id="6" name="文本框 5"/>
          <p:cNvSpPr txBox="1"/>
          <p:nvPr/>
        </p:nvSpPr>
        <p:spPr>
          <a:xfrm>
            <a:off x="621694" y="2348880"/>
            <a:ext cx="7128792" cy="3046988"/>
          </a:xfrm>
          <a:prstGeom prst="rect">
            <a:avLst/>
          </a:prstGeom>
          <a:noFill/>
        </p:spPr>
        <p:txBody>
          <a:bodyPr wrap="square">
            <a:spAutoFit/>
          </a:bodyPr>
          <a:lstStyle/>
          <a:p>
            <a:pPr marL="457200" indent="-457200" algn="just">
              <a:buFont typeface="Wingdings" panose="05000000000000000000" pitchFamily="2" charset="2"/>
              <a:buChar char="Ø"/>
            </a:pPr>
            <a:r>
              <a:rPr lang="zh-CN" altLang="en-US" sz="3200" b="0" dirty="0"/>
              <a:t>在循环内部</a:t>
            </a:r>
            <a:r>
              <a:rPr lang="en-US" altLang="zh-CN" sz="3200" b="0" dirty="0"/>
              <a:t>,</a:t>
            </a:r>
            <a:r>
              <a:rPr lang="zh-CN" altLang="en-US" sz="3200" b="0" dirty="0"/>
              <a:t>我们检查集合</a:t>
            </a:r>
            <a:r>
              <a:rPr lang="en-US" altLang="zh-CN" sz="3200" b="0" dirty="0"/>
              <a:t>S</a:t>
            </a:r>
            <a:r>
              <a:rPr lang="zh-CN" altLang="en-US" sz="3200" b="0" dirty="0"/>
              <a:t>的每个对</a:t>
            </a:r>
            <a:r>
              <a:rPr lang="en-US" altLang="zh-CN" sz="3200" b="0" dirty="0"/>
              <a:t>,</a:t>
            </a:r>
            <a:r>
              <a:rPr lang="zh-CN" altLang="en-US" sz="3200" b="0" dirty="0"/>
              <a:t>而</a:t>
            </a:r>
            <a:r>
              <a:rPr lang="en-US" altLang="zh-CN" sz="3200" b="0" dirty="0"/>
              <a:t>S</a:t>
            </a:r>
            <a:r>
              <a:rPr lang="zh-CN" altLang="en-US" sz="3200" b="0" dirty="0"/>
              <a:t>可能大到有</a:t>
            </a:r>
            <a:r>
              <a:rPr lang="en-US" altLang="zh-CN" sz="3200" b="0" dirty="0"/>
              <a:t>n</a:t>
            </a:r>
            <a:r>
              <a:rPr lang="zh-CN" altLang="en-US" sz="3200" b="0" dirty="0"/>
              <a:t>个结点。</a:t>
            </a:r>
            <a:endParaRPr lang="en-US" altLang="zh-CN" sz="3200" b="0" dirty="0"/>
          </a:p>
          <a:p>
            <a:pPr marL="457200" indent="-457200" algn="just">
              <a:buFont typeface="Wingdings" panose="05000000000000000000" pitchFamily="2" charset="2"/>
              <a:buChar char="Ø"/>
            </a:pPr>
            <a:r>
              <a:rPr lang="zh-CN" altLang="en-US" sz="3200" b="0" dirty="0"/>
              <a:t>因此这个循环的每次迭代至多用</a:t>
            </a:r>
            <a:r>
              <a:rPr lang="en-US" altLang="zh-CN" sz="3200" b="0" dirty="0"/>
              <a:t>O(n</a:t>
            </a:r>
            <a:r>
              <a:rPr lang="en-US" altLang="zh-CN" sz="3200" b="0" baseline="30000" dirty="0"/>
              <a:t>2</a:t>
            </a:r>
            <a:r>
              <a:rPr lang="en-US" altLang="zh-CN" sz="3200" b="0" dirty="0"/>
              <a:t>)</a:t>
            </a:r>
            <a:r>
              <a:rPr lang="zh-CN" altLang="en-US" sz="3200" b="0" dirty="0"/>
              <a:t>的时间。</a:t>
            </a:r>
            <a:endParaRPr lang="en-US" altLang="zh-CN" sz="3200" b="0" dirty="0"/>
          </a:p>
          <a:p>
            <a:pPr marL="457200" indent="-457200" algn="just">
              <a:buFont typeface="Wingdings" panose="05000000000000000000" pitchFamily="2" charset="2"/>
              <a:buChar char="Ø"/>
            </a:pPr>
            <a:r>
              <a:rPr lang="zh-CN" altLang="en-US" sz="3200" b="0" dirty="0"/>
              <a:t>把这两项乘到一起</a:t>
            </a:r>
            <a:r>
              <a:rPr lang="en-US" altLang="zh-CN" sz="3200" b="0" dirty="0"/>
              <a:t>,</a:t>
            </a:r>
            <a:r>
              <a:rPr lang="zh-CN" altLang="en-US" sz="3200" b="0" dirty="0"/>
              <a:t>我们得到一个</a:t>
            </a:r>
            <a:r>
              <a:rPr lang="en-US" altLang="zh-CN" sz="3200" b="0" dirty="0">
                <a:solidFill>
                  <a:srgbClr val="FF0000"/>
                </a:solidFill>
              </a:rPr>
              <a:t>O(n</a:t>
            </a:r>
            <a:r>
              <a:rPr lang="en-US" altLang="zh-CN" sz="3200" b="0" baseline="30000" dirty="0">
                <a:solidFill>
                  <a:srgbClr val="FF0000"/>
                </a:solidFill>
              </a:rPr>
              <a:t>2</a:t>
            </a:r>
            <a:r>
              <a:rPr lang="en-US" altLang="zh-CN" sz="3200" b="0" dirty="0">
                <a:solidFill>
                  <a:srgbClr val="FF0000"/>
                </a:solidFill>
              </a:rPr>
              <a:t>2</a:t>
            </a:r>
            <a:r>
              <a:rPr lang="en-US" altLang="zh-CN" sz="3200" b="0" baseline="30000" dirty="0">
                <a:solidFill>
                  <a:srgbClr val="FF0000"/>
                </a:solidFill>
              </a:rPr>
              <a:t>n</a:t>
            </a:r>
            <a:r>
              <a:rPr lang="en-US" altLang="zh-CN" sz="3200" b="0" dirty="0">
                <a:solidFill>
                  <a:srgbClr val="FF0000"/>
                </a:solidFill>
              </a:rPr>
              <a:t>)</a:t>
            </a:r>
            <a:r>
              <a:rPr lang="zh-CN" altLang="en-US" sz="3200" b="0" dirty="0"/>
              <a:t>的运行时间</a:t>
            </a:r>
            <a:r>
              <a:rPr lang="zh-CN" altLang="en-US" sz="3200" dirty="0"/>
              <a:t>。</a:t>
            </a:r>
            <a:endParaRPr lang="zh-CN" altLang="en-US" sz="3200" dirty="0"/>
          </a:p>
        </p:txBody>
      </p:sp>
      <p:pic>
        <p:nvPicPr>
          <p:cNvPr id="3" name="图片 2"/>
          <p:cNvPicPr>
            <a:picLocks noChangeAspect="1"/>
          </p:cNvPicPr>
          <p:nvPr/>
        </p:nvPicPr>
        <p:blipFill>
          <a:blip r:embed="rId1"/>
          <a:stretch>
            <a:fillRect/>
          </a:stretch>
        </p:blipFill>
        <p:spPr>
          <a:xfrm>
            <a:off x="434469" y="5760731"/>
            <a:ext cx="8509508" cy="479731"/>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5F4EBC7B-0102-4D2D-B433-9D50711ACAD7}" type="slidenum">
              <a:rPr lang="zh-CN" altLang="en-US"/>
            </a:fld>
            <a:endParaRPr lang="en-US" altLang="zh-CN"/>
          </a:p>
        </p:txBody>
      </p:sp>
      <p:sp>
        <p:nvSpPr>
          <p:cNvPr id="36867" name="Rectangle 2"/>
          <p:cNvSpPr>
            <a:spLocks noGrp="1" noChangeArrowheads="1"/>
          </p:cNvSpPr>
          <p:nvPr>
            <p:ph type="title"/>
          </p:nvPr>
        </p:nvSpPr>
        <p:spPr/>
        <p:txBody>
          <a:bodyPr/>
          <a:lstStyle/>
          <a:p>
            <a:pPr eaLnBrk="1" hangingPunct="1"/>
            <a:r>
              <a:rPr lang="en-US" altLang="zh-CN"/>
              <a:t>n!</a:t>
            </a:r>
            <a:r>
              <a:rPr lang="zh-CN" altLang="en-US"/>
              <a:t>时间</a:t>
            </a:r>
            <a:endParaRPr lang="zh-CN" altLang="en-US"/>
          </a:p>
        </p:txBody>
      </p:sp>
      <p:sp>
        <p:nvSpPr>
          <p:cNvPr id="37891" name="Rectangle 3"/>
          <p:cNvSpPr>
            <a:spLocks noGrp="1" noChangeArrowheads="1"/>
          </p:cNvSpPr>
          <p:nvPr>
            <p:ph type="body" idx="1"/>
          </p:nvPr>
        </p:nvSpPr>
        <p:spPr>
          <a:xfrm>
            <a:off x="755576" y="2017713"/>
            <a:ext cx="7993062" cy="4114800"/>
          </a:xfrm>
        </p:spPr>
        <p:txBody>
          <a:bodyPr/>
          <a:lstStyle/>
          <a:p>
            <a:pPr eaLnBrk="1" hangingPunct="1">
              <a:lnSpc>
                <a:spcPct val="90000"/>
              </a:lnSpc>
            </a:pPr>
            <a:r>
              <a:rPr lang="zh-CN" altLang="en-US" dirty="0"/>
              <a:t>对稳定匹配问题的穷举搜索: </a:t>
            </a:r>
            <a:r>
              <a:rPr lang="en-US" altLang="zh-CN" dirty="0"/>
              <a:t>n!</a:t>
            </a:r>
            <a:endParaRPr lang="en-US" altLang="zh-CN" dirty="0"/>
          </a:p>
          <a:p>
            <a:pPr eaLnBrk="1" hangingPunct="1">
              <a:lnSpc>
                <a:spcPct val="90000"/>
              </a:lnSpc>
            </a:pPr>
            <a:r>
              <a:rPr lang="zh-CN" altLang="en-US" dirty="0"/>
              <a:t>二分匹配(二部图每边存在</a:t>
            </a:r>
            <a:r>
              <a:rPr lang="en-US" altLang="zh-CN" dirty="0"/>
              <a:t>n</a:t>
            </a:r>
            <a:r>
              <a:rPr lang="zh-CN" altLang="en-US" dirty="0"/>
              <a:t>个结点)问题</a:t>
            </a:r>
            <a:endParaRPr lang="zh-CN" altLang="en-US" dirty="0"/>
          </a:p>
          <a:p>
            <a:pPr eaLnBrk="1" hangingPunct="1">
              <a:lnSpc>
                <a:spcPct val="90000"/>
              </a:lnSpc>
              <a:buFont typeface="Wingdings" panose="05000000000000000000" pitchFamily="2" charset="2"/>
              <a:buNone/>
            </a:pPr>
            <a:r>
              <a:rPr lang="zh-CN" altLang="en-US" dirty="0"/>
              <a:t>   如果穷举搜索，代价是</a:t>
            </a:r>
            <a:r>
              <a:rPr lang="en-US" altLang="zh-CN" dirty="0"/>
              <a:t>n!</a:t>
            </a:r>
            <a:endParaRPr lang="en-US" altLang="zh-CN" dirty="0"/>
          </a:p>
          <a:p>
            <a:pPr algn="just" eaLnBrk="1" hangingPunct="1">
              <a:lnSpc>
                <a:spcPct val="90000"/>
              </a:lnSpc>
              <a:buSzPct val="110000"/>
              <a:buFont typeface="Wingdings" panose="05000000000000000000" pitchFamily="2" charset="2"/>
              <a:buChar char="§"/>
            </a:pPr>
            <a:r>
              <a:rPr lang="en-US" altLang="zh-CN" dirty="0"/>
              <a:t> </a:t>
            </a:r>
            <a:r>
              <a:rPr lang="zh-CN" altLang="en-US" dirty="0"/>
              <a:t>巡回售货员(</a:t>
            </a:r>
            <a:r>
              <a:rPr lang="en-US" altLang="zh-CN" dirty="0" err="1"/>
              <a:t>TSP:Travelling</a:t>
            </a:r>
            <a:r>
              <a:rPr lang="en-US" altLang="zh-CN" dirty="0"/>
              <a:t> Salesman Problem)</a:t>
            </a:r>
            <a:r>
              <a:rPr lang="zh-CN" altLang="en-US" dirty="0"/>
              <a:t>问题：给定</a:t>
            </a:r>
            <a:r>
              <a:rPr lang="en-US" altLang="zh-CN" dirty="0"/>
              <a:t>n</a:t>
            </a:r>
            <a:r>
              <a:rPr lang="zh-CN" altLang="en-US" dirty="0"/>
              <a:t>个城市的集合，每对城市之间都有距离，什么是访问所有城市的最短旅行？固定第一个</a:t>
            </a:r>
            <a:r>
              <a:rPr lang="en-US" altLang="zh-CN" dirty="0"/>
              <a:t>(</a:t>
            </a:r>
            <a:r>
              <a:rPr lang="zh-CN" altLang="en-US" dirty="0"/>
              <a:t>结束</a:t>
            </a:r>
            <a:r>
              <a:rPr lang="en-US" altLang="zh-CN" dirty="0"/>
              <a:t>)</a:t>
            </a:r>
            <a:r>
              <a:rPr lang="zh-CN" altLang="en-US" dirty="0"/>
              <a:t>城市      </a:t>
            </a:r>
            <a:r>
              <a:rPr lang="zh-CN" altLang="en-US" b="1" dirty="0"/>
              <a:t>穷举代价是</a:t>
            </a:r>
            <a:r>
              <a:rPr lang="zh-CN" altLang="en-US" dirty="0"/>
              <a:t>(</a:t>
            </a:r>
            <a:r>
              <a:rPr lang="en-US" altLang="zh-CN" dirty="0"/>
              <a:t>n-1)!</a:t>
            </a:r>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7891">
                                            <p:txEl>
                                              <p:pRg st="0" end="0"/>
                                            </p:txEl>
                                          </p:spTgt>
                                        </p:tgtEl>
                                        <p:attrNameLst>
                                          <p:attrName>style.visibility</p:attrName>
                                        </p:attrNameLst>
                                      </p:cBhvr>
                                      <p:to>
                                        <p:strVal val="visible"/>
                                      </p:to>
                                    </p:set>
                                    <p:anim calcmode="lin" valueType="num">
                                      <p:cBhvr additive="base">
                                        <p:cTn id="7" dur="500" fill="hold"/>
                                        <p:tgtEl>
                                          <p:spTgt spid="3789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789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7891">
                                            <p:txEl>
                                              <p:pRg st="1" end="1"/>
                                            </p:txEl>
                                          </p:spTgt>
                                        </p:tgtEl>
                                        <p:attrNameLst>
                                          <p:attrName>style.visibility</p:attrName>
                                        </p:attrNameLst>
                                      </p:cBhvr>
                                      <p:to>
                                        <p:strVal val="visible"/>
                                      </p:to>
                                    </p:set>
                                    <p:anim calcmode="lin" valueType="num">
                                      <p:cBhvr additive="base">
                                        <p:cTn id="13" dur="500" fill="hold"/>
                                        <p:tgtEl>
                                          <p:spTgt spid="3789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789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7891">
                                            <p:txEl>
                                              <p:pRg st="2" end="2"/>
                                            </p:txEl>
                                          </p:spTgt>
                                        </p:tgtEl>
                                        <p:attrNameLst>
                                          <p:attrName>style.visibility</p:attrName>
                                        </p:attrNameLst>
                                      </p:cBhvr>
                                      <p:to>
                                        <p:strVal val="visible"/>
                                      </p:to>
                                    </p:set>
                                    <p:anim calcmode="lin" valueType="num">
                                      <p:cBhvr additive="base">
                                        <p:cTn id="19" dur="500" fill="hold"/>
                                        <p:tgtEl>
                                          <p:spTgt spid="37891">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789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7891">
                                            <p:txEl>
                                              <p:pRg st="3" end="3"/>
                                            </p:txEl>
                                          </p:spTgt>
                                        </p:tgtEl>
                                        <p:attrNameLst>
                                          <p:attrName>style.visibility</p:attrName>
                                        </p:attrNameLst>
                                      </p:cBhvr>
                                      <p:to>
                                        <p:strVal val="visible"/>
                                      </p:to>
                                    </p:set>
                                    <p:anim calcmode="lin" valueType="num">
                                      <p:cBhvr additive="base">
                                        <p:cTn id="25" dur="500" fill="hold"/>
                                        <p:tgtEl>
                                          <p:spTgt spid="37891">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37891">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1" grpId="0" autoUpdateAnimBg="0" build="p"/>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5"/>
          <p:cNvSpPr>
            <a:spLocks noGrp="1"/>
          </p:cNvSpPr>
          <p:nvPr>
            <p:ph type="sldNum" sz="quarter" idx="12"/>
          </p:nvPr>
        </p:nvSpPr>
        <p:spPr/>
        <p:txBody>
          <a:bodyPr/>
          <a:lstStyle/>
          <a:p>
            <a:pPr>
              <a:defRPr/>
            </a:pPr>
            <a:fld id="{F192CEA1-A937-40F5-8008-2EC544E78187}" type="slidenum">
              <a:rPr lang="zh-CN" altLang="en-US"/>
            </a:fld>
            <a:endParaRPr lang="en-US" altLang="zh-CN"/>
          </a:p>
        </p:txBody>
      </p:sp>
      <p:sp>
        <p:nvSpPr>
          <p:cNvPr id="37891" name="Rectangle 2"/>
          <p:cNvSpPr>
            <a:spLocks noGrp="1" noChangeArrowheads="1"/>
          </p:cNvSpPr>
          <p:nvPr>
            <p:ph type="title"/>
          </p:nvPr>
        </p:nvSpPr>
        <p:spPr/>
        <p:txBody>
          <a:bodyPr/>
          <a:lstStyle/>
          <a:p>
            <a:pPr eaLnBrk="1" hangingPunct="1"/>
            <a:r>
              <a:rPr lang="en-US" altLang="zh-CN"/>
              <a:t>n!</a:t>
            </a:r>
            <a:r>
              <a:rPr lang="zh-CN" altLang="en-US"/>
              <a:t>时间</a:t>
            </a:r>
            <a:endParaRPr lang="zh-CN" altLang="en-US"/>
          </a:p>
        </p:txBody>
      </p:sp>
      <p:sp>
        <p:nvSpPr>
          <p:cNvPr id="37892" name="Rectangle 3"/>
          <p:cNvSpPr>
            <a:spLocks noGrp="1" noChangeArrowheads="1"/>
          </p:cNvSpPr>
          <p:nvPr>
            <p:ph type="body" idx="1"/>
          </p:nvPr>
        </p:nvSpPr>
        <p:spPr>
          <a:xfrm>
            <a:off x="1219200" y="1981200"/>
            <a:ext cx="7772400" cy="4114800"/>
          </a:xfrm>
        </p:spPr>
        <p:txBody>
          <a:bodyPr/>
          <a:lstStyle/>
          <a:p>
            <a:pPr eaLnBrk="1" hangingPunct="1"/>
            <a:r>
              <a:rPr lang="zh-CN" altLang="en-US" dirty="0"/>
              <a:t> </a:t>
            </a:r>
            <a:r>
              <a:rPr lang="en-US" altLang="zh-CN" dirty="0"/>
              <a:t>Stirling</a:t>
            </a:r>
            <a:r>
              <a:rPr lang="zh-CN" altLang="en-US" dirty="0"/>
              <a:t>公式 (1730)</a:t>
            </a:r>
            <a:endParaRPr lang="zh-CN" altLang="en-US" dirty="0"/>
          </a:p>
          <a:p>
            <a:pPr eaLnBrk="1" hangingPunct="1"/>
            <a:endParaRPr lang="zh-CN" altLang="en-US" dirty="0"/>
          </a:p>
          <a:p>
            <a:pPr eaLnBrk="1" hangingPunct="1"/>
            <a:endParaRPr lang="zh-CN" altLang="en-US" dirty="0"/>
          </a:p>
          <a:p>
            <a:pPr eaLnBrk="1" hangingPunct="1">
              <a:buFont typeface="Wingdings" panose="05000000000000000000" pitchFamily="2" charset="2"/>
              <a:buNone/>
            </a:pPr>
            <a:r>
              <a:rPr lang="zh-CN" altLang="en-US" dirty="0"/>
              <a:t>  </a:t>
            </a:r>
            <a:endParaRPr lang="zh-CN" altLang="en-US" dirty="0"/>
          </a:p>
        </p:txBody>
      </p:sp>
      <p:graphicFrame>
        <p:nvGraphicFramePr>
          <p:cNvPr id="37893" name="Object 5"/>
          <p:cNvGraphicFramePr>
            <a:graphicFrameLocks noChangeAspect="1"/>
          </p:cNvGraphicFramePr>
          <p:nvPr/>
        </p:nvGraphicFramePr>
        <p:xfrm>
          <a:off x="1778000" y="2743204"/>
          <a:ext cx="3303588" cy="1147763"/>
        </p:xfrm>
        <a:graphic>
          <a:graphicData uri="http://schemas.openxmlformats.org/presentationml/2006/ole">
            <mc:AlternateContent xmlns:mc="http://schemas.openxmlformats.org/markup-compatibility/2006">
              <mc:Choice xmlns:v="urn:schemas-microsoft-com:vml" Requires="v">
                <p:oleObj spid="_x0000_s2" name="Equation" r:id="rId1" imgW="1206500" imgH="419100" progId="Equation.3">
                  <p:embed/>
                </p:oleObj>
              </mc:Choice>
              <mc:Fallback>
                <p:oleObj name="Equation" r:id="rId1" imgW="1206500" imgH="419100" progId="Equation.3">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8000" y="2743204"/>
                        <a:ext cx="3303588" cy="1147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7894" name="Text Box 6"/>
          <p:cNvSpPr txBox="1">
            <a:spLocks noChangeArrowheads="1"/>
          </p:cNvSpPr>
          <p:nvPr/>
        </p:nvSpPr>
        <p:spPr bwMode="auto">
          <a:xfrm>
            <a:off x="1371600" y="4114800"/>
            <a:ext cx="1676400" cy="6286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110000"/>
              </a:lnSpc>
              <a:defRPr sz="1400" b="1">
                <a:solidFill>
                  <a:schemeClr val="bg2"/>
                </a:solidFill>
                <a:latin typeface="Courier New" panose="02070309020205020404" pitchFamily="49" charset="0"/>
                <a:ea typeface="宋体" panose="02010600030101010101" pitchFamily="2" charset="-122"/>
              </a:defRPr>
            </a:lvl1pPr>
            <a:lvl2pPr marL="742950" indent="-285750">
              <a:lnSpc>
                <a:spcPct val="110000"/>
              </a:lnSpc>
              <a:defRPr sz="1400" b="1">
                <a:solidFill>
                  <a:schemeClr val="bg2"/>
                </a:solidFill>
                <a:latin typeface="Courier New" panose="02070309020205020404" pitchFamily="49" charset="0"/>
                <a:ea typeface="宋体" panose="02010600030101010101" pitchFamily="2" charset="-122"/>
              </a:defRPr>
            </a:lvl2pPr>
            <a:lvl3pPr marL="1143000" indent="-228600">
              <a:lnSpc>
                <a:spcPct val="110000"/>
              </a:lnSpc>
              <a:defRPr sz="1400" b="1">
                <a:solidFill>
                  <a:schemeClr val="bg2"/>
                </a:solidFill>
                <a:latin typeface="Courier New" panose="02070309020205020404" pitchFamily="49" charset="0"/>
                <a:ea typeface="宋体" panose="02010600030101010101" pitchFamily="2" charset="-122"/>
              </a:defRPr>
            </a:lvl3pPr>
            <a:lvl4pPr marL="1600200" indent="-228600">
              <a:lnSpc>
                <a:spcPct val="110000"/>
              </a:lnSpc>
              <a:defRPr sz="1400" b="1">
                <a:solidFill>
                  <a:schemeClr val="bg2"/>
                </a:solidFill>
                <a:latin typeface="Courier New" panose="02070309020205020404" pitchFamily="49" charset="0"/>
                <a:ea typeface="宋体" panose="02010600030101010101" pitchFamily="2" charset="-122"/>
              </a:defRPr>
            </a:lvl4pPr>
            <a:lvl5pPr marL="2057400" indent="-228600">
              <a:lnSpc>
                <a:spcPct val="110000"/>
              </a:lnSpc>
              <a:defRPr sz="1400" b="1">
                <a:solidFill>
                  <a:schemeClr val="bg2"/>
                </a:solidFill>
                <a:latin typeface="Courier New" panose="02070309020205020404" pitchFamily="49" charset="0"/>
                <a:ea typeface="宋体" panose="02010600030101010101" pitchFamily="2" charset="-122"/>
              </a:defRPr>
            </a:lvl5pPr>
            <a:lvl6pPr marL="25146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6pPr>
            <a:lvl7pPr marL="29718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7pPr>
            <a:lvl8pPr marL="34290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8pPr>
            <a:lvl9pPr marL="3886200" indent="-228600" eaLnBrk="0" fontAlgn="base" hangingPunct="0">
              <a:lnSpc>
                <a:spcPct val="110000"/>
              </a:lnSpc>
              <a:spcBef>
                <a:spcPct val="0"/>
              </a:spcBef>
              <a:spcAft>
                <a:spcPct val="0"/>
              </a:spcAft>
              <a:defRPr sz="1400" b="1">
                <a:solidFill>
                  <a:schemeClr val="bg2"/>
                </a:solidFill>
                <a:latin typeface="Courier New" panose="02070309020205020404" pitchFamily="49" charset="0"/>
                <a:ea typeface="宋体" panose="02010600030101010101" pitchFamily="2" charset="-122"/>
              </a:defRPr>
            </a:lvl9pPr>
          </a:lstStyle>
          <a:p>
            <a:pPr>
              <a:spcBef>
                <a:spcPct val="50000"/>
              </a:spcBef>
            </a:pPr>
            <a:r>
              <a:rPr lang="zh-CN" altLang="en-US" sz="3200"/>
              <a:t>记成当</a:t>
            </a:r>
            <a:endParaRPr lang="zh-CN" altLang="en-US" sz="3200"/>
          </a:p>
        </p:txBody>
      </p:sp>
      <p:graphicFrame>
        <p:nvGraphicFramePr>
          <p:cNvPr id="37895" name="Object 7"/>
          <p:cNvGraphicFramePr>
            <a:graphicFrameLocks noChangeAspect="1"/>
          </p:cNvGraphicFramePr>
          <p:nvPr/>
        </p:nvGraphicFramePr>
        <p:xfrm>
          <a:off x="2819400" y="3962400"/>
          <a:ext cx="2895600" cy="947738"/>
        </p:xfrm>
        <a:graphic>
          <a:graphicData uri="http://schemas.openxmlformats.org/presentationml/2006/ole">
            <mc:AlternateContent xmlns:mc="http://schemas.openxmlformats.org/markup-compatibility/2006">
              <mc:Choice xmlns:v="urn:schemas-microsoft-com:vml" Requires="v">
                <p:oleObj spid="_x0000_s3" name="Equation" r:id="rId3" imgW="1435100" imgH="469900" progId="Equation.3">
                  <p:embed/>
                </p:oleObj>
              </mc:Choice>
              <mc:Fallback>
                <p:oleObj name="Equation" r:id="rId3" imgW="1435100" imgH="469900"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19400" y="3962400"/>
                        <a:ext cx="2895600" cy="9477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 name="文本框 3"/>
          <p:cNvSpPr txBox="1"/>
          <p:nvPr/>
        </p:nvSpPr>
        <p:spPr>
          <a:xfrm>
            <a:off x="1749320" y="5245447"/>
            <a:ext cx="6712159" cy="584775"/>
          </a:xfrm>
          <a:prstGeom prst="rect">
            <a:avLst/>
          </a:prstGeom>
          <a:noFill/>
        </p:spPr>
        <p:txBody>
          <a:bodyPr wrap="square">
            <a:spAutoFit/>
          </a:bodyPr>
          <a:lstStyle/>
          <a:p>
            <a:r>
              <a:rPr lang="zh-CN" altLang="en-US" sz="3200" dirty="0">
                <a:solidFill>
                  <a:srgbClr val="FF0000"/>
                </a:solidFill>
              </a:rPr>
              <a:t>用来取阶乘近似值</a:t>
            </a:r>
            <a:endParaRPr lang="zh-CN" altLang="en-US" sz="3200" dirty="0">
              <a:solidFill>
                <a:srgbClr val="FF0000"/>
              </a:solidFill>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5"/>
          <p:cNvSpPr>
            <a:spLocks noGrp="1"/>
          </p:cNvSpPr>
          <p:nvPr>
            <p:ph type="sldNum" sz="quarter" idx="12"/>
          </p:nvPr>
        </p:nvSpPr>
        <p:spPr/>
        <p:txBody>
          <a:bodyPr/>
          <a:lstStyle/>
          <a:p>
            <a:pPr>
              <a:defRPr/>
            </a:pPr>
            <a:fld id="{F192CEA1-A937-40F5-8008-2EC544E78187}" type="slidenum">
              <a:rPr lang="zh-CN" altLang="en-US"/>
            </a:fld>
            <a:endParaRPr lang="en-US" altLang="zh-CN"/>
          </a:p>
        </p:txBody>
      </p:sp>
      <p:sp>
        <p:nvSpPr>
          <p:cNvPr id="37891" name="Rectangle 2"/>
          <p:cNvSpPr>
            <a:spLocks noGrp="1" noChangeArrowheads="1"/>
          </p:cNvSpPr>
          <p:nvPr>
            <p:ph type="title"/>
          </p:nvPr>
        </p:nvSpPr>
        <p:spPr/>
        <p:txBody>
          <a:bodyPr/>
          <a:lstStyle/>
          <a:p>
            <a:pPr eaLnBrk="1" hangingPunct="1"/>
            <a:r>
              <a:rPr lang="zh-CN" altLang="en-US" dirty="0"/>
              <a:t>在算法复杂度分析中的作用</a:t>
            </a:r>
            <a:endParaRPr lang="zh-CN" altLang="en-US" dirty="0"/>
          </a:p>
        </p:txBody>
      </p:sp>
      <p:sp>
        <p:nvSpPr>
          <p:cNvPr id="4" name="文本框 3"/>
          <p:cNvSpPr txBox="1"/>
          <p:nvPr/>
        </p:nvSpPr>
        <p:spPr>
          <a:xfrm>
            <a:off x="107504" y="1988840"/>
            <a:ext cx="8712968" cy="4278159"/>
          </a:xfrm>
          <a:prstGeom prst="rect">
            <a:avLst/>
          </a:prstGeom>
          <a:noFill/>
        </p:spPr>
        <p:txBody>
          <a:bodyPr wrap="square">
            <a:spAutoFit/>
          </a:bodyPr>
          <a:lstStyle/>
          <a:p>
            <a:pPr marL="457200" indent="-457200">
              <a:lnSpc>
                <a:spcPct val="120000"/>
              </a:lnSpc>
              <a:buFont typeface="Wingdings" panose="05000000000000000000" pitchFamily="2" charset="2"/>
              <a:buChar char="p"/>
            </a:pPr>
            <a:r>
              <a:rPr lang="zh-CN" altLang="en-US" sz="2800" b="1" i="0" dirty="0">
                <a:effectLst/>
                <a:latin typeface="Inter"/>
              </a:rPr>
              <a:t>精确估计阶乘增长速度</a:t>
            </a:r>
            <a:r>
              <a:rPr lang="zh-CN" altLang="en-US" sz="2800" b="0" i="0" dirty="0">
                <a:effectLst/>
                <a:latin typeface="Inter"/>
              </a:rPr>
              <a:t>：斯特林公式能够</a:t>
            </a:r>
            <a:r>
              <a:rPr lang="zh-CN" altLang="en-US" sz="2800" b="0" i="0" dirty="0">
                <a:solidFill>
                  <a:srgbClr val="FF0000"/>
                </a:solidFill>
                <a:effectLst/>
                <a:latin typeface="Inter"/>
              </a:rPr>
              <a:t>将阶乘形式转化为更便于分析和比较的形式</a:t>
            </a:r>
            <a:r>
              <a:rPr lang="zh-CN" altLang="en-US" sz="2800" b="0" i="0" dirty="0">
                <a:effectLst/>
                <a:latin typeface="Inter"/>
              </a:rPr>
              <a:t>，帮助我们更精确地理解算法复杂度随着输入规模的增长趋势</a:t>
            </a:r>
            <a:r>
              <a:rPr lang="en-US" altLang="zh-CN" sz="2800" b="0" i="0" dirty="0">
                <a:effectLst/>
                <a:latin typeface="Inter"/>
              </a:rPr>
              <a:t>.</a:t>
            </a:r>
            <a:endParaRPr lang="en-US" altLang="zh-CN" sz="2800" b="0" i="0" dirty="0">
              <a:effectLst/>
              <a:latin typeface="Inter"/>
            </a:endParaRPr>
          </a:p>
          <a:p>
            <a:pPr marL="457200" indent="-457200" algn="l">
              <a:lnSpc>
                <a:spcPct val="120000"/>
              </a:lnSpc>
              <a:spcBef>
                <a:spcPts val="600"/>
              </a:spcBef>
              <a:spcAft>
                <a:spcPts val="600"/>
              </a:spcAft>
              <a:buFont typeface="Wingdings" panose="05000000000000000000" pitchFamily="2" charset="2"/>
              <a:buChar char="p"/>
            </a:pPr>
            <a:r>
              <a:rPr lang="zh-CN" altLang="en-US" sz="2800" b="1" i="0" dirty="0">
                <a:solidFill>
                  <a:srgbClr val="222222"/>
                </a:solidFill>
                <a:effectLst/>
                <a:latin typeface="Inter"/>
              </a:rPr>
              <a:t>简化复杂度计算</a:t>
            </a:r>
            <a:r>
              <a:rPr lang="zh-CN" altLang="en-US" sz="2800" b="0" i="0" dirty="0">
                <a:solidFill>
                  <a:srgbClr val="222222"/>
                </a:solidFill>
                <a:effectLst/>
                <a:latin typeface="Inter"/>
              </a:rPr>
              <a:t>：可以将包含阶乘的复杂表达式简化为更易于处理的形式，便于进行渐近分析。例如，对于算法时间复杂度为 </a:t>
            </a:r>
            <a:r>
              <a:rPr lang="en-US" altLang="zh-CN" sz="2800" b="0" dirty="0">
                <a:solidFill>
                  <a:srgbClr val="222222"/>
                </a:solidFill>
                <a:latin typeface="Inter"/>
              </a:rPr>
              <a:t>      </a:t>
            </a:r>
            <a:r>
              <a:rPr lang="zh-CN" altLang="en-US" sz="2800" b="0" i="0" dirty="0">
                <a:solidFill>
                  <a:srgbClr val="222222"/>
                </a:solidFill>
                <a:effectLst/>
                <a:latin typeface="Inter"/>
              </a:rPr>
              <a:t>                      ，利用斯特林公式可将其近似为                                      ，进而可以使用对数等数学工具进一步分析其增长速度。</a:t>
            </a:r>
            <a:endParaRPr lang="zh-CN" altLang="en-US" sz="2800" dirty="0"/>
          </a:p>
        </p:txBody>
      </p:sp>
      <p:pic>
        <p:nvPicPr>
          <p:cNvPr id="6" name="图片 5"/>
          <p:cNvPicPr>
            <a:picLocks noChangeAspect="1"/>
          </p:cNvPicPr>
          <p:nvPr/>
        </p:nvPicPr>
        <p:blipFill>
          <a:blip r:embed="rId1"/>
          <a:stretch>
            <a:fillRect/>
          </a:stretch>
        </p:blipFill>
        <p:spPr>
          <a:xfrm>
            <a:off x="4716016" y="4653136"/>
            <a:ext cx="2158998" cy="457200"/>
          </a:xfrm>
          <a:prstGeom prst="rect">
            <a:avLst/>
          </a:prstGeom>
        </p:spPr>
      </p:pic>
      <p:pic>
        <p:nvPicPr>
          <p:cNvPr id="11" name="图片 10"/>
          <p:cNvPicPr>
            <a:picLocks noChangeAspect="1"/>
          </p:cNvPicPr>
          <p:nvPr/>
        </p:nvPicPr>
        <p:blipFill>
          <a:blip r:embed="rId2"/>
          <a:stretch>
            <a:fillRect/>
          </a:stretch>
        </p:blipFill>
        <p:spPr>
          <a:xfrm>
            <a:off x="3930735" y="5085184"/>
            <a:ext cx="2944279" cy="687340"/>
          </a:xfrm>
          <a:prstGeom prst="rect">
            <a:avLst/>
          </a:prstGeom>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5"/>
          <p:cNvSpPr>
            <a:spLocks noGrp="1"/>
          </p:cNvSpPr>
          <p:nvPr>
            <p:ph type="sldNum" sz="quarter" idx="12"/>
          </p:nvPr>
        </p:nvSpPr>
        <p:spPr/>
        <p:txBody>
          <a:bodyPr/>
          <a:lstStyle/>
          <a:p>
            <a:pPr>
              <a:defRPr/>
            </a:pPr>
            <a:fld id="{F192CEA1-A937-40F5-8008-2EC544E78187}" type="slidenum">
              <a:rPr lang="zh-CN" altLang="en-US"/>
            </a:fld>
            <a:endParaRPr lang="en-US" altLang="zh-CN"/>
          </a:p>
        </p:txBody>
      </p:sp>
      <p:sp>
        <p:nvSpPr>
          <p:cNvPr id="37891" name="Rectangle 2"/>
          <p:cNvSpPr>
            <a:spLocks noGrp="1" noChangeArrowheads="1"/>
          </p:cNvSpPr>
          <p:nvPr>
            <p:ph type="title"/>
          </p:nvPr>
        </p:nvSpPr>
        <p:spPr/>
        <p:txBody>
          <a:bodyPr/>
          <a:lstStyle/>
          <a:p>
            <a:pPr eaLnBrk="1" hangingPunct="1"/>
            <a:r>
              <a:rPr lang="zh-CN" altLang="en-US" dirty="0"/>
              <a:t>在算法复杂度分析中的作用</a:t>
            </a:r>
            <a:endParaRPr lang="zh-CN" altLang="en-US" dirty="0"/>
          </a:p>
        </p:txBody>
      </p:sp>
      <p:sp>
        <p:nvSpPr>
          <p:cNvPr id="4" name="文本框 3"/>
          <p:cNvSpPr txBox="1"/>
          <p:nvPr/>
        </p:nvSpPr>
        <p:spPr>
          <a:xfrm>
            <a:off x="683568" y="1988840"/>
            <a:ext cx="8136904" cy="2668423"/>
          </a:xfrm>
          <a:prstGeom prst="rect">
            <a:avLst/>
          </a:prstGeom>
          <a:noFill/>
        </p:spPr>
        <p:txBody>
          <a:bodyPr wrap="square">
            <a:spAutoFit/>
          </a:bodyPr>
          <a:lstStyle/>
          <a:p>
            <a:pPr marL="457200" indent="-457200" algn="l">
              <a:lnSpc>
                <a:spcPct val="120000"/>
              </a:lnSpc>
              <a:spcBef>
                <a:spcPts val="600"/>
              </a:spcBef>
              <a:spcAft>
                <a:spcPts val="600"/>
              </a:spcAft>
              <a:buFont typeface="Wingdings" panose="05000000000000000000" pitchFamily="2" charset="2"/>
              <a:buChar char="p"/>
            </a:pPr>
            <a:r>
              <a:rPr lang="zh-CN" altLang="en-US" sz="2800" b="1" i="0" dirty="0">
                <a:solidFill>
                  <a:srgbClr val="222222"/>
                </a:solidFill>
                <a:effectLst/>
                <a:latin typeface="Inter"/>
              </a:rPr>
              <a:t>比较不同算法复杂度</a:t>
            </a:r>
            <a:r>
              <a:rPr lang="zh-CN" altLang="en-US" sz="2800" b="0" i="0" dirty="0">
                <a:solidFill>
                  <a:srgbClr val="222222"/>
                </a:solidFill>
                <a:effectLst/>
                <a:latin typeface="Inter"/>
              </a:rPr>
              <a:t>：在比较不同算法的复杂度时，如果都涉及阶乘运算，使用斯特林公式可以将它们转化为统一的形式进行比较，从而判断哪个算法在大规模输入下效率更高。</a:t>
            </a:r>
            <a:endParaRPr lang="zh-CN" altLang="en-US" sz="2800" b="0" i="0" dirty="0">
              <a:solidFill>
                <a:srgbClr val="222222"/>
              </a:solidFill>
              <a:effectLst/>
              <a:latin typeface="Inter"/>
            </a:endParaRPr>
          </a:p>
          <a:p>
            <a:endParaRPr lang="zh-CN" altLang="en-US" sz="28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5"/>
          <p:cNvSpPr>
            <a:spLocks noGrp="1"/>
          </p:cNvSpPr>
          <p:nvPr>
            <p:ph type="sldNum" sz="quarter" idx="12"/>
          </p:nvPr>
        </p:nvSpPr>
        <p:spPr/>
        <p:txBody>
          <a:bodyPr/>
          <a:lstStyle/>
          <a:p>
            <a:pPr>
              <a:defRPr/>
            </a:pPr>
            <a:fld id="{F192CEA1-A937-40F5-8008-2EC544E78187}" type="slidenum">
              <a:rPr lang="zh-CN" altLang="en-US"/>
            </a:fld>
            <a:endParaRPr lang="en-US" altLang="zh-CN"/>
          </a:p>
        </p:txBody>
      </p:sp>
      <p:sp>
        <p:nvSpPr>
          <p:cNvPr id="37891" name="Rectangle 2"/>
          <p:cNvSpPr>
            <a:spLocks noGrp="1" noChangeArrowheads="1"/>
          </p:cNvSpPr>
          <p:nvPr>
            <p:ph type="title"/>
          </p:nvPr>
        </p:nvSpPr>
        <p:spPr/>
        <p:txBody>
          <a:bodyPr/>
          <a:lstStyle/>
          <a:p>
            <a:pPr eaLnBrk="1" hangingPunct="1"/>
            <a:r>
              <a:rPr lang="zh-CN" altLang="en-US" dirty="0"/>
              <a:t>案例</a:t>
            </a:r>
            <a:endParaRPr lang="zh-CN" altLang="en-US" dirty="0"/>
          </a:p>
        </p:txBody>
      </p:sp>
      <p:pic>
        <p:nvPicPr>
          <p:cNvPr id="3" name="图片 2"/>
          <p:cNvPicPr>
            <a:picLocks noChangeAspect="1"/>
          </p:cNvPicPr>
          <p:nvPr/>
        </p:nvPicPr>
        <p:blipFill>
          <a:blip r:embed="rId1"/>
          <a:stretch>
            <a:fillRect/>
          </a:stretch>
        </p:blipFill>
        <p:spPr>
          <a:xfrm>
            <a:off x="293233" y="2067353"/>
            <a:ext cx="8557534" cy="4508687"/>
          </a:xfrm>
          <a:prstGeom prst="rect">
            <a:avLst/>
          </a:prstGeom>
        </p:spPr>
      </p:pic>
    </p:spTree>
  </p:cSld>
  <p:clrMapOvr>
    <a:masterClrMapping/>
  </p:clrMapOvr>
</p:sld>
</file>

<file path=ppt/tags/tag1.xml><?xml version="1.0" encoding="utf-8"?>
<p:tagLst xmlns:p="http://schemas.openxmlformats.org/presentationml/2006/main">
  <p:tag name="IIW_TYPE_IMAGE" val="Text Box 3"/>
</p:tagLst>
</file>

<file path=ppt/theme/theme1.xml><?xml version="1.0" encoding="utf-8"?>
<a:theme xmlns:a="http://schemas.openxmlformats.org/drawingml/2006/main"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tx2"/>
        </a:solidFill>
        <a:ln>
          <a:noFill/>
        </a:ln>
      </a:spPr>
      <a:bodyPr vert="horz" wrap="square" lIns="91440" tIns="45720" rIns="91440" bIns="45720" numCol="1" anchor="t" anchorCtr="0" compatLnSpc="1"/>
      <a:lstStyle>
        <a:defPPr marL="342900" marR="0" indent="-342900" algn="l" defTabSz="914400" rtl="0" eaLnBrk="0" fontAlgn="base" latinLnBrk="0" hangingPunct="0">
          <a:lnSpc>
            <a:spcPct val="110000"/>
          </a:lnSpc>
          <a:spcBef>
            <a:spcPct val="0"/>
          </a:spcBef>
          <a:spcAft>
            <a:spcPct val="0"/>
          </a:spcAft>
          <a:buClrTx/>
          <a:buSzTx/>
          <a:buFontTx/>
          <a:buNone/>
          <a:defRPr kumimoji="0" lang="en-US" altLang="zh-CN" sz="1400" b="1" i="0" u="none" strike="noStrike" cap="none" normalizeH="0" baseline="0" smtClean="0">
            <a:ln>
              <a:noFill/>
            </a:ln>
            <a:solidFill>
              <a:schemeClr val="bg2"/>
            </a:solidFill>
            <a:effectLst/>
            <a:latin typeface="Courier New" panose="02070309020205020404" pitchFamily="49" charset="0"/>
            <a:ea typeface="宋体" panose="02010600030101010101" pitchFamily="2" charset="-122"/>
            <a:cs typeface="Courier New" panose="02070309020205020404" pitchFamily="49" charset="0"/>
          </a:defRPr>
        </a:defPPr>
      </a:lstStyle>
    </a:spDef>
    <a:lnDef>
      <a:spPr bwMode="auto">
        <a:xfrm>
          <a:off x="0" y="0"/>
          <a:ext cx="1" cy="1"/>
        </a:xfrm>
        <a:custGeom>
          <a:avLst/>
          <a:gdLst/>
          <a:ahLst/>
          <a:cxnLst/>
          <a:rect l="0" t="0" r="0" b="0"/>
          <a:pathLst/>
        </a:custGeom>
        <a:solidFill>
          <a:schemeClr val="tx2"/>
        </a:solidFill>
        <a:ln>
          <a:noFill/>
        </a:ln>
      </a:spPr>
      <a:bodyPr vert="horz" wrap="square" lIns="91440" tIns="45720" rIns="91440" bIns="45720" numCol="1" anchor="t" anchorCtr="0" compatLnSpc="1"/>
      <a:lstStyle>
        <a:defPPr marL="342900" marR="0" indent="-342900" algn="l" defTabSz="914400" rtl="0" eaLnBrk="0" fontAlgn="base" latinLnBrk="0" hangingPunct="0">
          <a:lnSpc>
            <a:spcPct val="110000"/>
          </a:lnSpc>
          <a:spcBef>
            <a:spcPct val="0"/>
          </a:spcBef>
          <a:spcAft>
            <a:spcPct val="0"/>
          </a:spcAft>
          <a:buClrTx/>
          <a:buSzTx/>
          <a:buFontTx/>
          <a:buNone/>
          <a:defRPr kumimoji="0" lang="en-US" altLang="zh-CN" sz="1400" b="1" i="0" u="none" strike="noStrike" cap="none" normalizeH="0" baseline="0" smtClean="0">
            <a:ln>
              <a:noFill/>
            </a:ln>
            <a:solidFill>
              <a:schemeClr val="bg2"/>
            </a:solidFill>
            <a:effectLst/>
            <a:latin typeface="Courier New" panose="02070309020205020404" pitchFamily="49" charset="0"/>
            <a:ea typeface="宋体" panose="02010600030101010101" pitchFamily="2" charset="-122"/>
            <a:cs typeface="Courier New" panose="02070309020205020404" pitchFamily="49"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主题1</Template>
  <TotalTime>0</TotalTime>
  <Words>8901</Words>
  <Application>WPS 演示</Application>
  <PresentationFormat>全屏显示(4:3)</PresentationFormat>
  <Paragraphs>695</Paragraphs>
  <Slides>76</Slides>
  <Notes>45</Notes>
  <HiddenSlides>0</HiddenSlides>
  <MMClips>2</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9</vt:i4>
      </vt:variant>
      <vt:variant>
        <vt:lpstr>幻灯片标题</vt:lpstr>
      </vt:variant>
      <vt:variant>
        <vt:i4>76</vt:i4>
      </vt:variant>
    </vt:vector>
  </HeadingPairs>
  <TitlesOfParts>
    <vt:vector size="100" baseType="lpstr">
      <vt:lpstr>Arial</vt:lpstr>
      <vt:lpstr>宋体</vt:lpstr>
      <vt:lpstr>Wingdings</vt:lpstr>
      <vt:lpstr>Courier New</vt:lpstr>
      <vt:lpstr>Tahoma</vt:lpstr>
      <vt:lpstr>Times New Roman</vt:lpstr>
      <vt:lpstr>Helvetica Neue</vt:lpstr>
      <vt:lpstr>微软雅黑</vt:lpstr>
      <vt:lpstr>Arial Unicode MS</vt:lpstr>
      <vt:lpstr>Symbol</vt:lpstr>
      <vt:lpstr>Comic Sans MS</vt:lpstr>
      <vt:lpstr>Inter</vt:lpstr>
      <vt:lpstr>Segoe Print</vt:lpstr>
      <vt:lpstr>Cambria Math</vt:lpstr>
      <vt:lpstr>Blends</vt:lpstr>
      <vt:lpstr>Equation.3</vt:lpstr>
      <vt:lpstr>Equation.3</vt:lpstr>
      <vt:lpstr>Equation.3</vt:lpstr>
      <vt:lpstr>Equation.3</vt:lpstr>
      <vt:lpstr>Equation.3</vt:lpstr>
      <vt:lpstr>Equation.3</vt:lpstr>
      <vt:lpstr>Equation.3</vt:lpstr>
      <vt:lpstr>Equation.3</vt:lpstr>
      <vt:lpstr>Equation.3</vt:lpstr>
      <vt:lpstr>第二章 算法分析基础</vt:lpstr>
      <vt:lpstr>算法(Algorithm)</vt:lpstr>
      <vt:lpstr>程序(Program)</vt:lpstr>
      <vt:lpstr>问题求解(Problem Solving)</vt:lpstr>
      <vt:lpstr>算法分析</vt:lpstr>
      <vt:lpstr>定义效率</vt:lpstr>
      <vt:lpstr>定义效率</vt:lpstr>
      <vt:lpstr>最坏情况运行时间</vt:lpstr>
      <vt:lpstr>最坏情况运行时间</vt:lpstr>
      <vt:lpstr>定义效率</vt:lpstr>
      <vt:lpstr>定义效率</vt:lpstr>
      <vt:lpstr> </vt:lpstr>
      <vt:lpstr>定义效率</vt:lpstr>
      <vt:lpstr>增长的渐进阶</vt:lpstr>
      <vt:lpstr>算法渐近复杂性</vt:lpstr>
      <vt:lpstr>复杂度符号</vt:lpstr>
      <vt:lpstr>复杂度符号</vt:lpstr>
      <vt:lpstr>复杂度符号</vt:lpstr>
      <vt:lpstr>复杂度符号</vt:lpstr>
      <vt:lpstr>复杂度性质</vt:lpstr>
      <vt:lpstr>复杂度性质</vt:lpstr>
      <vt:lpstr>复杂度性质</vt:lpstr>
      <vt:lpstr>复杂度性质</vt:lpstr>
      <vt:lpstr>复杂度性质</vt:lpstr>
      <vt:lpstr>复杂度性质</vt:lpstr>
      <vt:lpstr>复杂度性质</vt:lpstr>
      <vt:lpstr>PowerPoint 演示文稿</vt:lpstr>
      <vt:lpstr>复杂度性质</vt:lpstr>
      <vt:lpstr>复杂度性质</vt:lpstr>
      <vt:lpstr>复杂度性质</vt:lpstr>
      <vt:lpstr>复杂度性质</vt:lpstr>
      <vt:lpstr>复杂度性质</vt:lpstr>
      <vt:lpstr>复杂度性质</vt:lpstr>
      <vt:lpstr>用表和数组实现稳定匹配算法</vt:lpstr>
      <vt:lpstr>数据结构的选择</vt:lpstr>
      <vt:lpstr>数据结构的选择</vt:lpstr>
      <vt:lpstr>数据结构的选择</vt:lpstr>
      <vt:lpstr>数据结构的选择</vt:lpstr>
      <vt:lpstr>数据结构的选择</vt:lpstr>
      <vt:lpstr>数据结构的选择</vt:lpstr>
      <vt:lpstr>数据结构的选择</vt:lpstr>
      <vt:lpstr>稳定匹配算法的实现</vt:lpstr>
      <vt:lpstr>稳定匹配算法的实现</vt:lpstr>
      <vt:lpstr>稳定匹配算法的实现</vt:lpstr>
      <vt:lpstr>稳定匹配算法的实现</vt:lpstr>
      <vt:lpstr>稳定匹配算法的实现</vt:lpstr>
      <vt:lpstr>稳定匹配算法的实现</vt:lpstr>
      <vt:lpstr>稳定匹配算法的实现</vt:lpstr>
      <vt:lpstr>一般运行时间的描述</vt:lpstr>
      <vt:lpstr>亚线性时间(O(logn))</vt:lpstr>
      <vt:lpstr>线性时间</vt:lpstr>
      <vt:lpstr>线性时间</vt:lpstr>
      <vt:lpstr>线性时间</vt:lpstr>
      <vt:lpstr>O(nlogn)阶时间</vt:lpstr>
      <vt:lpstr>O(nlogn)阶时间</vt:lpstr>
      <vt:lpstr>O(nlogn)阶时间</vt:lpstr>
      <vt:lpstr>O(nlogn)阶时间</vt:lpstr>
      <vt:lpstr>平方时间</vt:lpstr>
      <vt:lpstr>平方时间</vt:lpstr>
      <vt:lpstr>平方时间</vt:lpstr>
      <vt:lpstr>平方时间</vt:lpstr>
      <vt:lpstr>平方时间</vt:lpstr>
      <vt:lpstr>立方时间</vt:lpstr>
      <vt:lpstr>立方时间</vt:lpstr>
      <vt:lpstr>O(nk)时间</vt:lpstr>
      <vt:lpstr>O(nk)时间</vt:lpstr>
      <vt:lpstr>指数时间(Exponential time)</vt:lpstr>
      <vt:lpstr>指数时间(Exponential time)</vt:lpstr>
      <vt:lpstr>指数时间(Exponential time)</vt:lpstr>
      <vt:lpstr>指数时间(Exponential time)</vt:lpstr>
      <vt:lpstr>指数时间(Exponential time)</vt:lpstr>
      <vt:lpstr>n!时间</vt:lpstr>
      <vt:lpstr>n!时间</vt:lpstr>
      <vt:lpstr>在算法复杂度分析中的作用</vt:lpstr>
      <vt:lpstr>在算法复杂度分析中的作用</vt:lpstr>
      <vt:lpstr>案例</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Ming Su</dc:creator>
  <cp:lastModifiedBy>蒋枘言</cp:lastModifiedBy>
  <cp:revision>227</cp:revision>
  <dcterms:created xsi:type="dcterms:W3CDTF">2008-09-16T08:51:00Z</dcterms:created>
  <dcterms:modified xsi:type="dcterms:W3CDTF">2026-01-13T16:02:59Z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CD2D71E201C641AFBF80F5681E4B980A_12</vt:lpwstr>
  </property>
  <property fmtid="{D5CDD505-2E9C-101B-9397-08002B2CF9AE}" pid="3" name="KSOProductBuildVer">
    <vt:lpwstr>2052-12.1.0.20305</vt:lpwstr>
  </property>
</Properties>
</file>